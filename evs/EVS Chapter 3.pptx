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67" r:id="rId4"/>
    <p:sldId id="268" r:id="rId5"/>
    <p:sldId id="266" r:id="rId6"/>
    <p:sldId id="265" r:id="rId7"/>
    <p:sldId id="264" r:id="rId8"/>
    <p:sldId id="263" r:id="rId9"/>
    <p:sldId id="262" r:id="rId10"/>
    <p:sldId id="261" r:id="rId11"/>
    <p:sldId id="260" r:id="rId12"/>
    <p:sldId id="259" r:id="rId13"/>
    <p:sldId id="258" r:id="rId14"/>
    <p:sldId id="270" r:id="rId15"/>
    <p:sldId id="277" r:id="rId16"/>
    <p:sldId id="278" r:id="rId17"/>
    <p:sldId id="276" r:id="rId18"/>
    <p:sldId id="275" r:id="rId19"/>
    <p:sldId id="274" r:id="rId20"/>
    <p:sldId id="273" r:id="rId21"/>
    <p:sldId id="271" r:id="rId22"/>
    <p:sldId id="272" r:id="rId23"/>
    <p:sldId id="279" r:id="rId24"/>
    <p:sldId id="289" r:id="rId25"/>
    <p:sldId id="288" r:id="rId26"/>
    <p:sldId id="287" r:id="rId27"/>
    <p:sldId id="286" r:id="rId28"/>
    <p:sldId id="285" r:id="rId29"/>
    <p:sldId id="284" r:id="rId30"/>
    <p:sldId id="283" r:id="rId31"/>
    <p:sldId id="282" r:id="rId32"/>
    <p:sldId id="280" r:id="rId33"/>
    <p:sldId id="281" r:id="rId34"/>
    <p:sldId id="296" r:id="rId35"/>
    <p:sldId id="295" r:id="rId36"/>
    <p:sldId id="294" r:id="rId37"/>
    <p:sldId id="293" r:id="rId38"/>
    <p:sldId id="292" r:id="rId39"/>
    <p:sldId id="291" r:id="rId40"/>
    <p:sldId id="290" r:id="rId41"/>
    <p:sldId id="306" r:id="rId42"/>
    <p:sldId id="305" r:id="rId43"/>
    <p:sldId id="304" r:id="rId44"/>
    <p:sldId id="303" r:id="rId45"/>
    <p:sldId id="302" r:id="rId46"/>
    <p:sldId id="301" r:id="rId47"/>
    <p:sldId id="300" r:id="rId48"/>
    <p:sldId id="299"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000099"/>
    <a:srgbClr val="003E1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413AAC0-E59C-43D1-87CE-312BCEC35735}"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spd="slow">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7F40824-7981-49A0-A96C-0225592A9D4F}" type="datetimeFigureOut">
              <a:rPr lang="en-US" smtClean="0"/>
              <a:pPr/>
              <a:t>01/22/2023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13AAC0-E59C-43D1-87CE-312BCEC35735}" type="slidenum">
              <a:rPr lang="en-US" smtClean="0"/>
              <a:pPr/>
              <a:t>‹#›</a:t>
            </a:fld>
            <a:endParaRPr lang="en-US"/>
          </a:p>
        </p:txBody>
      </p:sp>
    </p:spTree>
  </p:cSld>
  <p:clrMapOvr>
    <a:masterClrMapping/>
  </p:clrMapOvr>
  <p:transition spd="slow">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7F40824-7981-49A0-A96C-0225592A9D4F}" type="datetimeFigureOut">
              <a:rPr lang="en-US" smtClean="0"/>
              <a:pPr/>
              <a:t>01/22/2023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413AAC0-E59C-43D1-87CE-312BCEC35735}"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wedge/>
  </p:transition>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71600"/>
            <a:ext cx="7927848" cy="1828800"/>
          </a:xfrm>
        </p:spPr>
        <p:txBody>
          <a:bodyPr>
            <a:normAutofit/>
          </a:bodyPr>
          <a:lstStyle/>
          <a:p>
            <a:r>
              <a:rPr lang="en-US" sz="4500" dirty="0" smtClean="0">
                <a:solidFill>
                  <a:srgbClr val="FFC000"/>
                </a:solidFill>
                <a:latin typeface="Times New Roman" pitchFamily="18" charset="0"/>
                <a:cs typeface="Times New Roman" pitchFamily="18" charset="0"/>
              </a:rPr>
              <a:t>ENVIRONMENTAL SCIENCE AND SUSTAINABILITY</a:t>
            </a:r>
            <a:endParaRPr lang="en-US" sz="4500" dirty="0">
              <a:solidFill>
                <a:srgbClr val="FFC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85800" y="3886200"/>
            <a:ext cx="7854696" cy="1752600"/>
          </a:xfrm>
        </p:spPr>
        <p:txBody>
          <a:bodyPr>
            <a:normAutofit fontScale="92500" lnSpcReduction="10000"/>
          </a:bodyPr>
          <a:lstStyle/>
          <a:p>
            <a:r>
              <a:rPr lang="en-US" dirty="0" smtClean="0">
                <a:solidFill>
                  <a:srgbClr val="FF0000"/>
                </a:solidFill>
              </a:rPr>
              <a:t>By:</a:t>
            </a:r>
          </a:p>
          <a:p>
            <a:r>
              <a:rPr lang="en-US" dirty="0" smtClean="0">
                <a:solidFill>
                  <a:srgbClr val="FF0000"/>
                </a:solidFill>
              </a:rPr>
              <a:t>Dr. A. RAVIKRISHNAN,</a:t>
            </a:r>
          </a:p>
          <a:p>
            <a:r>
              <a:rPr lang="en-US" dirty="0" smtClean="0">
                <a:solidFill>
                  <a:srgbClr val="FF0000"/>
                </a:solidFill>
              </a:rPr>
              <a:t>M.Sc., </a:t>
            </a:r>
            <a:r>
              <a:rPr lang="en-US" dirty="0" err="1" smtClean="0">
                <a:solidFill>
                  <a:srgbClr val="FF0000"/>
                </a:solidFill>
              </a:rPr>
              <a:t>M.Phil.</a:t>
            </a:r>
            <a:r>
              <a:rPr lang="en-US" dirty="0" smtClean="0">
                <a:solidFill>
                  <a:srgbClr val="FF0000"/>
                </a:solidFill>
              </a:rPr>
              <a:t>, M.Ed., Ph.D., MISTE., MILCS.,</a:t>
            </a:r>
          </a:p>
          <a:p>
            <a:r>
              <a:rPr lang="en-US" dirty="0" err="1" smtClean="0">
                <a:solidFill>
                  <a:srgbClr val="FF0000"/>
                </a:solidFill>
              </a:rPr>
              <a:t>Asst.Prof</a:t>
            </a:r>
            <a:r>
              <a:rPr lang="en-US" dirty="0" smtClean="0">
                <a:solidFill>
                  <a:srgbClr val="FF0000"/>
                </a:solidFill>
              </a:rPr>
              <a:t> of Chemistry.</a:t>
            </a:r>
          </a:p>
          <a:p>
            <a:endParaRPr lang="en-US" dirty="0" smtClean="0">
              <a:solidFill>
                <a:srgbClr val="FF0000"/>
              </a:solidFill>
            </a:endParaRPr>
          </a:p>
          <a:p>
            <a:endParaRPr lang="en-US" dirty="0" smtClean="0">
              <a:solidFill>
                <a:srgbClr val="FF0000"/>
              </a:solidFill>
            </a:endParaRPr>
          </a:p>
          <a:p>
            <a:endParaRPr lang="en-US" dirty="0" smtClean="0">
              <a:solidFill>
                <a:srgbClr val="FF0000"/>
              </a:solidFill>
            </a:endParaRPr>
          </a:p>
          <a:p>
            <a:endParaRPr lang="en-US" dirty="0">
              <a:solidFill>
                <a:srgbClr val="FF0000"/>
              </a:solidFill>
            </a:endParaRPr>
          </a:p>
        </p:txBody>
      </p:sp>
    </p:spTree>
  </p:cSld>
  <p:clrMapOvr>
    <a:masterClrMapping/>
  </p:clrMapOvr>
  <p:transition spd="slow">
    <p:wedg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8153400" cy="5293757"/>
          </a:xfrm>
          <a:prstGeom prst="rect">
            <a:avLst/>
          </a:prstGeom>
        </p:spPr>
        <p:txBody>
          <a:bodyPr wrap="square">
            <a:spAutoFit/>
          </a:bodyPr>
          <a:lstStyle/>
          <a:p>
            <a:r>
              <a:rPr lang="en-US" sz="2400" b="1" dirty="0" smtClean="0">
                <a:latin typeface="Times New Roman" pitchFamily="18" charset="0"/>
                <a:cs typeface="Times New Roman" pitchFamily="18" charset="0"/>
              </a:rPr>
              <a:t>                       </a:t>
            </a:r>
            <a:r>
              <a:rPr lang="en-US" sz="3000" b="1" dirty="0" smtClean="0">
                <a:latin typeface="Times New Roman" pitchFamily="18" charset="0"/>
                <a:cs typeface="Times New Roman" pitchFamily="18" charset="0"/>
              </a:rPr>
              <a:t>Renewable Sources of Energy</a:t>
            </a:r>
          </a:p>
          <a:p>
            <a:endParaRPr lang="en-US" sz="2200" b="1" dirty="0">
              <a:latin typeface="Times New Roman" pitchFamily="18" charset="0"/>
              <a:cs typeface="Times New Roman" pitchFamily="18" charset="0"/>
            </a:endParaRPr>
          </a:p>
          <a:p>
            <a:r>
              <a:rPr lang="en-US" sz="2200" b="1" dirty="0" smtClean="0">
                <a:solidFill>
                  <a:srgbClr val="C00000"/>
                </a:solidFill>
                <a:latin typeface="Times New Roman" pitchFamily="18" charset="0"/>
                <a:cs typeface="Times New Roman" pitchFamily="18" charset="0"/>
              </a:rPr>
              <a:t>3.1 ENERGY MANAGEMENT AND CONSERVATION</a:t>
            </a:r>
          </a:p>
          <a:p>
            <a:endParaRPr lang="en-US" sz="2200" b="1" dirty="0">
              <a:latin typeface="Times New Roman" pitchFamily="18" charset="0"/>
              <a:cs typeface="Times New Roman" pitchFamily="18" charset="0"/>
            </a:endParaRPr>
          </a:p>
          <a:p>
            <a:r>
              <a:rPr lang="en-US" sz="2200" b="1" i="1" dirty="0">
                <a:solidFill>
                  <a:srgbClr val="0070C0"/>
                </a:solidFill>
                <a:latin typeface="Times New Roman" pitchFamily="18" charset="0"/>
                <a:cs typeface="Times New Roman" pitchFamily="18" charset="0"/>
              </a:rPr>
              <a:t>3.1.1 Energy </a:t>
            </a:r>
            <a:r>
              <a:rPr lang="en-US" sz="2200" b="1" i="1" dirty="0" smtClean="0">
                <a:solidFill>
                  <a:srgbClr val="0070C0"/>
                </a:solidFill>
                <a:latin typeface="Times New Roman" pitchFamily="18" charset="0"/>
                <a:cs typeface="Times New Roman" pitchFamily="18" charset="0"/>
              </a:rPr>
              <a:t>management</a:t>
            </a:r>
          </a:p>
          <a:p>
            <a:endParaRPr lang="en-US" sz="2200" b="1" i="1" dirty="0">
              <a:latin typeface="Times New Roman" pitchFamily="18" charset="0"/>
              <a:cs typeface="Times New Roman" pitchFamily="18" charset="0"/>
            </a:endParaRPr>
          </a:p>
          <a:p>
            <a:r>
              <a:rPr lang="en-US" sz="2200" b="1" dirty="0">
                <a:solidFill>
                  <a:srgbClr val="FF0000"/>
                </a:solidFill>
                <a:latin typeface="Times New Roman" pitchFamily="18" charset="0"/>
                <a:cs typeface="Times New Roman" pitchFamily="18" charset="0"/>
              </a:rPr>
              <a:t>Definition</a:t>
            </a:r>
          </a:p>
          <a:p>
            <a:r>
              <a:rPr lang="en-US" sz="2200" b="1" i="1" dirty="0">
                <a:solidFill>
                  <a:srgbClr val="000099"/>
                </a:solidFill>
                <a:latin typeface="Times New Roman" pitchFamily="18" charset="0"/>
                <a:cs typeface="Times New Roman" pitchFamily="18" charset="0"/>
              </a:rPr>
              <a:t>Energy management is planning and operation </a:t>
            </a:r>
            <a:r>
              <a:rPr lang="en-US" sz="2200" b="1" i="1" dirty="0" smtClean="0">
                <a:solidFill>
                  <a:srgbClr val="000099"/>
                </a:solidFill>
                <a:latin typeface="Times New Roman" pitchFamily="18" charset="0"/>
                <a:cs typeface="Times New Roman" pitchFamily="18" charset="0"/>
              </a:rPr>
              <a:t>of energy </a:t>
            </a:r>
            <a:r>
              <a:rPr lang="en-US" sz="2200" b="1" i="1" dirty="0">
                <a:solidFill>
                  <a:srgbClr val="000099"/>
                </a:solidFill>
                <a:latin typeface="Times New Roman" pitchFamily="18" charset="0"/>
                <a:cs typeface="Times New Roman" pitchFamily="18" charset="0"/>
              </a:rPr>
              <a:t>production and energy consumption units as </a:t>
            </a:r>
            <a:r>
              <a:rPr lang="en-US" sz="2200" b="1" i="1" dirty="0" smtClean="0">
                <a:solidFill>
                  <a:srgbClr val="000099"/>
                </a:solidFill>
                <a:latin typeface="Times New Roman" pitchFamily="18" charset="0"/>
                <a:cs typeface="Times New Roman" pitchFamily="18" charset="0"/>
              </a:rPr>
              <a:t>well as </a:t>
            </a:r>
            <a:r>
              <a:rPr lang="en-US" sz="2200" b="1" i="1" dirty="0">
                <a:solidFill>
                  <a:srgbClr val="000099"/>
                </a:solidFill>
                <a:latin typeface="Times New Roman" pitchFamily="18" charset="0"/>
                <a:cs typeface="Times New Roman" pitchFamily="18" charset="0"/>
              </a:rPr>
              <a:t>energy distribution and storage</a:t>
            </a:r>
            <a:r>
              <a:rPr lang="en-US" sz="2200" b="1" i="1" dirty="0" smtClean="0">
                <a:solidFill>
                  <a:srgbClr val="000099"/>
                </a:solidFill>
                <a:latin typeface="Times New Roman" pitchFamily="18" charset="0"/>
                <a:cs typeface="Times New Roman" pitchFamily="18" charset="0"/>
              </a:rPr>
              <a:t>.</a:t>
            </a:r>
          </a:p>
          <a:p>
            <a:endParaRPr lang="en-US" sz="2200" b="1" i="1" dirty="0">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For </a:t>
            </a:r>
            <a:r>
              <a:rPr lang="en-US" sz="2200" dirty="0">
                <a:solidFill>
                  <a:srgbClr val="009900"/>
                </a:solidFill>
                <a:latin typeface="Times New Roman" pitchFamily="18" charset="0"/>
                <a:cs typeface="Times New Roman" pitchFamily="18" charset="0"/>
              </a:rPr>
              <a:t>the paste decades, energy generation has </a:t>
            </a:r>
            <a:r>
              <a:rPr lang="en-US" sz="2200" dirty="0" smtClean="0">
                <a:solidFill>
                  <a:srgbClr val="009900"/>
                </a:solidFill>
                <a:latin typeface="Times New Roman" pitchFamily="18" charset="0"/>
                <a:cs typeface="Times New Roman" pitchFamily="18" charset="0"/>
              </a:rPr>
              <a:t>been shifted </a:t>
            </a:r>
            <a:r>
              <a:rPr lang="en-US" sz="2200" dirty="0">
                <a:solidFill>
                  <a:srgbClr val="009900"/>
                </a:solidFill>
                <a:latin typeface="Times New Roman" pitchFamily="18" charset="0"/>
                <a:cs typeface="Times New Roman" pitchFamily="18" charset="0"/>
              </a:rPr>
              <a:t>to alternative energy sources like renewable </a:t>
            </a:r>
            <a:r>
              <a:rPr lang="en-US" sz="2200" dirty="0" smtClean="0">
                <a:solidFill>
                  <a:srgbClr val="009900"/>
                </a:solidFill>
                <a:latin typeface="Times New Roman" pitchFamily="18" charset="0"/>
                <a:cs typeface="Times New Roman" pitchFamily="18" charset="0"/>
              </a:rPr>
              <a:t>energy forms </a:t>
            </a:r>
            <a:r>
              <a:rPr lang="en-US" sz="2200" dirty="0">
                <a:solidFill>
                  <a:srgbClr val="009900"/>
                </a:solidFill>
                <a:latin typeface="Times New Roman" pitchFamily="18" charset="0"/>
                <a:cs typeface="Times New Roman" pitchFamily="18" charset="0"/>
              </a:rPr>
              <a:t>such as solar, wind and biomass energy, etc., </a:t>
            </a:r>
            <a:r>
              <a:rPr lang="en-US" sz="2200" dirty="0" smtClean="0">
                <a:solidFill>
                  <a:srgbClr val="009900"/>
                </a:solidFill>
                <a:latin typeface="Times New Roman" pitchFamily="18" charset="0"/>
                <a:cs typeface="Times New Roman" pitchFamily="18" charset="0"/>
              </a:rPr>
              <a:t>instead of </a:t>
            </a:r>
            <a:r>
              <a:rPr lang="en-US" sz="2200" dirty="0">
                <a:solidFill>
                  <a:srgbClr val="009900"/>
                </a:solidFill>
                <a:latin typeface="Times New Roman" pitchFamily="18" charset="0"/>
                <a:cs typeface="Times New Roman" pitchFamily="18" charset="0"/>
              </a:rPr>
              <a:t>the conventional fossil fuel sources</a:t>
            </a:r>
            <a:r>
              <a:rPr lang="en-US" sz="2200" dirty="0" smtClean="0">
                <a:solidFill>
                  <a:srgbClr val="009900"/>
                </a:solidFill>
                <a:latin typeface="Times New Roman" pitchFamily="18" charset="0"/>
                <a:cs typeface="Times New Roman" pitchFamily="18" charset="0"/>
              </a:rPr>
              <a:t>.</a:t>
            </a:r>
          </a:p>
        </p:txBody>
      </p:sp>
    </p:spTree>
  </p:cSld>
  <p:clrMapOvr>
    <a:masterClrMapping/>
  </p:clrMapOvr>
  <p:transition spd="slow">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696200" cy="5509200"/>
          </a:xfrm>
          <a:prstGeom prst="rect">
            <a:avLst/>
          </a:prstGeom>
        </p:spPr>
        <p:txBody>
          <a:bodyPr wrap="square">
            <a:spAutoFit/>
          </a:bodyPr>
          <a:lstStyle/>
          <a:p>
            <a:pPr>
              <a:buFont typeface="Wingdings" pitchFamily="2" charset="2"/>
              <a:buChar char="Ø"/>
            </a:pPr>
            <a:r>
              <a:rPr lang="en-US" sz="2200" dirty="0" smtClean="0">
                <a:solidFill>
                  <a:srgbClr val="009900"/>
                </a:solidFill>
                <a:latin typeface="Times New Roman" pitchFamily="18" charset="0"/>
                <a:cs typeface="Times New Roman" pitchFamily="18" charset="0"/>
              </a:rPr>
              <a:t>  Apart from the growth in the energy sector, there has been an equivalent increase in business and organizations, which has brought tremendous competition in the market in terms of increasing environmental standards and reducing global warming, carbon foot print and green house gas emissions.</a:t>
            </a:r>
          </a:p>
          <a:p>
            <a:pPr>
              <a:buFont typeface="Wingdings" pitchFamily="2" charset="2"/>
              <a:buChar char="Ø"/>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Energy management introduced in an organization, can effectively manage how much energy they produce and how to controls and monitor.</a:t>
            </a:r>
          </a:p>
          <a:p>
            <a:pPr>
              <a:buFont typeface="Wingdings" pitchFamily="2" charset="2"/>
              <a:buChar char="Ø"/>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A large amount of energy and money can be saved by employing energy management principles. </a:t>
            </a:r>
          </a:p>
          <a:p>
            <a:pPr>
              <a:buFont typeface="Wingdings" pitchFamily="2" charset="2"/>
              <a:buChar char="Ø"/>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It can also help companies by not only improving productivity but also the quality that they offer using energy efficiency techniques and better materials and manufacturing processes.</a:t>
            </a:r>
            <a:endParaRPr lang="en-US" sz="22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066800"/>
            <a:ext cx="8001000" cy="4493538"/>
          </a:xfrm>
          <a:prstGeom prst="rect">
            <a:avLst/>
          </a:prstGeom>
        </p:spPr>
        <p:txBody>
          <a:bodyPr wrap="square">
            <a:spAutoFit/>
          </a:bodyPr>
          <a:lstStyle/>
          <a:p>
            <a:r>
              <a:rPr lang="en-US" sz="2200" dirty="0">
                <a:latin typeface="Times New Roman" pitchFamily="18" charset="0"/>
                <a:cs typeface="Times New Roman" pitchFamily="18" charset="0"/>
              </a:rPr>
              <a:t> </a:t>
            </a:r>
            <a:r>
              <a:rPr lang="en-US" sz="2200" b="1" dirty="0" smtClean="0">
                <a:solidFill>
                  <a:srgbClr val="FF0000"/>
                </a:solidFill>
                <a:latin typeface="Times New Roman" pitchFamily="18" charset="0"/>
                <a:cs typeface="Times New Roman" pitchFamily="18" charset="0"/>
              </a:rPr>
              <a:t>Objectives (or) Aims of energy management</a:t>
            </a:r>
            <a:endParaRPr lang="en-US" sz="2200" b="1" dirty="0">
              <a:solidFill>
                <a:srgbClr val="FF0000"/>
              </a:solidFill>
              <a:latin typeface="Times New Roman" pitchFamily="18" charset="0"/>
              <a:cs typeface="Times New Roman" pitchFamily="18" charset="0"/>
            </a:endParaRPr>
          </a:p>
          <a:p>
            <a:pPr lvl="1">
              <a:buFont typeface="Wingdings" pitchFamily="2" charset="2"/>
              <a:buChar char="v"/>
            </a:pPr>
            <a:r>
              <a:rPr lang="en-US" sz="2200" dirty="0" smtClean="0">
                <a:solidFill>
                  <a:srgbClr val="009900"/>
                </a:solidFill>
                <a:latin typeface="Times New Roman" pitchFamily="18" charset="0"/>
                <a:cs typeface="Times New Roman" pitchFamily="18" charset="0"/>
              </a:rPr>
              <a:t>  Resource </a:t>
            </a:r>
            <a:r>
              <a:rPr lang="en-US" sz="2200" dirty="0">
                <a:solidFill>
                  <a:srgbClr val="009900"/>
                </a:solidFill>
                <a:latin typeface="Times New Roman" pitchFamily="18" charset="0"/>
                <a:cs typeface="Times New Roman" pitchFamily="18" charset="0"/>
              </a:rPr>
              <a:t>conservation.</a:t>
            </a:r>
          </a:p>
          <a:p>
            <a:pPr lvl="1">
              <a:buFont typeface="Wingdings" pitchFamily="2" charset="2"/>
              <a:buChar char="v"/>
            </a:pPr>
            <a:r>
              <a:rPr lang="en-US" sz="2200" dirty="0" smtClean="0">
                <a:solidFill>
                  <a:srgbClr val="009900"/>
                </a:solidFill>
                <a:latin typeface="Times New Roman" pitchFamily="18" charset="0"/>
                <a:cs typeface="Times New Roman" pitchFamily="18" charset="0"/>
              </a:rPr>
              <a:t>  Climate </a:t>
            </a:r>
            <a:r>
              <a:rPr lang="en-US" sz="2200" dirty="0">
                <a:solidFill>
                  <a:srgbClr val="009900"/>
                </a:solidFill>
                <a:latin typeface="Times New Roman" pitchFamily="18" charset="0"/>
                <a:cs typeface="Times New Roman" pitchFamily="18" charset="0"/>
              </a:rPr>
              <a:t>protection.</a:t>
            </a:r>
          </a:p>
          <a:p>
            <a:pPr lvl="1">
              <a:buFont typeface="Wingdings" pitchFamily="2" charset="2"/>
              <a:buChar char="v"/>
            </a:pPr>
            <a:r>
              <a:rPr lang="en-US" sz="2200" dirty="0" smtClean="0">
                <a:solidFill>
                  <a:srgbClr val="009900"/>
                </a:solidFill>
                <a:latin typeface="Times New Roman" pitchFamily="18" charset="0"/>
                <a:cs typeface="Times New Roman" pitchFamily="18" charset="0"/>
              </a:rPr>
              <a:t>  Cost </a:t>
            </a:r>
            <a:r>
              <a:rPr lang="en-US" sz="2200" dirty="0">
                <a:solidFill>
                  <a:srgbClr val="009900"/>
                </a:solidFill>
                <a:latin typeface="Times New Roman" pitchFamily="18" charset="0"/>
                <a:cs typeface="Times New Roman" pitchFamily="18" charset="0"/>
              </a:rPr>
              <a:t>savings / minimize waste.</a:t>
            </a:r>
          </a:p>
          <a:p>
            <a:pPr lvl="1">
              <a:buFont typeface="Wingdings" pitchFamily="2" charset="2"/>
              <a:buChar char="v"/>
            </a:pPr>
            <a:r>
              <a:rPr lang="en-US" sz="2200" dirty="0" smtClean="0">
                <a:solidFill>
                  <a:srgbClr val="009900"/>
                </a:solidFill>
                <a:latin typeface="Times New Roman" pitchFamily="18" charset="0"/>
                <a:cs typeface="Times New Roman" pitchFamily="18" charset="0"/>
              </a:rPr>
              <a:t>   </a:t>
            </a:r>
            <a:r>
              <a:rPr lang="en-US" sz="2200" dirty="0">
                <a:solidFill>
                  <a:srgbClr val="009900"/>
                </a:solidFill>
                <a:latin typeface="Times New Roman" pitchFamily="18" charset="0"/>
                <a:cs typeface="Times New Roman" pitchFamily="18" charset="0"/>
              </a:rPr>
              <a:t>Minimize environmental effects.</a:t>
            </a:r>
          </a:p>
          <a:p>
            <a:pPr lvl="1">
              <a:buFont typeface="Wingdings" pitchFamily="2" charset="2"/>
              <a:buChar char="v"/>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ultimate aim (or) objectives of this process </a:t>
            </a:r>
            <a:r>
              <a:rPr lang="en-US" sz="2200" dirty="0" smtClean="0">
                <a:solidFill>
                  <a:srgbClr val="009900"/>
                </a:solidFill>
                <a:latin typeface="Times New Roman" pitchFamily="18" charset="0"/>
                <a:cs typeface="Times New Roman" pitchFamily="18" charset="0"/>
              </a:rPr>
              <a:t>is not </a:t>
            </a:r>
            <a:r>
              <a:rPr lang="en-US" sz="2200" dirty="0">
                <a:solidFill>
                  <a:srgbClr val="009900"/>
                </a:solidFill>
                <a:latin typeface="Times New Roman" pitchFamily="18" charset="0"/>
                <a:cs typeface="Times New Roman" pitchFamily="18" charset="0"/>
              </a:rPr>
              <a:t>only to save the cost but also to achieve </a:t>
            </a:r>
            <a:r>
              <a:rPr lang="en-US" sz="2200" dirty="0" smtClean="0">
                <a:solidFill>
                  <a:srgbClr val="009900"/>
                </a:solidFill>
                <a:latin typeface="Times New Roman" pitchFamily="18" charset="0"/>
                <a:cs typeface="Times New Roman" pitchFamily="18" charset="0"/>
              </a:rPr>
              <a:t>complete environmental sustainability.</a:t>
            </a:r>
          </a:p>
          <a:p>
            <a:endParaRPr lang="en-US" sz="2200" dirty="0">
              <a:latin typeface="Times New Roman" pitchFamily="18" charset="0"/>
              <a:cs typeface="Times New Roman" pitchFamily="18" charset="0"/>
            </a:endParaRPr>
          </a:p>
          <a:p>
            <a:r>
              <a:rPr lang="en-US" sz="2200" b="1" dirty="0" smtClean="0">
                <a:solidFill>
                  <a:srgbClr val="FF0000"/>
                </a:solidFill>
                <a:latin typeface="Times New Roman" pitchFamily="18" charset="0"/>
                <a:cs typeface="Times New Roman" pitchFamily="18" charset="0"/>
              </a:rPr>
              <a:t>Principles of energy management </a:t>
            </a:r>
            <a:endParaRPr lang="en-US" sz="2200" b="1" dirty="0">
              <a:solidFill>
                <a:srgbClr val="FF00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It </a:t>
            </a:r>
            <a:r>
              <a:rPr lang="en-US" sz="2200" dirty="0">
                <a:solidFill>
                  <a:srgbClr val="009900"/>
                </a:solidFill>
                <a:latin typeface="Times New Roman" pitchFamily="18" charset="0"/>
                <a:cs typeface="Times New Roman" pitchFamily="18" charset="0"/>
              </a:rPr>
              <a:t>controls the costs of the energy function and </a:t>
            </a:r>
            <a:r>
              <a:rPr lang="en-US" sz="2200" dirty="0" smtClean="0">
                <a:solidFill>
                  <a:srgbClr val="009900"/>
                </a:solidFill>
                <a:latin typeface="Times New Roman" pitchFamily="18" charset="0"/>
                <a:cs typeface="Times New Roman" pitchFamily="18" charset="0"/>
              </a:rPr>
              <a:t>not Btu </a:t>
            </a:r>
            <a:r>
              <a:rPr lang="en-US" sz="2200" dirty="0">
                <a:solidFill>
                  <a:srgbClr val="009900"/>
                </a:solidFill>
                <a:latin typeface="Times New Roman" pitchFamily="18" charset="0"/>
                <a:cs typeface="Times New Roman" pitchFamily="18" charset="0"/>
              </a:rPr>
              <a:t>of energy.</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second principle is to control energy </a:t>
            </a:r>
            <a:r>
              <a:rPr lang="en-US" sz="2200" dirty="0" smtClean="0">
                <a:solidFill>
                  <a:srgbClr val="009900"/>
                </a:solidFill>
                <a:latin typeface="Times New Roman" pitchFamily="18" charset="0"/>
                <a:cs typeface="Times New Roman" pitchFamily="18" charset="0"/>
              </a:rPr>
              <a:t>functions as </a:t>
            </a:r>
            <a:r>
              <a:rPr lang="en-US" sz="2200" dirty="0">
                <a:solidFill>
                  <a:srgbClr val="009900"/>
                </a:solidFill>
                <a:latin typeface="Times New Roman" pitchFamily="18" charset="0"/>
                <a:cs typeface="Times New Roman" pitchFamily="18" charset="0"/>
              </a:rPr>
              <a:t>a product cost.</a:t>
            </a:r>
          </a:p>
        </p:txBody>
      </p:sp>
    </p:spTree>
  </p:cSld>
  <p:clrMapOvr>
    <a:masterClrMapping/>
  </p:clrMapOvr>
  <p:transition spd="slow">
    <p:wedg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7924800" cy="5847755"/>
          </a:xfrm>
          <a:prstGeom prst="rect">
            <a:avLst/>
          </a:prstGeom>
        </p:spPr>
        <p:txBody>
          <a:bodyPr wrap="square">
            <a:spAutoFit/>
          </a:bodyPr>
          <a:lstStyle/>
          <a:p>
            <a:pPr>
              <a:buFont typeface="Wingdings" pitchFamily="2" charset="2"/>
              <a:buChar char="q"/>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third principle is to control and meter only </a:t>
            </a:r>
            <a:r>
              <a:rPr lang="en-US" sz="2200" dirty="0" smtClean="0">
                <a:solidFill>
                  <a:srgbClr val="009900"/>
                </a:solidFill>
                <a:latin typeface="Times New Roman" pitchFamily="18" charset="0"/>
                <a:cs typeface="Times New Roman" pitchFamily="18" charset="0"/>
              </a:rPr>
              <a:t>the main </a:t>
            </a:r>
            <a:r>
              <a:rPr lang="en-US" sz="2200" dirty="0">
                <a:solidFill>
                  <a:srgbClr val="009900"/>
                </a:solidFill>
                <a:latin typeface="Times New Roman" pitchFamily="18" charset="0"/>
                <a:cs typeface="Times New Roman" pitchFamily="18" charset="0"/>
              </a:rPr>
              <a:t>functions, which accounts for only </a:t>
            </a:r>
            <a:r>
              <a:rPr lang="en-US" sz="2200" dirty="0" smtClean="0">
                <a:solidFill>
                  <a:srgbClr val="009900"/>
                </a:solidFill>
                <a:latin typeface="Times New Roman" pitchFamily="18" charset="0"/>
                <a:cs typeface="Times New Roman" pitchFamily="18" charset="0"/>
              </a:rPr>
              <a:t>20% functions </a:t>
            </a:r>
            <a:r>
              <a:rPr lang="en-US" sz="2200" dirty="0">
                <a:solidFill>
                  <a:srgbClr val="009900"/>
                </a:solidFill>
                <a:latin typeface="Times New Roman" pitchFamily="18" charset="0"/>
                <a:cs typeface="Times New Roman" pitchFamily="18" charset="0"/>
              </a:rPr>
              <a:t>which make up 80% of the costs.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last principle states that the major effort of </a:t>
            </a:r>
            <a:r>
              <a:rPr lang="en-US" sz="2200" dirty="0" smtClean="0">
                <a:solidFill>
                  <a:srgbClr val="009900"/>
                </a:solidFill>
                <a:latin typeface="Times New Roman" pitchFamily="18" charset="0"/>
                <a:cs typeface="Times New Roman" pitchFamily="18" charset="0"/>
              </a:rPr>
              <a:t>an energy </a:t>
            </a:r>
            <a:r>
              <a:rPr lang="en-US" sz="2200" dirty="0">
                <a:solidFill>
                  <a:srgbClr val="009900"/>
                </a:solidFill>
                <a:latin typeface="Times New Roman" pitchFamily="18" charset="0"/>
                <a:cs typeface="Times New Roman" pitchFamily="18" charset="0"/>
              </a:rPr>
              <a:t>management program should be put </a:t>
            </a:r>
            <a:r>
              <a:rPr lang="en-US" sz="2200" dirty="0" smtClean="0">
                <a:solidFill>
                  <a:srgbClr val="009900"/>
                </a:solidFill>
                <a:latin typeface="Times New Roman" pitchFamily="18" charset="0"/>
                <a:cs typeface="Times New Roman" pitchFamily="18" charset="0"/>
              </a:rPr>
              <a:t>into installing </a:t>
            </a:r>
            <a:r>
              <a:rPr lang="en-US" sz="2200" dirty="0">
                <a:solidFill>
                  <a:srgbClr val="009900"/>
                </a:solidFill>
                <a:latin typeface="Times New Roman" pitchFamily="18" charset="0"/>
                <a:cs typeface="Times New Roman" pitchFamily="18" charset="0"/>
              </a:rPr>
              <a:t>controls and achieving results</a:t>
            </a:r>
            <a:r>
              <a:rPr lang="en-US" sz="2200" dirty="0" smtClean="0">
                <a:solidFill>
                  <a:srgbClr val="009900"/>
                </a:solidFill>
                <a:latin typeface="Times New Roman" pitchFamily="18" charset="0"/>
                <a:cs typeface="Times New Roman" pitchFamily="18" charset="0"/>
              </a:rPr>
              <a:t>.</a:t>
            </a:r>
          </a:p>
          <a:p>
            <a:endParaRPr lang="en-US" sz="2200" dirty="0">
              <a:solidFill>
                <a:srgbClr val="FF0000"/>
              </a:solidFill>
              <a:latin typeface="Times New Roman" pitchFamily="18" charset="0"/>
              <a:cs typeface="Times New Roman" pitchFamily="18" charset="0"/>
            </a:endParaRPr>
          </a:p>
          <a:p>
            <a:r>
              <a:rPr lang="en-US" sz="2200" b="1" dirty="0" smtClean="0">
                <a:solidFill>
                  <a:srgbClr val="FF0000"/>
                </a:solidFill>
                <a:latin typeface="Times New Roman" pitchFamily="18" charset="0"/>
                <a:cs typeface="Times New Roman" pitchFamily="18" charset="0"/>
              </a:rPr>
              <a:t>Steps involved in the process of energy management </a:t>
            </a:r>
            <a:endParaRPr lang="en-US" sz="2200" b="1" dirty="0">
              <a:solidFill>
                <a:srgbClr val="FF00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following 5 steps are important in the </a:t>
            </a:r>
            <a:r>
              <a:rPr lang="en-US" sz="2200" dirty="0" smtClean="0">
                <a:solidFill>
                  <a:srgbClr val="009900"/>
                </a:solidFill>
                <a:latin typeface="Times New Roman" pitchFamily="18" charset="0"/>
                <a:cs typeface="Times New Roman" pitchFamily="18" charset="0"/>
              </a:rPr>
              <a:t>process of </a:t>
            </a:r>
            <a:r>
              <a:rPr lang="en-US" sz="2200" dirty="0">
                <a:solidFill>
                  <a:srgbClr val="009900"/>
                </a:solidFill>
                <a:latin typeface="Times New Roman" pitchFamily="18" charset="0"/>
                <a:cs typeface="Times New Roman" pitchFamily="18" charset="0"/>
              </a:rPr>
              <a:t>energy management</a:t>
            </a:r>
            <a:r>
              <a:rPr lang="en-US" sz="2200" dirty="0" smtClean="0">
                <a:solidFill>
                  <a:srgbClr val="009900"/>
                </a:solidFill>
                <a:latin typeface="Times New Roman" pitchFamily="18" charset="0"/>
                <a:cs typeface="Times New Roman" pitchFamily="18" charset="0"/>
              </a:rPr>
              <a:t>.</a:t>
            </a:r>
          </a:p>
          <a:p>
            <a:r>
              <a:rPr lang="en-US" sz="2200" dirty="0" smtClean="0">
                <a:solidFill>
                  <a:srgbClr val="00B0F0"/>
                </a:solidFill>
                <a:latin typeface="Times New Roman" pitchFamily="18" charset="0"/>
                <a:cs typeface="Times New Roman" pitchFamily="18" charset="0"/>
              </a:rPr>
              <a:t>Step 1:</a:t>
            </a:r>
            <a:r>
              <a:rPr lang="en-US" sz="2200" dirty="0" smtClean="0">
                <a:latin typeface="Times New Roman" pitchFamily="18" charset="0"/>
                <a:cs typeface="Times New Roman" pitchFamily="18" charset="0"/>
              </a:rPr>
              <a:t> </a:t>
            </a:r>
            <a:r>
              <a:rPr lang="en-US" sz="2200" dirty="0" smtClean="0">
                <a:solidFill>
                  <a:srgbClr val="009900"/>
                </a:solidFill>
                <a:latin typeface="Times New Roman" pitchFamily="18" charset="0"/>
                <a:cs typeface="Times New Roman" pitchFamily="18" charset="0"/>
              </a:rPr>
              <a:t>Collecting </a:t>
            </a:r>
            <a:r>
              <a:rPr lang="en-US" sz="2200" dirty="0">
                <a:solidFill>
                  <a:srgbClr val="009900"/>
                </a:solidFill>
                <a:latin typeface="Times New Roman" pitchFamily="18" charset="0"/>
                <a:cs typeface="Times New Roman" pitchFamily="18" charset="0"/>
              </a:rPr>
              <a:t>and analyzing continuous data.</a:t>
            </a:r>
          </a:p>
          <a:p>
            <a:r>
              <a:rPr lang="en-US" sz="2200" dirty="0" smtClean="0">
                <a:solidFill>
                  <a:srgbClr val="00B0F0"/>
                </a:solidFill>
                <a:latin typeface="Times New Roman" pitchFamily="18" charset="0"/>
                <a:cs typeface="Times New Roman" pitchFamily="18" charset="0"/>
              </a:rPr>
              <a:t>Step 2 : </a:t>
            </a:r>
            <a:r>
              <a:rPr lang="en-US" sz="2200" dirty="0" smtClean="0">
                <a:solidFill>
                  <a:srgbClr val="009900"/>
                </a:solidFill>
                <a:latin typeface="Times New Roman" pitchFamily="18" charset="0"/>
                <a:cs typeface="Times New Roman" pitchFamily="18" charset="0"/>
              </a:rPr>
              <a:t>Identify </a:t>
            </a:r>
            <a:r>
              <a:rPr lang="en-US" sz="2200" dirty="0">
                <a:solidFill>
                  <a:srgbClr val="009900"/>
                </a:solidFill>
                <a:latin typeface="Times New Roman" pitchFamily="18" charset="0"/>
                <a:cs typeface="Times New Roman" pitchFamily="18" charset="0"/>
              </a:rPr>
              <a:t>optimizations in equipment </a:t>
            </a:r>
            <a:r>
              <a:rPr lang="en-US" sz="2200" dirty="0" smtClean="0">
                <a:solidFill>
                  <a:srgbClr val="009900"/>
                </a:solidFill>
                <a:latin typeface="Times New Roman" pitchFamily="18" charset="0"/>
                <a:cs typeface="Times New Roman" pitchFamily="18" charset="0"/>
              </a:rPr>
              <a:t>schedules, set </a:t>
            </a:r>
            <a:r>
              <a:rPr lang="en-US" sz="2200" dirty="0">
                <a:solidFill>
                  <a:srgbClr val="009900"/>
                </a:solidFill>
                <a:latin typeface="Times New Roman" pitchFamily="18" charset="0"/>
                <a:cs typeface="Times New Roman" pitchFamily="18" charset="0"/>
              </a:rPr>
              <a:t>points and flow rates to improve </a:t>
            </a:r>
            <a:r>
              <a:rPr lang="en-US" sz="2200" dirty="0" smtClean="0">
                <a:solidFill>
                  <a:srgbClr val="009900"/>
                </a:solidFill>
                <a:latin typeface="Times New Roman" pitchFamily="18" charset="0"/>
                <a:cs typeface="Times New Roman" pitchFamily="18" charset="0"/>
              </a:rPr>
              <a:t>energy efficiency.</a:t>
            </a:r>
          </a:p>
          <a:p>
            <a:r>
              <a:rPr lang="en-US" sz="2200" dirty="0" smtClean="0">
                <a:solidFill>
                  <a:srgbClr val="00B0F0"/>
                </a:solidFill>
                <a:latin typeface="Times New Roman" pitchFamily="18" charset="0"/>
                <a:cs typeface="Times New Roman" pitchFamily="18" charset="0"/>
              </a:rPr>
              <a:t>Step 3:</a:t>
            </a:r>
            <a:r>
              <a:rPr lang="en-US" sz="2200" dirty="0" smtClean="0">
                <a:latin typeface="Times New Roman" pitchFamily="18" charset="0"/>
                <a:cs typeface="Times New Roman" pitchFamily="18" charset="0"/>
              </a:rPr>
              <a:t> </a:t>
            </a:r>
            <a:r>
              <a:rPr lang="en-US" sz="2200" dirty="0" smtClean="0">
                <a:solidFill>
                  <a:srgbClr val="009900"/>
                </a:solidFill>
                <a:latin typeface="Times New Roman" pitchFamily="18" charset="0"/>
                <a:cs typeface="Times New Roman" pitchFamily="18" charset="0"/>
              </a:rPr>
              <a:t>Calculate return on investment. Units of energy saved can be metered and calculated just like units of energy delivered.</a:t>
            </a:r>
          </a:p>
          <a:p>
            <a:r>
              <a:rPr lang="en-US" sz="2200" dirty="0" smtClean="0">
                <a:solidFill>
                  <a:srgbClr val="00B0F0"/>
                </a:solidFill>
                <a:latin typeface="Times New Roman" pitchFamily="18" charset="0"/>
                <a:cs typeface="Times New Roman" pitchFamily="18" charset="0"/>
              </a:rPr>
              <a:t>Step4:</a:t>
            </a:r>
            <a:r>
              <a:rPr lang="en-US" sz="2200" dirty="0" smtClean="0">
                <a:latin typeface="Times New Roman" pitchFamily="18" charset="0"/>
                <a:cs typeface="Times New Roman" pitchFamily="18" charset="0"/>
              </a:rPr>
              <a:t> </a:t>
            </a:r>
            <a:r>
              <a:rPr lang="en-US" sz="2200" dirty="0" smtClean="0">
                <a:solidFill>
                  <a:srgbClr val="009900"/>
                </a:solidFill>
                <a:latin typeface="Times New Roman" pitchFamily="18" charset="0"/>
                <a:cs typeface="Times New Roman" pitchFamily="18" charset="0"/>
              </a:rPr>
              <a:t>Execute energy optimization solutions.</a:t>
            </a:r>
          </a:p>
          <a:p>
            <a:r>
              <a:rPr lang="en-US" sz="2200" dirty="0" smtClean="0">
                <a:solidFill>
                  <a:srgbClr val="009900"/>
                </a:solidFill>
                <a:latin typeface="Times New Roman" pitchFamily="18" charset="0"/>
                <a:cs typeface="Times New Roman" pitchFamily="18" charset="0"/>
              </a:rPr>
              <a:t>Step 5 :Repeat step 2 to continue optimizing energy efficiency.</a:t>
            </a:r>
          </a:p>
        </p:txBody>
      </p:sp>
    </p:spTree>
  </p:cSld>
  <p:clrMapOvr>
    <a:masterClrMapping/>
  </p:clrMapOvr>
  <p:transition spd="slow">
    <p:wedg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8001000" cy="5170646"/>
          </a:xfrm>
          <a:prstGeom prst="rect">
            <a:avLst/>
          </a:prstGeom>
        </p:spPr>
        <p:txBody>
          <a:bodyPr wrap="square">
            <a:spAutoFit/>
          </a:bodyPr>
          <a:lstStyle/>
          <a:p>
            <a:r>
              <a:rPr lang="en-US" sz="2200" b="1" i="1" dirty="0" smtClean="0">
                <a:solidFill>
                  <a:srgbClr val="0070C0"/>
                </a:solidFill>
                <a:latin typeface="Times New Roman" pitchFamily="18" charset="0"/>
                <a:cs typeface="Times New Roman" pitchFamily="18" charset="0"/>
              </a:rPr>
              <a:t>3.1.2 </a:t>
            </a:r>
            <a:r>
              <a:rPr lang="en-US" sz="2200" b="1" i="1" dirty="0">
                <a:solidFill>
                  <a:srgbClr val="0070C0"/>
                </a:solidFill>
                <a:latin typeface="Times New Roman" pitchFamily="18" charset="0"/>
                <a:cs typeface="Times New Roman" pitchFamily="18" charset="0"/>
              </a:rPr>
              <a:t>Energy </a:t>
            </a:r>
            <a:r>
              <a:rPr lang="en-US" sz="2200" b="1" i="1" dirty="0" smtClean="0">
                <a:solidFill>
                  <a:srgbClr val="0070C0"/>
                </a:solidFill>
                <a:latin typeface="Times New Roman" pitchFamily="18" charset="0"/>
                <a:cs typeface="Times New Roman" pitchFamily="18" charset="0"/>
              </a:rPr>
              <a:t>conservation</a:t>
            </a:r>
          </a:p>
          <a:p>
            <a:endParaRPr lang="en-US" sz="2200" b="1" i="1" dirty="0">
              <a:latin typeface="Times New Roman" pitchFamily="18" charset="0"/>
              <a:cs typeface="Times New Roman" pitchFamily="18" charset="0"/>
            </a:endParaRPr>
          </a:p>
          <a:p>
            <a:r>
              <a:rPr lang="en-US" sz="2200" b="1" dirty="0" smtClean="0">
                <a:solidFill>
                  <a:srgbClr val="FF0000"/>
                </a:solidFill>
                <a:latin typeface="Times New Roman" pitchFamily="18" charset="0"/>
                <a:cs typeface="Times New Roman" pitchFamily="18" charset="0"/>
              </a:rPr>
              <a:t>Definition</a:t>
            </a:r>
            <a:endParaRPr lang="en-US" sz="2200" b="1" dirty="0">
              <a:solidFill>
                <a:srgbClr val="FF0000"/>
              </a:solidFill>
              <a:latin typeface="Times New Roman" pitchFamily="18" charset="0"/>
              <a:cs typeface="Times New Roman" pitchFamily="18" charset="0"/>
            </a:endParaRPr>
          </a:p>
          <a:p>
            <a:r>
              <a:rPr lang="en-US" sz="2200" b="1" i="1" dirty="0">
                <a:latin typeface="Times New Roman" pitchFamily="18" charset="0"/>
                <a:cs typeface="Times New Roman" pitchFamily="18" charset="0"/>
              </a:rPr>
              <a:t>Energy conservation is the practice of using </a:t>
            </a:r>
            <a:r>
              <a:rPr lang="en-US" sz="2200" b="1" i="1" dirty="0" smtClean="0">
                <a:latin typeface="Times New Roman" pitchFamily="18" charset="0"/>
                <a:cs typeface="Times New Roman" pitchFamily="18" charset="0"/>
              </a:rPr>
              <a:t>less energy </a:t>
            </a:r>
            <a:r>
              <a:rPr lang="en-US" sz="2200" b="1" i="1" dirty="0" err="1">
                <a:latin typeface="Times New Roman" pitchFamily="18" charset="0"/>
                <a:cs typeface="Times New Roman" pitchFamily="18" charset="0"/>
              </a:rPr>
              <a:t>inorder</a:t>
            </a:r>
            <a:r>
              <a:rPr lang="en-US" sz="2200" b="1" i="1" dirty="0">
                <a:latin typeface="Times New Roman" pitchFamily="18" charset="0"/>
                <a:cs typeface="Times New Roman" pitchFamily="18" charset="0"/>
              </a:rPr>
              <a:t> to lower the costs and </a:t>
            </a:r>
            <a:r>
              <a:rPr lang="en-US" sz="2200" b="1" i="1" dirty="0" smtClean="0">
                <a:latin typeface="Times New Roman" pitchFamily="18" charset="0"/>
                <a:cs typeface="Times New Roman" pitchFamily="18" charset="0"/>
              </a:rPr>
              <a:t>reduce environmental </a:t>
            </a:r>
            <a:r>
              <a:rPr lang="en-US" sz="2200" b="1" i="1" dirty="0">
                <a:latin typeface="Times New Roman" pitchFamily="18" charset="0"/>
                <a:cs typeface="Times New Roman" pitchFamily="18" charset="0"/>
              </a:rPr>
              <a:t>impact</a:t>
            </a:r>
            <a:r>
              <a:rPr lang="en-US" sz="2200" b="1" i="1" dirty="0" smtClean="0">
                <a:latin typeface="Times New Roman" pitchFamily="18" charset="0"/>
                <a:cs typeface="Times New Roman" pitchFamily="18" charset="0"/>
              </a:rPr>
              <a:t>.</a:t>
            </a:r>
          </a:p>
          <a:p>
            <a:endParaRPr lang="en-US" sz="2200" b="1" i="1" dirty="0">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This </a:t>
            </a:r>
            <a:r>
              <a:rPr lang="en-US" sz="2200" dirty="0">
                <a:solidFill>
                  <a:srgbClr val="009900"/>
                </a:solidFill>
                <a:latin typeface="Times New Roman" pitchFamily="18" charset="0"/>
                <a:cs typeface="Times New Roman" pitchFamily="18" charset="0"/>
              </a:rPr>
              <a:t>can be achieved either by using</a:t>
            </a:r>
          </a:p>
          <a:p>
            <a:pPr>
              <a:buFont typeface="Wingdings" pitchFamily="2" charset="2"/>
              <a:buChar char="v"/>
            </a:pPr>
            <a:r>
              <a:rPr lang="en-US" sz="2200" dirty="0" smtClean="0">
                <a:solidFill>
                  <a:srgbClr val="009900"/>
                </a:solidFill>
                <a:latin typeface="Times New Roman" pitchFamily="18" charset="0"/>
                <a:cs typeface="Times New Roman" pitchFamily="18" charset="0"/>
              </a:rPr>
              <a:t>   </a:t>
            </a:r>
            <a:r>
              <a:rPr lang="en-US" sz="2200" dirty="0">
                <a:solidFill>
                  <a:srgbClr val="009900"/>
                </a:solidFill>
                <a:latin typeface="Times New Roman" pitchFamily="18" charset="0"/>
                <a:cs typeface="Times New Roman" pitchFamily="18" charset="0"/>
              </a:rPr>
              <a:t>energy more efficiently (using less energy </a:t>
            </a:r>
            <a:r>
              <a:rPr lang="en-US" sz="2200" dirty="0" smtClean="0">
                <a:solidFill>
                  <a:srgbClr val="009900"/>
                </a:solidFill>
                <a:latin typeface="Times New Roman" pitchFamily="18" charset="0"/>
                <a:cs typeface="Times New Roman" pitchFamily="18" charset="0"/>
              </a:rPr>
              <a:t>for a </a:t>
            </a:r>
            <a:r>
              <a:rPr lang="en-US" sz="2200" dirty="0">
                <a:solidFill>
                  <a:srgbClr val="009900"/>
                </a:solidFill>
                <a:latin typeface="Times New Roman" pitchFamily="18" charset="0"/>
                <a:cs typeface="Times New Roman" pitchFamily="18" charset="0"/>
              </a:rPr>
              <a:t>constant service),</a:t>
            </a:r>
          </a:p>
          <a:p>
            <a:pPr>
              <a:buFont typeface="Wingdings" pitchFamily="2" charset="2"/>
              <a:buChar char="v"/>
            </a:pPr>
            <a:r>
              <a:rPr lang="en-US" sz="2200" dirty="0" smtClean="0">
                <a:solidFill>
                  <a:srgbClr val="009900"/>
                </a:solidFill>
                <a:latin typeface="Times New Roman" pitchFamily="18" charset="0"/>
                <a:cs typeface="Times New Roman" pitchFamily="18" charset="0"/>
              </a:rPr>
              <a:t>   by </a:t>
            </a:r>
            <a:r>
              <a:rPr lang="en-US" sz="2200" dirty="0">
                <a:solidFill>
                  <a:srgbClr val="009900"/>
                </a:solidFill>
                <a:latin typeface="Times New Roman" pitchFamily="18" charset="0"/>
                <a:cs typeface="Times New Roman" pitchFamily="18" charset="0"/>
              </a:rPr>
              <a:t>reducing the amount of service used (</a:t>
            </a:r>
            <a:r>
              <a:rPr lang="en-US" sz="2200" dirty="0" smtClean="0">
                <a:solidFill>
                  <a:srgbClr val="009900"/>
                </a:solidFill>
                <a:latin typeface="Times New Roman" pitchFamily="18" charset="0"/>
                <a:cs typeface="Times New Roman" pitchFamily="18" charset="0"/>
              </a:rPr>
              <a:t>by driving </a:t>
            </a:r>
            <a:r>
              <a:rPr lang="en-US" sz="2200" dirty="0">
                <a:solidFill>
                  <a:srgbClr val="009900"/>
                </a:solidFill>
                <a:latin typeface="Times New Roman" pitchFamily="18" charset="0"/>
                <a:cs typeface="Times New Roman" pitchFamily="18" charset="0"/>
              </a:rPr>
              <a:t>less</a:t>
            </a:r>
            <a:r>
              <a:rPr lang="en-US" sz="2200" dirty="0" smtClean="0">
                <a:solidFill>
                  <a:srgbClr val="009900"/>
                </a:solidFill>
                <a:latin typeface="Times New Roman" pitchFamily="18" charset="0"/>
                <a:cs typeface="Times New Roman" pitchFamily="18" charset="0"/>
              </a:rPr>
              <a:t>).</a:t>
            </a:r>
          </a:p>
          <a:p>
            <a:r>
              <a:rPr lang="en-US" sz="2200" b="1" dirty="0"/>
              <a:t> </a:t>
            </a:r>
            <a:r>
              <a:rPr lang="en-US" sz="2200" b="1" dirty="0" smtClean="0">
                <a:solidFill>
                  <a:srgbClr val="FF0000"/>
                </a:solidFill>
              </a:rPr>
              <a:t>Objectives (or) Aim of energy </a:t>
            </a:r>
            <a:r>
              <a:rPr lang="en-US" sz="2200" b="1" dirty="0" err="1" smtClean="0">
                <a:solidFill>
                  <a:srgbClr val="FF0000"/>
                </a:solidFill>
              </a:rPr>
              <a:t>convertion</a:t>
            </a:r>
            <a:endParaRPr lang="en-US" sz="2200" b="1" dirty="0">
              <a:solidFill>
                <a:srgbClr val="FF0000"/>
              </a:solidFill>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Energy </a:t>
            </a:r>
            <a:r>
              <a:rPr lang="en-US" sz="2200" dirty="0">
                <a:solidFill>
                  <a:srgbClr val="009900"/>
                </a:solidFill>
                <a:latin typeface="Times New Roman" pitchFamily="18" charset="0"/>
                <a:cs typeface="Times New Roman" pitchFamily="18" charset="0"/>
              </a:rPr>
              <a:t>conservation is the key element. The </a:t>
            </a:r>
            <a:r>
              <a:rPr lang="en-US" sz="2200" dirty="0" smtClean="0">
                <a:solidFill>
                  <a:srgbClr val="009900"/>
                </a:solidFill>
                <a:latin typeface="Times New Roman" pitchFamily="18" charset="0"/>
                <a:cs typeface="Times New Roman" pitchFamily="18" charset="0"/>
              </a:rPr>
              <a:t>main objectives </a:t>
            </a:r>
            <a:r>
              <a:rPr lang="en-US" sz="2200" dirty="0">
                <a:solidFill>
                  <a:srgbClr val="009900"/>
                </a:solidFill>
                <a:latin typeface="Times New Roman" pitchFamily="18" charset="0"/>
                <a:cs typeface="Times New Roman" pitchFamily="18" charset="0"/>
              </a:rPr>
              <a:t>are</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to </a:t>
            </a:r>
            <a:r>
              <a:rPr lang="en-US" sz="2200" dirty="0">
                <a:solidFill>
                  <a:srgbClr val="009900"/>
                </a:solidFill>
                <a:latin typeface="Times New Roman" pitchFamily="18" charset="0"/>
                <a:cs typeface="Times New Roman" pitchFamily="18" charset="0"/>
              </a:rPr>
              <a:t>reduce overall energy demand,</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to </a:t>
            </a:r>
            <a:r>
              <a:rPr lang="en-US" sz="2200" dirty="0">
                <a:solidFill>
                  <a:srgbClr val="009900"/>
                </a:solidFill>
                <a:latin typeface="Times New Roman" pitchFamily="18" charset="0"/>
                <a:cs typeface="Times New Roman" pitchFamily="18" charset="0"/>
              </a:rPr>
              <a:t>lower energy cost,</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to </a:t>
            </a:r>
            <a:r>
              <a:rPr lang="en-US" sz="2200" dirty="0">
                <a:solidFill>
                  <a:srgbClr val="009900"/>
                </a:solidFill>
                <a:latin typeface="Times New Roman" pitchFamily="18" charset="0"/>
                <a:cs typeface="Times New Roman" pitchFamily="18" charset="0"/>
              </a:rPr>
              <a:t>reduce energy consumption,</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to </a:t>
            </a:r>
            <a:r>
              <a:rPr lang="en-US" sz="2200" dirty="0">
                <a:solidFill>
                  <a:srgbClr val="009900"/>
                </a:solidFill>
                <a:latin typeface="Times New Roman" pitchFamily="18" charset="0"/>
                <a:cs typeface="Times New Roman" pitchFamily="18" charset="0"/>
              </a:rPr>
              <a:t>lower the overall green house gas emission.</a:t>
            </a:r>
          </a:p>
        </p:txBody>
      </p:sp>
    </p:spTree>
  </p:cSld>
  <p:clrMapOvr>
    <a:masterClrMapping/>
  </p:clrMapOvr>
  <p:transition spd="slow">
    <p:wedg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305800" cy="5509200"/>
          </a:xfrm>
          <a:prstGeom prst="rect">
            <a:avLst/>
          </a:prstGeom>
        </p:spPr>
        <p:txBody>
          <a:bodyPr wrap="square">
            <a:spAutoFit/>
          </a:bodyPr>
          <a:lstStyle/>
          <a:p>
            <a:r>
              <a:rPr lang="en-US" sz="2200" b="1" dirty="0" smtClean="0">
                <a:solidFill>
                  <a:srgbClr val="FF0000"/>
                </a:solidFill>
                <a:latin typeface="Times New Roman" pitchFamily="18" charset="0"/>
                <a:cs typeface="Times New Roman" pitchFamily="18" charset="0"/>
              </a:rPr>
              <a:t>Principle (or) Law of conservation of energy </a:t>
            </a:r>
            <a:endParaRPr lang="en-US" sz="2200" b="1" dirty="0">
              <a:solidFill>
                <a:srgbClr val="FF00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principle of energy of conservation states </a:t>
            </a:r>
            <a:r>
              <a:rPr lang="en-US" sz="2200" dirty="0" smtClean="0">
                <a:solidFill>
                  <a:srgbClr val="009900"/>
                </a:solidFill>
                <a:latin typeface="Times New Roman" pitchFamily="18" charset="0"/>
                <a:cs typeface="Times New Roman" pitchFamily="18" charset="0"/>
              </a:rPr>
              <a:t>that energy </a:t>
            </a:r>
            <a:r>
              <a:rPr lang="en-US" sz="2200" dirty="0">
                <a:solidFill>
                  <a:srgbClr val="009900"/>
                </a:solidFill>
                <a:latin typeface="Times New Roman" pitchFamily="18" charset="0"/>
                <a:cs typeface="Times New Roman" pitchFamily="18" charset="0"/>
              </a:rPr>
              <a:t>can neither be created nor destroyed but it can </a:t>
            </a:r>
            <a:r>
              <a:rPr lang="en-US" sz="2200" dirty="0" smtClean="0">
                <a:solidFill>
                  <a:srgbClr val="009900"/>
                </a:solidFill>
                <a:latin typeface="Times New Roman" pitchFamily="18" charset="0"/>
                <a:cs typeface="Times New Roman" pitchFamily="18" charset="0"/>
              </a:rPr>
              <a:t>be transformed </a:t>
            </a:r>
            <a:r>
              <a:rPr lang="en-US" sz="2200" dirty="0">
                <a:solidFill>
                  <a:srgbClr val="009900"/>
                </a:solidFill>
                <a:latin typeface="Times New Roman" pitchFamily="18" charset="0"/>
                <a:cs typeface="Times New Roman" pitchFamily="18" charset="0"/>
              </a:rPr>
              <a:t>from one type to another.</a:t>
            </a:r>
          </a:p>
          <a:p>
            <a:pPr>
              <a:buFont typeface="Wingdings" pitchFamily="2" charset="2"/>
              <a:buChar char="q"/>
            </a:pPr>
            <a:r>
              <a:rPr lang="en-US" sz="2200" dirty="0" smtClean="0">
                <a:solidFill>
                  <a:srgbClr val="009900"/>
                </a:solidFill>
                <a:latin typeface="Times New Roman" pitchFamily="18" charset="0"/>
                <a:cs typeface="Times New Roman" pitchFamily="18" charset="0"/>
              </a:rPr>
              <a:t>  According </a:t>
            </a:r>
            <a:r>
              <a:rPr lang="en-US" sz="2200" dirty="0">
                <a:solidFill>
                  <a:srgbClr val="009900"/>
                </a:solidFill>
                <a:latin typeface="Times New Roman" pitchFamily="18" charset="0"/>
                <a:cs typeface="Times New Roman" pitchFamily="18" charset="0"/>
              </a:rPr>
              <a:t>to this the total energy of an </a:t>
            </a:r>
            <a:r>
              <a:rPr lang="en-US" sz="2200" dirty="0" smtClean="0">
                <a:solidFill>
                  <a:srgbClr val="009900"/>
                </a:solidFill>
                <a:latin typeface="Times New Roman" pitchFamily="18" charset="0"/>
                <a:cs typeface="Times New Roman" pitchFamily="18" charset="0"/>
              </a:rPr>
              <a:t>isolated system </a:t>
            </a:r>
            <a:r>
              <a:rPr lang="en-US" sz="2200" dirty="0">
                <a:solidFill>
                  <a:srgbClr val="009900"/>
                </a:solidFill>
                <a:latin typeface="Times New Roman" pitchFamily="18" charset="0"/>
                <a:cs typeface="Times New Roman" pitchFamily="18" charset="0"/>
              </a:rPr>
              <a:t>remains constant.</a:t>
            </a:r>
          </a:p>
          <a:p>
            <a:r>
              <a:rPr lang="en-US" sz="2200" dirty="0">
                <a:latin typeface="Times New Roman" pitchFamily="18" charset="0"/>
                <a:cs typeface="Times New Roman" pitchFamily="18" charset="0"/>
              </a:rPr>
              <a:t> </a:t>
            </a:r>
            <a:r>
              <a:rPr lang="en-US" sz="2200" b="1" dirty="0" smtClean="0">
                <a:solidFill>
                  <a:srgbClr val="FF0000"/>
                </a:solidFill>
                <a:latin typeface="Times New Roman" pitchFamily="18" charset="0"/>
                <a:cs typeface="Times New Roman" pitchFamily="18" charset="0"/>
              </a:rPr>
              <a:t>Importance of energy conservation </a:t>
            </a:r>
            <a:endParaRPr lang="en-US" sz="2200" b="1" dirty="0">
              <a:solidFill>
                <a:srgbClr val="FF00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Energy </a:t>
            </a:r>
            <a:r>
              <a:rPr lang="en-US" sz="2200" dirty="0">
                <a:solidFill>
                  <a:srgbClr val="009900"/>
                </a:solidFill>
                <a:latin typeface="Times New Roman" pitchFamily="18" charset="0"/>
                <a:cs typeface="Times New Roman" pitchFamily="18" charset="0"/>
              </a:rPr>
              <a:t>conservation is very important because of </a:t>
            </a:r>
            <a:r>
              <a:rPr lang="en-US" sz="2200" dirty="0" smtClean="0">
                <a:solidFill>
                  <a:srgbClr val="009900"/>
                </a:solidFill>
                <a:latin typeface="Times New Roman" pitchFamily="18" charset="0"/>
                <a:cs typeface="Times New Roman" pitchFamily="18" charset="0"/>
              </a:rPr>
              <a:t>the following </a:t>
            </a:r>
            <a:r>
              <a:rPr lang="en-US" sz="2200" dirty="0">
                <a:solidFill>
                  <a:srgbClr val="009900"/>
                </a:solidFill>
                <a:latin typeface="Times New Roman" pitchFamily="18" charset="0"/>
                <a:cs typeface="Times New Roman" pitchFamily="18" charset="0"/>
              </a:rPr>
              <a:t>reasons</a:t>
            </a:r>
            <a:r>
              <a:rPr lang="en-US" sz="2200" dirty="0" smtClean="0">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It </a:t>
            </a:r>
            <a:r>
              <a:rPr lang="en-US" sz="2200" dirty="0">
                <a:solidFill>
                  <a:srgbClr val="009900"/>
                </a:solidFill>
                <a:latin typeface="Times New Roman" pitchFamily="18" charset="0"/>
                <a:cs typeface="Times New Roman" pitchFamily="18" charset="0"/>
              </a:rPr>
              <a:t>reduces our usage of non-renewable </a:t>
            </a:r>
            <a:r>
              <a:rPr lang="en-US" sz="2200" dirty="0" smtClean="0">
                <a:solidFill>
                  <a:srgbClr val="009900"/>
                </a:solidFill>
                <a:latin typeface="Times New Roman" pitchFamily="18" charset="0"/>
                <a:cs typeface="Times New Roman" pitchFamily="18" charset="0"/>
              </a:rPr>
              <a:t>energy resources </a:t>
            </a:r>
            <a:r>
              <a:rPr lang="en-US" sz="2200" dirty="0">
                <a:solidFill>
                  <a:srgbClr val="009900"/>
                </a:solidFill>
                <a:latin typeface="Times New Roman" pitchFamily="18" charset="0"/>
                <a:cs typeface="Times New Roman" pitchFamily="18" charset="0"/>
              </a:rPr>
              <a:t>(like fossil fuels).</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It </a:t>
            </a:r>
            <a:r>
              <a:rPr lang="en-US" sz="2200" dirty="0">
                <a:solidFill>
                  <a:srgbClr val="009900"/>
                </a:solidFill>
                <a:latin typeface="Times New Roman" pitchFamily="18" charset="0"/>
                <a:cs typeface="Times New Roman" pitchFamily="18" charset="0"/>
              </a:rPr>
              <a:t>also helps you to save money on energy </a:t>
            </a:r>
            <a:r>
              <a:rPr lang="en-US" sz="2200" dirty="0" smtClean="0">
                <a:solidFill>
                  <a:srgbClr val="009900"/>
                </a:solidFill>
                <a:latin typeface="Times New Roman" pitchFamily="18" charset="0"/>
                <a:cs typeface="Times New Roman" pitchFamily="18" charset="0"/>
              </a:rPr>
              <a:t>costs including </a:t>
            </a:r>
            <a:r>
              <a:rPr lang="en-US" sz="2200" dirty="0">
                <a:solidFill>
                  <a:srgbClr val="009900"/>
                </a:solidFill>
                <a:latin typeface="Times New Roman" pitchFamily="18" charset="0"/>
                <a:cs typeface="Times New Roman" pitchFamily="18" charset="0"/>
              </a:rPr>
              <a:t>utility bills and other energy bills.</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It </a:t>
            </a:r>
            <a:r>
              <a:rPr lang="en-US" sz="2200" dirty="0">
                <a:solidFill>
                  <a:srgbClr val="009900"/>
                </a:solidFill>
                <a:latin typeface="Times New Roman" pitchFamily="18" charset="0"/>
                <a:cs typeface="Times New Roman" pitchFamily="18" charset="0"/>
              </a:rPr>
              <a:t>also cuts down on expanding development, </a:t>
            </a:r>
            <a:r>
              <a:rPr lang="en-US" sz="2200" dirty="0" smtClean="0">
                <a:solidFill>
                  <a:srgbClr val="009900"/>
                </a:solidFill>
                <a:latin typeface="Times New Roman" pitchFamily="18" charset="0"/>
                <a:cs typeface="Times New Roman" pitchFamily="18" charset="0"/>
              </a:rPr>
              <a:t>where natural </a:t>
            </a:r>
            <a:r>
              <a:rPr lang="en-US" sz="2200" dirty="0">
                <a:solidFill>
                  <a:srgbClr val="009900"/>
                </a:solidFill>
                <a:latin typeface="Times New Roman" pitchFamily="18" charset="0"/>
                <a:cs typeface="Times New Roman" pitchFamily="18" charset="0"/>
              </a:rPr>
              <a:t>resource extraction is impacting natural areas.</a:t>
            </a:r>
          </a:p>
        </p:txBody>
      </p:sp>
    </p:spTree>
  </p:cSld>
  <p:clrMapOvr>
    <a:masterClrMapping/>
  </p:clrMapOvr>
  <p:transition spd="slow">
    <p:wedg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066800"/>
            <a:ext cx="8153400" cy="5509200"/>
          </a:xfrm>
          <a:prstGeom prst="rect">
            <a:avLst/>
          </a:prstGeom>
        </p:spPr>
        <p:txBody>
          <a:bodyPr wrap="square">
            <a:spAutoFit/>
          </a:bodyPr>
          <a:lstStyle/>
          <a:p>
            <a:pPr>
              <a:buFont typeface="Wingdings" pitchFamily="2" charset="2"/>
              <a:buChar char="Ø"/>
            </a:pPr>
            <a:r>
              <a:rPr lang="en-US" sz="2200" dirty="0" smtClean="0">
                <a:solidFill>
                  <a:srgbClr val="009900"/>
                </a:solidFill>
                <a:latin typeface="Times New Roman" pitchFamily="18" charset="0"/>
                <a:cs typeface="Times New Roman" pitchFamily="18" charset="0"/>
              </a:rPr>
              <a:t> </a:t>
            </a:r>
            <a:r>
              <a:rPr lang="en-US" sz="2200" dirty="0">
                <a:solidFill>
                  <a:srgbClr val="009900"/>
                </a:solidFill>
                <a:latin typeface="Times New Roman" pitchFamily="18" charset="0"/>
                <a:cs typeface="Times New Roman" pitchFamily="18" charset="0"/>
              </a:rPr>
              <a:t>When we conserve energy more efficiently, </a:t>
            </a:r>
            <a:r>
              <a:rPr lang="en-US" sz="2200" dirty="0" smtClean="0">
                <a:solidFill>
                  <a:srgbClr val="009900"/>
                </a:solidFill>
                <a:latin typeface="Times New Roman" pitchFamily="18" charset="0"/>
                <a:cs typeface="Times New Roman" pitchFamily="18" charset="0"/>
              </a:rPr>
              <a:t>we directly </a:t>
            </a:r>
            <a:r>
              <a:rPr lang="en-US" sz="2200" dirty="0">
                <a:solidFill>
                  <a:srgbClr val="009900"/>
                </a:solidFill>
                <a:latin typeface="Times New Roman" pitchFamily="18" charset="0"/>
                <a:cs typeface="Times New Roman" pitchFamily="18" charset="0"/>
              </a:rPr>
              <a:t>reduce the amount of green house </a:t>
            </a:r>
            <a:r>
              <a:rPr lang="en-US" sz="2200" dirty="0" smtClean="0">
                <a:solidFill>
                  <a:srgbClr val="009900"/>
                </a:solidFill>
                <a:latin typeface="Times New Roman" pitchFamily="18" charset="0"/>
                <a:cs typeface="Times New Roman" pitchFamily="18" charset="0"/>
              </a:rPr>
              <a:t>gas emissions </a:t>
            </a:r>
            <a:r>
              <a:rPr lang="en-US" sz="2200" dirty="0">
                <a:solidFill>
                  <a:srgbClr val="009900"/>
                </a:solidFill>
                <a:latin typeface="Times New Roman" pitchFamily="18" charset="0"/>
                <a:cs typeface="Times New Roman" pitchFamily="18" charset="0"/>
              </a:rPr>
              <a:t>entering the earth’s atmosphere.</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a:t>
            </a:r>
            <a:r>
              <a:rPr lang="en-US" sz="2200" dirty="0">
                <a:solidFill>
                  <a:srgbClr val="009900"/>
                </a:solidFill>
                <a:latin typeface="Times New Roman" pitchFamily="18" charset="0"/>
                <a:cs typeface="Times New Roman" pitchFamily="18" charset="0"/>
              </a:rPr>
              <a:t>It insists us to replace the energy, used, with </a:t>
            </a:r>
            <a:r>
              <a:rPr lang="en-US" sz="2200" dirty="0" smtClean="0">
                <a:solidFill>
                  <a:srgbClr val="009900"/>
                </a:solidFill>
                <a:latin typeface="Times New Roman" pitchFamily="18" charset="0"/>
                <a:cs typeface="Times New Roman" pitchFamily="18" charset="0"/>
              </a:rPr>
              <a:t>an alternate </a:t>
            </a:r>
            <a:r>
              <a:rPr lang="en-US" sz="2200" dirty="0">
                <a:solidFill>
                  <a:srgbClr val="009900"/>
                </a:solidFill>
                <a:latin typeface="Times New Roman" pitchFamily="18" charset="0"/>
                <a:cs typeface="Times New Roman" pitchFamily="18" charset="0"/>
              </a:rPr>
              <a:t>energy source</a:t>
            </a:r>
            <a:r>
              <a:rPr lang="en-US" sz="2200" dirty="0" smtClean="0">
                <a:solidFill>
                  <a:srgbClr val="009900"/>
                </a:solidFill>
                <a:latin typeface="Times New Roman" pitchFamily="18" charset="0"/>
                <a:cs typeface="Times New Roman" pitchFamily="18" charset="0"/>
              </a:rPr>
              <a:t>.</a:t>
            </a:r>
          </a:p>
          <a:p>
            <a:endParaRPr lang="en-US" sz="2200" dirty="0">
              <a:solidFill>
                <a:srgbClr val="FF0000"/>
              </a:solidFill>
              <a:latin typeface="Times New Roman" pitchFamily="18" charset="0"/>
              <a:cs typeface="Times New Roman" pitchFamily="18" charset="0"/>
            </a:endParaRPr>
          </a:p>
          <a:p>
            <a:r>
              <a:rPr lang="en-US" sz="2200" b="1" dirty="0" smtClean="0">
                <a:solidFill>
                  <a:srgbClr val="FF0000"/>
                </a:solidFill>
                <a:latin typeface="Times New Roman" pitchFamily="18" charset="0"/>
                <a:cs typeface="Times New Roman" pitchFamily="18" charset="0"/>
              </a:rPr>
              <a:t>15 ways to conserve energy (or) conservation </a:t>
            </a:r>
            <a:endParaRPr lang="en-US" sz="2200" b="1" dirty="0">
              <a:solidFill>
                <a:srgbClr val="FF00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There </a:t>
            </a:r>
            <a:r>
              <a:rPr lang="en-US" sz="2200" dirty="0">
                <a:solidFill>
                  <a:srgbClr val="009900"/>
                </a:solidFill>
                <a:latin typeface="Times New Roman" pitchFamily="18" charset="0"/>
                <a:cs typeface="Times New Roman" pitchFamily="18" charset="0"/>
              </a:rPr>
              <a:t>are 15 ways to start conserving energy</a:t>
            </a:r>
            <a:r>
              <a:rPr lang="en-US" sz="2200" dirty="0" smtClean="0">
                <a:solidFill>
                  <a:srgbClr val="0099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1. Adjust your day-to-day behaviors</a:t>
            </a:r>
          </a:p>
          <a:p>
            <a:r>
              <a:rPr lang="en-US" sz="2200" b="1" dirty="0">
                <a:latin typeface="Times New Roman" pitchFamily="18" charset="0"/>
                <a:cs typeface="Times New Roman" pitchFamily="18" charset="0"/>
              </a:rPr>
              <a:t>Example</a:t>
            </a:r>
          </a:p>
          <a:p>
            <a:pPr>
              <a:buFont typeface="Wingdings" pitchFamily="2" charset="2"/>
              <a:buChar char="q"/>
            </a:pPr>
            <a:r>
              <a:rPr lang="en-US" sz="2200" dirty="0" smtClean="0">
                <a:solidFill>
                  <a:srgbClr val="009900"/>
                </a:solidFill>
                <a:latin typeface="Times New Roman" pitchFamily="18" charset="0"/>
                <a:cs typeface="Times New Roman" pitchFamily="18" charset="0"/>
              </a:rPr>
              <a:t>  Switch </a:t>
            </a:r>
            <a:r>
              <a:rPr lang="en-US" sz="2200" dirty="0">
                <a:solidFill>
                  <a:srgbClr val="009900"/>
                </a:solidFill>
                <a:latin typeface="Times New Roman" pitchFamily="18" charset="0"/>
                <a:cs typeface="Times New Roman" pitchFamily="18" charset="0"/>
              </a:rPr>
              <a:t>off lights (or) appliances when you do </a:t>
            </a:r>
            <a:r>
              <a:rPr lang="en-US" sz="2200" dirty="0" smtClean="0">
                <a:solidFill>
                  <a:srgbClr val="009900"/>
                </a:solidFill>
                <a:latin typeface="Times New Roman" pitchFamily="18" charset="0"/>
                <a:cs typeface="Times New Roman" pitchFamily="18" charset="0"/>
              </a:rPr>
              <a:t>not need </a:t>
            </a:r>
            <a:r>
              <a:rPr lang="en-US" sz="2200" dirty="0">
                <a:solidFill>
                  <a:srgbClr val="009900"/>
                </a:solidFill>
                <a:latin typeface="Times New Roman" pitchFamily="18" charset="0"/>
                <a:cs typeface="Times New Roman" pitchFamily="18" charset="0"/>
              </a:rPr>
              <a:t>them</a:t>
            </a:r>
            <a:r>
              <a:rPr lang="en-US" sz="2200" dirty="0" smtClean="0">
                <a:solidFill>
                  <a:srgbClr val="0099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2. Replace your light bulbs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Traditional </a:t>
            </a:r>
            <a:r>
              <a:rPr lang="en-US" sz="2200" dirty="0">
                <a:solidFill>
                  <a:srgbClr val="009900"/>
                </a:solidFill>
                <a:latin typeface="Times New Roman" pitchFamily="18" charset="0"/>
                <a:cs typeface="Times New Roman" pitchFamily="18" charset="0"/>
              </a:rPr>
              <a:t>incandescent light bulbs consume </a:t>
            </a:r>
            <a:r>
              <a:rPr lang="en-US" sz="2200" dirty="0" smtClean="0">
                <a:solidFill>
                  <a:srgbClr val="009900"/>
                </a:solidFill>
                <a:latin typeface="Times New Roman" pitchFamily="18" charset="0"/>
                <a:cs typeface="Times New Roman" pitchFamily="18" charset="0"/>
              </a:rPr>
              <a:t>more amount </a:t>
            </a:r>
            <a:r>
              <a:rPr lang="en-US" sz="2200" dirty="0">
                <a:solidFill>
                  <a:srgbClr val="009900"/>
                </a:solidFill>
                <a:latin typeface="Times New Roman" pitchFamily="18" charset="0"/>
                <a:cs typeface="Times New Roman" pitchFamily="18" charset="0"/>
              </a:rPr>
              <a:t>of electricity and must be replaced by </a:t>
            </a:r>
            <a:r>
              <a:rPr lang="en-US" sz="2200" dirty="0" smtClean="0">
                <a:solidFill>
                  <a:srgbClr val="009900"/>
                </a:solidFill>
                <a:latin typeface="Times New Roman" pitchFamily="18" charset="0"/>
                <a:cs typeface="Times New Roman" pitchFamily="18" charset="0"/>
              </a:rPr>
              <a:t>energy efficient </a:t>
            </a:r>
            <a:r>
              <a:rPr lang="en-US" sz="2200" dirty="0">
                <a:solidFill>
                  <a:srgbClr val="009900"/>
                </a:solidFill>
                <a:latin typeface="Times New Roman" pitchFamily="18" charset="0"/>
                <a:cs typeface="Times New Roman" pitchFamily="18" charset="0"/>
              </a:rPr>
              <a:t>alternatives like CFL and LED bulbs.</a:t>
            </a:r>
          </a:p>
        </p:txBody>
      </p:sp>
    </p:spTree>
  </p:cSld>
  <p:clrMapOvr>
    <a:masterClrMapping/>
  </p:clrMapOvr>
  <p:transition spd="slow">
    <p:wedg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696200" cy="5509200"/>
          </a:xfrm>
          <a:prstGeom prst="rect">
            <a:avLst/>
          </a:prstGeom>
        </p:spPr>
        <p:txBody>
          <a:bodyPr wrap="square">
            <a:spAutoFit/>
          </a:bodyPr>
          <a:lstStyle/>
          <a:p>
            <a:r>
              <a:rPr lang="en-US" sz="2200" b="1" dirty="0">
                <a:solidFill>
                  <a:srgbClr val="00B0F0"/>
                </a:solidFill>
                <a:latin typeface="Times New Roman" pitchFamily="18" charset="0"/>
                <a:cs typeface="Times New Roman" pitchFamily="18" charset="0"/>
              </a:rPr>
              <a:t>3. Use smart power strips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a:t>
            </a:r>
            <a:r>
              <a:rPr lang="en-US" sz="2200" dirty="0">
                <a:solidFill>
                  <a:srgbClr val="009900"/>
                </a:solidFill>
                <a:latin typeface="Times New Roman" pitchFamily="18" charset="0"/>
                <a:cs typeface="Times New Roman" pitchFamily="18" charset="0"/>
              </a:rPr>
              <a:t>Phantom loads” (or) the electricity used </a:t>
            </a:r>
            <a:r>
              <a:rPr lang="en-US" sz="2200" dirty="0" smtClean="0">
                <a:solidFill>
                  <a:srgbClr val="009900"/>
                </a:solidFill>
                <a:latin typeface="Times New Roman" pitchFamily="18" charset="0"/>
                <a:cs typeface="Times New Roman" pitchFamily="18" charset="0"/>
              </a:rPr>
              <a:t>by electronics</a:t>
            </a:r>
            <a:r>
              <a:rPr lang="en-US" sz="2200" dirty="0">
                <a:solidFill>
                  <a:srgbClr val="009900"/>
                </a:solidFill>
                <a:latin typeface="Times New Roman" pitchFamily="18" charset="0"/>
                <a:cs typeface="Times New Roman" pitchFamily="18" charset="0"/>
              </a:rPr>
              <a:t>, when they are turned off (or) stand by </a:t>
            </a:r>
            <a:r>
              <a:rPr lang="en-US" sz="2200" dirty="0" smtClean="0">
                <a:solidFill>
                  <a:srgbClr val="009900"/>
                </a:solidFill>
                <a:latin typeface="Times New Roman" pitchFamily="18" charset="0"/>
                <a:cs typeface="Times New Roman" pitchFamily="18" charset="0"/>
              </a:rPr>
              <a:t>mode, are </a:t>
            </a:r>
            <a:r>
              <a:rPr lang="en-US" sz="2200" dirty="0">
                <a:solidFill>
                  <a:srgbClr val="009900"/>
                </a:solidFill>
                <a:latin typeface="Times New Roman" pitchFamily="18" charset="0"/>
                <a:cs typeface="Times New Roman" pitchFamily="18" charset="0"/>
              </a:rPr>
              <a:t>the major source of energy waste</a:t>
            </a:r>
            <a:r>
              <a:rPr lang="en-US" sz="2200" dirty="0" smtClean="0">
                <a:solidFill>
                  <a:srgbClr val="009900"/>
                </a:solidFill>
                <a:latin typeface="Times New Roman" pitchFamily="18" charset="0"/>
                <a:cs typeface="Times New Roman" pitchFamily="18" charset="0"/>
              </a:rPr>
              <a:t>.</a:t>
            </a:r>
          </a:p>
          <a:p>
            <a:pPr>
              <a:buFont typeface="Wingdings" pitchFamily="2" charset="2"/>
              <a:buChar char="q"/>
            </a:pPr>
            <a:r>
              <a:rPr lang="en-US" sz="2200" dirty="0" smtClean="0">
                <a:solidFill>
                  <a:srgbClr val="009900"/>
                </a:solidFill>
                <a:latin typeface="Times New Roman" pitchFamily="18" charset="0"/>
                <a:cs typeface="Times New Roman" pitchFamily="18" charset="0"/>
              </a:rPr>
              <a:t> </a:t>
            </a:r>
            <a:r>
              <a:rPr lang="en-US" sz="2200" dirty="0">
                <a:solidFill>
                  <a:srgbClr val="009900"/>
                </a:solidFill>
                <a:latin typeface="Times New Roman" pitchFamily="18" charset="0"/>
                <a:cs typeface="Times New Roman" pitchFamily="18" charset="0"/>
              </a:rPr>
              <a:t>Smart power </a:t>
            </a:r>
            <a:r>
              <a:rPr lang="en-US" sz="2200" dirty="0" smtClean="0">
                <a:solidFill>
                  <a:srgbClr val="009900"/>
                </a:solidFill>
                <a:latin typeface="Times New Roman" pitchFamily="18" charset="0"/>
                <a:cs typeface="Times New Roman" pitchFamily="18" charset="0"/>
              </a:rPr>
              <a:t>strips, eliminate </a:t>
            </a:r>
            <a:r>
              <a:rPr lang="en-US" sz="2200" dirty="0">
                <a:solidFill>
                  <a:srgbClr val="009900"/>
                </a:solidFill>
                <a:latin typeface="Times New Roman" pitchFamily="18" charset="0"/>
                <a:cs typeface="Times New Roman" pitchFamily="18" charset="0"/>
              </a:rPr>
              <a:t>this problem, when they are not in use</a:t>
            </a:r>
            <a:r>
              <a:rPr lang="en-US" sz="2200" dirty="0" smtClean="0">
                <a:solidFill>
                  <a:srgbClr val="009900"/>
                </a:solidFill>
                <a:latin typeface="Times New Roman" pitchFamily="18" charset="0"/>
                <a:cs typeface="Times New Roman" pitchFamily="18" charset="0"/>
              </a:rPr>
              <a:t>.</a:t>
            </a:r>
          </a:p>
          <a:p>
            <a:endParaRPr lang="en-US" sz="2200"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4. Install a programmable (or) smart thermostat</a:t>
            </a:r>
          </a:p>
          <a:p>
            <a:pPr>
              <a:buFont typeface="Wingdings" pitchFamily="2" charset="2"/>
              <a:buChar char="q"/>
            </a:pPr>
            <a:r>
              <a:rPr lang="en-US" sz="2200" dirty="0" smtClean="0">
                <a:solidFill>
                  <a:srgbClr val="009900"/>
                </a:solidFill>
                <a:latin typeface="Times New Roman" pitchFamily="18" charset="0"/>
                <a:cs typeface="Times New Roman" pitchFamily="18" charset="0"/>
              </a:rPr>
              <a:t>  It </a:t>
            </a:r>
            <a:r>
              <a:rPr lang="en-US" sz="2200" dirty="0">
                <a:solidFill>
                  <a:srgbClr val="009900"/>
                </a:solidFill>
                <a:latin typeface="Times New Roman" pitchFamily="18" charset="0"/>
                <a:cs typeface="Times New Roman" pitchFamily="18" charset="0"/>
              </a:rPr>
              <a:t>automatically turn-off (or) reduce heating </a:t>
            </a:r>
            <a:r>
              <a:rPr lang="en-US" sz="2200" dirty="0" smtClean="0">
                <a:solidFill>
                  <a:srgbClr val="009900"/>
                </a:solidFill>
                <a:latin typeface="Times New Roman" pitchFamily="18" charset="0"/>
                <a:cs typeface="Times New Roman" pitchFamily="18" charset="0"/>
              </a:rPr>
              <a:t>and cooling </a:t>
            </a:r>
            <a:r>
              <a:rPr lang="en-US" sz="2200" dirty="0">
                <a:solidFill>
                  <a:srgbClr val="009900"/>
                </a:solidFill>
                <a:latin typeface="Times New Roman" pitchFamily="18" charset="0"/>
                <a:cs typeface="Times New Roman" pitchFamily="18" charset="0"/>
              </a:rPr>
              <a:t>during the time when you are asleep (or) away</a:t>
            </a:r>
            <a:r>
              <a:rPr lang="en-US" sz="2200" dirty="0" smtClean="0">
                <a:solidFill>
                  <a:srgbClr val="009900"/>
                </a:solidFill>
                <a:latin typeface="Times New Roman" pitchFamily="18" charset="0"/>
                <a:cs typeface="Times New Roman" pitchFamily="18" charset="0"/>
              </a:rPr>
              <a:t>.</a:t>
            </a:r>
          </a:p>
          <a:p>
            <a:endParaRPr lang="en-US" sz="2200"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5. Purchase energy efficient appliances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These </a:t>
            </a:r>
            <a:r>
              <a:rPr lang="en-US" sz="2200" dirty="0">
                <a:solidFill>
                  <a:srgbClr val="009900"/>
                </a:solidFill>
                <a:latin typeface="Times New Roman" pitchFamily="18" charset="0"/>
                <a:cs typeface="Times New Roman" pitchFamily="18" charset="0"/>
              </a:rPr>
              <a:t>will consume less energy during use.</a:t>
            </a:r>
          </a:p>
          <a:p>
            <a:r>
              <a:rPr lang="en-US" sz="2200" b="1" dirty="0">
                <a:solidFill>
                  <a:srgbClr val="00B0F0"/>
                </a:solidFill>
                <a:latin typeface="Times New Roman" pitchFamily="18" charset="0"/>
                <a:cs typeface="Times New Roman" pitchFamily="18" charset="0"/>
              </a:rPr>
              <a:t>6. Reduce your water heating expenses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Efficient </a:t>
            </a:r>
            <a:r>
              <a:rPr lang="en-US" sz="2200" dirty="0">
                <a:solidFill>
                  <a:srgbClr val="009900"/>
                </a:solidFill>
                <a:latin typeface="Times New Roman" pitchFamily="18" charset="0"/>
                <a:cs typeface="Times New Roman" pitchFamily="18" charset="0"/>
              </a:rPr>
              <a:t>water heaters can be 8% to 300% </a:t>
            </a:r>
            <a:r>
              <a:rPr lang="en-US" sz="2200" dirty="0" smtClean="0">
                <a:solidFill>
                  <a:srgbClr val="009900"/>
                </a:solidFill>
                <a:latin typeface="Times New Roman" pitchFamily="18" charset="0"/>
                <a:cs typeface="Times New Roman" pitchFamily="18" charset="0"/>
              </a:rPr>
              <a:t>more energy </a:t>
            </a:r>
            <a:r>
              <a:rPr lang="en-US" sz="2200" dirty="0">
                <a:solidFill>
                  <a:srgbClr val="009900"/>
                </a:solidFill>
                <a:latin typeface="Times New Roman" pitchFamily="18" charset="0"/>
                <a:cs typeface="Times New Roman" pitchFamily="18" charset="0"/>
              </a:rPr>
              <a:t>efficient than a conventional storage water heater.</a:t>
            </a:r>
          </a:p>
        </p:txBody>
      </p:sp>
    </p:spTree>
  </p:cSld>
  <p:clrMapOvr>
    <a:masterClrMapping/>
  </p:clrMapOvr>
  <p:transition spd="slow">
    <p:wedg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066800"/>
            <a:ext cx="8001000" cy="5509200"/>
          </a:xfrm>
          <a:prstGeom prst="rect">
            <a:avLst/>
          </a:prstGeom>
        </p:spPr>
        <p:txBody>
          <a:bodyPr wrap="square">
            <a:spAutoFit/>
          </a:bodyPr>
          <a:lstStyle/>
          <a:p>
            <a:r>
              <a:rPr lang="en-US" sz="2200" b="1" dirty="0">
                <a:solidFill>
                  <a:srgbClr val="00B0F0"/>
                </a:solidFill>
                <a:latin typeface="Times New Roman" pitchFamily="18" charset="0"/>
                <a:cs typeface="Times New Roman" pitchFamily="18" charset="0"/>
              </a:rPr>
              <a:t>7. Install energy efficient windows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To </a:t>
            </a:r>
            <a:r>
              <a:rPr lang="en-US" sz="2200" dirty="0">
                <a:solidFill>
                  <a:srgbClr val="009900"/>
                </a:solidFill>
                <a:latin typeface="Times New Roman" pitchFamily="18" charset="0"/>
                <a:cs typeface="Times New Roman" pitchFamily="18" charset="0"/>
              </a:rPr>
              <a:t>prevent heat loss through your windows,</a:t>
            </a:r>
          </a:p>
          <a:p>
            <a:pPr lvl="1">
              <a:buFont typeface="Wingdings" pitchFamily="2" charset="2"/>
              <a:buChar char="Ø"/>
            </a:pPr>
            <a:r>
              <a:rPr lang="en-US" sz="2200" dirty="0" smtClean="0">
                <a:solidFill>
                  <a:srgbClr val="009900"/>
                </a:solidFill>
                <a:latin typeface="Times New Roman" pitchFamily="18" charset="0"/>
                <a:cs typeface="Times New Roman" pitchFamily="18" charset="0"/>
              </a:rPr>
              <a:t>  you </a:t>
            </a:r>
            <a:r>
              <a:rPr lang="en-US" sz="2200" dirty="0">
                <a:solidFill>
                  <a:srgbClr val="009900"/>
                </a:solidFill>
                <a:latin typeface="Times New Roman" pitchFamily="18" charset="0"/>
                <a:cs typeface="Times New Roman" pitchFamily="18" charset="0"/>
              </a:rPr>
              <a:t>can replace single-pane windows </a:t>
            </a:r>
            <a:r>
              <a:rPr lang="en-US" sz="2200" dirty="0" smtClean="0">
                <a:solidFill>
                  <a:srgbClr val="009900"/>
                </a:solidFill>
                <a:latin typeface="Times New Roman" pitchFamily="18" charset="0"/>
                <a:cs typeface="Times New Roman" pitchFamily="18" charset="0"/>
              </a:rPr>
              <a:t>with double-pane </a:t>
            </a:r>
            <a:r>
              <a:rPr lang="en-US" sz="2200" dirty="0">
                <a:solidFill>
                  <a:srgbClr val="009900"/>
                </a:solidFill>
                <a:latin typeface="Times New Roman" pitchFamily="18" charset="0"/>
                <a:cs typeface="Times New Roman" pitchFamily="18" charset="0"/>
              </a:rPr>
              <a:t>windows,</a:t>
            </a:r>
          </a:p>
          <a:p>
            <a:pPr lvl="1">
              <a:buFont typeface="Wingdings" pitchFamily="2" charset="2"/>
              <a:buChar char="Ø"/>
            </a:pPr>
            <a:r>
              <a:rPr lang="en-US" sz="2200" dirty="0" smtClean="0">
                <a:solidFill>
                  <a:srgbClr val="009900"/>
                </a:solidFill>
                <a:latin typeface="Times New Roman" pitchFamily="18" charset="0"/>
                <a:cs typeface="Times New Roman" pitchFamily="18" charset="0"/>
              </a:rPr>
              <a:t>  gas </a:t>
            </a:r>
            <a:r>
              <a:rPr lang="en-US" sz="2200" dirty="0">
                <a:solidFill>
                  <a:srgbClr val="009900"/>
                </a:solidFill>
                <a:latin typeface="Times New Roman" pitchFamily="18" charset="0"/>
                <a:cs typeface="Times New Roman" pitchFamily="18" charset="0"/>
              </a:rPr>
              <a:t>filled windows with “low-e” coatings </a:t>
            </a:r>
            <a:r>
              <a:rPr lang="en-US" sz="2200" dirty="0" smtClean="0">
                <a:solidFill>
                  <a:srgbClr val="009900"/>
                </a:solidFill>
                <a:latin typeface="Times New Roman" pitchFamily="18" charset="0"/>
                <a:cs typeface="Times New Roman" pitchFamily="18" charset="0"/>
              </a:rPr>
              <a:t>can be </a:t>
            </a:r>
            <a:r>
              <a:rPr lang="en-US" sz="2200" dirty="0">
                <a:solidFill>
                  <a:srgbClr val="009900"/>
                </a:solidFill>
                <a:latin typeface="Times New Roman" pitchFamily="18" charset="0"/>
                <a:cs typeface="Times New Roman" pitchFamily="18" charset="0"/>
              </a:rPr>
              <a:t>fixed</a:t>
            </a:r>
            <a:r>
              <a:rPr lang="en-US" sz="2200" dirty="0" smtClean="0">
                <a:solidFill>
                  <a:srgbClr val="0099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8. Upgrade your HVAC system</a:t>
            </a:r>
          </a:p>
          <a:p>
            <a:pPr>
              <a:buFont typeface="Wingdings" pitchFamily="2" charset="2"/>
              <a:buChar char="q"/>
            </a:pPr>
            <a:r>
              <a:rPr lang="en-US" sz="2200" dirty="0" smtClean="0">
                <a:solidFill>
                  <a:srgbClr val="009900"/>
                </a:solidFill>
                <a:latin typeface="Times New Roman" pitchFamily="18" charset="0"/>
                <a:cs typeface="Times New Roman" pitchFamily="18" charset="0"/>
              </a:rPr>
              <a:t>  Most </a:t>
            </a:r>
            <a:r>
              <a:rPr lang="en-US" sz="2200" dirty="0">
                <a:solidFill>
                  <a:srgbClr val="009900"/>
                </a:solidFill>
                <a:latin typeface="Times New Roman" pitchFamily="18" charset="0"/>
                <a:cs typeface="Times New Roman" pitchFamily="18" charset="0"/>
              </a:rPr>
              <a:t>energy efficient way to upgrade your </a:t>
            </a:r>
            <a:r>
              <a:rPr lang="en-US" sz="2200" dirty="0" smtClean="0">
                <a:solidFill>
                  <a:srgbClr val="009900"/>
                </a:solidFill>
                <a:latin typeface="Times New Roman" pitchFamily="18" charset="0"/>
                <a:cs typeface="Times New Roman" pitchFamily="18" charset="0"/>
              </a:rPr>
              <a:t>home’s HVAC </a:t>
            </a:r>
            <a:r>
              <a:rPr lang="en-US" sz="2200" dirty="0">
                <a:solidFill>
                  <a:srgbClr val="009900"/>
                </a:solidFill>
                <a:latin typeface="Times New Roman" pitchFamily="18" charset="0"/>
                <a:cs typeface="Times New Roman" pitchFamily="18" charset="0"/>
              </a:rPr>
              <a:t>system is installing air source heat pump</a:t>
            </a:r>
            <a:r>
              <a:rPr lang="en-US" sz="2200" dirty="0" smtClean="0">
                <a:solidFill>
                  <a:srgbClr val="009900"/>
                </a:solidFill>
                <a:latin typeface="Times New Roman" pitchFamily="18" charset="0"/>
                <a:cs typeface="Times New Roman" pitchFamily="18" charset="0"/>
              </a:rPr>
              <a:t>.</a:t>
            </a:r>
          </a:p>
          <a:p>
            <a:pPr>
              <a:buFont typeface="Wingdings" pitchFamily="2" charset="2"/>
              <a:buChar char="q"/>
            </a:pPr>
            <a:r>
              <a:rPr lang="en-US" sz="2200" dirty="0" smtClean="0">
                <a:solidFill>
                  <a:srgbClr val="009900"/>
                </a:solidFill>
                <a:latin typeface="Times New Roman" pitchFamily="18" charset="0"/>
                <a:cs typeface="Times New Roman" pitchFamily="18" charset="0"/>
              </a:rPr>
              <a:t>  In order to </a:t>
            </a:r>
            <a:r>
              <a:rPr lang="en-US" sz="2200" dirty="0">
                <a:solidFill>
                  <a:srgbClr val="009900"/>
                </a:solidFill>
                <a:latin typeface="Times New Roman" pitchFamily="18" charset="0"/>
                <a:cs typeface="Times New Roman" pitchFamily="18" charset="0"/>
              </a:rPr>
              <a:t>heat and cool your home a heat pump transfers </a:t>
            </a:r>
            <a:r>
              <a:rPr lang="en-US" sz="2200" dirty="0" smtClean="0">
                <a:solidFill>
                  <a:srgbClr val="009900"/>
                </a:solidFill>
                <a:latin typeface="Times New Roman" pitchFamily="18" charset="0"/>
                <a:cs typeface="Times New Roman" pitchFamily="18" charset="0"/>
              </a:rPr>
              <a:t>heat from </a:t>
            </a:r>
            <a:r>
              <a:rPr lang="en-US" sz="2200" dirty="0">
                <a:solidFill>
                  <a:srgbClr val="009900"/>
                </a:solidFill>
                <a:latin typeface="Times New Roman" pitchFamily="18" charset="0"/>
                <a:cs typeface="Times New Roman" pitchFamily="18" charset="0"/>
              </a:rPr>
              <a:t>one place to another</a:t>
            </a:r>
            <a:r>
              <a:rPr lang="en-US" sz="2200" dirty="0" smtClean="0">
                <a:solidFill>
                  <a:srgbClr val="0099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9. Weatherize your home</a:t>
            </a:r>
          </a:p>
          <a:p>
            <a:pPr>
              <a:buFont typeface="Wingdings" pitchFamily="2" charset="2"/>
              <a:buChar char="q"/>
            </a:pPr>
            <a:r>
              <a:rPr lang="en-US" sz="2200" dirty="0" smtClean="0">
                <a:solidFill>
                  <a:srgbClr val="009900"/>
                </a:solidFill>
                <a:latin typeface="Times New Roman" pitchFamily="18" charset="0"/>
                <a:cs typeface="Times New Roman" pitchFamily="18" charset="0"/>
              </a:rPr>
              <a:t>  Air </a:t>
            </a:r>
            <a:r>
              <a:rPr lang="en-US" sz="2200" dirty="0">
                <a:solidFill>
                  <a:srgbClr val="009900"/>
                </a:solidFill>
                <a:latin typeface="Times New Roman" pitchFamily="18" charset="0"/>
                <a:cs typeface="Times New Roman" pitchFamily="18" charset="0"/>
              </a:rPr>
              <a:t>leaks into your home are windows, doors </a:t>
            </a:r>
            <a:r>
              <a:rPr lang="en-US" sz="2200" dirty="0" smtClean="0">
                <a:solidFill>
                  <a:srgbClr val="009900"/>
                </a:solidFill>
                <a:latin typeface="Times New Roman" pitchFamily="18" charset="0"/>
                <a:cs typeface="Times New Roman" pitchFamily="18" charset="0"/>
              </a:rPr>
              <a:t>and vents</a:t>
            </a:r>
            <a:r>
              <a:rPr lang="en-US" sz="2200" dirty="0">
                <a:solidFill>
                  <a:srgbClr val="009900"/>
                </a:solidFill>
                <a:latin typeface="Times New Roman" pitchFamily="18" charset="0"/>
                <a:cs typeface="Times New Roman" pitchFamily="18" charset="0"/>
              </a:rPr>
              <a:t>.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To </a:t>
            </a:r>
            <a:r>
              <a:rPr lang="en-US" sz="2200" dirty="0">
                <a:solidFill>
                  <a:srgbClr val="009900"/>
                </a:solidFill>
                <a:latin typeface="Times New Roman" pitchFamily="18" charset="0"/>
                <a:cs typeface="Times New Roman" pitchFamily="18" charset="0"/>
              </a:rPr>
              <a:t>prevent these leaks, care must be taken in </a:t>
            </a:r>
            <a:r>
              <a:rPr lang="en-US" sz="2200" dirty="0" smtClean="0">
                <a:solidFill>
                  <a:srgbClr val="009900"/>
                </a:solidFill>
                <a:latin typeface="Times New Roman" pitchFamily="18" charset="0"/>
                <a:cs typeface="Times New Roman" pitchFamily="18" charset="0"/>
              </a:rPr>
              <a:t>such a </a:t>
            </a:r>
            <a:r>
              <a:rPr lang="en-US" sz="2200" dirty="0">
                <a:solidFill>
                  <a:srgbClr val="009900"/>
                </a:solidFill>
                <a:latin typeface="Times New Roman" pitchFamily="18" charset="0"/>
                <a:cs typeface="Times New Roman" pitchFamily="18" charset="0"/>
              </a:rPr>
              <a:t>way that no cracks (or) opening between the walls </a:t>
            </a:r>
            <a:r>
              <a:rPr lang="en-US" sz="2200" dirty="0" smtClean="0">
                <a:solidFill>
                  <a:srgbClr val="009900"/>
                </a:solidFill>
                <a:latin typeface="Times New Roman" pitchFamily="18" charset="0"/>
                <a:cs typeface="Times New Roman" pitchFamily="18" charset="0"/>
              </a:rPr>
              <a:t>and windows </a:t>
            </a:r>
            <a:r>
              <a:rPr lang="en-US" sz="2200" dirty="0">
                <a:solidFill>
                  <a:srgbClr val="009900"/>
                </a:solidFill>
                <a:latin typeface="Times New Roman" pitchFamily="18" charset="0"/>
                <a:cs typeface="Times New Roman" pitchFamily="18" charset="0"/>
              </a:rPr>
              <a:t>is present.</a:t>
            </a:r>
          </a:p>
        </p:txBody>
      </p:sp>
    </p:spTree>
  </p:cSld>
  <p:clrMapOvr>
    <a:masterClrMapping/>
  </p:clrMapOvr>
  <p:transition spd="slow">
    <p:wedg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772400" cy="5509200"/>
          </a:xfrm>
          <a:prstGeom prst="rect">
            <a:avLst/>
          </a:prstGeom>
        </p:spPr>
        <p:txBody>
          <a:bodyPr wrap="square">
            <a:spAutoFit/>
          </a:bodyPr>
          <a:lstStyle/>
          <a:p>
            <a:r>
              <a:rPr lang="en-US" sz="2200" b="1" dirty="0">
                <a:solidFill>
                  <a:srgbClr val="00B0F0"/>
                </a:solidFill>
                <a:latin typeface="Times New Roman" pitchFamily="18" charset="0"/>
                <a:cs typeface="Times New Roman" pitchFamily="18" charset="0"/>
              </a:rPr>
              <a:t>10. Insulate your </a:t>
            </a:r>
            <a:r>
              <a:rPr lang="en-US" sz="2200" b="1" dirty="0" smtClean="0">
                <a:solidFill>
                  <a:srgbClr val="00B0F0"/>
                </a:solidFill>
                <a:latin typeface="Times New Roman" pitchFamily="18" charset="0"/>
                <a:cs typeface="Times New Roman" pitchFamily="18" charset="0"/>
              </a:rPr>
              <a:t>home</a:t>
            </a:r>
            <a:endParaRPr lang="en-US" sz="2200" b="1" dirty="0">
              <a:solidFill>
                <a:srgbClr val="00B0F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Insulation retains heat during the winter and keeping heat out of your home during the summer.</a:t>
            </a:r>
          </a:p>
          <a:p>
            <a:endParaRPr lang="en-US" sz="2200" dirty="0">
              <a:latin typeface="Times New Roman" pitchFamily="18" charset="0"/>
              <a:cs typeface="Times New Roman" pitchFamily="18" charset="0"/>
            </a:endParaRPr>
          </a:p>
          <a:p>
            <a:r>
              <a:rPr lang="en-US" sz="2200" dirty="0">
                <a:solidFill>
                  <a:srgbClr val="009900"/>
                </a:solidFill>
                <a:latin typeface="Times New Roman" pitchFamily="18" charset="0"/>
                <a:cs typeface="Times New Roman" pitchFamily="18" charset="0"/>
              </a:rPr>
              <a:t>11. Wash your clothes in cold water</a:t>
            </a:r>
            <a:r>
              <a:rPr lang="en-US" sz="2200" dirty="0" smtClean="0">
                <a:solidFill>
                  <a:srgbClr val="009900"/>
                </a:solidFill>
                <a:latin typeface="Times New Roman" pitchFamily="18" charset="0"/>
                <a:cs typeface="Times New Roman" pitchFamily="18" charset="0"/>
              </a:rPr>
              <a:t>.</a:t>
            </a:r>
          </a:p>
          <a:p>
            <a:endParaRPr lang="en-US" sz="2200" dirty="0">
              <a:solidFill>
                <a:srgbClr val="009900"/>
              </a:solidFill>
              <a:latin typeface="Times New Roman" pitchFamily="18" charset="0"/>
              <a:cs typeface="Times New Roman" pitchFamily="18" charset="0"/>
            </a:endParaRPr>
          </a:p>
          <a:p>
            <a:r>
              <a:rPr lang="en-US" sz="2200" dirty="0">
                <a:solidFill>
                  <a:srgbClr val="009900"/>
                </a:solidFill>
                <a:latin typeface="Times New Roman" pitchFamily="18" charset="0"/>
                <a:cs typeface="Times New Roman" pitchFamily="18" charset="0"/>
              </a:rPr>
              <a:t>12. Replacing dirty air filters regularly can reduce </a:t>
            </a:r>
            <a:r>
              <a:rPr lang="en-US" sz="2200" dirty="0" smtClean="0">
                <a:solidFill>
                  <a:srgbClr val="009900"/>
                </a:solidFill>
                <a:latin typeface="Times New Roman" pitchFamily="18" charset="0"/>
                <a:cs typeface="Times New Roman" pitchFamily="18" charset="0"/>
              </a:rPr>
              <a:t>energy consumption </a:t>
            </a:r>
            <a:r>
              <a:rPr lang="en-US" sz="2200" dirty="0" err="1">
                <a:solidFill>
                  <a:srgbClr val="009900"/>
                </a:solidFill>
                <a:latin typeface="Times New Roman" pitchFamily="18" charset="0"/>
                <a:cs typeface="Times New Roman" pitchFamily="18" charset="0"/>
              </a:rPr>
              <a:t>upto</a:t>
            </a:r>
            <a:r>
              <a:rPr lang="en-US" sz="2200" dirty="0">
                <a:solidFill>
                  <a:srgbClr val="009900"/>
                </a:solidFill>
                <a:latin typeface="Times New Roman" pitchFamily="18" charset="0"/>
                <a:cs typeface="Times New Roman" pitchFamily="18" charset="0"/>
              </a:rPr>
              <a:t> 15</a:t>
            </a:r>
            <a:r>
              <a:rPr lang="en-US" sz="2200" dirty="0" smtClean="0">
                <a:solidFill>
                  <a:srgbClr val="009900"/>
                </a:solidFill>
                <a:latin typeface="Times New Roman" pitchFamily="18" charset="0"/>
                <a:cs typeface="Times New Roman" pitchFamily="18" charset="0"/>
              </a:rPr>
              <a:t>%.</a:t>
            </a:r>
          </a:p>
          <a:p>
            <a:endParaRPr lang="en-US" sz="2200" dirty="0">
              <a:solidFill>
                <a:srgbClr val="009900"/>
              </a:solidFill>
              <a:latin typeface="Times New Roman" pitchFamily="18" charset="0"/>
              <a:cs typeface="Times New Roman" pitchFamily="18" charset="0"/>
            </a:endParaRPr>
          </a:p>
          <a:p>
            <a:r>
              <a:rPr lang="en-US" sz="2200" dirty="0">
                <a:solidFill>
                  <a:srgbClr val="009900"/>
                </a:solidFill>
                <a:latin typeface="Times New Roman" pitchFamily="18" charset="0"/>
                <a:cs typeface="Times New Roman" pitchFamily="18" charset="0"/>
              </a:rPr>
              <a:t>13. As microwave is more energy efficient, </a:t>
            </a:r>
            <a:r>
              <a:rPr lang="en-US" sz="2200" dirty="0" smtClean="0">
                <a:solidFill>
                  <a:srgbClr val="009900"/>
                </a:solidFill>
                <a:latin typeface="Times New Roman" pitchFamily="18" charset="0"/>
                <a:cs typeface="Times New Roman" pitchFamily="18" charset="0"/>
              </a:rPr>
              <a:t>microwave oven </a:t>
            </a:r>
            <a:r>
              <a:rPr lang="en-US" sz="2200" dirty="0">
                <a:solidFill>
                  <a:srgbClr val="009900"/>
                </a:solidFill>
                <a:latin typeface="Times New Roman" pitchFamily="18" charset="0"/>
                <a:cs typeface="Times New Roman" pitchFamily="18" charset="0"/>
              </a:rPr>
              <a:t>can be used instead of ordinary stove</a:t>
            </a:r>
            <a:r>
              <a:rPr lang="en-US" sz="2200" dirty="0" smtClean="0">
                <a:solidFill>
                  <a:srgbClr val="009900"/>
                </a:solidFill>
                <a:latin typeface="Times New Roman" pitchFamily="18" charset="0"/>
                <a:cs typeface="Times New Roman" pitchFamily="18" charset="0"/>
              </a:rPr>
              <a:t>.</a:t>
            </a:r>
          </a:p>
          <a:p>
            <a:endParaRPr lang="en-US" sz="2200" dirty="0" smtClean="0">
              <a:solidFill>
                <a:srgbClr val="009900"/>
              </a:solidFill>
              <a:latin typeface="Times New Roman" pitchFamily="18" charset="0"/>
              <a:cs typeface="Times New Roman" pitchFamily="18" charset="0"/>
            </a:endParaRPr>
          </a:p>
          <a:p>
            <a:r>
              <a:rPr lang="en-US" sz="2200" dirty="0">
                <a:solidFill>
                  <a:srgbClr val="009900"/>
                </a:solidFill>
                <a:latin typeface="Times New Roman" pitchFamily="18" charset="0"/>
                <a:cs typeface="Times New Roman" pitchFamily="18" charset="0"/>
              </a:rPr>
              <a:t>14. Using natural light, like sun, we can reduce </a:t>
            </a:r>
            <a:r>
              <a:rPr lang="en-US" sz="2200" dirty="0" smtClean="0">
                <a:solidFill>
                  <a:srgbClr val="009900"/>
                </a:solidFill>
                <a:latin typeface="Times New Roman" pitchFamily="18" charset="0"/>
                <a:cs typeface="Times New Roman" pitchFamily="18" charset="0"/>
              </a:rPr>
              <a:t>the energy </a:t>
            </a:r>
            <a:r>
              <a:rPr lang="en-US" sz="2200" dirty="0">
                <a:solidFill>
                  <a:srgbClr val="009900"/>
                </a:solidFill>
                <a:latin typeface="Times New Roman" pitchFamily="18" charset="0"/>
                <a:cs typeface="Times New Roman" pitchFamily="18" charset="0"/>
              </a:rPr>
              <a:t>consumption</a:t>
            </a:r>
            <a:r>
              <a:rPr lang="en-US" sz="2200" dirty="0" smtClean="0">
                <a:solidFill>
                  <a:srgbClr val="009900"/>
                </a:solidFill>
                <a:latin typeface="Times New Roman" pitchFamily="18" charset="0"/>
                <a:cs typeface="Times New Roman" pitchFamily="18" charset="0"/>
              </a:rPr>
              <a:t>.</a:t>
            </a:r>
          </a:p>
          <a:p>
            <a:endParaRPr lang="en-US" sz="2200" dirty="0">
              <a:solidFill>
                <a:srgbClr val="009900"/>
              </a:solidFill>
              <a:latin typeface="Times New Roman" pitchFamily="18" charset="0"/>
              <a:cs typeface="Times New Roman" pitchFamily="18" charset="0"/>
            </a:endParaRPr>
          </a:p>
          <a:p>
            <a:r>
              <a:rPr lang="en-US" sz="2200" dirty="0">
                <a:solidFill>
                  <a:srgbClr val="009900"/>
                </a:solidFill>
                <a:latin typeface="Times New Roman" pitchFamily="18" charset="0"/>
                <a:cs typeface="Times New Roman" pitchFamily="18" charset="0"/>
              </a:rPr>
              <a:t>15. Dress appropriately for the weather inside </a:t>
            </a:r>
            <a:r>
              <a:rPr lang="en-US" sz="2200" dirty="0" smtClean="0">
                <a:solidFill>
                  <a:srgbClr val="009900"/>
                </a:solidFill>
                <a:latin typeface="Times New Roman" pitchFamily="18" charset="0"/>
                <a:cs typeface="Times New Roman" pitchFamily="18" charset="0"/>
              </a:rPr>
              <a:t>and outside</a:t>
            </a:r>
            <a:r>
              <a:rPr lang="en-US" sz="2200" dirty="0">
                <a:solidFill>
                  <a:srgbClr val="009900"/>
                </a:solidFill>
                <a:latin typeface="Times New Roman" pitchFamily="18" charset="0"/>
                <a:cs typeface="Times New Roman" pitchFamily="18" charset="0"/>
              </a:rPr>
              <a:t>.</a:t>
            </a:r>
          </a:p>
        </p:txBody>
      </p:sp>
    </p:spTree>
  </p:cSld>
  <p:clrMapOvr>
    <a:masterClrMapping/>
  </p:clrMapOvr>
  <p:transition spd="slow">
    <p:wedg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077200" cy="5170646"/>
          </a:xfrm>
          <a:prstGeom prst="rect">
            <a:avLst/>
          </a:prstGeom>
        </p:spPr>
        <p:txBody>
          <a:bodyPr wrap="square">
            <a:spAutoFit/>
          </a:bodyPr>
          <a:lstStyle/>
          <a:p>
            <a:r>
              <a:rPr lang="en-US" sz="2200" b="1" i="1" dirty="0" smtClean="0">
                <a:solidFill>
                  <a:srgbClr val="C00000"/>
                </a:solidFill>
                <a:latin typeface="Times New Roman" pitchFamily="18" charset="0"/>
                <a:cs typeface="Times New Roman" pitchFamily="18" charset="0"/>
              </a:rPr>
              <a:t>3.2 NEW ENERGY SOURCES</a:t>
            </a:r>
          </a:p>
          <a:p>
            <a:endParaRPr lang="en-US" sz="2200" b="1" i="1" dirty="0">
              <a:latin typeface="Times New Roman" pitchFamily="18" charset="0"/>
              <a:cs typeface="Times New Roman" pitchFamily="18" charset="0"/>
            </a:endParaRPr>
          </a:p>
          <a:p>
            <a:r>
              <a:rPr lang="en-US" sz="2200" b="1" i="1" dirty="0" smtClean="0">
                <a:solidFill>
                  <a:srgbClr val="0070C0"/>
                </a:solidFill>
                <a:latin typeface="Times New Roman" pitchFamily="18" charset="0"/>
                <a:cs typeface="Times New Roman" pitchFamily="18" charset="0"/>
              </a:rPr>
              <a:t>3.2.1 </a:t>
            </a:r>
            <a:r>
              <a:rPr lang="en-US" sz="2200" b="1" i="1" dirty="0">
                <a:solidFill>
                  <a:srgbClr val="0070C0"/>
                </a:solidFill>
                <a:latin typeface="Times New Roman" pitchFamily="18" charset="0"/>
                <a:cs typeface="Times New Roman" pitchFamily="18" charset="0"/>
              </a:rPr>
              <a:t>Need</a:t>
            </a:r>
          </a:p>
          <a:p>
            <a:pPr>
              <a:buFont typeface="Wingdings" pitchFamily="2" charset="2"/>
              <a:buChar char="q"/>
            </a:pPr>
            <a:r>
              <a:rPr lang="en-US" sz="2200" dirty="0" smtClean="0">
                <a:solidFill>
                  <a:srgbClr val="009900"/>
                </a:solidFill>
                <a:latin typeface="Times New Roman" pitchFamily="18" charset="0"/>
                <a:cs typeface="Times New Roman" pitchFamily="18" charset="0"/>
              </a:rPr>
              <a:t>  Fossil </a:t>
            </a:r>
            <a:r>
              <a:rPr lang="en-US" sz="2200" dirty="0">
                <a:solidFill>
                  <a:srgbClr val="009900"/>
                </a:solidFill>
                <a:latin typeface="Times New Roman" pitchFamily="18" charset="0"/>
                <a:cs typeface="Times New Roman" pitchFamily="18" charset="0"/>
              </a:rPr>
              <a:t>fuels and nuclear energy are the </a:t>
            </a:r>
            <a:r>
              <a:rPr lang="en-US" sz="2200" dirty="0" smtClean="0">
                <a:solidFill>
                  <a:srgbClr val="009900"/>
                </a:solidFill>
                <a:latin typeface="Times New Roman" pitchFamily="18" charset="0"/>
                <a:cs typeface="Times New Roman" pitchFamily="18" charset="0"/>
              </a:rPr>
              <a:t>important resources </a:t>
            </a:r>
            <a:r>
              <a:rPr lang="en-US" sz="2200" dirty="0">
                <a:solidFill>
                  <a:srgbClr val="009900"/>
                </a:solidFill>
                <a:latin typeface="Times New Roman" pitchFamily="18" charset="0"/>
                <a:cs typeface="Times New Roman" pitchFamily="18" charset="0"/>
              </a:rPr>
              <a:t>used to meet most of our energy needs today</a:t>
            </a:r>
            <a:r>
              <a:rPr lang="en-US" sz="2200" dirty="0" smtClean="0">
                <a:solidFill>
                  <a:srgbClr val="009900"/>
                </a:solidFill>
                <a:latin typeface="Times New Roman" pitchFamily="18" charset="0"/>
                <a:cs typeface="Times New Roman" pitchFamily="18" charset="0"/>
              </a:rPr>
              <a:t>.</a:t>
            </a:r>
          </a:p>
          <a:p>
            <a:pPr>
              <a:buFont typeface="Wingdings" pitchFamily="2" charset="2"/>
              <a:buChar char="q"/>
            </a:pPr>
            <a:endParaRPr lang="en-US" sz="2200" dirty="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These </a:t>
            </a:r>
            <a:r>
              <a:rPr lang="en-US" sz="2200" dirty="0">
                <a:solidFill>
                  <a:srgbClr val="009900"/>
                </a:solidFill>
                <a:latin typeface="Times New Roman" pitchFamily="18" charset="0"/>
                <a:cs typeface="Times New Roman" pitchFamily="18" charset="0"/>
              </a:rPr>
              <a:t>are expected to be widely used in the near </a:t>
            </a:r>
            <a:r>
              <a:rPr lang="en-US" sz="2200" dirty="0" smtClean="0">
                <a:solidFill>
                  <a:srgbClr val="009900"/>
                </a:solidFill>
                <a:latin typeface="Times New Roman" pitchFamily="18" charset="0"/>
                <a:cs typeface="Times New Roman" pitchFamily="18" charset="0"/>
              </a:rPr>
              <a:t>future. </a:t>
            </a: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However</a:t>
            </a:r>
            <a:r>
              <a:rPr lang="en-US" sz="2200" dirty="0">
                <a:solidFill>
                  <a:srgbClr val="009900"/>
                </a:solidFill>
                <a:latin typeface="Times New Roman" pitchFamily="18" charset="0"/>
                <a:cs typeface="Times New Roman" pitchFamily="18" charset="0"/>
              </a:rPr>
              <a:t>, fossil and nuclear energy resources </a:t>
            </a:r>
            <a:r>
              <a:rPr lang="en-US" sz="2200" dirty="0" smtClean="0">
                <a:solidFill>
                  <a:srgbClr val="009900"/>
                </a:solidFill>
                <a:latin typeface="Times New Roman" pitchFamily="18" charset="0"/>
                <a:cs typeface="Times New Roman" pitchFamily="18" charset="0"/>
              </a:rPr>
              <a:t>are non-renewable </a:t>
            </a:r>
            <a:r>
              <a:rPr lang="en-US" sz="2200" dirty="0">
                <a:solidFill>
                  <a:srgbClr val="009900"/>
                </a:solidFill>
                <a:latin typeface="Times New Roman" pitchFamily="18" charset="0"/>
                <a:cs typeface="Times New Roman" pitchFamily="18" charset="0"/>
              </a:rPr>
              <a:t>and will someday be exhausted, while </a:t>
            </a:r>
            <a:r>
              <a:rPr lang="en-US" sz="2200" dirty="0" smtClean="0">
                <a:solidFill>
                  <a:srgbClr val="009900"/>
                </a:solidFill>
                <a:latin typeface="Times New Roman" pitchFamily="18" charset="0"/>
                <a:cs typeface="Times New Roman" pitchFamily="18" charset="0"/>
              </a:rPr>
              <a:t>their continued </a:t>
            </a:r>
            <a:r>
              <a:rPr lang="en-US" sz="2200" dirty="0">
                <a:solidFill>
                  <a:srgbClr val="009900"/>
                </a:solidFill>
                <a:latin typeface="Times New Roman" pitchFamily="18" charset="0"/>
                <a:cs typeface="Times New Roman" pitchFamily="18" charset="0"/>
              </a:rPr>
              <a:t>use possess environmental risks related to </a:t>
            </a:r>
            <a:r>
              <a:rPr lang="en-US" sz="2200" dirty="0" smtClean="0">
                <a:solidFill>
                  <a:srgbClr val="009900"/>
                </a:solidFill>
                <a:latin typeface="Times New Roman" pitchFamily="18" charset="0"/>
                <a:cs typeface="Times New Roman" pitchFamily="18" charset="0"/>
              </a:rPr>
              <a:t>air pollution</a:t>
            </a:r>
            <a:r>
              <a:rPr lang="en-US" sz="2200" dirty="0">
                <a:solidFill>
                  <a:srgbClr val="009900"/>
                </a:solidFill>
                <a:latin typeface="Times New Roman" pitchFamily="18" charset="0"/>
                <a:cs typeface="Times New Roman" pitchFamily="18" charset="0"/>
              </a:rPr>
              <a:t>, global climate change, land use and </a:t>
            </a:r>
            <a:r>
              <a:rPr lang="en-US" sz="2200" dirty="0" smtClean="0">
                <a:solidFill>
                  <a:srgbClr val="009900"/>
                </a:solidFill>
                <a:latin typeface="Times New Roman" pitchFamily="18" charset="0"/>
                <a:cs typeface="Times New Roman" pitchFamily="18" charset="0"/>
              </a:rPr>
              <a:t>waste disposal</a:t>
            </a:r>
            <a:r>
              <a:rPr lang="en-US" sz="2200" dirty="0">
                <a:solidFill>
                  <a:srgbClr val="009900"/>
                </a:solidFill>
                <a:latin typeface="Times New Roman" pitchFamily="18" charset="0"/>
                <a:cs typeface="Times New Roman" pitchFamily="18" charset="0"/>
              </a:rPr>
              <a:t>.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These </a:t>
            </a:r>
            <a:r>
              <a:rPr lang="en-US" sz="2200" dirty="0">
                <a:solidFill>
                  <a:srgbClr val="009900"/>
                </a:solidFill>
                <a:latin typeface="Times New Roman" pitchFamily="18" charset="0"/>
                <a:cs typeface="Times New Roman" pitchFamily="18" charset="0"/>
              </a:rPr>
              <a:t>issues have stimulated the search for </a:t>
            </a:r>
            <a:r>
              <a:rPr lang="en-US" sz="2200" dirty="0" smtClean="0">
                <a:solidFill>
                  <a:srgbClr val="009900"/>
                </a:solidFill>
                <a:latin typeface="Times New Roman" pitchFamily="18" charset="0"/>
                <a:cs typeface="Times New Roman" pitchFamily="18" charset="0"/>
              </a:rPr>
              <a:t>new energy </a:t>
            </a:r>
            <a:r>
              <a:rPr lang="en-US" sz="2200" dirty="0">
                <a:solidFill>
                  <a:srgbClr val="009900"/>
                </a:solidFill>
                <a:latin typeface="Times New Roman" pitchFamily="18" charset="0"/>
                <a:cs typeface="Times New Roman" pitchFamily="18" charset="0"/>
              </a:rPr>
              <a:t>sources for producing and using </a:t>
            </a:r>
            <a:r>
              <a:rPr lang="en-US" sz="2200" dirty="0" smtClean="0">
                <a:solidFill>
                  <a:srgbClr val="009900"/>
                </a:solidFill>
                <a:latin typeface="Times New Roman" pitchFamily="18" charset="0"/>
                <a:cs typeface="Times New Roman" pitchFamily="18" charset="0"/>
              </a:rPr>
              <a:t>energy.</a:t>
            </a:r>
            <a:endParaRPr lang="en-US" sz="22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7895492" cy="5847755"/>
          </a:xfrm>
          <a:prstGeom prst="rect">
            <a:avLst/>
          </a:prstGeom>
        </p:spPr>
        <p:txBody>
          <a:bodyPr wrap="square">
            <a:spAutoFit/>
          </a:bodyPr>
          <a:lstStyle/>
          <a:p>
            <a:r>
              <a:rPr lang="en-US" sz="2200" b="1" i="1" dirty="0">
                <a:solidFill>
                  <a:srgbClr val="0070C0"/>
                </a:solidFill>
                <a:latin typeface="Times New Roman" pitchFamily="18" charset="0"/>
                <a:cs typeface="Times New Roman" pitchFamily="18" charset="0"/>
              </a:rPr>
              <a:t>3.2.2 Different types of new energy sources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New </a:t>
            </a:r>
            <a:r>
              <a:rPr lang="en-US" sz="2200" dirty="0">
                <a:solidFill>
                  <a:srgbClr val="009900"/>
                </a:solidFill>
                <a:latin typeface="Times New Roman" pitchFamily="18" charset="0"/>
                <a:cs typeface="Times New Roman" pitchFamily="18" charset="0"/>
              </a:rPr>
              <a:t>energy sources (or) Renewable energy </a:t>
            </a:r>
            <a:r>
              <a:rPr lang="en-US" sz="2200" dirty="0" smtClean="0">
                <a:solidFill>
                  <a:srgbClr val="009900"/>
                </a:solidFill>
                <a:latin typeface="Times New Roman" pitchFamily="18" charset="0"/>
                <a:cs typeface="Times New Roman" pitchFamily="18" charset="0"/>
              </a:rPr>
              <a:t>resources that </a:t>
            </a:r>
            <a:r>
              <a:rPr lang="en-US" sz="2200" dirty="0">
                <a:solidFill>
                  <a:srgbClr val="009900"/>
                </a:solidFill>
                <a:latin typeface="Times New Roman" pitchFamily="18" charset="0"/>
                <a:cs typeface="Times New Roman" pitchFamily="18" charset="0"/>
              </a:rPr>
              <a:t>are being developed </a:t>
            </a:r>
            <a:r>
              <a:rPr lang="en-US" sz="2200" dirty="0" smtClean="0">
                <a:solidFill>
                  <a:srgbClr val="009900"/>
                </a:solidFill>
                <a:latin typeface="Times New Roman" pitchFamily="18" charset="0"/>
                <a:cs typeface="Times New Roman" pitchFamily="18" charset="0"/>
              </a:rPr>
              <a:t>include</a:t>
            </a:r>
          </a:p>
          <a:p>
            <a:endParaRPr lang="en-US" sz="2200" dirty="0">
              <a:latin typeface="Times New Roman" pitchFamily="18" charset="0"/>
              <a:cs typeface="Times New Roman" pitchFamily="18" charset="0"/>
            </a:endParaRPr>
          </a:p>
          <a:p>
            <a:pPr marL="1428750" lvl="2" indent="-514350">
              <a:buFont typeface="Wingdings" pitchFamily="2" charset="2"/>
              <a:buChar char="ü"/>
            </a:pPr>
            <a:r>
              <a:rPr lang="en-US" sz="2200" dirty="0" smtClean="0">
                <a:solidFill>
                  <a:srgbClr val="000099"/>
                </a:solidFill>
                <a:latin typeface="Times New Roman" pitchFamily="18" charset="0"/>
                <a:cs typeface="Times New Roman" pitchFamily="18" charset="0"/>
              </a:rPr>
              <a:t>Hydrogen </a:t>
            </a:r>
            <a:r>
              <a:rPr lang="en-US" sz="2200" dirty="0">
                <a:solidFill>
                  <a:srgbClr val="000099"/>
                </a:solidFill>
                <a:latin typeface="Times New Roman" pitchFamily="18" charset="0"/>
                <a:cs typeface="Times New Roman" pitchFamily="18" charset="0"/>
              </a:rPr>
              <a:t>energy</a:t>
            </a:r>
            <a:r>
              <a:rPr lang="en-US" sz="2200" dirty="0" smtClean="0">
                <a:solidFill>
                  <a:srgbClr val="000099"/>
                </a:solidFill>
                <a:latin typeface="Times New Roman" pitchFamily="18" charset="0"/>
                <a:cs typeface="Times New Roman" pitchFamily="18" charset="0"/>
              </a:rPr>
              <a:t>.</a:t>
            </a:r>
          </a:p>
          <a:p>
            <a:pPr marL="1428750" lvl="2" indent="-514350">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Ocean </a:t>
            </a:r>
            <a:r>
              <a:rPr lang="en-US" sz="2200" dirty="0">
                <a:solidFill>
                  <a:srgbClr val="000099"/>
                </a:solidFill>
                <a:latin typeface="Times New Roman" pitchFamily="18" charset="0"/>
                <a:cs typeface="Times New Roman" pitchFamily="18" charset="0"/>
              </a:rPr>
              <a:t>thermal energy conversion</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Tidal </a:t>
            </a:r>
            <a:r>
              <a:rPr lang="en-US" sz="2200" dirty="0">
                <a:solidFill>
                  <a:srgbClr val="000099"/>
                </a:solidFill>
                <a:latin typeface="Times New Roman" pitchFamily="18" charset="0"/>
                <a:cs typeface="Times New Roman" pitchFamily="18" charset="0"/>
              </a:rPr>
              <a:t>and wave energy</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Geothermal </a:t>
            </a:r>
            <a:r>
              <a:rPr lang="en-US" sz="2200" dirty="0">
                <a:solidFill>
                  <a:srgbClr val="000099"/>
                </a:solidFill>
                <a:latin typeface="Times New Roman" pitchFamily="18" charset="0"/>
                <a:cs typeface="Times New Roman" pitchFamily="18" charset="0"/>
              </a:rPr>
              <a:t>energy</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Solar </a:t>
            </a:r>
            <a:r>
              <a:rPr lang="en-US" sz="2200" dirty="0">
                <a:solidFill>
                  <a:srgbClr val="000099"/>
                </a:solidFill>
                <a:latin typeface="Times New Roman" pitchFamily="18" charset="0"/>
                <a:cs typeface="Times New Roman" pitchFamily="18" charset="0"/>
              </a:rPr>
              <a:t>energy</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Wind </a:t>
            </a:r>
            <a:r>
              <a:rPr lang="en-US" sz="2200" dirty="0">
                <a:solidFill>
                  <a:srgbClr val="000099"/>
                </a:solidFill>
                <a:latin typeface="Times New Roman" pitchFamily="18" charset="0"/>
                <a:cs typeface="Times New Roman" pitchFamily="18" charset="0"/>
              </a:rPr>
              <a:t>energy</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Bio-mass </a:t>
            </a:r>
            <a:r>
              <a:rPr lang="en-US" sz="2200" dirty="0">
                <a:solidFill>
                  <a:srgbClr val="000099"/>
                </a:solidFill>
                <a:latin typeface="Times New Roman" pitchFamily="18" charset="0"/>
                <a:cs typeface="Times New Roman" pitchFamily="18" charset="0"/>
              </a:rPr>
              <a:t>energy</a:t>
            </a:r>
            <a:r>
              <a:rPr lang="en-US" sz="2200" dirty="0" smtClean="0">
                <a:solidFill>
                  <a:srgbClr val="000099"/>
                </a:solidFill>
                <a:latin typeface="Times New Roman" pitchFamily="18" charset="0"/>
                <a:cs typeface="Times New Roman" pitchFamily="18" charset="0"/>
              </a:rPr>
              <a:t>.</a:t>
            </a:r>
            <a:endParaRPr lang="en-US" sz="2200" dirty="0">
              <a:solidFill>
                <a:srgbClr val="000099"/>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762000"/>
            <a:ext cx="7010400" cy="5847755"/>
          </a:xfrm>
          <a:prstGeom prst="rect">
            <a:avLst/>
          </a:prstGeom>
        </p:spPr>
        <p:txBody>
          <a:bodyPr wrap="square">
            <a:spAutoFit/>
          </a:bodyPr>
          <a:lstStyle/>
          <a:p>
            <a:pPr lvl="2">
              <a:buFont typeface="Wingdings" pitchFamily="2" charset="2"/>
              <a:buChar char="ü"/>
            </a:pPr>
            <a:r>
              <a:rPr lang="en-US" sz="2200" dirty="0" smtClean="0">
                <a:solidFill>
                  <a:srgbClr val="000099"/>
                </a:solidFill>
                <a:latin typeface="Times New Roman" pitchFamily="18" charset="0"/>
                <a:cs typeface="Times New Roman" pitchFamily="18" charset="0"/>
              </a:rPr>
              <a:t>  Artificial Intelligence (AI).</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a:t>
            </a:r>
            <a:r>
              <a:rPr lang="en-US" sz="2200" dirty="0" err="1" smtClean="0">
                <a:solidFill>
                  <a:srgbClr val="000099"/>
                </a:solidFill>
                <a:latin typeface="Times New Roman" pitchFamily="18" charset="0"/>
                <a:cs typeface="Times New Roman" pitchFamily="18" charset="0"/>
              </a:rPr>
              <a:t>Photovoltaics</a:t>
            </a:r>
            <a:r>
              <a:rPr lang="en-US" sz="2200" dirty="0" smtClean="0">
                <a:solidFill>
                  <a:srgbClr val="000099"/>
                </a:solidFill>
                <a:latin typeface="Times New Roman" pitchFamily="18" charset="0"/>
                <a:cs typeface="Times New Roman" pitchFamily="18" charset="0"/>
              </a:rPr>
              <a:t> (PV).</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Distributed energy storage systems (DESS).</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Grid </a:t>
            </a:r>
            <a:r>
              <a:rPr lang="en-US" sz="2200" dirty="0">
                <a:solidFill>
                  <a:srgbClr val="000099"/>
                </a:solidFill>
                <a:latin typeface="Times New Roman" pitchFamily="18" charset="0"/>
                <a:cs typeface="Times New Roman" pitchFamily="18" charset="0"/>
              </a:rPr>
              <a:t>integration</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Space </a:t>
            </a:r>
            <a:r>
              <a:rPr lang="en-US" sz="2200" dirty="0">
                <a:solidFill>
                  <a:srgbClr val="000099"/>
                </a:solidFill>
                <a:latin typeface="Times New Roman" pitchFamily="18" charset="0"/>
                <a:cs typeface="Times New Roman" pitchFamily="18" charset="0"/>
              </a:rPr>
              <a:t>technologies</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Norwegian </a:t>
            </a:r>
            <a:r>
              <a:rPr lang="en-US" sz="2200" dirty="0">
                <a:solidFill>
                  <a:srgbClr val="000099"/>
                </a:solidFill>
                <a:latin typeface="Times New Roman" pitchFamily="18" charset="0"/>
                <a:cs typeface="Times New Roman" pitchFamily="18" charset="0"/>
              </a:rPr>
              <a:t>Crystals</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Algal </a:t>
            </a:r>
            <a:r>
              <a:rPr lang="en-US" sz="2200" dirty="0">
                <a:solidFill>
                  <a:srgbClr val="000099"/>
                </a:solidFill>
                <a:latin typeface="Times New Roman" pitchFamily="18" charset="0"/>
                <a:cs typeface="Times New Roman" pitchFamily="18" charset="0"/>
              </a:rPr>
              <a:t>bio-fuels</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Body </a:t>
            </a:r>
            <a:r>
              <a:rPr lang="en-US" sz="2200" dirty="0">
                <a:solidFill>
                  <a:srgbClr val="000099"/>
                </a:solidFill>
                <a:latin typeface="Times New Roman" pitchFamily="18" charset="0"/>
                <a:cs typeface="Times New Roman" pitchFamily="18" charset="0"/>
              </a:rPr>
              <a:t>heat</a:t>
            </a:r>
            <a:r>
              <a:rPr lang="en-US" sz="2200" dirty="0" smtClean="0">
                <a:solidFill>
                  <a:srgbClr val="000099"/>
                </a:solidFill>
                <a:latin typeface="Times New Roman" pitchFamily="18" charset="0"/>
                <a:cs typeface="Times New Roman" pitchFamily="18" charset="0"/>
              </a:rPr>
              <a:t>.</a:t>
            </a:r>
          </a:p>
          <a:p>
            <a:pPr lvl="2">
              <a:buFont typeface="Wingdings" pitchFamily="2" charset="2"/>
              <a:buChar char="ü"/>
            </a:pPr>
            <a:endParaRPr lang="en-US" sz="2200" dirty="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Dance </a:t>
            </a:r>
            <a:r>
              <a:rPr lang="en-US" sz="2200" dirty="0">
                <a:solidFill>
                  <a:srgbClr val="000099"/>
                </a:solidFill>
                <a:latin typeface="Times New Roman" pitchFamily="18" charset="0"/>
                <a:cs typeface="Times New Roman" pitchFamily="18" charset="0"/>
              </a:rPr>
              <a:t>flowers.</a:t>
            </a:r>
          </a:p>
        </p:txBody>
      </p:sp>
    </p:spTree>
  </p:cSld>
  <p:clrMapOvr>
    <a:masterClrMapping/>
  </p:clrMapOvr>
  <p:transition spd="slow">
    <p:wedg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14400"/>
            <a:ext cx="8077200" cy="5509200"/>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1. Hydrogen</a:t>
            </a:r>
            <a:endParaRPr lang="en-US" sz="2200" b="1" dirty="0">
              <a:solidFill>
                <a:srgbClr val="00B0F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fuel that has potential of being widely used </a:t>
            </a:r>
            <a:r>
              <a:rPr lang="en-US" sz="2200" dirty="0" smtClean="0">
                <a:solidFill>
                  <a:srgbClr val="009900"/>
                </a:solidFill>
                <a:latin typeface="Times New Roman" pitchFamily="18" charset="0"/>
                <a:cs typeface="Times New Roman" pitchFamily="18" charset="0"/>
              </a:rPr>
              <a:t>in the </a:t>
            </a:r>
            <a:r>
              <a:rPr lang="en-US" sz="2200" dirty="0">
                <a:solidFill>
                  <a:srgbClr val="009900"/>
                </a:solidFill>
                <a:latin typeface="Times New Roman" pitchFamily="18" charset="0"/>
                <a:cs typeface="Times New Roman" pitchFamily="18" charset="0"/>
              </a:rPr>
              <a:t>future is hydrogen gas </a:t>
            </a:r>
            <a:r>
              <a:rPr lang="en-US" sz="2200" dirty="0" smtClean="0">
                <a:solidFill>
                  <a:srgbClr val="009900"/>
                </a:solidFill>
                <a:latin typeface="Times New Roman" pitchFamily="18" charset="0"/>
                <a:cs typeface="Times New Roman" pitchFamily="18" charset="0"/>
              </a:rPr>
              <a:t>( H   ).</a:t>
            </a:r>
          </a:p>
          <a:p>
            <a:pPr>
              <a:buFont typeface="Wingdings" pitchFamily="2" charset="2"/>
              <a:buChar char="q"/>
            </a:pPr>
            <a:r>
              <a:rPr lang="en-US" sz="2200" dirty="0" smtClean="0">
                <a:solidFill>
                  <a:srgbClr val="009900"/>
                </a:solidFill>
                <a:latin typeface="Times New Roman" pitchFamily="18" charset="0"/>
                <a:cs typeface="Times New Roman" pitchFamily="18" charset="0"/>
              </a:rPr>
              <a:t>  Like </a:t>
            </a:r>
            <a:r>
              <a:rPr lang="en-US" sz="2200" dirty="0">
                <a:solidFill>
                  <a:srgbClr val="009900"/>
                </a:solidFill>
                <a:latin typeface="Times New Roman" pitchFamily="18" charset="0"/>
                <a:cs typeface="Times New Roman" pitchFamily="18" charset="0"/>
              </a:rPr>
              <a:t>natural gas </a:t>
            </a:r>
            <a:r>
              <a:rPr lang="en-US" sz="2200" dirty="0" smtClean="0">
                <a:solidFill>
                  <a:srgbClr val="009900"/>
                </a:solidFill>
                <a:latin typeface="Times New Roman" pitchFamily="18" charset="0"/>
                <a:cs typeface="Times New Roman" pitchFamily="18" charset="0"/>
              </a:rPr>
              <a:t>hydrogen can </a:t>
            </a:r>
            <a:r>
              <a:rPr lang="en-US" sz="2200" dirty="0">
                <a:solidFill>
                  <a:srgbClr val="009900"/>
                </a:solidFill>
                <a:latin typeface="Times New Roman" pitchFamily="18" charset="0"/>
                <a:cs typeface="Times New Roman" pitchFamily="18" charset="0"/>
              </a:rPr>
              <a:t>be burned to heat buildings, cook food and </a:t>
            </a:r>
            <a:r>
              <a:rPr lang="en-US" sz="2200" dirty="0" smtClean="0">
                <a:solidFill>
                  <a:srgbClr val="009900"/>
                </a:solidFill>
                <a:latin typeface="Times New Roman" pitchFamily="18" charset="0"/>
                <a:cs typeface="Times New Roman" pitchFamily="18" charset="0"/>
              </a:rPr>
              <a:t>produce electricity </a:t>
            </a:r>
            <a:r>
              <a:rPr lang="en-US" sz="2200" dirty="0">
                <a:solidFill>
                  <a:srgbClr val="009900"/>
                </a:solidFill>
                <a:latin typeface="Times New Roman" pitchFamily="18" charset="0"/>
                <a:cs typeface="Times New Roman" pitchFamily="18" charset="0"/>
              </a:rPr>
              <a:t>in power </a:t>
            </a:r>
            <a:r>
              <a:rPr lang="en-US" sz="2200" dirty="0" smtClean="0">
                <a:solidFill>
                  <a:srgbClr val="009900"/>
                </a:solidFill>
                <a:latin typeface="Times New Roman" pitchFamily="18" charset="0"/>
                <a:cs typeface="Times New Roman" pitchFamily="18" charset="0"/>
              </a:rPr>
              <a:t>plants.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Hydrogen </a:t>
            </a:r>
            <a:r>
              <a:rPr lang="en-US" sz="2200" dirty="0">
                <a:solidFill>
                  <a:srgbClr val="009900"/>
                </a:solidFill>
                <a:latin typeface="Times New Roman" pitchFamily="18" charset="0"/>
                <a:cs typeface="Times New Roman" pitchFamily="18" charset="0"/>
              </a:rPr>
              <a:t>possess high calorific value.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It is non-polluting</a:t>
            </a:r>
            <a:r>
              <a:rPr lang="en-US" sz="2200" dirty="0">
                <a:solidFill>
                  <a:srgbClr val="009900"/>
                </a:solidFill>
                <a:latin typeface="Times New Roman" pitchFamily="18" charset="0"/>
                <a:cs typeface="Times New Roman" pitchFamily="18" charset="0"/>
              </a:rPr>
              <a:t>, because the combustion product is water</a:t>
            </a:r>
            <a:r>
              <a:rPr lang="en-US" sz="2200" dirty="0" smtClean="0">
                <a:solidFill>
                  <a:srgbClr val="009900"/>
                </a:solidFill>
                <a:latin typeface="Times New Roman" pitchFamily="18" charset="0"/>
                <a:cs typeface="Times New Roman" pitchFamily="18" charset="0"/>
              </a:rPr>
              <a:t>.</a:t>
            </a:r>
            <a:endParaRPr lang="en-US" sz="2200" dirty="0">
              <a:solidFill>
                <a:srgbClr val="009900"/>
              </a:solidFill>
              <a:latin typeface="Times New Roman" pitchFamily="18" charset="0"/>
              <a:cs typeface="Times New Roman" pitchFamily="18" charset="0"/>
            </a:endParaRPr>
          </a:p>
          <a:p>
            <a:r>
              <a:rPr lang="pt-BR" sz="2200" b="1" dirty="0" smtClean="0">
                <a:latin typeface="Times New Roman" pitchFamily="18" charset="0"/>
                <a:cs typeface="Times New Roman" pitchFamily="18" charset="0"/>
              </a:rPr>
              <a:t>                             2H   + O    </a:t>
            </a:r>
            <a:r>
              <a:rPr lang="pt-BR" sz="2200" b="1" dirty="0">
                <a:latin typeface="Times New Roman" pitchFamily="18" charset="0"/>
                <a:cs typeface="Times New Roman" pitchFamily="18" charset="0"/>
              </a:rPr>
              <a:t>−−−−−&gt; </a:t>
            </a:r>
            <a:r>
              <a:rPr lang="pt-BR" sz="2200" b="1" dirty="0" smtClean="0">
                <a:latin typeface="Times New Roman" pitchFamily="18" charset="0"/>
                <a:cs typeface="Times New Roman" pitchFamily="18" charset="0"/>
              </a:rPr>
              <a:t>2H   O </a:t>
            </a:r>
            <a:r>
              <a:rPr lang="pt-BR" sz="2200" b="1" dirty="0">
                <a:latin typeface="Times New Roman" pitchFamily="18" charset="0"/>
                <a:cs typeface="Times New Roman" pitchFamily="18" charset="0"/>
              </a:rPr>
              <a:t>+ 150 </a:t>
            </a:r>
            <a:r>
              <a:rPr lang="pt-BR" sz="2200" b="1" dirty="0" smtClean="0">
                <a:latin typeface="Times New Roman" pitchFamily="18" charset="0"/>
                <a:cs typeface="Times New Roman" pitchFamily="18" charset="0"/>
              </a:rPr>
              <a:t>kJ</a:t>
            </a:r>
            <a:endParaRPr lang="pt-BR" sz="2200" b="1" dirty="0">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H    </a:t>
            </a:r>
            <a:r>
              <a:rPr lang="en-US" sz="2200" dirty="0">
                <a:solidFill>
                  <a:srgbClr val="009900"/>
                </a:solidFill>
                <a:latin typeface="Times New Roman" pitchFamily="18" charset="0"/>
                <a:cs typeface="Times New Roman" pitchFamily="18" charset="0"/>
              </a:rPr>
              <a:t>gas can be compressed in a fuel tank and </a:t>
            </a:r>
            <a:r>
              <a:rPr lang="en-US" sz="2200" dirty="0" smtClean="0">
                <a:solidFill>
                  <a:srgbClr val="009900"/>
                </a:solidFill>
                <a:latin typeface="Times New Roman" pitchFamily="18" charset="0"/>
                <a:cs typeface="Times New Roman" pitchFamily="18" charset="0"/>
              </a:rPr>
              <a:t>used to </a:t>
            </a:r>
            <a:r>
              <a:rPr lang="en-US" sz="2200" dirty="0">
                <a:solidFill>
                  <a:srgbClr val="009900"/>
                </a:solidFill>
                <a:latin typeface="Times New Roman" pitchFamily="18" charset="0"/>
                <a:cs typeface="Times New Roman" pitchFamily="18" charset="0"/>
              </a:rPr>
              <a:t>power cars and buses</a:t>
            </a:r>
            <a:r>
              <a:rPr lang="en-US" sz="2200" dirty="0" smtClean="0">
                <a:solidFill>
                  <a:srgbClr val="0099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FF0000"/>
                </a:solidFill>
                <a:latin typeface="Times New Roman" pitchFamily="18" charset="0"/>
                <a:cs typeface="Times New Roman" pitchFamily="18" charset="0"/>
              </a:rPr>
              <a:t>Sources of hydrogen</a:t>
            </a:r>
          </a:p>
          <a:p>
            <a:pPr>
              <a:buFont typeface="Wingdings" pitchFamily="2" charset="2"/>
              <a:buChar char="v"/>
            </a:pPr>
            <a:r>
              <a:rPr lang="en-US" sz="2200" dirty="0" smtClean="0">
                <a:solidFill>
                  <a:srgbClr val="009900"/>
                </a:solidFill>
                <a:latin typeface="Times New Roman" pitchFamily="18" charset="0"/>
                <a:cs typeface="Times New Roman" pitchFamily="18" charset="0"/>
              </a:rPr>
              <a:t>  Plentiful </a:t>
            </a:r>
            <a:r>
              <a:rPr lang="en-US" sz="2200" dirty="0">
                <a:solidFill>
                  <a:srgbClr val="009900"/>
                </a:solidFill>
                <a:latin typeface="Times New Roman" pitchFamily="18" charset="0"/>
                <a:cs typeface="Times New Roman" pitchFamily="18" charset="0"/>
              </a:rPr>
              <a:t>hydrogen is available from water (</a:t>
            </a:r>
            <a:r>
              <a:rPr lang="en-US" sz="2200" dirty="0" smtClean="0">
                <a:solidFill>
                  <a:srgbClr val="009900"/>
                </a:solidFill>
                <a:latin typeface="Times New Roman" pitchFamily="18" charset="0"/>
                <a:cs typeface="Times New Roman" pitchFamily="18" charset="0"/>
              </a:rPr>
              <a:t>H  O). Water </a:t>
            </a:r>
            <a:r>
              <a:rPr lang="en-US" sz="2200" dirty="0">
                <a:solidFill>
                  <a:srgbClr val="009900"/>
                </a:solidFill>
                <a:latin typeface="Times New Roman" pitchFamily="18" charset="0"/>
                <a:cs typeface="Times New Roman" pitchFamily="18" charset="0"/>
              </a:rPr>
              <a:t>can be split into gaseous </a:t>
            </a:r>
            <a:r>
              <a:rPr lang="en-US" sz="2200" dirty="0" smtClean="0">
                <a:solidFill>
                  <a:srgbClr val="009900"/>
                </a:solidFill>
                <a:latin typeface="Times New Roman" pitchFamily="18" charset="0"/>
                <a:cs typeface="Times New Roman" pitchFamily="18" charset="0"/>
              </a:rPr>
              <a:t>H   and O    </a:t>
            </a:r>
            <a:r>
              <a:rPr lang="en-US" sz="2200" dirty="0">
                <a:solidFill>
                  <a:srgbClr val="009900"/>
                </a:solidFill>
                <a:latin typeface="Times New Roman" pitchFamily="18" charset="0"/>
                <a:cs typeface="Times New Roman" pitchFamily="18" charset="0"/>
              </a:rPr>
              <a:t>by </a:t>
            </a:r>
            <a:r>
              <a:rPr lang="en-US" sz="2200" dirty="0" smtClean="0">
                <a:solidFill>
                  <a:srgbClr val="009900"/>
                </a:solidFill>
                <a:latin typeface="Times New Roman" pitchFamily="18" charset="0"/>
                <a:cs typeface="Times New Roman" pitchFamily="18" charset="0"/>
              </a:rPr>
              <a:t>an electrolysis </a:t>
            </a:r>
            <a:r>
              <a:rPr lang="en-US" sz="2200" dirty="0">
                <a:solidFill>
                  <a:srgbClr val="009900"/>
                </a:solidFill>
                <a:latin typeface="Times New Roman" pitchFamily="18" charset="0"/>
                <a:cs typeface="Times New Roman" pitchFamily="18" charset="0"/>
              </a:rPr>
              <a:t>process.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a:t>
            </a:r>
            <a:r>
              <a:rPr lang="en-US" sz="2200" dirty="0">
                <a:solidFill>
                  <a:srgbClr val="009900"/>
                </a:solidFill>
                <a:latin typeface="Times New Roman" pitchFamily="18" charset="0"/>
                <a:cs typeface="Times New Roman" pitchFamily="18" charset="0"/>
              </a:rPr>
              <a:t>Hydrogen can also be produced from natural gas </a:t>
            </a:r>
            <a:r>
              <a:rPr lang="en-US" sz="2200" dirty="0" smtClean="0">
                <a:solidFill>
                  <a:srgbClr val="009900"/>
                </a:solidFill>
                <a:latin typeface="Times New Roman" pitchFamily="18" charset="0"/>
                <a:cs typeface="Times New Roman" pitchFamily="18" charset="0"/>
              </a:rPr>
              <a:t>and biomass </a:t>
            </a:r>
            <a:r>
              <a:rPr lang="en-US" sz="2200" dirty="0">
                <a:solidFill>
                  <a:srgbClr val="009900"/>
                </a:solidFill>
                <a:latin typeface="Times New Roman" pitchFamily="18" charset="0"/>
                <a:cs typeface="Times New Roman" pitchFamily="18" charset="0"/>
              </a:rPr>
              <a:t>resources.</a:t>
            </a:r>
          </a:p>
        </p:txBody>
      </p:sp>
      <p:sp>
        <p:nvSpPr>
          <p:cNvPr id="3" name="Rectangle 2"/>
          <p:cNvSpPr/>
          <p:nvPr/>
        </p:nvSpPr>
        <p:spPr>
          <a:xfrm>
            <a:off x="2514600" y="19050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
        <p:nvSpPr>
          <p:cNvPr id="4" name="Rectangle 3"/>
          <p:cNvSpPr/>
          <p:nvPr/>
        </p:nvSpPr>
        <p:spPr>
          <a:xfrm>
            <a:off x="2971800" y="3581400"/>
            <a:ext cx="2286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2</a:t>
            </a:r>
            <a:endParaRPr lang="en-US" sz="2000" b="1" dirty="0">
              <a:solidFill>
                <a:schemeClr val="tx1"/>
              </a:solidFill>
              <a:latin typeface="Times New Roman" pitchFamily="18" charset="0"/>
              <a:cs typeface="Times New Roman" pitchFamily="18" charset="0"/>
            </a:endParaRPr>
          </a:p>
        </p:txBody>
      </p:sp>
      <p:sp>
        <p:nvSpPr>
          <p:cNvPr id="5" name="Rectangle 4"/>
          <p:cNvSpPr/>
          <p:nvPr/>
        </p:nvSpPr>
        <p:spPr>
          <a:xfrm>
            <a:off x="3581400" y="3581400"/>
            <a:ext cx="2286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2</a:t>
            </a:r>
            <a:endParaRPr lang="en-US" sz="2000" b="1" dirty="0">
              <a:solidFill>
                <a:schemeClr val="tx1"/>
              </a:solidFill>
              <a:latin typeface="Times New Roman" pitchFamily="18" charset="0"/>
              <a:cs typeface="Times New Roman" pitchFamily="18" charset="0"/>
            </a:endParaRPr>
          </a:p>
        </p:txBody>
      </p:sp>
      <p:sp>
        <p:nvSpPr>
          <p:cNvPr id="6" name="Rectangle 5"/>
          <p:cNvSpPr/>
          <p:nvPr/>
        </p:nvSpPr>
        <p:spPr>
          <a:xfrm>
            <a:off x="5334000" y="35814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2</a:t>
            </a:r>
            <a:endParaRPr lang="en-US" sz="2000" b="1" dirty="0">
              <a:solidFill>
                <a:schemeClr val="tx1"/>
              </a:solidFill>
              <a:latin typeface="Times New Roman" pitchFamily="18" charset="0"/>
              <a:cs typeface="Times New Roman" pitchFamily="18" charset="0"/>
            </a:endParaRPr>
          </a:p>
        </p:txBody>
      </p:sp>
      <p:sp>
        <p:nvSpPr>
          <p:cNvPr id="7" name="Rectangle 6"/>
          <p:cNvSpPr/>
          <p:nvPr/>
        </p:nvSpPr>
        <p:spPr>
          <a:xfrm>
            <a:off x="1219200" y="38862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
        <p:nvSpPr>
          <p:cNvPr id="8" name="Rectangle 7"/>
          <p:cNvSpPr/>
          <p:nvPr/>
        </p:nvSpPr>
        <p:spPr>
          <a:xfrm>
            <a:off x="6019800" y="5257800"/>
            <a:ext cx="2286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
        <p:nvSpPr>
          <p:cNvPr id="9" name="Rectangle 8"/>
          <p:cNvSpPr/>
          <p:nvPr/>
        </p:nvSpPr>
        <p:spPr>
          <a:xfrm>
            <a:off x="2819400" y="55626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
        <p:nvSpPr>
          <p:cNvPr id="10" name="Rectangle 9"/>
          <p:cNvSpPr/>
          <p:nvPr/>
        </p:nvSpPr>
        <p:spPr>
          <a:xfrm>
            <a:off x="3733800" y="55626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14400"/>
            <a:ext cx="7848600" cy="5170646"/>
          </a:xfrm>
          <a:prstGeom prst="rect">
            <a:avLst/>
          </a:prstGeom>
        </p:spPr>
        <p:txBody>
          <a:bodyPr wrap="square">
            <a:spAutoFit/>
          </a:bodyPr>
          <a:lstStyle/>
          <a:p>
            <a:pPr>
              <a:buFont typeface="Wingdings" pitchFamily="2" charset="2"/>
              <a:buChar char="v"/>
            </a:pPr>
            <a:r>
              <a:rPr lang="en-US" sz="2200" dirty="0" smtClean="0">
                <a:solidFill>
                  <a:srgbClr val="009900"/>
                </a:solidFill>
                <a:latin typeface="Times New Roman" pitchFamily="18" charset="0"/>
                <a:cs typeface="Times New Roman" pitchFamily="18" charset="0"/>
              </a:rPr>
              <a:t>  Ethanol </a:t>
            </a:r>
            <a:r>
              <a:rPr lang="en-US" sz="2200" dirty="0">
                <a:solidFill>
                  <a:srgbClr val="009900"/>
                </a:solidFill>
                <a:latin typeface="Times New Roman" pitchFamily="18" charset="0"/>
                <a:cs typeface="Times New Roman" pitchFamily="18" charset="0"/>
              </a:rPr>
              <a:t>reacts with high-temperature steam </a:t>
            </a:r>
            <a:r>
              <a:rPr lang="en-US" sz="2200" dirty="0" smtClean="0">
                <a:solidFill>
                  <a:srgbClr val="009900"/>
                </a:solidFill>
                <a:latin typeface="Times New Roman" pitchFamily="18" charset="0"/>
                <a:cs typeface="Times New Roman" pitchFamily="18" charset="0"/>
              </a:rPr>
              <a:t>to produce </a:t>
            </a:r>
            <a:r>
              <a:rPr lang="en-US" sz="2200" dirty="0">
                <a:solidFill>
                  <a:srgbClr val="009900"/>
                </a:solidFill>
                <a:latin typeface="Times New Roman" pitchFamily="18" charset="0"/>
                <a:cs typeface="Times New Roman" pitchFamily="18" charset="0"/>
              </a:rPr>
              <a:t>hydrogen.</a:t>
            </a:r>
          </a:p>
          <a:p>
            <a:pPr>
              <a:buFont typeface="Wingdings" pitchFamily="2" charset="2"/>
              <a:buChar char="v"/>
            </a:pPr>
            <a:r>
              <a:rPr lang="en-US" sz="2200" dirty="0" smtClean="0">
                <a:solidFill>
                  <a:srgbClr val="009900"/>
                </a:solidFill>
                <a:latin typeface="Times New Roman" pitchFamily="18" charset="0"/>
                <a:cs typeface="Times New Roman" pitchFamily="18" charset="0"/>
              </a:rPr>
              <a:t>  Biomass </a:t>
            </a:r>
            <a:r>
              <a:rPr lang="en-US" sz="2200" dirty="0">
                <a:solidFill>
                  <a:srgbClr val="009900"/>
                </a:solidFill>
                <a:latin typeface="Times New Roman" pitchFamily="18" charset="0"/>
                <a:cs typeface="Times New Roman" pitchFamily="18" charset="0"/>
              </a:rPr>
              <a:t>is converted into sugar-rich feed stocks </a:t>
            </a:r>
            <a:r>
              <a:rPr lang="en-US" sz="2200" dirty="0" smtClean="0">
                <a:solidFill>
                  <a:srgbClr val="009900"/>
                </a:solidFill>
                <a:latin typeface="Times New Roman" pitchFamily="18" charset="0"/>
                <a:cs typeface="Times New Roman" pitchFamily="18" charset="0"/>
              </a:rPr>
              <a:t>that can </a:t>
            </a:r>
            <a:r>
              <a:rPr lang="en-US" sz="2200" dirty="0">
                <a:solidFill>
                  <a:srgbClr val="009900"/>
                </a:solidFill>
                <a:latin typeface="Times New Roman" pitchFamily="18" charset="0"/>
                <a:cs typeface="Times New Roman" pitchFamily="18" charset="0"/>
              </a:rPr>
              <a:t>be fermented to produce hydrogen.</a:t>
            </a:r>
          </a:p>
          <a:p>
            <a:pPr>
              <a:buFont typeface="Wingdings" pitchFamily="2" charset="2"/>
              <a:buChar char="v"/>
            </a:pPr>
            <a:r>
              <a:rPr lang="en-US" sz="2200" dirty="0" smtClean="0">
                <a:solidFill>
                  <a:srgbClr val="009900"/>
                </a:solidFill>
                <a:latin typeface="Times New Roman" pitchFamily="18" charset="0"/>
                <a:cs typeface="Times New Roman" pitchFamily="18" charset="0"/>
              </a:rPr>
              <a:t>  </a:t>
            </a:r>
            <a:r>
              <a:rPr lang="en-US" sz="2200" dirty="0">
                <a:solidFill>
                  <a:srgbClr val="009900"/>
                </a:solidFill>
                <a:latin typeface="Times New Roman" pitchFamily="18" charset="0"/>
                <a:cs typeface="Times New Roman" pitchFamily="18" charset="0"/>
              </a:rPr>
              <a:t>Microbes such as green algae, consume water in </a:t>
            </a:r>
            <a:r>
              <a:rPr lang="en-US" sz="2200" dirty="0" smtClean="0">
                <a:solidFill>
                  <a:srgbClr val="009900"/>
                </a:solidFill>
                <a:latin typeface="Times New Roman" pitchFamily="18" charset="0"/>
                <a:cs typeface="Times New Roman" pitchFamily="18" charset="0"/>
              </a:rPr>
              <a:t>the presence </a:t>
            </a:r>
            <a:r>
              <a:rPr lang="en-US" sz="2200" dirty="0">
                <a:solidFill>
                  <a:srgbClr val="009900"/>
                </a:solidFill>
                <a:latin typeface="Times New Roman" pitchFamily="18" charset="0"/>
                <a:cs typeface="Times New Roman" pitchFamily="18" charset="0"/>
              </a:rPr>
              <a:t>of sun light and produce hydrogen as </a:t>
            </a:r>
            <a:r>
              <a:rPr lang="en-US" sz="2200" dirty="0" smtClean="0">
                <a:solidFill>
                  <a:srgbClr val="009900"/>
                </a:solidFill>
                <a:latin typeface="Times New Roman" pitchFamily="18" charset="0"/>
                <a:cs typeface="Times New Roman" pitchFamily="18" charset="0"/>
              </a:rPr>
              <a:t>a by-product.</a:t>
            </a:r>
          </a:p>
          <a:p>
            <a:endParaRPr lang="en-US" sz="2200" dirty="0">
              <a:solidFill>
                <a:srgbClr val="FF0000"/>
              </a:solidFill>
              <a:latin typeface="Times New Roman" pitchFamily="18" charset="0"/>
              <a:cs typeface="Times New Roman" pitchFamily="18" charset="0"/>
            </a:endParaRPr>
          </a:p>
          <a:p>
            <a:r>
              <a:rPr lang="en-US" sz="2200" b="1" dirty="0">
                <a:solidFill>
                  <a:srgbClr val="FF0000"/>
                </a:solidFill>
                <a:latin typeface="Times New Roman" pitchFamily="18" charset="0"/>
                <a:cs typeface="Times New Roman" pitchFamily="18" charset="0"/>
              </a:rPr>
              <a:t>Hydrogen fuel cell</a:t>
            </a:r>
          </a:p>
          <a:p>
            <a:pPr>
              <a:buFont typeface="Wingdings" pitchFamily="2" charset="2"/>
              <a:buChar char="v"/>
            </a:pPr>
            <a:r>
              <a:rPr lang="en-US" sz="2200" dirty="0" smtClean="0">
                <a:solidFill>
                  <a:srgbClr val="009900"/>
                </a:solidFill>
                <a:latin typeface="Times New Roman" pitchFamily="18" charset="0"/>
                <a:cs typeface="Times New Roman" pitchFamily="18" charset="0"/>
              </a:rPr>
              <a:t>  Hydrogen </a:t>
            </a:r>
            <a:r>
              <a:rPr lang="en-US" sz="2200" dirty="0">
                <a:solidFill>
                  <a:srgbClr val="009900"/>
                </a:solidFill>
                <a:latin typeface="Times New Roman" pitchFamily="18" charset="0"/>
                <a:cs typeface="Times New Roman" pitchFamily="18" charset="0"/>
              </a:rPr>
              <a:t>can be used in fuel cells.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The electrons in </a:t>
            </a:r>
            <a:r>
              <a:rPr lang="en-US" sz="2200" dirty="0">
                <a:solidFill>
                  <a:srgbClr val="009900"/>
                </a:solidFill>
                <a:latin typeface="Times New Roman" pitchFamily="18" charset="0"/>
                <a:cs typeface="Times New Roman" pitchFamily="18" charset="0"/>
              </a:rPr>
              <a:t>hydrogen atoms generate electricity in the fuel cell. </a:t>
            </a:r>
            <a:r>
              <a:rPr lang="en-US" sz="2200" dirty="0" smtClean="0">
                <a:solidFill>
                  <a:srgbClr val="009900"/>
                </a:solidFill>
                <a:latin typeface="Times New Roman" pitchFamily="18" charset="0"/>
                <a:cs typeface="Times New Roman" pitchFamily="18" charset="0"/>
              </a:rPr>
              <a:t>The combination of  H    </a:t>
            </a:r>
            <a:r>
              <a:rPr lang="en-US" sz="2200" dirty="0">
                <a:solidFill>
                  <a:srgbClr val="009900"/>
                </a:solidFill>
                <a:latin typeface="Times New Roman" pitchFamily="18" charset="0"/>
                <a:cs typeface="Times New Roman" pitchFamily="18" charset="0"/>
              </a:rPr>
              <a:t>and </a:t>
            </a:r>
            <a:r>
              <a:rPr lang="en-US" sz="2200" dirty="0" smtClean="0">
                <a:solidFill>
                  <a:srgbClr val="009900"/>
                </a:solidFill>
                <a:latin typeface="Times New Roman" pitchFamily="18" charset="0"/>
                <a:cs typeface="Times New Roman" pitchFamily="18" charset="0"/>
              </a:rPr>
              <a:t>O    </a:t>
            </a:r>
            <a:r>
              <a:rPr lang="en-US" sz="2200" dirty="0">
                <a:solidFill>
                  <a:srgbClr val="009900"/>
                </a:solidFill>
                <a:latin typeface="Times New Roman" pitchFamily="18" charset="0"/>
                <a:cs typeface="Times New Roman" pitchFamily="18" charset="0"/>
              </a:rPr>
              <a:t>creates water and heat </a:t>
            </a:r>
            <a:r>
              <a:rPr lang="en-US" sz="2200" dirty="0" smtClean="0">
                <a:solidFill>
                  <a:srgbClr val="009900"/>
                </a:solidFill>
                <a:latin typeface="Times New Roman" pitchFamily="18" charset="0"/>
                <a:cs typeface="Times New Roman" pitchFamily="18" charset="0"/>
              </a:rPr>
              <a:t>from the </a:t>
            </a:r>
            <a:r>
              <a:rPr lang="en-US" sz="2200" dirty="0">
                <a:solidFill>
                  <a:srgbClr val="009900"/>
                </a:solidFill>
                <a:latin typeface="Times New Roman" pitchFamily="18" charset="0"/>
                <a:cs typeface="Times New Roman" pitchFamily="18" charset="0"/>
              </a:rPr>
              <a:t>reaction.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The heat </a:t>
            </a:r>
            <a:r>
              <a:rPr lang="en-US" sz="2200" dirty="0">
                <a:solidFill>
                  <a:srgbClr val="009900"/>
                </a:solidFill>
                <a:latin typeface="Times New Roman" pitchFamily="18" charset="0"/>
                <a:cs typeface="Times New Roman" pitchFamily="18" charset="0"/>
              </a:rPr>
              <a:t>may be used to produce </a:t>
            </a:r>
            <a:r>
              <a:rPr lang="en-US" sz="2200" dirty="0" smtClean="0">
                <a:solidFill>
                  <a:srgbClr val="009900"/>
                </a:solidFill>
                <a:latin typeface="Times New Roman" pitchFamily="18" charset="0"/>
                <a:cs typeface="Times New Roman" pitchFamily="18" charset="0"/>
              </a:rPr>
              <a:t>electricity. </a:t>
            </a:r>
          </a:p>
          <a:p>
            <a:pPr>
              <a:buFont typeface="Wingdings" pitchFamily="2" charset="2"/>
              <a:buChar char="v"/>
            </a:pPr>
            <a:r>
              <a:rPr lang="en-US" sz="2200" dirty="0" smtClean="0">
                <a:solidFill>
                  <a:srgbClr val="009900"/>
                </a:solidFill>
                <a:latin typeface="Times New Roman" pitchFamily="18" charset="0"/>
                <a:cs typeface="Times New Roman" pitchFamily="18" charset="0"/>
              </a:rPr>
              <a:t>  At anode</a:t>
            </a:r>
            <a:r>
              <a:rPr lang="en-US" sz="2200" dirty="0">
                <a:solidFill>
                  <a:srgbClr val="009900"/>
                </a:solidFill>
                <a:latin typeface="Times New Roman" pitchFamily="18" charset="0"/>
                <a:cs typeface="Times New Roman" pitchFamily="18" charset="0"/>
              </a:rPr>
              <a:t>, hydrogen is split into protons </a:t>
            </a:r>
            <a:r>
              <a:rPr lang="en-US" sz="2200" dirty="0" smtClean="0">
                <a:solidFill>
                  <a:srgbClr val="009900"/>
                </a:solidFill>
                <a:latin typeface="Times New Roman" pitchFamily="18" charset="0"/>
                <a:cs typeface="Times New Roman" pitchFamily="18" charset="0"/>
              </a:rPr>
              <a:t>and electrons</a:t>
            </a:r>
            <a:r>
              <a:rPr lang="en-US" sz="2200" dirty="0">
                <a:solidFill>
                  <a:srgbClr val="009900"/>
                </a:solidFill>
                <a:latin typeface="Times New Roman" pitchFamily="18" charset="0"/>
                <a:cs typeface="Times New Roman" pitchFamily="18" charset="0"/>
              </a:rPr>
              <a:t>.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electrons moves to cathode and </a:t>
            </a:r>
            <a:r>
              <a:rPr lang="en-US" sz="2200" dirty="0" smtClean="0">
                <a:solidFill>
                  <a:srgbClr val="009900"/>
                </a:solidFill>
                <a:latin typeface="Times New Roman" pitchFamily="18" charset="0"/>
                <a:cs typeface="Times New Roman" pitchFamily="18" charset="0"/>
              </a:rPr>
              <a:t>generates electricity</a:t>
            </a:r>
            <a:r>
              <a:rPr lang="en-US" sz="2200" dirty="0">
                <a:solidFill>
                  <a:srgbClr val="009900"/>
                </a:solidFill>
                <a:latin typeface="Times New Roman" pitchFamily="18" charset="0"/>
                <a:cs typeface="Times New Roman" pitchFamily="18" charset="0"/>
              </a:rPr>
              <a:t>.</a:t>
            </a:r>
          </a:p>
        </p:txBody>
      </p:sp>
      <p:sp>
        <p:nvSpPr>
          <p:cNvPr id="3" name="Rectangle 2"/>
          <p:cNvSpPr/>
          <p:nvPr/>
        </p:nvSpPr>
        <p:spPr>
          <a:xfrm>
            <a:off x="3733800" y="45720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
        <p:nvSpPr>
          <p:cNvPr id="4" name="Rectangle 3"/>
          <p:cNvSpPr/>
          <p:nvPr/>
        </p:nvSpPr>
        <p:spPr>
          <a:xfrm>
            <a:off x="4648200" y="45720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C:\Users\User\AppData\Local\Temp\ksohtml\wps655A.tmp.pn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990600" y="1600200"/>
            <a:ext cx="7162800" cy="4343400"/>
          </a:xfrm>
          <a:prstGeom prst="rect">
            <a:avLst/>
          </a:prstGeom>
          <a:noFill/>
        </p:spPr>
      </p:pic>
    </p:spTree>
  </p:cSld>
  <p:clrMapOvr>
    <a:masterClrMapping/>
  </p:clrMapOvr>
  <p:transition spd="slow">
    <p:wedg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17912"/>
            <a:ext cx="8077200" cy="5940088"/>
          </a:xfrm>
          <a:prstGeom prst="rect">
            <a:avLst/>
          </a:prstGeom>
        </p:spPr>
        <p:txBody>
          <a:bodyPr wrap="square">
            <a:spAutoFit/>
          </a:bodyPr>
          <a:lstStyle/>
          <a:p>
            <a:pPr>
              <a:buFont typeface="Wingdings" pitchFamily="2" charset="2"/>
              <a:buChar char="v"/>
            </a:pPr>
            <a:r>
              <a:rPr lang="en-US" sz="2200" dirty="0" smtClean="0">
                <a:solidFill>
                  <a:srgbClr val="009900"/>
                </a:solidFill>
                <a:latin typeface="Times New Roman" pitchFamily="18" charset="0"/>
                <a:cs typeface="Times New Roman" pitchFamily="18" charset="0"/>
              </a:rPr>
              <a:t>  Electrical </a:t>
            </a:r>
            <a:r>
              <a:rPr lang="en-US" sz="2200" dirty="0">
                <a:solidFill>
                  <a:srgbClr val="009900"/>
                </a:solidFill>
                <a:latin typeface="Times New Roman" pitchFamily="18" charset="0"/>
                <a:cs typeface="Times New Roman" pitchFamily="18" charset="0"/>
              </a:rPr>
              <a:t>power plants can be built using large </a:t>
            </a:r>
            <a:r>
              <a:rPr lang="en-US" sz="2200" dirty="0" smtClean="0">
                <a:solidFill>
                  <a:srgbClr val="009900"/>
                </a:solidFill>
                <a:latin typeface="Times New Roman" pitchFamily="18" charset="0"/>
                <a:cs typeface="Times New Roman" pitchFamily="18" charset="0"/>
              </a:rPr>
              <a:t>banks of </a:t>
            </a:r>
            <a:r>
              <a:rPr lang="en-US" sz="2200" dirty="0">
                <a:solidFill>
                  <a:srgbClr val="009900"/>
                </a:solidFill>
                <a:latin typeface="Times New Roman" pitchFamily="18" charset="0"/>
                <a:cs typeface="Times New Roman" pitchFamily="18" charset="0"/>
              </a:rPr>
              <a:t>fuel cells, but small groups of cells provide </a:t>
            </a:r>
            <a:r>
              <a:rPr lang="en-US" sz="2200" dirty="0" smtClean="0">
                <a:solidFill>
                  <a:srgbClr val="009900"/>
                </a:solidFill>
                <a:latin typeface="Times New Roman" pitchFamily="18" charset="0"/>
                <a:cs typeface="Times New Roman" pitchFamily="18" charset="0"/>
              </a:rPr>
              <a:t>electricity for </a:t>
            </a:r>
            <a:r>
              <a:rPr lang="en-US" sz="2200" dirty="0">
                <a:solidFill>
                  <a:srgbClr val="009900"/>
                </a:solidFill>
                <a:latin typeface="Times New Roman" pitchFamily="18" charset="0"/>
                <a:cs typeface="Times New Roman" pitchFamily="18" charset="0"/>
              </a:rPr>
              <a:t>individual home and commercial buildings</a:t>
            </a:r>
            <a:r>
              <a:rPr lang="en-US" sz="2200" dirty="0" smtClean="0">
                <a:solidFill>
                  <a:srgbClr val="0099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FF0000"/>
                </a:solidFill>
                <a:latin typeface="Times New Roman" pitchFamily="18" charset="0"/>
                <a:cs typeface="Times New Roman" pitchFamily="18" charset="0"/>
              </a:rPr>
              <a:t>Problem</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Difficulties </a:t>
            </a:r>
            <a:r>
              <a:rPr lang="en-US" sz="2200" dirty="0">
                <a:solidFill>
                  <a:srgbClr val="000099"/>
                </a:solidFill>
                <a:latin typeface="Times New Roman" pitchFamily="18" charset="0"/>
                <a:cs typeface="Times New Roman" pitchFamily="18" charset="0"/>
              </a:rPr>
              <a:t>in storing enough hydrogen for </a:t>
            </a:r>
            <a:r>
              <a:rPr lang="en-US" sz="2200" dirty="0" smtClean="0">
                <a:solidFill>
                  <a:srgbClr val="000099"/>
                </a:solidFill>
                <a:latin typeface="Times New Roman" pitchFamily="18" charset="0"/>
                <a:cs typeface="Times New Roman" pitchFamily="18" charset="0"/>
              </a:rPr>
              <a:t>motor vehicles </a:t>
            </a:r>
            <a:r>
              <a:rPr lang="en-US" sz="2200" dirty="0">
                <a:solidFill>
                  <a:srgbClr val="000099"/>
                </a:solidFill>
                <a:latin typeface="Times New Roman" pitchFamily="18" charset="0"/>
                <a:cs typeface="Times New Roman" pitchFamily="18" charset="0"/>
              </a:rPr>
              <a:t>to run long distances.</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Infrastructure </a:t>
            </a:r>
            <a:r>
              <a:rPr lang="en-US" sz="2200" dirty="0">
                <a:solidFill>
                  <a:srgbClr val="000099"/>
                </a:solidFill>
                <a:latin typeface="Times New Roman" pitchFamily="18" charset="0"/>
                <a:cs typeface="Times New Roman" pitchFamily="18" charset="0"/>
              </a:rPr>
              <a:t>to refuel these vehicles.</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Highly </a:t>
            </a:r>
            <a:r>
              <a:rPr lang="en-US" sz="2200" dirty="0">
                <a:solidFill>
                  <a:srgbClr val="000099"/>
                </a:solidFill>
                <a:latin typeface="Times New Roman" pitchFamily="18" charset="0"/>
                <a:cs typeface="Times New Roman" pitchFamily="18" charset="0"/>
              </a:rPr>
              <a:t>inflammable and explosive in nature.</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Safe </a:t>
            </a:r>
            <a:r>
              <a:rPr lang="en-US" sz="2200" dirty="0">
                <a:solidFill>
                  <a:srgbClr val="000099"/>
                </a:solidFill>
                <a:latin typeface="Times New Roman" pitchFamily="18" charset="0"/>
                <a:cs typeface="Times New Roman" pitchFamily="18" charset="0"/>
              </a:rPr>
              <a:t>handling is required</a:t>
            </a:r>
            <a:r>
              <a:rPr lang="en-US" sz="2200" dirty="0" smtClean="0">
                <a:solidFill>
                  <a:srgbClr val="000099"/>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smtClean="0">
                <a:solidFill>
                  <a:srgbClr val="FF0000"/>
                </a:solidFill>
                <a:latin typeface="Times New Roman" pitchFamily="18" charset="0"/>
                <a:cs typeface="Times New Roman" pitchFamily="18" charset="0"/>
              </a:rPr>
              <a:t>Ocean thermal energy (OTE)</a:t>
            </a:r>
            <a:endParaRPr lang="en-US" sz="2200" b="1" dirty="0">
              <a:solidFill>
                <a:srgbClr val="FF00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There </a:t>
            </a:r>
            <a:r>
              <a:rPr lang="en-US" sz="2200" dirty="0">
                <a:solidFill>
                  <a:srgbClr val="009900"/>
                </a:solidFill>
                <a:latin typeface="Times New Roman" pitchFamily="18" charset="0"/>
                <a:cs typeface="Times New Roman" pitchFamily="18" charset="0"/>
              </a:rPr>
              <a:t>is often large temperature difference </a:t>
            </a:r>
            <a:r>
              <a:rPr lang="en-US" sz="2200" dirty="0" smtClean="0">
                <a:solidFill>
                  <a:srgbClr val="009900"/>
                </a:solidFill>
                <a:latin typeface="Times New Roman" pitchFamily="18" charset="0"/>
                <a:cs typeface="Times New Roman" pitchFamily="18" charset="0"/>
              </a:rPr>
              <a:t>between the </a:t>
            </a:r>
            <a:r>
              <a:rPr lang="en-US" sz="2200" dirty="0">
                <a:solidFill>
                  <a:srgbClr val="009900"/>
                </a:solidFill>
                <a:latin typeface="Times New Roman" pitchFamily="18" charset="0"/>
                <a:cs typeface="Times New Roman" pitchFamily="18" charset="0"/>
              </a:rPr>
              <a:t>surface level and deeper level of the tropical oceans</a:t>
            </a:r>
            <a:r>
              <a:rPr lang="en-US" sz="2200" dirty="0" smtClean="0">
                <a:solidFill>
                  <a:srgbClr val="009900"/>
                </a:solidFill>
                <a:latin typeface="Times New Roman" pitchFamily="18" charset="0"/>
                <a:cs typeface="Times New Roman" pitchFamily="18" charset="0"/>
              </a:rPr>
              <a:t>.</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This </a:t>
            </a:r>
            <a:r>
              <a:rPr lang="en-US" sz="2200" dirty="0">
                <a:solidFill>
                  <a:srgbClr val="009900"/>
                </a:solidFill>
                <a:latin typeface="Times New Roman" pitchFamily="18" charset="0"/>
                <a:cs typeface="Times New Roman" pitchFamily="18" charset="0"/>
              </a:rPr>
              <a:t>temperature difference can be utilized to </a:t>
            </a:r>
            <a:r>
              <a:rPr lang="en-US" sz="2200" dirty="0" smtClean="0">
                <a:solidFill>
                  <a:srgbClr val="009900"/>
                </a:solidFill>
                <a:latin typeface="Times New Roman" pitchFamily="18" charset="0"/>
                <a:cs typeface="Times New Roman" pitchFamily="18" charset="0"/>
              </a:rPr>
              <a:t>generate electricity</a:t>
            </a:r>
            <a:r>
              <a:rPr lang="en-US" sz="2200" dirty="0">
                <a:solidFill>
                  <a:srgbClr val="009900"/>
                </a:solidFill>
                <a:latin typeface="Times New Roman" pitchFamily="18" charset="0"/>
                <a:cs typeface="Times New Roman" pitchFamily="18" charset="0"/>
              </a:rPr>
              <a:t>.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energy available due to the difference </a:t>
            </a:r>
            <a:r>
              <a:rPr lang="en-US" sz="2200" dirty="0" smtClean="0">
                <a:solidFill>
                  <a:srgbClr val="009900"/>
                </a:solidFill>
                <a:latin typeface="Times New Roman" pitchFamily="18" charset="0"/>
                <a:cs typeface="Times New Roman" pitchFamily="18" charset="0"/>
              </a:rPr>
              <a:t>in temperature </a:t>
            </a:r>
            <a:r>
              <a:rPr lang="en-US" sz="2200" dirty="0">
                <a:solidFill>
                  <a:srgbClr val="009900"/>
                </a:solidFill>
                <a:latin typeface="Times New Roman" pitchFamily="18" charset="0"/>
                <a:cs typeface="Times New Roman" pitchFamily="18" charset="0"/>
              </a:rPr>
              <a:t>of water is called ocean thermal energy.</a:t>
            </a:r>
          </a:p>
        </p:txBody>
      </p:sp>
    </p:spTree>
  </p:cSld>
  <p:clrMapOvr>
    <a:masterClrMapping/>
  </p:clrMapOvr>
  <p:transition spd="slow">
    <p:wedg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7924800" cy="4832092"/>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Condition</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temperature difference should be of 20°C (</a:t>
            </a:r>
            <a:r>
              <a:rPr lang="en-US" sz="2200" dirty="0" smtClean="0">
                <a:solidFill>
                  <a:srgbClr val="009900"/>
                </a:solidFill>
                <a:latin typeface="Times New Roman" pitchFamily="18" charset="0"/>
                <a:cs typeface="Times New Roman" pitchFamily="18" charset="0"/>
              </a:rPr>
              <a:t>or) more </a:t>
            </a:r>
            <a:r>
              <a:rPr lang="en-US" sz="2200" dirty="0">
                <a:solidFill>
                  <a:srgbClr val="009900"/>
                </a:solidFill>
                <a:latin typeface="Times New Roman" pitchFamily="18" charset="0"/>
                <a:cs typeface="Times New Roman" pitchFamily="18" charset="0"/>
              </a:rPr>
              <a:t>is required between surface water and deeper water</a:t>
            </a:r>
            <a:r>
              <a:rPr lang="en-US" sz="2200" dirty="0" smtClean="0">
                <a:solidFill>
                  <a:srgbClr val="009900"/>
                </a:solidFill>
                <a:latin typeface="Times New Roman" pitchFamily="18" charset="0"/>
                <a:cs typeface="Times New Roman" pitchFamily="18" charset="0"/>
              </a:rPr>
              <a:t>.</a:t>
            </a:r>
          </a:p>
          <a:p>
            <a:endParaRPr lang="en-US" sz="2200" dirty="0">
              <a:solidFill>
                <a:srgbClr val="FF0000"/>
              </a:solidFill>
              <a:latin typeface="Times New Roman" pitchFamily="18" charset="0"/>
              <a:cs typeface="Times New Roman" pitchFamily="18" charset="0"/>
            </a:endParaRPr>
          </a:p>
          <a:p>
            <a:r>
              <a:rPr lang="en-US" sz="2200" b="1" dirty="0">
                <a:solidFill>
                  <a:srgbClr val="FF0000"/>
                </a:solidFill>
                <a:latin typeface="Times New Roman" pitchFamily="18" charset="0"/>
                <a:cs typeface="Times New Roman" pitchFamily="18" charset="0"/>
              </a:rPr>
              <a:t>Significance of OTE</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OTE </a:t>
            </a:r>
            <a:r>
              <a:rPr lang="en-US" sz="2200" dirty="0">
                <a:solidFill>
                  <a:srgbClr val="009900"/>
                </a:solidFill>
                <a:latin typeface="Times New Roman" pitchFamily="18" charset="0"/>
                <a:cs typeface="Times New Roman" pitchFamily="18" charset="0"/>
              </a:rPr>
              <a:t>is continuous, renewable and pollution free.</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use of cold deep water, as the chiller fluid </a:t>
            </a:r>
            <a:r>
              <a:rPr lang="en-US" sz="2200" dirty="0" smtClean="0">
                <a:solidFill>
                  <a:srgbClr val="009900"/>
                </a:solidFill>
                <a:latin typeface="Times New Roman" pitchFamily="18" charset="0"/>
                <a:cs typeface="Times New Roman" pitchFamily="18" charset="0"/>
              </a:rPr>
              <a:t>in air-conditioning</a:t>
            </a:r>
            <a:r>
              <a:rPr lang="en-US" sz="2200" dirty="0">
                <a:solidFill>
                  <a:srgbClr val="009900"/>
                </a:solidFill>
                <a:latin typeface="Times New Roman" pitchFamily="18" charset="0"/>
                <a:cs typeface="Times New Roman" pitchFamily="18" charset="0"/>
              </a:rPr>
              <a:t>, has also been proposed.</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Electric </a:t>
            </a:r>
            <a:r>
              <a:rPr lang="en-US" sz="2200" dirty="0">
                <a:solidFill>
                  <a:srgbClr val="009900"/>
                </a:solidFill>
                <a:latin typeface="Times New Roman" pitchFamily="18" charset="0"/>
                <a:cs typeface="Times New Roman" pitchFamily="18" charset="0"/>
              </a:rPr>
              <a:t>power generated by OTE can be used </a:t>
            </a:r>
            <a:r>
              <a:rPr lang="en-US" sz="2200" dirty="0" smtClean="0">
                <a:solidFill>
                  <a:srgbClr val="009900"/>
                </a:solidFill>
                <a:latin typeface="Times New Roman" pitchFamily="18" charset="0"/>
                <a:cs typeface="Times New Roman" pitchFamily="18" charset="0"/>
              </a:rPr>
              <a:t>to produce </a:t>
            </a:r>
            <a:r>
              <a:rPr lang="en-US" sz="2200" dirty="0">
                <a:solidFill>
                  <a:srgbClr val="009900"/>
                </a:solidFill>
                <a:latin typeface="Times New Roman" pitchFamily="18" charset="0"/>
                <a:cs typeface="Times New Roman" pitchFamily="18" charset="0"/>
              </a:rPr>
              <a:t>hydrogen</a:t>
            </a:r>
            <a:r>
              <a:rPr lang="en-US" sz="2200" dirty="0" smtClean="0">
                <a:solidFill>
                  <a:srgbClr val="0099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3. Tidal energy (or) </a:t>
            </a:r>
            <a:r>
              <a:rPr lang="en-US" sz="2200" b="1" dirty="0" err="1" smtClean="0">
                <a:solidFill>
                  <a:srgbClr val="00B0F0"/>
                </a:solidFill>
                <a:latin typeface="Times New Roman" pitchFamily="18" charset="0"/>
                <a:cs typeface="Times New Roman" pitchFamily="18" charset="0"/>
              </a:rPr>
              <a:t>Tital</a:t>
            </a:r>
            <a:r>
              <a:rPr lang="en-US" sz="2200" b="1" dirty="0" smtClean="0">
                <a:solidFill>
                  <a:srgbClr val="00B0F0"/>
                </a:solidFill>
                <a:latin typeface="Times New Roman" pitchFamily="18" charset="0"/>
                <a:cs typeface="Times New Roman" pitchFamily="18" charset="0"/>
              </a:rPr>
              <a:t> power</a:t>
            </a:r>
            <a:endParaRPr lang="en-US" sz="2200" b="1" dirty="0">
              <a:solidFill>
                <a:srgbClr val="00B0F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Tidal </a:t>
            </a:r>
            <a:r>
              <a:rPr lang="en-US" sz="2200" dirty="0">
                <a:solidFill>
                  <a:srgbClr val="009900"/>
                </a:solidFill>
                <a:latin typeface="Times New Roman" pitchFamily="18" charset="0"/>
                <a:cs typeface="Times New Roman" pitchFamily="18" charset="0"/>
              </a:rPr>
              <a:t>energy is a renewable energy powered by </a:t>
            </a:r>
            <a:r>
              <a:rPr lang="en-US" sz="2200" dirty="0" smtClean="0">
                <a:solidFill>
                  <a:srgbClr val="009900"/>
                </a:solidFill>
                <a:latin typeface="Times New Roman" pitchFamily="18" charset="0"/>
                <a:cs typeface="Times New Roman" pitchFamily="18" charset="0"/>
              </a:rPr>
              <a:t>the natural </a:t>
            </a:r>
            <a:r>
              <a:rPr lang="en-US" sz="2200" dirty="0">
                <a:solidFill>
                  <a:srgbClr val="009900"/>
                </a:solidFill>
                <a:latin typeface="Times New Roman" pitchFamily="18" charset="0"/>
                <a:cs typeface="Times New Roman" pitchFamily="18" charset="0"/>
              </a:rPr>
              <a:t>rise and fall of ocean tides and currents.</a:t>
            </a:r>
          </a:p>
        </p:txBody>
      </p:sp>
    </p:spTree>
  </p:cSld>
  <p:clrMapOvr>
    <a:masterClrMapping/>
  </p:clrMapOvr>
  <p:transition spd="slow">
    <p:wedg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7848600" cy="5509200"/>
          </a:xfrm>
          <a:prstGeom prst="rect">
            <a:avLst/>
          </a:prstGeom>
        </p:spPr>
        <p:txBody>
          <a:bodyPr wrap="square">
            <a:spAutoFit/>
          </a:bodyPr>
          <a:lstStyle/>
          <a:p>
            <a:r>
              <a:rPr lang="en-US" sz="2200" b="1" dirty="0">
                <a:solidFill>
                  <a:srgbClr val="FF0000"/>
                </a:solidFill>
                <a:latin typeface="Times New Roman" pitchFamily="18" charset="0"/>
                <a:cs typeface="Times New Roman" pitchFamily="18" charset="0"/>
              </a:rPr>
              <a:t>Significance of tidal energy</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Tidal </a:t>
            </a:r>
            <a:r>
              <a:rPr lang="en-US" sz="2200" dirty="0">
                <a:solidFill>
                  <a:srgbClr val="009900"/>
                </a:solidFill>
                <a:latin typeface="Times New Roman" pitchFamily="18" charset="0"/>
                <a:cs typeface="Times New Roman" pitchFamily="18" charset="0"/>
              </a:rPr>
              <a:t>power plants do not require large areas </a:t>
            </a:r>
            <a:r>
              <a:rPr lang="en-US" sz="2200" dirty="0" smtClean="0">
                <a:solidFill>
                  <a:srgbClr val="009900"/>
                </a:solidFill>
                <a:latin typeface="Times New Roman" pitchFamily="18" charset="0"/>
                <a:cs typeface="Times New Roman" pitchFamily="18" charset="0"/>
              </a:rPr>
              <a:t>of valuable </a:t>
            </a:r>
            <a:r>
              <a:rPr lang="en-US" sz="2200" dirty="0">
                <a:solidFill>
                  <a:srgbClr val="009900"/>
                </a:solidFill>
                <a:latin typeface="Times New Roman" pitchFamily="18" charset="0"/>
                <a:cs typeface="Times New Roman" pitchFamily="18" charset="0"/>
              </a:rPr>
              <a:t>lands as they are on the bays (or) estuaries</a:t>
            </a:r>
            <a:r>
              <a:rPr lang="en-US" sz="2200" dirty="0" smtClean="0">
                <a:solidFill>
                  <a:srgbClr val="009900"/>
                </a:solidFill>
                <a:latin typeface="Times New Roman" pitchFamily="18" charset="0"/>
                <a:cs typeface="Times New Roman" pitchFamily="18" charset="0"/>
              </a:rPr>
              <a:t>.</a:t>
            </a:r>
          </a:p>
          <a:p>
            <a:pPr>
              <a:buFont typeface="Wingdings" pitchFamily="2" charset="2"/>
              <a:buChar char="Ø"/>
            </a:pPr>
            <a:endParaRPr lang="en-US" sz="2200" dirty="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As </a:t>
            </a:r>
            <a:r>
              <a:rPr lang="en-US" sz="2200" dirty="0">
                <a:solidFill>
                  <a:srgbClr val="009900"/>
                </a:solidFill>
                <a:latin typeface="Times New Roman" pitchFamily="18" charset="0"/>
                <a:cs typeface="Times New Roman" pitchFamily="18" charset="0"/>
              </a:rPr>
              <a:t>the sea water is inexhaustible, it is </a:t>
            </a:r>
            <a:r>
              <a:rPr lang="en-US" sz="2200" dirty="0" smtClean="0">
                <a:solidFill>
                  <a:srgbClr val="009900"/>
                </a:solidFill>
                <a:latin typeface="Times New Roman" pitchFamily="18" charset="0"/>
                <a:cs typeface="Times New Roman" pitchFamily="18" charset="0"/>
              </a:rPr>
              <a:t>completely independent </a:t>
            </a:r>
            <a:r>
              <a:rPr lang="en-US" sz="2200" dirty="0">
                <a:solidFill>
                  <a:srgbClr val="009900"/>
                </a:solidFill>
                <a:latin typeface="Times New Roman" pitchFamily="18" charset="0"/>
                <a:cs typeface="Times New Roman" pitchFamily="18" charset="0"/>
              </a:rPr>
              <a:t>of the uncertainty of </a:t>
            </a:r>
            <a:r>
              <a:rPr lang="en-US" sz="2200" dirty="0" smtClean="0">
                <a:solidFill>
                  <a:srgbClr val="009900"/>
                </a:solidFill>
                <a:latin typeface="Times New Roman" pitchFamily="18" charset="0"/>
                <a:cs typeface="Times New Roman" pitchFamily="18" charset="0"/>
              </a:rPr>
              <a:t>precipitation (rainfall).</a:t>
            </a:r>
          </a:p>
          <a:p>
            <a:pPr>
              <a:buFont typeface="Wingdings" pitchFamily="2" charset="2"/>
              <a:buChar char="Ø"/>
            </a:pPr>
            <a:endParaRPr lang="en-US" sz="2200" dirty="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It </a:t>
            </a:r>
            <a:r>
              <a:rPr lang="en-US" sz="2200" dirty="0">
                <a:solidFill>
                  <a:srgbClr val="009900"/>
                </a:solidFill>
                <a:latin typeface="Times New Roman" pitchFamily="18" charset="0"/>
                <a:cs typeface="Times New Roman" pitchFamily="18" charset="0"/>
              </a:rPr>
              <a:t>is pollution-free energy source, as it does not </a:t>
            </a:r>
            <a:r>
              <a:rPr lang="en-US" sz="2200" dirty="0" smtClean="0">
                <a:solidFill>
                  <a:srgbClr val="009900"/>
                </a:solidFill>
                <a:latin typeface="Times New Roman" pitchFamily="18" charset="0"/>
                <a:cs typeface="Times New Roman" pitchFamily="18" charset="0"/>
              </a:rPr>
              <a:t>use any </a:t>
            </a:r>
            <a:r>
              <a:rPr lang="en-US" sz="2200" dirty="0">
                <a:solidFill>
                  <a:srgbClr val="009900"/>
                </a:solidFill>
                <a:latin typeface="Times New Roman" pitchFamily="18" charset="0"/>
                <a:cs typeface="Times New Roman" pitchFamily="18" charset="0"/>
              </a:rPr>
              <a:t>fuel and also does not produce any wastes</a:t>
            </a:r>
            <a:r>
              <a:rPr lang="en-US" sz="2200" dirty="0" smtClean="0">
                <a:solidFill>
                  <a:srgbClr val="0099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4.  Geo thermal energy</a:t>
            </a:r>
            <a:endParaRPr lang="en-US" sz="2200" b="1" dirty="0">
              <a:solidFill>
                <a:srgbClr val="00B0F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heat produced deep in the Earth’s core is </a:t>
            </a:r>
            <a:r>
              <a:rPr lang="en-US" sz="2200" dirty="0" smtClean="0">
                <a:solidFill>
                  <a:srgbClr val="009900"/>
                </a:solidFill>
                <a:latin typeface="Times New Roman" pitchFamily="18" charset="0"/>
                <a:cs typeface="Times New Roman" pitchFamily="18" charset="0"/>
              </a:rPr>
              <a:t>called Geothermal </a:t>
            </a:r>
            <a:r>
              <a:rPr lang="en-US" sz="2200" dirty="0">
                <a:solidFill>
                  <a:srgbClr val="009900"/>
                </a:solidFill>
                <a:latin typeface="Times New Roman" pitchFamily="18" charset="0"/>
                <a:cs typeface="Times New Roman" pitchFamily="18" charset="0"/>
              </a:rPr>
              <a:t>energy</a:t>
            </a:r>
            <a:r>
              <a:rPr lang="en-US" sz="2200" dirty="0" smtClean="0">
                <a:solidFill>
                  <a:srgbClr val="009900"/>
                </a:solidFill>
                <a:latin typeface="Times New Roman" pitchFamily="18" charset="0"/>
                <a:cs typeface="Times New Roman" pitchFamily="18" charset="0"/>
              </a:rPr>
              <a:t>.</a:t>
            </a: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a:t>
            </a:r>
            <a:r>
              <a:rPr lang="en-US" sz="2200" dirty="0">
                <a:solidFill>
                  <a:srgbClr val="009900"/>
                </a:solidFill>
                <a:latin typeface="Times New Roman" pitchFamily="18" charset="0"/>
                <a:cs typeface="Times New Roman" pitchFamily="18" charset="0"/>
              </a:rPr>
              <a:t>The energy harnessed from the </a:t>
            </a:r>
            <a:r>
              <a:rPr lang="en-US" sz="2200" dirty="0" smtClean="0">
                <a:solidFill>
                  <a:srgbClr val="009900"/>
                </a:solidFill>
                <a:latin typeface="Times New Roman" pitchFamily="18" charset="0"/>
                <a:cs typeface="Times New Roman" pitchFamily="18" charset="0"/>
              </a:rPr>
              <a:t>high temperature </a:t>
            </a:r>
            <a:r>
              <a:rPr lang="en-US" sz="2200" dirty="0">
                <a:solidFill>
                  <a:srgbClr val="009900"/>
                </a:solidFill>
                <a:latin typeface="Times New Roman" pitchFamily="18" charset="0"/>
                <a:cs typeface="Times New Roman" pitchFamily="18" charset="0"/>
              </a:rPr>
              <a:t>present inside the earth can be used to </a:t>
            </a:r>
            <a:r>
              <a:rPr lang="en-US" sz="2200" dirty="0" smtClean="0">
                <a:solidFill>
                  <a:srgbClr val="009900"/>
                </a:solidFill>
                <a:latin typeface="Times New Roman" pitchFamily="18" charset="0"/>
                <a:cs typeface="Times New Roman" pitchFamily="18" charset="0"/>
              </a:rPr>
              <a:t>produce electricity.</a:t>
            </a:r>
          </a:p>
        </p:txBody>
      </p:sp>
    </p:spTree>
  </p:cSld>
  <p:clrMapOvr>
    <a:masterClrMapping/>
  </p:clrMapOvr>
  <p:transition spd="slow">
    <p:wedg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762000"/>
            <a:ext cx="7848600" cy="5847755"/>
          </a:xfrm>
          <a:prstGeom prst="rect">
            <a:avLst/>
          </a:prstGeom>
        </p:spPr>
        <p:txBody>
          <a:bodyPr wrap="square">
            <a:spAutoFit/>
          </a:bodyPr>
          <a:lstStyle/>
          <a:p>
            <a:r>
              <a:rPr lang="en-US" sz="2200" b="1" dirty="0">
                <a:solidFill>
                  <a:srgbClr val="FF0000"/>
                </a:solidFill>
                <a:latin typeface="Times New Roman" pitchFamily="18" charset="0"/>
                <a:cs typeface="Times New Roman" pitchFamily="18" charset="0"/>
              </a:rPr>
              <a:t>Significance of geothermal energy</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power generation level is higher for </a:t>
            </a:r>
            <a:r>
              <a:rPr lang="en-US" sz="2200" dirty="0" smtClean="0">
                <a:solidFill>
                  <a:srgbClr val="009900"/>
                </a:solidFill>
                <a:latin typeface="Times New Roman" pitchFamily="18" charset="0"/>
                <a:cs typeface="Times New Roman" pitchFamily="18" charset="0"/>
              </a:rPr>
              <a:t>geothermal than </a:t>
            </a:r>
            <a:r>
              <a:rPr lang="en-US" sz="2200" dirty="0">
                <a:solidFill>
                  <a:srgbClr val="009900"/>
                </a:solidFill>
                <a:latin typeface="Times New Roman" pitchFamily="18" charset="0"/>
                <a:cs typeface="Times New Roman" pitchFamily="18" charset="0"/>
              </a:rPr>
              <a:t>for solar and wind energies.</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Geothermal </a:t>
            </a:r>
            <a:r>
              <a:rPr lang="en-US" sz="2200" dirty="0">
                <a:solidFill>
                  <a:srgbClr val="009900"/>
                </a:solidFill>
                <a:latin typeface="Times New Roman" pitchFamily="18" charset="0"/>
                <a:cs typeface="Times New Roman" pitchFamily="18" charset="0"/>
              </a:rPr>
              <a:t>power plants can be brought on </a:t>
            </a:r>
            <a:r>
              <a:rPr lang="en-US" sz="2200" dirty="0" smtClean="0">
                <a:solidFill>
                  <a:srgbClr val="009900"/>
                </a:solidFill>
                <a:latin typeface="Times New Roman" pitchFamily="18" charset="0"/>
                <a:cs typeface="Times New Roman" pitchFamily="18" charset="0"/>
              </a:rPr>
              <a:t>line more </a:t>
            </a:r>
            <a:r>
              <a:rPr lang="en-US" sz="2200" dirty="0">
                <a:solidFill>
                  <a:srgbClr val="009900"/>
                </a:solidFill>
                <a:latin typeface="Times New Roman" pitchFamily="18" charset="0"/>
                <a:cs typeface="Times New Roman" pitchFamily="18" charset="0"/>
              </a:rPr>
              <a:t>quickly than most other energy sources.</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GTE </a:t>
            </a:r>
            <a:r>
              <a:rPr lang="en-US" sz="2200" dirty="0">
                <a:solidFill>
                  <a:srgbClr val="009900"/>
                </a:solidFill>
                <a:latin typeface="Times New Roman" pitchFamily="18" charset="0"/>
                <a:cs typeface="Times New Roman" pitchFamily="18" charset="0"/>
              </a:rPr>
              <a:t>is effectively and efficiently used for direct </a:t>
            </a:r>
            <a:r>
              <a:rPr lang="en-US" sz="2200" dirty="0" smtClean="0">
                <a:solidFill>
                  <a:srgbClr val="009900"/>
                </a:solidFill>
                <a:latin typeface="Times New Roman" pitchFamily="18" charset="0"/>
                <a:cs typeface="Times New Roman" pitchFamily="18" charset="0"/>
              </a:rPr>
              <a:t>uses such </a:t>
            </a:r>
            <a:r>
              <a:rPr lang="en-US" sz="2200" dirty="0">
                <a:solidFill>
                  <a:srgbClr val="009900"/>
                </a:solidFill>
                <a:latin typeface="Times New Roman" pitchFamily="18" charset="0"/>
                <a:cs typeface="Times New Roman" pitchFamily="18" charset="0"/>
              </a:rPr>
              <a:t>as hot water bath, resorts, </a:t>
            </a:r>
            <a:r>
              <a:rPr lang="en-US" sz="2200" dirty="0" smtClean="0">
                <a:solidFill>
                  <a:srgbClr val="009900"/>
                </a:solidFill>
                <a:latin typeface="Times New Roman" pitchFamily="18" charset="0"/>
                <a:cs typeface="Times New Roman" pitchFamily="18" charset="0"/>
              </a:rPr>
              <a:t>aquaculture, greenhouses.</a:t>
            </a:r>
          </a:p>
          <a:p>
            <a:endParaRPr lang="en-US" sz="2200" dirty="0">
              <a:solidFill>
                <a:srgbClr val="00B0F0"/>
              </a:solidFill>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5. Solar energy </a:t>
            </a:r>
          </a:p>
          <a:p>
            <a:pPr>
              <a:buFont typeface="Wingdings" pitchFamily="2" charset="2"/>
              <a:buChar char="q"/>
            </a:pPr>
            <a:r>
              <a:rPr lang="en-US" sz="2200" dirty="0" smtClean="0">
                <a:solidFill>
                  <a:srgbClr val="009900"/>
                </a:solidFill>
                <a:latin typeface="Times New Roman" pitchFamily="18" charset="0"/>
                <a:cs typeface="Times New Roman" pitchFamily="18" charset="0"/>
              </a:rPr>
              <a:t>  Solar </a:t>
            </a:r>
            <a:r>
              <a:rPr lang="en-US" sz="2200" dirty="0">
                <a:solidFill>
                  <a:srgbClr val="009900"/>
                </a:solidFill>
                <a:latin typeface="Times New Roman" pitchFamily="18" charset="0"/>
                <a:cs typeface="Times New Roman" pitchFamily="18" charset="0"/>
              </a:rPr>
              <a:t>energy is derived by capturing radiant </a:t>
            </a:r>
            <a:r>
              <a:rPr lang="en-US" sz="2200" dirty="0" smtClean="0">
                <a:solidFill>
                  <a:srgbClr val="009900"/>
                </a:solidFill>
                <a:latin typeface="Times New Roman" pitchFamily="18" charset="0"/>
                <a:cs typeface="Times New Roman" pitchFamily="18" charset="0"/>
              </a:rPr>
              <a:t>energy from </a:t>
            </a:r>
            <a:r>
              <a:rPr lang="en-US" sz="2200" dirty="0">
                <a:solidFill>
                  <a:srgbClr val="009900"/>
                </a:solidFill>
                <a:latin typeface="Times New Roman" pitchFamily="18" charset="0"/>
                <a:cs typeface="Times New Roman" pitchFamily="18" charset="0"/>
              </a:rPr>
              <a:t>sunlight and converting it into heat, electricity (</a:t>
            </a:r>
            <a:r>
              <a:rPr lang="en-US" sz="2200" dirty="0" smtClean="0">
                <a:solidFill>
                  <a:srgbClr val="009900"/>
                </a:solidFill>
                <a:latin typeface="Times New Roman" pitchFamily="18" charset="0"/>
                <a:cs typeface="Times New Roman" pitchFamily="18" charset="0"/>
              </a:rPr>
              <a:t>or) hot </a:t>
            </a:r>
            <a:r>
              <a:rPr lang="en-US" sz="2200" dirty="0">
                <a:solidFill>
                  <a:srgbClr val="009900"/>
                </a:solidFill>
                <a:latin typeface="Times New Roman" pitchFamily="18" charset="0"/>
                <a:cs typeface="Times New Roman" pitchFamily="18" charset="0"/>
              </a:rPr>
              <a:t>water</a:t>
            </a:r>
            <a:r>
              <a:rPr lang="en-US" sz="2200" dirty="0" smtClean="0">
                <a:solidFill>
                  <a:srgbClr val="009900"/>
                </a:solidFill>
                <a:latin typeface="Times New Roman" pitchFamily="18" charset="0"/>
                <a:cs typeface="Times New Roman" pitchFamily="18" charset="0"/>
              </a:rPr>
              <a:t>.</a:t>
            </a:r>
            <a:endParaRPr lang="en-US" sz="2200" dirty="0">
              <a:solidFill>
                <a:srgbClr val="009900"/>
              </a:solidFill>
              <a:latin typeface="Times New Roman" pitchFamily="18" charset="0"/>
              <a:cs typeface="Times New Roman" pitchFamily="18" charset="0"/>
            </a:endParaRPr>
          </a:p>
          <a:p>
            <a:r>
              <a:rPr lang="en-US" sz="2200" b="1" dirty="0" smtClean="0">
                <a:solidFill>
                  <a:srgbClr val="FF0000"/>
                </a:solidFill>
                <a:latin typeface="Times New Roman" pitchFamily="18" charset="0"/>
                <a:cs typeface="Times New Roman" pitchFamily="18" charset="0"/>
              </a:rPr>
              <a:t>Significance of solar energy</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Solar cells are noise and pollution free.</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Solar </a:t>
            </a:r>
            <a:r>
              <a:rPr lang="en-US" sz="2200" dirty="0">
                <a:solidFill>
                  <a:srgbClr val="009900"/>
                </a:solidFill>
                <a:latin typeface="Times New Roman" pitchFamily="18" charset="0"/>
                <a:cs typeface="Times New Roman" pitchFamily="18" charset="0"/>
              </a:rPr>
              <a:t>water heaters, cookers, require neither fuel nor</a:t>
            </a:r>
          </a:p>
          <a:p>
            <a:pPr>
              <a:buFont typeface="Wingdings" pitchFamily="2" charset="2"/>
              <a:buChar char="Ø"/>
            </a:pPr>
            <a:r>
              <a:rPr lang="en-US" sz="2200" dirty="0">
                <a:solidFill>
                  <a:srgbClr val="009900"/>
                </a:solidFill>
                <a:latin typeface="Times New Roman" pitchFamily="18" charset="0"/>
                <a:cs typeface="Times New Roman" pitchFamily="18" charset="0"/>
              </a:rPr>
              <a:t>attention while cooking food</a:t>
            </a:r>
            <a:r>
              <a:rPr lang="en-US" sz="2200" dirty="0" smtClean="0">
                <a:solidFill>
                  <a:srgbClr val="009900"/>
                </a:solidFill>
                <a:latin typeface="Times New Roman" pitchFamily="18" charset="0"/>
                <a:cs typeface="Times New Roman" pitchFamily="18" charset="0"/>
              </a:rPr>
              <a:t>.</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Solar </a:t>
            </a:r>
            <a:r>
              <a:rPr lang="en-US" sz="2200" dirty="0">
                <a:solidFill>
                  <a:srgbClr val="009900"/>
                </a:solidFill>
                <a:latin typeface="Times New Roman" pitchFamily="18" charset="0"/>
                <a:cs typeface="Times New Roman" pitchFamily="18" charset="0"/>
              </a:rPr>
              <a:t>cells can be used in remote and isolated </a:t>
            </a:r>
            <a:r>
              <a:rPr lang="en-US" sz="2200" dirty="0" smtClean="0">
                <a:solidFill>
                  <a:srgbClr val="009900"/>
                </a:solidFill>
                <a:latin typeface="Times New Roman" pitchFamily="18" charset="0"/>
                <a:cs typeface="Times New Roman" pitchFamily="18" charset="0"/>
              </a:rPr>
              <a:t>areas, forests</a:t>
            </a:r>
            <a:r>
              <a:rPr lang="en-US" sz="2200" dirty="0">
                <a:solidFill>
                  <a:srgbClr val="009900"/>
                </a:solidFill>
                <a:latin typeface="Times New Roman" pitchFamily="18" charset="0"/>
                <a:cs typeface="Times New Roman" pitchFamily="18" charset="0"/>
              </a:rPr>
              <a:t>, hilly </a:t>
            </a:r>
            <a:r>
              <a:rPr lang="en-US" sz="2200" dirty="0" smtClean="0">
                <a:solidFill>
                  <a:srgbClr val="009900"/>
                </a:solidFill>
                <a:latin typeface="Times New Roman" pitchFamily="18" charset="0"/>
                <a:cs typeface="Times New Roman" pitchFamily="18" charset="0"/>
              </a:rPr>
              <a:t>regions</a:t>
            </a:r>
            <a:r>
              <a:rPr lang="en-US" sz="2200" dirty="0">
                <a:solidFill>
                  <a:srgbClr val="009900"/>
                </a:solidFill>
                <a:latin typeface="Times New Roman" pitchFamily="18" charset="0"/>
                <a:cs typeface="Times New Roman" pitchFamily="18" charset="0"/>
              </a:rPr>
              <a:t>.</a:t>
            </a:r>
            <a:endParaRPr lang="en-US" sz="2200" dirty="0" smtClean="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14400"/>
            <a:ext cx="7848600" cy="5847755"/>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6. Wind energy</a:t>
            </a:r>
            <a:endParaRPr lang="en-US" sz="2200" b="1" dirty="0">
              <a:solidFill>
                <a:srgbClr val="00B0F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Moving </a:t>
            </a:r>
            <a:r>
              <a:rPr lang="en-US" sz="2200" dirty="0">
                <a:solidFill>
                  <a:srgbClr val="009900"/>
                </a:solidFill>
                <a:latin typeface="Times New Roman" pitchFamily="18" charset="0"/>
                <a:cs typeface="Times New Roman" pitchFamily="18" charset="0"/>
              </a:rPr>
              <a:t>air is called wind. Energy recovered </a:t>
            </a:r>
            <a:r>
              <a:rPr lang="en-US" sz="2200" dirty="0" smtClean="0">
                <a:solidFill>
                  <a:srgbClr val="009900"/>
                </a:solidFill>
                <a:latin typeface="Times New Roman" pitchFamily="18" charset="0"/>
                <a:cs typeface="Times New Roman" pitchFamily="18" charset="0"/>
              </a:rPr>
              <a:t>from the </a:t>
            </a:r>
            <a:r>
              <a:rPr lang="en-US" sz="2200" dirty="0">
                <a:solidFill>
                  <a:srgbClr val="009900"/>
                </a:solidFill>
                <a:latin typeface="Times New Roman" pitchFamily="18" charset="0"/>
                <a:cs typeface="Times New Roman" pitchFamily="18" charset="0"/>
              </a:rPr>
              <a:t>force of wind is called wind energy.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 energy possessed </a:t>
            </a:r>
            <a:r>
              <a:rPr lang="en-US" sz="2200" dirty="0">
                <a:solidFill>
                  <a:srgbClr val="009900"/>
                </a:solidFill>
                <a:latin typeface="Times New Roman" pitchFamily="18" charset="0"/>
                <a:cs typeface="Times New Roman" pitchFamily="18" charset="0"/>
              </a:rPr>
              <a:t>by wind is because of its high speed.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 wind energy </a:t>
            </a:r>
            <a:r>
              <a:rPr lang="en-US" sz="2200" dirty="0">
                <a:solidFill>
                  <a:srgbClr val="009900"/>
                </a:solidFill>
                <a:latin typeface="Times New Roman" pitchFamily="18" charset="0"/>
                <a:cs typeface="Times New Roman" pitchFamily="18" charset="0"/>
              </a:rPr>
              <a:t>is harnessed by making use of wind mills</a:t>
            </a:r>
            <a:r>
              <a:rPr lang="en-US" sz="2200" dirty="0" smtClean="0">
                <a:solidFill>
                  <a:srgbClr val="009900"/>
                </a:solidFill>
                <a:latin typeface="Times New Roman" pitchFamily="18" charset="0"/>
                <a:cs typeface="Times New Roman" pitchFamily="18" charset="0"/>
              </a:rPr>
              <a:t>.</a:t>
            </a:r>
          </a:p>
          <a:p>
            <a:endParaRPr lang="en-US" sz="2200" dirty="0">
              <a:solidFill>
                <a:srgbClr val="FF0000"/>
              </a:solidFill>
              <a:latin typeface="Times New Roman" pitchFamily="18" charset="0"/>
              <a:cs typeface="Times New Roman" pitchFamily="18" charset="0"/>
            </a:endParaRPr>
          </a:p>
          <a:p>
            <a:r>
              <a:rPr lang="en-US" sz="2200" b="1" dirty="0">
                <a:solidFill>
                  <a:srgbClr val="FF0000"/>
                </a:solidFill>
                <a:latin typeface="Times New Roman" pitchFamily="18" charset="0"/>
                <a:cs typeface="Times New Roman" pitchFamily="18" charset="0"/>
              </a:rPr>
              <a:t>Significance of wind energy</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generation period of wind energy is low </a:t>
            </a:r>
            <a:r>
              <a:rPr lang="en-US" sz="2200" dirty="0" smtClean="0">
                <a:solidFill>
                  <a:srgbClr val="009900"/>
                </a:solidFill>
                <a:latin typeface="Times New Roman" pitchFamily="18" charset="0"/>
                <a:cs typeface="Times New Roman" pitchFamily="18" charset="0"/>
              </a:rPr>
              <a:t>and power </a:t>
            </a:r>
            <a:r>
              <a:rPr lang="en-US" sz="2200" dirty="0">
                <a:solidFill>
                  <a:srgbClr val="009900"/>
                </a:solidFill>
                <a:latin typeface="Times New Roman" pitchFamily="18" charset="0"/>
                <a:cs typeface="Times New Roman" pitchFamily="18" charset="0"/>
              </a:rPr>
              <a:t>generation starts from </a:t>
            </a:r>
            <a:r>
              <a:rPr lang="en-US" sz="2200" dirty="0" err="1">
                <a:solidFill>
                  <a:srgbClr val="009900"/>
                </a:solidFill>
                <a:latin typeface="Times New Roman" pitchFamily="18" charset="0"/>
                <a:cs typeface="Times New Roman" pitchFamily="18" charset="0"/>
              </a:rPr>
              <a:t>comissioning</a:t>
            </a:r>
            <a:r>
              <a:rPr lang="en-US" sz="2200" dirty="0" smtClean="0">
                <a:solidFill>
                  <a:srgbClr val="009900"/>
                </a:solidFill>
                <a:latin typeface="Times New Roman" pitchFamily="18" charset="0"/>
                <a:cs typeface="Times New Roman" pitchFamily="18" charset="0"/>
              </a:rPr>
              <a:t>.</a:t>
            </a:r>
          </a:p>
          <a:p>
            <a:pPr>
              <a:buFont typeface="Wingdings" pitchFamily="2" charset="2"/>
              <a:buChar char="Ø"/>
            </a:pPr>
            <a:endParaRPr lang="en-US" sz="2200" dirty="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It </a:t>
            </a:r>
            <a:r>
              <a:rPr lang="en-US" sz="2200" dirty="0">
                <a:solidFill>
                  <a:srgbClr val="009900"/>
                </a:solidFill>
                <a:latin typeface="Times New Roman" pitchFamily="18" charset="0"/>
                <a:cs typeface="Times New Roman" pitchFamily="18" charset="0"/>
              </a:rPr>
              <a:t>is recommended to broaden the nation’s </a:t>
            </a:r>
            <a:r>
              <a:rPr lang="en-US" sz="2200" dirty="0" smtClean="0">
                <a:solidFill>
                  <a:srgbClr val="009900"/>
                </a:solidFill>
                <a:latin typeface="Times New Roman" pitchFamily="18" charset="0"/>
                <a:cs typeface="Times New Roman" pitchFamily="18" charset="0"/>
              </a:rPr>
              <a:t>energy options </a:t>
            </a:r>
            <a:r>
              <a:rPr lang="en-US" sz="2200" dirty="0">
                <a:solidFill>
                  <a:srgbClr val="009900"/>
                </a:solidFill>
                <a:latin typeface="Times New Roman" pitchFamily="18" charset="0"/>
                <a:cs typeface="Times New Roman" pitchFamily="18" charset="0"/>
              </a:rPr>
              <a:t>for new energy sources</a:t>
            </a:r>
            <a:r>
              <a:rPr lang="en-US" sz="2200" dirty="0" smtClean="0">
                <a:solidFill>
                  <a:srgbClr val="009900"/>
                </a:solidFill>
                <a:latin typeface="Times New Roman" pitchFamily="18" charset="0"/>
                <a:cs typeface="Times New Roman" pitchFamily="18" charset="0"/>
              </a:rPr>
              <a:t>.</a:t>
            </a:r>
          </a:p>
          <a:p>
            <a:pPr>
              <a:buFont typeface="Wingdings" pitchFamily="2" charset="2"/>
              <a:buChar char="Ø"/>
            </a:pPr>
            <a:endParaRPr lang="en-US" sz="2200" dirty="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It </a:t>
            </a:r>
            <a:r>
              <a:rPr lang="en-US" sz="2200" dirty="0">
                <a:solidFill>
                  <a:srgbClr val="009900"/>
                </a:solidFill>
                <a:latin typeface="Times New Roman" pitchFamily="18" charset="0"/>
                <a:cs typeface="Times New Roman" pitchFamily="18" charset="0"/>
              </a:rPr>
              <a:t>is made available easily in many </a:t>
            </a:r>
            <a:r>
              <a:rPr lang="en-US" sz="2200" dirty="0" smtClean="0">
                <a:solidFill>
                  <a:srgbClr val="009900"/>
                </a:solidFill>
                <a:latin typeface="Times New Roman" pitchFamily="18" charset="0"/>
                <a:cs typeface="Times New Roman" pitchFamily="18" charset="0"/>
              </a:rPr>
              <a:t>off-shore, on-shore </a:t>
            </a:r>
            <a:r>
              <a:rPr lang="en-US" sz="2200" dirty="0">
                <a:solidFill>
                  <a:srgbClr val="009900"/>
                </a:solidFill>
                <a:latin typeface="Times New Roman" pitchFamily="18" charset="0"/>
                <a:cs typeface="Times New Roman" pitchFamily="18" charset="0"/>
              </a:rPr>
              <a:t>and remote areas.</a:t>
            </a:r>
          </a:p>
        </p:txBody>
      </p:sp>
    </p:spTree>
  </p:cSld>
  <p:clrMapOvr>
    <a:masterClrMapping/>
  </p:clrMapOvr>
  <p:transition spd="slow">
    <p:wedg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7696200" cy="5509200"/>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7. Bio Mass energy </a:t>
            </a:r>
            <a:endParaRPr lang="en-US" sz="2200" b="1" dirty="0">
              <a:solidFill>
                <a:srgbClr val="00B0F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Biomass </a:t>
            </a:r>
            <a:r>
              <a:rPr lang="en-US" sz="2200" dirty="0">
                <a:solidFill>
                  <a:srgbClr val="009900"/>
                </a:solidFill>
                <a:latin typeface="Times New Roman" pitchFamily="18" charset="0"/>
                <a:cs typeface="Times New Roman" pitchFamily="18" charset="0"/>
              </a:rPr>
              <a:t>is the organic matter, produced by </a:t>
            </a:r>
            <a:r>
              <a:rPr lang="en-US" sz="2200" dirty="0" smtClean="0">
                <a:solidFill>
                  <a:srgbClr val="009900"/>
                </a:solidFill>
                <a:latin typeface="Times New Roman" pitchFamily="18" charset="0"/>
                <a:cs typeface="Times New Roman" pitchFamily="18" charset="0"/>
              </a:rPr>
              <a:t>plants (or</a:t>
            </a:r>
            <a:r>
              <a:rPr lang="en-US" sz="2200" dirty="0">
                <a:solidFill>
                  <a:srgbClr val="009900"/>
                </a:solidFill>
                <a:latin typeface="Times New Roman" pitchFamily="18" charset="0"/>
                <a:cs typeface="Times New Roman" pitchFamily="18" charset="0"/>
              </a:rPr>
              <a:t>) animals, used as sources of energy.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Most </a:t>
            </a:r>
            <a:r>
              <a:rPr lang="en-US" sz="2200" dirty="0">
                <a:solidFill>
                  <a:srgbClr val="009900"/>
                </a:solidFill>
                <a:latin typeface="Times New Roman" pitchFamily="18" charset="0"/>
                <a:cs typeface="Times New Roman" pitchFamily="18" charset="0"/>
              </a:rPr>
              <a:t>of </a:t>
            </a:r>
            <a:r>
              <a:rPr lang="en-US" sz="2200" dirty="0" smtClean="0">
                <a:solidFill>
                  <a:srgbClr val="009900"/>
                </a:solidFill>
                <a:latin typeface="Times New Roman" pitchFamily="18" charset="0"/>
                <a:cs typeface="Times New Roman" pitchFamily="18" charset="0"/>
              </a:rPr>
              <a:t>the biomass </a:t>
            </a:r>
            <a:r>
              <a:rPr lang="en-US" sz="2200" dirty="0">
                <a:solidFill>
                  <a:srgbClr val="009900"/>
                </a:solidFill>
                <a:latin typeface="Times New Roman" pitchFamily="18" charset="0"/>
                <a:cs typeface="Times New Roman" pitchFamily="18" charset="0"/>
              </a:rPr>
              <a:t>is burned directly for heating, cooling </a:t>
            </a:r>
            <a:r>
              <a:rPr lang="en-US" sz="2200" dirty="0" smtClean="0">
                <a:solidFill>
                  <a:srgbClr val="009900"/>
                </a:solidFill>
                <a:latin typeface="Times New Roman" pitchFamily="18" charset="0"/>
                <a:cs typeface="Times New Roman" pitchFamily="18" charset="0"/>
              </a:rPr>
              <a:t>and industrial </a:t>
            </a:r>
            <a:r>
              <a:rPr lang="en-US" sz="2200" dirty="0">
                <a:solidFill>
                  <a:srgbClr val="009900"/>
                </a:solidFill>
                <a:latin typeface="Times New Roman" pitchFamily="18" charset="0"/>
                <a:cs typeface="Times New Roman" pitchFamily="18" charset="0"/>
              </a:rPr>
              <a:t>purposes</a:t>
            </a:r>
            <a:r>
              <a:rPr lang="en-US" sz="2200" dirty="0" smtClean="0">
                <a:solidFill>
                  <a:srgbClr val="009900"/>
                </a:solidFill>
                <a:latin typeface="Times New Roman" pitchFamily="18" charset="0"/>
                <a:cs typeface="Times New Roman" pitchFamily="18" charset="0"/>
              </a:rPr>
              <a:t>.</a:t>
            </a:r>
          </a:p>
          <a:p>
            <a:pPr>
              <a:buFont typeface="Wingdings" pitchFamily="2" charset="2"/>
              <a:buChar char="q"/>
            </a:pPr>
            <a:endParaRPr lang="en-US" sz="2200" dirty="0">
              <a:solidFill>
                <a:srgbClr val="009900"/>
              </a:solidFill>
              <a:latin typeface="Times New Roman" pitchFamily="18" charset="0"/>
              <a:cs typeface="Times New Roman" pitchFamily="18" charset="0"/>
            </a:endParaRPr>
          </a:p>
          <a:p>
            <a:r>
              <a:rPr lang="en-US" sz="2200" b="1" dirty="0">
                <a:latin typeface="Times New Roman" pitchFamily="18" charset="0"/>
                <a:cs typeface="Times New Roman" pitchFamily="18" charset="0"/>
              </a:rPr>
              <a:t>Examples </a:t>
            </a:r>
            <a:r>
              <a:rPr lang="en-US" sz="2200" i="1" dirty="0">
                <a:solidFill>
                  <a:srgbClr val="000099"/>
                </a:solidFill>
                <a:latin typeface="Times New Roman" pitchFamily="18" charset="0"/>
                <a:cs typeface="Times New Roman" pitchFamily="18" charset="0"/>
              </a:rPr>
              <a:t>Wood, crop residues, seeds, cattle </a:t>
            </a:r>
            <a:r>
              <a:rPr lang="en-US" sz="2200" i="1" dirty="0" smtClean="0">
                <a:solidFill>
                  <a:srgbClr val="000099"/>
                </a:solidFill>
                <a:latin typeface="Times New Roman" pitchFamily="18" charset="0"/>
                <a:cs typeface="Times New Roman" pitchFamily="18" charset="0"/>
              </a:rPr>
              <a:t>dung, sewage</a:t>
            </a:r>
            <a:r>
              <a:rPr lang="en-US" sz="2200" i="1" dirty="0">
                <a:solidFill>
                  <a:srgbClr val="000099"/>
                </a:solidFill>
                <a:latin typeface="Times New Roman" pitchFamily="18" charset="0"/>
                <a:cs typeface="Times New Roman" pitchFamily="18" charset="0"/>
              </a:rPr>
              <a:t>, agricultural wastes, etc</a:t>
            </a:r>
            <a:r>
              <a:rPr lang="en-US" sz="2200" i="1" dirty="0" smtClean="0">
                <a:solidFill>
                  <a:srgbClr val="000099"/>
                </a:solidFill>
                <a:latin typeface="Times New Roman" pitchFamily="18" charset="0"/>
                <a:cs typeface="Times New Roman" pitchFamily="18" charset="0"/>
              </a:rPr>
              <a:t>.,</a:t>
            </a:r>
          </a:p>
          <a:p>
            <a:endParaRPr lang="en-US" sz="2200" i="1" dirty="0">
              <a:latin typeface="Times New Roman" pitchFamily="18" charset="0"/>
              <a:cs typeface="Times New Roman" pitchFamily="18" charset="0"/>
            </a:endParaRPr>
          </a:p>
          <a:p>
            <a:r>
              <a:rPr lang="en-US" sz="2200" b="1" dirty="0">
                <a:solidFill>
                  <a:srgbClr val="FF0000"/>
                </a:solidFill>
                <a:latin typeface="Times New Roman" pitchFamily="18" charset="0"/>
                <a:cs typeface="Times New Roman" pitchFamily="18" charset="0"/>
              </a:rPr>
              <a:t>Significance of bio-mass energy</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cost of obtaining bio-energy through </a:t>
            </a:r>
            <a:r>
              <a:rPr lang="en-US" sz="2200" dirty="0" smtClean="0">
                <a:solidFill>
                  <a:srgbClr val="009900"/>
                </a:solidFill>
                <a:latin typeface="Times New Roman" pitchFamily="18" charset="0"/>
                <a:cs typeface="Times New Roman" pitchFamily="18" charset="0"/>
              </a:rPr>
              <a:t>bio-gas plant </a:t>
            </a:r>
            <a:r>
              <a:rPr lang="en-US" sz="2200" dirty="0">
                <a:solidFill>
                  <a:srgbClr val="009900"/>
                </a:solidFill>
                <a:latin typeface="Times New Roman" pitchFamily="18" charset="0"/>
                <a:cs typeface="Times New Roman" pitchFamily="18" charset="0"/>
              </a:rPr>
              <a:t>is less than the cost of obtaining energy </a:t>
            </a:r>
            <a:r>
              <a:rPr lang="en-US" sz="2200" dirty="0" smtClean="0">
                <a:solidFill>
                  <a:srgbClr val="009900"/>
                </a:solidFill>
                <a:latin typeface="Times New Roman" pitchFamily="18" charset="0"/>
                <a:cs typeface="Times New Roman" pitchFamily="18" charset="0"/>
              </a:rPr>
              <a:t>from fossil </a:t>
            </a:r>
            <a:r>
              <a:rPr lang="en-US" sz="2200" dirty="0">
                <a:solidFill>
                  <a:srgbClr val="009900"/>
                </a:solidFill>
                <a:latin typeface="Times New Roman" pitchFamily="18" charset="0"/>
                <a:cs typeface="Times New Roman" pitchFamily="18" charset="0"/>
              </a:rPr>
              <a:t>fuels.</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Biomass </a:t>
            </a:r>
            <a:r>
              <a:rPr lang="en-US" sz="2200" dirty="0">
                <a:solidFill>
                  <a:srgbClr val="009900"/>
                </a:solidFill>
                <a:latin typeface="Times New Roman" pitchFamily="18" charset="0"/>
                <a:cs typeface="Times New Roman" pitchFamily="18" charset="0"/>
              </a:rPr>
              <a:t>consumes more </a:t>
            </a:r>
            <a:r>
              <a:rPr lang="en-US" sz="2200" dirty="0" smtClean="0">
                <a:solidFill>
                  <a:srgbClr val="009900"/>
                </a:solidFill>
                <a:latin typeface="Times New Roman" pitchFamily="18" charset="0"/>
                <a:cs typeface="Times New Roman" pitchFamily="18" charset="0"/>
              </a:rPr>
              <a:t> CO   </a:t>
            </a:r>
            <a:r>
              <a:rPr lang="en-US" sz="2200" dirty="0">
                <a:solidFill>
                  <a:srgbClr val="009900"/>
                </a:solidFill>
                <a:latin typeface="Times New Roman" pitchFamily="18" charset="0"/>
                <a:cs typeface="Times New Roman" pitchFamily="18" charset="0"/>
              </a:rPr>
              <a:t>than is released </a:t>
            </a:r>
            <a:r>
              <a:rPr lang="en-US" sz="2200" dirty="0" smtClean="0">
                <a:solidFill>
                  <a:srgbClr val="009900"/>
                </a:solidFill>
                <a:latin typeface="Times New Roman" pitchFamily="18" charset="0"/>
                <a:cs typeface="Times New Roman" pitchFamily="18" charset="0"/>
              </a:rPr>
              <a:t>during combustion </a:t>
            </a:r>
            <a:r>
              <a:rPr lang="en-US" sz="2200" dirty="0">
                <a:solidFill>
                  <a:srgbClr val="009900"/>
                </a:solidFill>
                <a:latin typeface="Times New Roman" pitchFamily="18" charset="0"/>
                <a:cs typeface="Times New Roman" pitchFamily="18" charset="0"/>
              </a:rPr>
              <a:t>of biomass.</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It </a:t>
            </a:r>
            <a:r>
              <a:rPr lang="en-US" sz="2200" dirty="0">
                <a:solidFill>
                  <a:srgbClr val="009900"/>
                </a:solidFill>
                <a:latin typeface="Times New Roman" pitchFamily="18" charset="0"/>
                <a:cs typeface="Times New Roman" pitchFamily="18" charset="0"/>
              </a:rPr>
              <a:t>provides a stored form of energy and in </a:t>
            </a:r>
            <a:r>
              <a:rPr lang="en-US" sz="2200" dirty="0" smtClean="0">
                <a:solidFill>
                  <a:srgbClr val="009900"/>
                </a:solidFill>
                <a:latin typeface="Times New Roman" pitchFamily="18" charset="0"/>
                <a:cs typeface="Times New Roman" pitchFamily="18" charset="0"/>
              </a:rPr>
              <a:t>many cases </a:t>
            </a:r>
            <a:r>
              <a:rPr lang="en-US" sz="2200" dirty="0">
                <a:solidFill>
                  <a:srgbClr val="009900"/>
                </a:solidFill>
                <a:latin typeface="Times New Roman" pitchFamily="18" charset="0"/>
                <a:cs typeface="Times New Roman" pitchFamily="18" charset="0"/>
              </a:rPr>
              <a:t>in a form suitable for vehicle propulsion.</a:t>
            </a:r>
          </a:p>
        </p:txBody>
      </p:sp>
      <p:sp>
        <p:nvSpPr>
          <p:cNvPr id="3" name="Rectangle 2"/>
          <p:cNvSpPr/>
          <p:nvPr/>
        </p:nvSpPr>
        <p:spPr>
          <a:xfrm>
            <a:off x="4114800" y="5486400"/>
            <a:ext cx="2286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889844"/>
            <a:ext cx="8305800" cy="5509200"/>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8. Artificial intelligence  (AI) in the energy sector</a:t>
            </a:r>
            <a:endParaRPr lang="en-US" sz="2200" b="1" dirty="0">
              <a:solidFill>
                <a:srgbClr val="00B0F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Artificial </a:t>
            </a:r>
            <a:r>
              <a:rPr lang="en-US" sz="2200" dirty="0">
                <a:solidFill>
                  <a:srgbClr val="009900"/>
                </a:solidFill>
                <a:latin typeface="Times New Roman" pitchFamily="18" charset="0"/>
                <a:cs typeface="Times New Roman" pitchFamily="18" charset="0"/>
              </a:rPr>
              <a:t>intelligence (AI) is used to forecast </a:t>
            </a:r>
            <a:r>
              <a:rPr lang="en-US" sz="2200" dirty="0" smtClean="0">
                <a:solidFill>
                  <a:srgbClr val="009900"/>
                </a:solidFill>
                <a:latin typeface="Times New Roman" pitchFamily="18" charset="0"/>
                <a:cs typeface="Times New Roman" pitchFamily="18" charset="0"/>
              </a:rPr>
              <a:t>demand and </a:t>
            </a:r>
            <a:r>
              <a:rPr lang="en-US" sz="2200" dirty="0">
                <a:solidFill>
                  <a:srgbClr val="009900"/>
                </a:solidFill>
                <a:latin typeface="Times New Roman" pitchFamily="18" charset="0"/>
                <a:cs typeface="Times New Roman" pitchFamily="18" charset="0"/>
              </a:rPr>
              <a:t>manage the distribution of resources, to ensure </a:t>
            </a:r>
            <a:r>
              <a:rPr lang="en-US" sz="2200" dirty="0" smtClean="0">
                <a:solidFill>
                  <a:srgbClr val="009900"/>
                </a:solidFill>
                <a:latin typeface="Times New Roman" pitchFamily="18" charset="0"/>
                <a:cs typeface="Times New Roman" pitchFamily="18" charset="0"/>
              </a:rPr>
              <a:t>that power </a:t>
            </a:r>
            <a:r>
              <a:rPr lang="en-US" sz="2200" dirty="0">
                <a:solidFill>
                  <a:srgbClr val="009900"/>
                </a:solidFill>
                <a:latin typeface="Times New Roman" pitchFamily="18" charset="0"/>
                <a:cs typeface="Times New Roman" pitchFamily="18" charset="0"/>
              </a:rPr>
              <a:t>is available at the time and place it’s needed </a:t>
            </a:r>
            <a:r>
              <a:rPr lang="en-US" sz="2200" dirty="0" smtClean="0">
                <a:solidFill>
                  <a:srgbClr val="009900"/>
                </a:solidFill>
                <a:latin typeface="Times New Roman" pitchFamily="18" charset="0"/>
                <a:cs typeface="Times New Roman" pitchFamily="18" charset="0"/>
              </a:rPr>
              <a:t>with a </a:t>
            </a:r>
            <a:r>
              <a:rPr lang="en-US" sz="2200" dirty="0">
                <a:solidFill>
                  <a:srgbClr val="009900"/>
                </a:solidFill>
                <a:latin typeface="Times New Roman" pitchFamily="18" charset="0"/>
                <a:cs typeface="Times New Roman" pitchFamily="18" charset="0"/>
              </a:rPr>
              <a:t>minimum of waste</a:t>
            </a:r>
            <a:r>
              <a:rPr lang="en-US" sz="2200" dirty="0" smtClean="0">
                <a:solidFill>
                  <a:srgbClr val="009900"/>
                </a:solidFill>
                <a:latin typeface="Times New Roman" pitchFamily="18" charset="0"/>
                <a:cs typeface="Times New Roman" pitchFamily="18" charset="0"/>
              </a:rPr>
              <a:t>.</a:t>
            </a:r>
          </a:p>
          <a:p>
            <a:pPr>
              <a:buFont typeface="Wingdings" pitchFamily="2" charset="2"/>
              <a:buChar char="v"/>
            </a:pPr>
            <a:r>
              <a:rPr lang="en-US" sz="2200" dirty="0" smtClean="0">
                <a:solidFill>
                  <a:srgbClr val="009900"/>
                </a:solidFill>
                <a:latin typeface="Times New Roman" pitchFamily="18" charset="0"/>
                <a:cs typeface="Times New Roman" pitchFamily="18" charset="0"/>
              </a:rPr>
              <a:t>  AI </a:t>
            </a:r>
            <a:r>
              <a:rPr lang="en-US" sz="2200" dirty="0">
                <a:solidFill>
                  <a:srgbClr val="009900"/>
                </a:solidFill>
                <a:latin typeface="Times New Roman" pitchFamily="18" charset="0"/>
                <a:cs typeface="Times New Roman" pitchFamily="18" charset="0"/>
              </a:rPr>
              <a:t>plays an essential role in </a:t>
            </a:r>
            <a:r>
              <a:rPr lang="en-US" sz="2200" dirty="0" smtClean="0">
                <a:solidFill>
                  <a:srgbClr val="009900"/>
                </a:solidFill>
                <a:latin typeface="Times New Roman" pitchFamily="18" charset="0"/>
                <a:cs typeface="Times New Roman" pitchFamily="18" charset="0"/>
              </a:rPr>
              <a:t>the world’s </a:t>
            </a:r>
            <a:r>
              <a:rPr lang="en-US" sz="2200" dirty="0">
                <a:solidFill>
                  <a:srgbClr val="009900"/>
                </a:solidFill>
                <a:latin typeface="Times New Roman" pitchFamily="18" charset="0"/>
                <a:cs typeface="Times New Roman" pitchFamily="18" charset="0"/>
              </a:rPr>
              <a:t>transition to clean energy.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Artificial </a:t>
            </a:r>
            <a:r>
              <a:rPr lang="en-US" sz="2200" dirty="0">
                <a:solidFill>
                  <a:srgbClr val="009900"/>
                </a:solidFill>
                <a:latin typeface="Times New Roman" pitchFamily="18" charset="0"/>
                <a:cs typeface="Times New Roman" pitchFamily="18" charset="0"/>
              </a:rPr>
              <a:t>intelligence </a:t>
            </a:r>
            <a:r>
              <a:rPr lang="en-US" sz="2200" dirty="0" smtClean="0">
                <a:solidFill>
                  <a:srgbClr val="009900"/>
                </a:solidFill>
                <a:latin typeface="Times New Roman" pitchFamily="18" charset="0"/>
                <a:cs typeface="Times New Roman" pitchFamily="18" charset="0"/>
              </a:rPr>
              <a:t>is particularly </a:t>
            </a:r>
            <a:r>
              <a:rPr lang="en-US" sz="2200" dirty="0">
                <a:solidFill>
                  <a:srgbClr val="009900"/>
                </a:solidFill>
                <a:latin typeface="Times New Roman" pitchFamily="18" charset="0"/>
                <a:cs typeface="Times New Roman" pitchFamily="18" charset="0"/>
              </a:rPr>
              <a:t>important in the renewable energy </a:t>
            </a:r>
            <a:r>
              <a:rPr lang="en-US" sz="2200" dirty="0" smtClean="0">
                <a:solidFill>
                  <a:srgbClr val="009900"/>
                </a:solidFill>
                <a:latin typeface="Times New Roman" pitchFamily="18" charset="0"/>
                <a:cs typeface="Times New Roman" pitchFamily="18" charset="0"/>
              </a:rPr>
              <a:t>industry, where </a:t>
            </a:r>
            <a:r>
              <a:rPr lang="en-US" sz="2200" dirty="0">
                <a:solidFill>
                  <a:srgbClr val="009900"/>
                </a:solidFill>
                <a:latin typeface="Times New Roman" pitchFamily="18" charset="0"/>
                <a:cs typeface="Times New Roman" pitchFamily="18" charset="0"/>
              </a:rPr>
              <a:t>it often can’t be stored for long periods of time </a:t>
            </a:r>
            <a:r>
              <a:rPr lang="en-US" sz="2200" dirty="0" smtClean="0">
                <a:solidFill>
                  <a:srgbClr val="009900"/>
                </a:solidFill>
                <a:latin typeface="Times New Roman" pitchFamily="18" charset="0"/>
                <a:cs typeface="Times New Roman" pitchFamily="18" charset="0"/>
              </a:rPr>
              <a:t>and has </a:t>
            </a:r>
            <a:r>
              <a:rPr lang="en-US" sz="2200" dirty="0">
                <a:solidFill>
                  <a:srgbClr val="009900"/>
                </a:solidFill>
                <a:latin typeface="Times New Roman" pitchFamily="18" charset="0"/>
                <a:cs typeface="Times New Roman" pitchFamily="18" charset="0"/>
              </a:rPr>
              <a:t>to be used close to the time and location where it </a:t>
            </a:r>
            <a:r>
              <a:rPr lang="en-US" sz="2200" dirty="0" smtClean="0">
                <a:solidFill>
                  <a:srgbClr val="009900"/>
                </a:solidFill>
                <a:latin typeface="Times New Roman" pitchFamily="18" charset="0"/>
                <a:cs typeface="Times New Roman" pitchFamily="18" charset="0"/>
              </a:rPr>
              <a:t>is generated.</a:t>
            </a:r>
          </a:p>
          <a:p>
            <a:endParaRPr lang="en-US" sz="2200" dirty="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9. Photo </a:t>
            </a:r>
            <a:r>
              <a:rPr lang="en-US" sz="2200" b="1" dirty="0" err="1" smtClean="0">
                <a:solidFill>
                  <a:srgbClr val="00B0F0"/>
                </a:solidFill>
                <a:latin typeface="Times New Roman" pitchFamily="18" charset="0"/>
                <a:cs typeface="Times New Roman" pitchFamily="18" charset="0"/>
              </a:rPr>
              <a:t>Voltaics</a:t>
            </a:r>
            <a:r>
              <a:rPr lang="en-US" sz="2200" b="1" dirty="0" smtClean="0">
                <a:solidFill>
                  <a:srgbClr val="00B0F0"/>
                </a:solidFill>
                <a:latin typeface="Times New Roman" pitchFamily="18" charset="0"/>
                <a:cs typeface="Times New Roman" pitchFamily="18" charset="0"/>
              </a:rPr>
              <a:t> (PV)</a:t>
            </a:r>
            <a:endParaRPr lang="en-US" sz="2200" b="1" dirty="0">
              <a:solidFill>
                <a:srgbClr val="00B0F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Solar </a:t>
            </a:r>
            <a:r>
              <a:rPr lang="en-US" sz="2200" dirty="0">
                <a:solidFill>
                  <a:srgbClr val="009900"/>
                </a:solidFill>
                <a:latin typeface="Times New Roman" pitchFamily="18" charset="0"/>
                <a:cs typeface="Times New Roman" pitchFamily="18" charset="0"/>
              </a:rPr>
              <a:t>companies are integrating PV systems </a:t>
            </a:r>
            <a:r>
              <a:rPr lang="en-US" sz="2200" dirty="0" smtClean="0">
                <a:solidFill>
                  <a:srgbClr val="009900"/>
                </a:solidFill>
                <a:latin typeface="Times New Roman" pitchFamily="18" charset="0"/>
                <a:cs typeface="Times New Roman" pitchFamily="18" charset="0"/>
              </a:rPr>
              <a:t>to minimize </a:t>
            </a:r>
            <a:r>
              <a:rPr lang="en-US" sz="2200" dirty="0">
                <a:solidFill>
                  <a:srgbClr val="009900"/>
                </a:solidFill>
                <a:latin typeface="Times New Roman" pitchFamily="18" charset="0"/>
                <a:cs typeface="Times New Roman" pitchFamily="18" charset="0"/>
              </a:rPr>
              <a:t>the need for additional land usage</a:t>
            </a:r>
            <a:r>
              <a:rPr lang="en-US" sz="2200" dirty="0" smtClean="0">
                <a:solidFill>
                  <a:srgbClr val="009900"/>
                </a:solidFill>
                <a:latin typeface="Times New Roman" pitchFamily="18" charset="0"/>
                <a:cs typeface="Times New Roman" pitchFamily="18" charset="0"/>
              </a:rPr>
              <a:t>.</a:t>
            </a:r>
          </a:p>
          <a:p>
            <a:pPr>
              <a:buFont typeface="Wingdings" pitchFamily="2" charset="2"/>
              <a:buChar char="v"/>
            </a:pPr>
            <a:r>
              <a:rPr lang="en-US" sz="2200" dirty="0" smtClean="0">
                <a:solidFill>
                  <a:srgbClr val="009900"/>
                </a:solidFill>
                <a:latin typeface="Times New Roman" pitchFamily="18" charset="0"/>
                <a:cs typeface="Times New Roman" pitchFamily="18" charset="0"/>
              </a:rPr>
              <a:t>  As </a:t>
            </a:r>
            <a:r>
              <a:rPr lang="en-US" sz="2200" dirty="0">
                <a:solidFill>
                  <a:srgbClr val="009900"/>
                </a:solidFill>
                <a:latin typeface="Times New Roman" pitchFamily="18" charset="0"/>
                <a:cs typeface="Times New Roman" pitchFamily="18" charset="0"/>
              </a:rPr>
              <a:t>a </a:t>
            </a:r>
            <a:r>
              <a:rPr lang="en-US" sz="2200" dirty="0" smtClean="0">
                <a:solidFill>
                  <a:srgbClr val="009900"/>
                </a:solidFill>
                <a:latin typeface="Times New Roman" pitchFamily="18" charset="0"/>
                <a:cs typeface="Times New Roman" pitchFamily="18" charset="0"/>
              </a:rPr>
              <a:t>result, integrated </a:t>
            </a:r>
            <a:r>
              <a:rPr lang="en-US" sz="2200" dirty="0">
                <a:solidFill>
                  <a:srgbClr val="009900"/>
                </a:solidFill>
                <a:latin typeface="Times New Roman" pitchFamily="18" charset="0"/>
                <a:cs typeface="Times New Roman" pitchFamily="18" charset="0"/>
              </a:rPr>
              <a:t>PV, </a:t>
            </a:r>
            <a:r>
              <a:rPr lang="en-US" sz="2200" dirty="0" err="1">
                <a:solidFill>
                  <a:srgbClr val="009900"/>
                </a:solidFill>
                <a:latin typeface="Times New Roman" pitchFamily="18" charset="0"/>
                <a:cs typeface="Times New Roman" pitchFamily="18" charset="0"/>
              </a:rPr>
              <a:t>floatovoltaics</a:t>
            </a:r>
            <a:r>
              <a:rPr lang="en-US" sz="2200" dirty="0">
                <a:solidFill>
                  <a:srgbClr val="009900"/>
                </a:solidFill>
                <a:latin typeface="Times New Roman" pitchFamily="18" charset="0"/>
                <a:cs typeface="Times New Roman" pitchFamily="18" charset="0"/>
              </a:rPr>
              <a:t> and </a:t>
            </a:r>
            <a:r>
              <a:rPr lang="en-US" sz="2200" dirty="0" err="1">
                <a:solidFill>
                  <a:srgbClr val="009900"/>
                </a:solidFill>
                <a:latin typeface="Times New Roman" pitchFamily="18" charset="0"/>
                <a:cs typeface="Times New Roman" pitchFamily="18" charset="0"/>
              </a:rPr>
              <a:t>agrivoltaics</a:t>
            </a:r>
            <a:r>
              <a:rPr lang="en-US" sz="2200" dirty="0">
                <a:solidFill>
                  <a:srgbClr val="009900"/>
                </a:solidFill>
                <a:latin typeface="Times New Roman" pitchFamily="18" charset="0"/>
                <a:cs typeface="Times New Roman" pitchFamily="18" charset="0"/>
              </a:rPr>
              <a:t> are </a:t>
            </a:r>
            <a:r>
              <a:rPr lang="en-US" sz="2200" dirty="0" smtClean="0">
                <a:solidFill>
                  <a:srgbClr val="009900"/>
                </a:solidFill>
                <a:latin typeface="Times New Roman" pitchFamily="18" charset="0"/>
                <a:cs typeface="Times New Roman" pitchFamily="18" charset="0"/>
              </a:rPr>
              <a:t>logical shift </a:t>
            </a:r>
            <a:r>
              <a:rPr lang="en-US" sz="2200" dirty="0">
                <a:solidFill>
                  <a:srgbClr val="009900"/>
                </a:solidFill>
                <a:latin typeface="Times New Roman" pitchFamily="18" charset="0"/>
                <a:cs typeface="Times New Roman" pitchFamily="18" charset="0"/>
              </a:rPr>
              <a:t>in trends. </a:t>
            </a: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Now </a:t>
            </a:r>
            <a:r>
              <a:rPr lang="en-US" sz="2200" dirty="0">
                <a:solidFill>
                  <a:srgbClr val="009900"/>
                </a:solidFill>
                <a:latin typeface="Times New Roman" pitchFamily="18" charset="0"/>
                <a:cs typeface="Times New Roman" pitchFamily="18" charset="0"/>
              </a:rPr>
              <a:t>thin film PV cells are being </a:t>
            </a:r>
            <a:r>
              <a:rPr lang="en-US" sz="2200" dirty="0" smtClean="0">
                <a:solidFill>
                  <a:srgbClr val="009900"/>
                </a:solidFill>
                <a:latin typeface="Times New Roman" pitchFamily="18" charset="0"/>
                <a:cs typeface="Times New Roman" pitchFamily="18" charset="0"/>
              </a:rPr>
              <a:t>developed </a:t>
            </a:r>
            <a:r>
              <a:rPr lang="en-US" sz="2200" dirty="0">
                <a:solidFill>
                  <a:srgbClr val="009900"/>
                </a:solidFill>
                <a:latin typeface="Times New Roman" pitchFamily="18" charset="0"/>
                <a:cs typeface="Times New Roman" pitchFamily="18" charset="0"/>
              </a:rPr>
              <a:t>to make solar panels flexible, cost-effective, light </a:t>
            </a:r>
            <a:r>
              <a:rPr lang="en-US" sz="2200" dirty="0" smtClean="0">
                <a:solidFill>
                  <a:srgbClr val="009900"/>
                </a:solidFill>
                <a:latin typeface="Times New Roman" pitchFamily="18" charset="0"/>
                <a:cs typeface="Times New Roman" pitchFamily="18" charset="0"/>
              </a:rPr>
              <a:t>weight and </a:t>
            </a:r>
            <a:r>
              <a:rPr lang="en-US" sz="2200" dirty="0">
                <a:solidFill>
                  <a:srgbClr val="009900"/>
                </a:solidFill>
                <a:latin typeface="Times New Roman" pitchFamily="18" charset="0"/>
                <a:cs typeface="Times New Roman" pitchFamily="18" charset="0"/>
              </a:rPr>
              <a:t>environment friendly.</a:t>
            </a:r>
          </a:p>
        </p:txBody>
      </p:sp>
    </p:spTree>
  </p:cSld>
  <p:clrMapOvr>
    <a:masterClrMapping/>
  </p:clrMapOvr>
  <p:transition spd="slow">
    <p:wedg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229600" cy="5509200"/>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10. A distributed energy storage system (DESS) </a:t>
            </a:r>
            <a:endParaRPr lang="en-US" sz="2200" b="1" dirty="0">
              <a:solidFill>
                <a:srgbClr val="00B0F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A </a:t>
            </a:r>
            <a:r>
              <a:rPr lang="en-US" sz="2200" dirty="0">
                <a:solidFill>
                  <a:srgbClr val="009900"/>
                </a:solidFill>
                <a:latin typeface="Times New Roman" pitchFamily="18" charset="0"/>
                <a:cs typeface="Times New Roman" pitchFamily="18" charset="0"/>
              </a:rPr>
              <a:t>distributed energy storage system (DESS) is </a:t>
            </a:r>
            <a:r>
              <a:rPr lang="en-US" sz="2200" dirty="0" smtClean="0">
                <a:solidFill>
                  <a:srgbClr val="009900"/>
                </a:solidFill>
                <a:latin typeface="Times New Roman" pitchFamily="18" charset="0"/>
                <a:cs typeface="Times New Roman" pitchFamily="18" charset="0"/>
              </a:rPr>
              <a:t>a packaged </a:t>
            </a:r>
            <a:r>
              <a:rPr lang="en-US" sz="2200" dirty="0">
                <a:solidFill>
                  <a:srgbClr val="009900"/>
                </a:solidFill>
                <a:latin typeface="Times New Roman" pitchFamily="18" charset="0"/>
                <a:cs typeface="Times New Roman" pitchFamily="18" charset="0"/>
              </a:rPr>
              <a:t>solution that stores energy for use at a later time.</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The </a:t>
            </a:r>
            <a:r>
              <a:rPr lang="en-US" sz="2200" dirty="0">
                <a:solidFill>
                  <a:srgbClr val="009900"/>
                </a:solidFill>
                <a:latin typeface="Times New Roman" pitchFamily="18" charset="0"/>
                <a:cs typeface="Times New Roman" pitchFamily="18" charset="0"/>
              </a:rPr>
              <a:t>system is provided with two main components.</a:t>
            </a: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DC </a:t>
            </a:r>
            <a:r>
              <a:rPr lang="en-US" sz="2200" dirty="0">
                <a:solidFill>
                  <a:srgbClr val="000099"/>
                </a:solidFill>
                <a:latin typeface="Times New Roman" pitchFamily="18" charset="0"/>
                <a:cs typeface="Times New Roman" pitchFamily="18" charset="0"/>
              </a:rPr>
              <a:t>charged batteries and</a:t>
            </a: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Bi-directional </a:t>
            </a:r>
            <a:r>
              <a:rPr lang="en-US" sz="2200" dirty="0">
                <a:solidFill>
                  <a:srgbClr val="000099"/>
                </a:solidFill>
                <a:latin typeface="Times New Roman" pitchFamily="18" charset="0"/>
                <a:cs typeface="Times New Roman" pitchFamily="18" charset="0"/>
              </a:rPr>
              <a:t>inverter.</a:t>
            </a:r>
          </a:p>
          <a:p>
            <a:pPr>
              <a:buFont typeface="Wingdings" pitchFamily="2" charset="2"/>
              <a:buChar char="q"/>
            </a:pPr>
            <a:r>
              <a:rPr lang="en-US" sz="2200" dirty="0" smtClean="0">
                <a:solidFill>
                  <a:srgbClr val="009900"/>
                </a:solidFill>
                <a:latin typeface="Times New Roman" pitchFamily="18" charset="0"/>
                <a:cs typeface="Times New Roman" pitchFamily="18" charset="0"/>
              </a:rPr>
              <a:t>  It’s </a:t>
            </a:r>
            <a:r>
              <a:rPr lang="en-US" sz="2200" dirty="0">
                <a:solidFill>
                  <a:srgbClr val="009900"/>
                </a:solidFill>
                <a:latin typeface="Times New Roman" pitchFamily="18" charset="0"/>
                <a:cs typeface="Times New Roman" pitchFamily="18" charset="0"/>
              </a:rPr>
              <a:t>major role is to prevent power fluctuation </a:t>
            </a:r>
            <a:r>
              <a:rPr lang="en-US" sz="2200" dirty="0" smtClean="0">
                <a:solidFill>
                  <a:srgbClr val="009900"/>
                </a:solidFill>
                <a:latin typeface="Times New Roman" pitchFamily="18" charset="0"/>
                <a:cs typeface="Times New Roman" pitchFamily="18" charset="0"/>
              </a:rPr>
              <a:t>and power </a:t>
            </a:r>
            <a:r>
              <a:rPr lang="en-US" sz="2200" dirty="0">
                <a:solidFill>
                  <a:srgbClr val="009900"/>
                </a:solidFill>
                <a:latin typeface="Times New Roman" pitchFamily="18" charset="0"/>
                <a:cs typeface="Times New Roman" pitchFamily="18" charset="0"/>
              </a:rPr>
              <a:t>quality problems</a:t>
            </a:r>
            <a:r>
              <a:rPr lang="en-US" sz="2200" dirty="0" smtClean="0">
                <a:solidFill>
                  <a:srgbClr val="0099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11. Grid integration</a:t>
            </a:r>
            <a:endParaRPr lang="en-US" sz="2200" b="1" dirty="0">
              <a:solidFill>
                <a:srgbClr val="00B0F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Grid </a:t>
            </a:r>
            <a:r>
              <a:rPr lang="en-US" sz="2200" dirty="0">
                <a:solidFill>
                  <a:srgbClr val="009900"/>
                </a:solidFill>
                <a:latin typeface="Times New Roman" pitchFamily="18" charset="0"/>
                <a:cs typeface="Times New Roman" pitchFamily="18" charset="0"/>
              </a:rPr>
              <a:t>integration is the practice of </a:t>
            </a:r>
            <a:r>
              <a:rPr lang="en-US" sz="2200" dirty="0" smtClean="0">
                <a:solidFill>
                  <a:srgbClr val="009900"/>
                </a:solidFill>
                <a:latin typeface="Times New Roman" pitchFamily="18" charset="0"/>
                <a:cs typeface="Times New Roman" pitchFamily="18" charset="0"/>
              </a:rPr>
              <a:t>developing efficient </a:t>
            </a:r>
            <a:r>
              <a:rPr lang="en-US" sz="2200" dirty="0">
                <a:solidFill>
                  <a:srgbClr val="009900"/>
                </a:solidFill>
                <a:latin typeface="Times New Roman" pitchFamily="18" charset="0"/>
                <a:cs typeface="Times New Roman" pitchFamily="18" charset="0"/>
              </a:rPr>
              <a:t>ways to deliver variable renewable energy to </a:t>
            </a:r>
            <a:r>
              <a:rPr lang="en-US" sz="2200" dirty="0" smtClean="0">
                <a:solidFill>
                  <a:srgbClr val="009900"/>
                </a:solidFill>
                <a:latin typeface="Times New Roman" pitchFamily="18" charset="0"/>
                <a:cs typeface="Times New Roman" pitchFamily="18" charset="0"/>
              </a:rPr>
              <a:t>the grid.</a:t>
            </a:r>
          </a:p>
          <a:p>
            <a:endParaRPr lang="en-US" sz="2200" dirty="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12. Space technologies</a:t>
            </a:r>
            <a:endParaRPr lang="en-US" sz="2200" b="1" dirty="0">
              <a:solidFill>
                <a:srgbClr val="00B0F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Space-based </a:t>
            </a:r>
            <a:r>
              <a:rPr lang="en-US" sz="2200" dirty="0">
                <a:solidFill>
                  <a:srgbClr val="009900"/>
                </a:solidFill>
                <a:latin typeface="Times New Roman" pitchFamily="18" charset="0"/>
                <a:cs typeface="Times New Roman" pitchFamily="18" charset="0"/>
              </a:rPr>
              <a:t>energy technologies like</a:t>
            </a:r>
          </a:p>
          <a:p>
            <a:pPr>
              <a:buFont typeface="Wingdings" pitchFamily="2" charset="2"/>
              <a:buChar char="v"/>
            </a:pPr>
            <a:r>
              <a:rPr lang="en-US" sz="2200" dirty="0" smtClean="0">
                <a:solidFill>
                  <a:srgbClr val="009900"/>
                </a:solidFill>
                <a:latin typeface="Times New Roman" pitchFamily="18" charset="0"/>
                <a:cs typeface="Times New Roman" pitchFamily="18" charset="0"/>
              </a:rPr>
              <a:t>  harvesting </a:t>
            </a:r>
            <a:r>
              <a:rPr lang="en-US" sz="2200" dirty="0">
                <a:solidFill>
                  <a:srgbClr val="009900"/>
                </a:solidFill>
                <a:latin typeface="Times New Roman" pitchFamily="18" charset="0"/>
                <a:cs typeface="Times New Roman" pitchFamily="18" charset="0"/>
              </a:rPr>
              <a:t>hydrogen from the moon to </a:t>
            </a:r>
            <a:r>
              <a:rPr lang="en-US" sz="2200" dirty="0" smtClean="0">
                <a:solidFill>
                  <a:srgbClr val="009900"/>
                </a:solidFill>
                <a:latin typeface="Times New Roman" pitchFamily="18" charset="0"/>
                <a:cs typeface="Times New Roman" pitchFamily="18" charset="0"/>
              </a:rPr>
              <a:t>power fuel </a:t>
            </a:r>
            <a:r>
              <a:rPr lang="en-US" sz="2200" dirty="0">
                <a:solidFill>
                  <a:srgbClr val="009900"/>
                </a:solidFill>
                <a:latin typeface="Times New Roman" pitchFamily="18" charset="0"/>
                <a:cs typeface="Times New Roman" pitchFamily="18" charset="0"/>
              </a:rPr>
              <a:t>cell on earth,</a:t>
            </a:r>
          </a:p>
        </p:txBody>
      </p:sp>
    </p:spTree>
  </p:cSld>
  <p:clrMapOvr>
    <a:masterClrMapping/>
  </p:clrMapOvr>
  <p:transition spd="slow">
    <p:wedg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371600"/>
            <a:ext cx="8305800" cy="4493538"/>
          </a:xfrm>
          <a:prstGeom prst="rect">
            <a:avLst/>
          </a:prstGeom>
        </p:spPr>
        <p:txBody>
          <a:bodyPr wrap="square">
            <a:spAutoFit/>
          </a:bodyPr>
          <a:lstStyle/>
          <a:p>
            <a:pPr>
              <a:buFont typeface="Wingdings" pitchFamily="2" charset="2"/>
              <a:buChar char="v"/>
            </a:pPr>
            <a:r>
              <a:rPr lang="en-US" sz="2200" dirty="0" smtClean="0">
                <a:solidFill>
                  <a:srgbClr val="009900"/>
                </a:solidFill>
                <a:latin typeface="Times New Roman" pitchFamily="18" charset="0"/>
                <a:cs typeface="Times New Roman" pitchFamily="18" charset="0"/>
              </a:rPr>
              <a:t>  orbiting </a:t>
            </a:r>
            <a:r>
              <a:rPr lang="en-US" sz="2200" dirty="0">
                <a:solidFill>
                  <a:srgbClr val="009900"/>
                </a:solidFill>
                <a:latin typeface="Times New Roman" pitchFamily="18" charset="0"/>
                <a:cs typeface="Times New Roman" pitchFamily="18" charset="0"/>
              </a:rPr>
              <a:t>solar rays that </a:t>
            </a:r>
            <a:r>
              <a:rPr lang="en-US" sz="2200" dirty="0" smtClean="0">
                <a:solidFill>
                  <a:srgbClr val="009900"/>
                </a:solidFill>
                <a:latin typeface="Times New Roman" pitchFamily="18" charset="0"/>
                <a:cs typeface="Times New Roman" pitchFamily="18" charset="0"/>
              </a:rPr>
              <a:t>absorb around-the-clock </a:t>
            </a:r>
            <a:r>
              <a:rPr lang="en-US" sz="2200" dirty="0">
                <a:solidFill>
                  <a:srgbClr val="009900"/>
                </a:solidFill>
                <a:latin typeface="Times New Roman" pitchFamily="18" charset="0"/>
                <a:cs typeface="Times New Roman" pitchFamily="18" charset="0"/>
              </a:rPr>
              <a:t>direct sunlight and send </a:t>
            </a:r>
            <a:r>
              <a:rPr lang="en-US" sz="2200" dirty="0" smtClean="0">
                <a:solidFill>
                  <a:srgbClr val="009900"/>
                </a:solidFill>
                <a:latin typeface="Times New Roman" pitchFamily="18" charset="0"/>
                <a:cs typeface="Times New Roman" pitchFamily="18" charset="0"/>
              </a:rPr>
              <a:t>the energy </a:t>
            </a:r>
            <a:r>
              <a:rPr lang="en-US" sz="2200" dirty="0">
                <a:solidFill>
                  <a:srgbClr val="009900"/>
                </a:solidFill>
                <a:latin typeface="Times New Roman" pitchFamily="18" charset="0"/>
                <a:cs typeface="Times New Roman" pitchFamily="18" charset="0"/>
              </a:rPr>
              <a:t>back down to stations on the </a:t>
            </a:r>
            <a:r>
              <a:rPr lang="en-US" sz="2200" dirty="0" smtClean="0">
                <a:solidFill>
                  <a:srgbClr val="009900"/>
                </a:solidFill>
                <a:latin typeface="Times New Roman" pitchFamily="18" charset="0"/>
                <a:cs typeface="Times New Roman" pitchFamily="18" charset="0"/>
              </a:rPr>
              <a:t>ground via </a:t>
            </a:r>
            <a:r>
              <a:rPr lang="en-US" sz="2200" dirty="0">
                <a:solidFill>
                  <a:srgbClr val="009900"/>
                </a:solidFill>
                <a:latin typeface="Times New Roman" pitchFamily="18" charset="0"/>
                <a:cs typeface="Times New Roman" pitchFamily="18" charset="0"/>
              </a:rPr>
              <a:t>radio (or) </a:t>
            </a:r>
            <a:r>
              <a:rPr lang="en-US" sz="2200" dirty="0" smtClean="0">
                <a:solidFill>
                  <a:srgbClr val="009900"/>
                </a:solidFill>
                <a:latin typeface="Times New Roman" pitchFamily="18" charset="0"/>
                <a:cs typeface="Times New Roman" pitchFamily="18" charset="0"/>
              </a:rPr>
              <a:t>microwaves, are </a:t>
            </a:r>
            <a:r>
              <a:rPr lang="en-US" sz="2200" dirty="0">
                <a:solidFill>
                  <a:srgbClr val="009900"/>
                </a:solidFill>
                <a:latin typeface="Times New Roman" pitchFamily="18" charset="0"/>
                <a:cs typeface="Times New Roman" pitchFamily="18" charset="0"/>
              </a:rPr>
              <a:t>being developed as the new energy technology</a:t>
            </a:r>
            <a:r>
              <a:rPr lang="en-US" sz="2200" dirty="0" smtClean="0">
                <a:solidFill>
                  <a:srgbClr val="009900"/>
                </a:solidFill>
                <a:latin typeface="Times New Roman" pitchFamily="18" charset="0"/>
                <a:cs typeface="Times New Roman" pitchFamily="18" charset="0"/>
              </a:rPr>
              <a:t>.</a:t>
            </a:r>
          </a:p>
          <a:p>
            <a:pPr>
              <a:buFont typeface="Wingdings" pitchFamily="2" charset="2"/>
              <a:buChar char="v"/>
            </a:pPr>
            <a:endParaRPr lang="en-US" sz="2200" dirty="0">
              <a:solidFill>
                <a:srgbClr val="009900"/>
              </a:solidFill>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13. </a:t>
            </a:r>
            <a:r>
              <a:rPr lang="en-US" sz="2200" b="1" dirty="0" err="1" smtClean="0">
                <a:solidFill>
                  <a:srgbClr val="00B0F0"/>
                </a:solidFill>
                <a:latin typeface="Times New Roman" pitchFamily="18" charset="0"/>
                <a:cs typeface="Times New Roman" pitchFamily="18" charset="0"/>
              </a:rPr>
              <a:t>Norwegion</a:t>
            </a:r>
            <a:r>
              <a:rPr lang="en-US" sz="2200" b="1" dirty="0" smtClean="0">
                <a:solidFill>
                  <a:srgbClr val="00B0F0"/>
                </a:solidFill>
                <a:latin typeface="Times New Roman" pitchFamily="18" charset="0"/>
                <a:cs typeface="Times New Roman" pitchFamily="18" charset="0"/>
              </a:rPr>
              <a:t> crystal</a:t>
            </a:r>
            <a:endParaRPr lang="en-US" sz="2200" b="1" dirty="0">
              <a:solidFill>
                <a:srgbClr val="00B0F0"/>
              </a:solidFill>
              <a:latin typeface="Times New Roman" pitchFamily="18" charset="0"/>
              <a:cs typeface="Times New Roman" pitchFamily="18" charset="0"/>
            </a:endParaRPr>
          </a:p>
          <a:p>
            <a:pPr marL="514350" indent="-514350">
              <a:buFont typeface="Wingdings" pitchFamily="2" charset="2"/>
              <a:buChar char="q"/>
            </a:pPr>
            <a:r>
              <a:rPr lang="it-IT" sz="2200" dirty="0" smtClean="0">
                <a:solidFill>
                  <a:srgbClr val="009900"/>
                </a:solidFill>
                <a:latin typeface="Times New Roman" pitchFamily="18" charset="0"/>
                <a:cs typeface="Times New Roman" pitchFamily="18" charset="0"/>
              </a:rPr>
              <a:t>Low </a:t>
            </a:r>
            <a:r>
              <a:rPr lang="it-IT" sz="2200" dirty="0">
                <a:solidFill>
                  <a:srgbClr val="009900"/>
                </a:solidFill>
                <a:latin typeface="Times New Roman" pitchFamily="18" charset="0"/>
                <a:cs typeface="Times New Roman" pitchFamily="18" charset="0"/>
              </a:rPr>
              <a:t>carbon mono crystalline silicon </a:t>
            </a:r>
            <a:r>
              <a:rPr lang="it-IT" sz="2200" dirty="0" smtClean="0">
                <a:solidFill>
                  <a:srgbClr val="009900"/>
                </a:solidFill>
                <a:latin typeface="Times New Roman" pitchFamily="18" charset="0"/>
                <a:cs typeface="Times New Roman" pitchFamily="18" charset="0"/>
              </a:rPr>
              <a:t>ingots, </a:t>
            </a:r>
            <a:r>
              <a:rPr lang="en-US" sz="2200" dirty="0" smtClean="0">
                <a:solidFill>
                  <a:srgbClr val="009900"/>
                </a:solidFill>
                <a:latin typeface="Times New Roman" pitchFamily="18" charset="0"/>
                <a:cs typeface="Times New Roman" pitchFamily="18" charset="0"/>
              </a:rPr>
              <a:t>is </a:t>
            </a:r>
            <a:r>
              <a:rPr lang="en-US" sz="2200" dirty="0">
                <a:solidFill>
                  <a:srgbClr val="009900"/>
                </a:solidFill>
                <a:latin typeface="Times New Roman" pitchFamily="18" charset="0"/>
                <a:cs typeface="Times New Roman" pitchFamily="18" charset="0"/>
              </a:rPr>
              <a:t>a type of crystal, used for high </a:t>
            </a:r>
            <a:r>
              <a:rPr lang="en-US" sz="2200" dirty="0" smtClean="0">
                <a:solidFill>
                  <a:srgbClr val="009900"/>
                </a:solidFill>
                <a:latin typeface="Times New Roman" pitchFamily="18" charset="0"/>
                <a:cs typeface="Times New Roman" pitchFamily="18" charset="0"/>
              </a:rPr>
              <a:t>performance photovoltaic </a:t>
            </a:r>
            <a:r>
              <a:rPr lang="en-US" sz="2200" dirty="0">
                <a:solidFill>
                  <a:srgbClr val="009900"/>
                </a:solidFill>
                <a:latin typeface="Times New Roman" pitchFamily="18" charset="0"/>
                <a:cs typeface="Times New Roman" pitchFamily="18" charset="0"/>
              </a:rPr>
              <a:t>devices</a:t>
            </a:r>
            <a:r>
              <a:rPr lang="en-US" sz="2200" dirty="0" smtClean="0">
                <a:solidFill>
                  <a:srgbClr val="009900"/>
                </a:solidFill>
                <a:latin typeface="Times New Roman" pitchFamily="18" charset="0"/>
                <a:cs typeface="Times New Roman" pitchFamily="18" charset="0"/>
              </a:rPr>
              <a:t>.</a:t>
            </a:r>
          </a:p>
          <a:p>
            <a:pPr marL="514350" indent="-514350">
              <a:buFont typeface="Wingdings" pitchFamily="2" charset="2"/>
              <a:buChar char="q"/>
            </a:pPr>
            <a:endParaRPr lang="en-US" sz="2200" dirty="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Gallium-doped </a:t>
            </a:r>
            <a:r>
              <a:rPr lang="en-US" sz="2200" dirty="0">
                <a:solidFill>
                  <a:srgbClr val="009900"/>
                </a:solidFill>
                <a:latin typeface="Times New Roman" pitchFamily="18" charset="0"/>
                <a:cs typeface="Times New Roman" pitchFamily="18" charset="0"/>
              </a:rPr>
              <a:t>ingots, that increases </a:t>
            </a:r>
            <a:r>
              <a:rPr lang="en-US" sz="2200" dirty="0" smtClean="0">
                <a:solidFill>
                  <a:srgbClr val="009900"/>
                </a:solidFill>
                <a:latin typeface="Times New Roman" pitchFamily="18" charset="0"/>
                <a:cs typeface="Times New Roman" pitchFamily="18" charset="0"/>
              </a:rPr>
              <a:t>the lifetime </a:t>
            </a:r>
            <a:r>
              <a:rPr lang="en-US" sz="2200" dirty="0">
                <a:solidFill>
                  <a:srgbClr val="009900"/>
                </a:solidFill>
                <a:latin typeface="Times New Roman" pitchFamily="18" charset="0"/>
                <a:cs typeface="Times New Roman" pitchFamily="18" charset="0"/>
              </a:rPr>
              <a:t>of the solar cells</a:t>
            </a:r>
            <a:r>
              <a:rPr lang="en-US" sz="2200" dirty="0" smtClean="0">
                <a:solidFill>
                  <a:srgbClr val="009900"/>
                </a:solidFill>
                <a:latin typeface="Times New Roman" pitchFamily="18" charset="0"/>
                <a:cs typeface="Times New Roman" pitchFamily="18" charset="0"/>
              </a:rPr>
              <a:t>.</a:t>
            </a:r>
          </a:p>
          <a:p>
            <a:endParaRPr lang="en-US" sz="2200" dirty="0" smtClean="0">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Through this, Norwegian crystals controls the carbon footprint of solar panel components at ultra low levels.</a:t>
            </a:r>
          </a:p>
          <a:p>
            <a:endParaRPr lang="en-US" sz="2200" dirty="0" smtClean="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7848600" cy="5847755"/>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14. Algal bio - fuels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Algae is an alternative to liquid fossil fuels.</a:t>
            </a: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It offers huge commercial potential. </a:t>
            </a: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Like fossil fuel, algae fuel releases CO    when burnt.</a:t>
            </a: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But unlike fossil fuel, the CO    released by algae fuel is removed from the atmosphere via., photosynthesis as the algae (or) plant grew.</a:t>
            </a: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 impact of algal bio-fuels on the atmosphere is much lower.</a:t>
            </a:r>
          </a:p>
          <a:p>
            <a:r>
              <a:rPr lang="en-US" sz="2200" dirty="0" smtClean="0">
                <a:solidFill>
                  <a:srgbClr val="009900"/>
                </a:solidFill>
                <a:latin typeface="Times New Roman" pitchFamily="18" charset="0"/>
                <a:cs typeface="Times New Roman" pitchFamily="18" charset="0"/>
              </a:rPr>
              <a:t> </a:t>
            </a:r>
          </a:p>
          <a:p>
            <a:pPr>
              <a:buFont typeface="Wingdings" pitchFamily="2" charset="2"/>
              <a:buChar char="q"/>
            </a:pPr>
            <a:r>
              <a:rPr lang="en-US" sz="2200" dirty="0" smtClean="0">
                <a:solidFill>
                  <a:srgbClr val="009900"/>
                </a:solidFill>
                <a:latin typeface="Times New Roman" pitchFamily="18" charset="0"/>
                <a:cs typeface="Times New Roman" pitchFamily="18" charset="0"/>
              </a:rPr>
              <a:t>  Algal fuel production has a minimal impact on land and water resources. </a:t>
            </a: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It can be produced using seawater (or) even grey waste water.</a:t>
            </a:r>
          </a:p>
        </p:txBody>
      </p:sp>
      <p:sp>
        <p:nvSpPr>
          <p:cNvPr id="3" name="Rectangle 2"/>
          <p:cNvSpPr/>
          <p:nvPr/>
        </p:nvSpPr>
        <p:spPr>
          <a:xfrm>
            <a:off x="5257800" y="2971800"/>
            <a:ext cx="2286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
        <p:nvSpPr>
          <p:cNvPr id="4" name="Rectangle 3"/>
          <p:cNvSpPr/>
          <p:nvPr/>
        </p:nvSpPr>
        <p:spPr>
          <a:xfrm>
            <a:off x="4114800" y="36576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8001000" cy="5509200"/>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15. Body heat</a:t>
            </a:r>
          </a:p>
          <a:p>
            <a:endParaRPr lang="en-US" sz="2200" b="1" dirty="0" smtClean="0">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 body heat, liberated by humans in the crowded area like central station, market place, is </a:t>
            </a:r>
            <a:r>
              <a:rPr lang="en-US" sz="2200" dirty="0" err="1" smtClean="0">
                <a:solidFill>
                  <a:srgbClr val="009900"/>
                </a:solidFill>
                <a:latin typeface="Times New Roman" pitchFamily="18" charset="0"/>
                <a:cs typeface="Times New Roman" pitchFamily="18" charset="0"/>
              </a:rPr>
              <a:t>channelled</a:t>
            </a:r>
            <a:r>
              <a:rPr lang="en-US" sz="2200" dirty="0" smtClean="0">
                <a:solidFill>
                  <a:srgbClr val="009900"/>
                </a:solidFill>
                <a:latin typeface="Times New Roman" pitchFamily="18" charset="0"/>
                <a:cs typeface="Times New Roman" pitchFamily="18" charset="0"/>
              </a:rPr>
              <a:t> through the station’s vent system. </a:t>
            </a:r>
          </a:p>
          <a:p>
            <a:pPr>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Then it is used to warm up water in underground tanks and pumped through the heating system.</a:t>
            </a:r>
          </a:p>
          <a:p>
            <a:endParaRPr lang="en-US" sz="2200" b="1" dirty="0" smtClean="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16. Dance floor</a:t>
            </a:r>
          </a:p>
          <a:p>
            <a:endParaRPr lang="en-US" sz="2200" b="1" dirty="0" smtClean="0">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The kinetic energy of the dance floor is converted to electricity that lights up the dance floor itself.</a:t>
            </a:r>
          </a:p>
          <a:p>
            <a:endParaRPr lang="en-US" sz="2200" dirty="0" smtClean="0">
              <a:latin typeface="Times New Roman" pitchFamily="18" charset="0"/>
              <a:cs typeface="Times New Roman" pitchFamily="18" charset="0"/>
            </a:endParaRPr>
          </a:p>
          <a:p>
            <a:pPr>
              <a:buFont typeface="Wingdings" pitchFamily="2" charset="2"/>
              <a:buChar char="Ø"/>
            </a:pPr>
            <a:r>
              <a:rPr lang="en-US" sz="2200" b="1" i="1" dirty="0" smtClean="0">
                <a:solidFill>
                  <a:srgbClr val="009900"/>
                </a:solidFill>
                <a:latin typeface="Times New Roman" pitchFamily="18" charset="0"/>
                <a:cs typeface="Times New Roman" pitchFamily="18" charset="0"/>
              </a:rPr>
              <a:t>  </a:t>
            </a:r>
            <a:r>
              <a:rPr lang="en-US" sz="2200" b="1" i="1" dirty="0" err="1" smtClean="0">
                <a:solidFill>
                  <a:srgbClr val="009900"/>
                </a:solidFill>
                <a:latin typeface="Times New Roman" pitchFamily="18" charset="0"/>
                <a:cs typeface="Times New Roman" pitchFamily="18" charset="0"/>
              </a:rPr>
              <a:t>Pavegen</a:t>
            </a:r>
            <a:r>
              <a:rPr lang="en-US" sz="2200" b="1" i="1" dirty="0" smtClean="0">
                <a:solidFill>
                  <a:srgbClr val="009900"/>
                </a:solidFill>
                <a:latin typeface="Times New Roman" pitchFamily="18" charset="0"/>
                <a:cs typeface="Times New Roman" pitchFamily="18" charset="0"/>
              </a:rPr>
              <a:t>, a </a:t>
            </a:r>
            <a:r>
              <a:rPr lang="en-US" sz="2200" b="1" i="1" dirty="0" err="1" smtClean="0">
                <a:solidFill>
                  <a:srgbClr val="009900"/>
                </a:solidFill>
                <a:latin typeface="Times New Roman" pitchFamily="18" charset="0"/>
                <a:cs typeface="Times New Roman" pitchFamily="18" charset="0"/>
              </a:rPr>
              <a:t>london</a:t>
            </a:r>
            <a:r>
              <a:rPr lang="en-US" sz="2200" b="1" i="1" dirty="0" smtClean="0">
                <a:solidFill>
                  <a:srgbClr val="009900"/>
                </a:solidFill>
                <a:latin typeface="Times New Roman" pitchFamily="18" charset="0"/>
                <a:cs typeface="Times New Roman" pitchFamily="18" charset="0"/>
              </a:rPr>
              <a:t> based company is demonstrating </a:t>
            </a:r>
            <a:r>
              <a:rPr lang="en-US" sz="2200" dirty="0" smtClean="0">
                <a:solidFill>
                  <a:srgbClr val="009900"/>
                </a:solidFill>
                <a:latin typeface="Times New Roman" pitchFamily="18" charset="0"/>
                <a:cs typeface="Times New Roman" pitchFamily="18" charset="0"/>
              </a:rPr>
              <a:t>this with its development of the energy harvesting “smart street”.</a:t>
            </a:r>
            <a:endParaRPr lang="en-US" sz="22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66800"/>
            <a:ext cx="7772400" cy="5170646"/>
          </a:xfrm>
          <a:prstGeom prst="rect">
            <a:avLst/>
          </a:prstGeom>
        </p:spPr>
        <p:txBody>
          <a:bodyPr wrap="square">
            <a:spAutoFit/>
          </a:bodyPr>
          <a:lstStyle/>
          <a:p>
            <a:r>
              <a:rPr lang="en-US" sz="2200" b="1" dirty="0" smtClean="0">
                <a:solidFill>
                  <a:srgbClr val="C00000"/>
                </a:solidFill>
                <a:latin typeface="Times New Roman" pitchFamily="18" charset="0"/>
                <a:cs typeface="Times New Roman" pitchFamily="18" charset="0"/>
              </a:rPr>
              <a:t>3.3 APPLICATIONS OF HYDROGEN ENERGY</a:t>
            </a:r>
          </a:p>
          <a:p>
            <a:endParaRPr lang="en-US" sz="2200" dirty="0" smtClean="0">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Hydrogen is a reagent, used in many industries, including chemicals, textile fiber manufacturing, glass, electronics and metallurgy.</a:t>
            </a:r>
          </a:p>
          <a:p>
            <a:pPr>
              <a:buFont typeface="Wingdings" pitchFamily="2" charset="2"/>
              <a:buChar char="q"/>
            </a:pPr>
            <a:r>
              <a:rPr lang="en-US" sz="2200" dirty="0" smtClean="0">
                <a:solidFill>
                  <a:srgbClr val="009900"/>
                </a:solidFill>
                <a:latin typeface="Times New Roman" pitchFamily="18" charset="0"/>
                <a:cs typeface="Times New Roman" pitchFamily="18" charset="0"/>
              </a:rPr>
              <a:t>  It is also used as a fuel for rocket launchers.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In electronics, hydrogen is used as a carrier gas, for the manufacture of electronic components.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Hydrogen is used in industries for many applications.</a:t>
            </a:r>
          </a:p>
          <a:p>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a:t>
            </a:r>
          </a:p>
          <a:p>
            <a:pPr lvl="1">
              <a:buFont typeface="Wingdings" pitchFamily="2" charset="2"/>
              <a:buChar char="Ø"/>
            </a:pPr>
            <a:r>
              <a:rPr lang="en-US" sz="2200" dirty="0" smtClean="0">
                <a:solidFill>
                  <a:srgbClr val="000099"/>
                </a:solidFill>
                <a:latin typeface="Times New Roman" pitchFamily="18" charset="0"/>
                <a:cs typeface="Times New Roman" pitchFamily="18" charset="0"/>
              </a:rPr>
              <a:t>  It combines with nitrogen to produce ammonia, a base for fertilizers.</a:t>
            </a:r>
          </a:p>
          <a:p>
            <a:pPr lvl="1">
              <a:buFont typeface="Wingdings" pitchFamily="2" charset="2"/>
              <a:buChar char="Ø"/>
            </a:pPr>
            <a:r>
              <a:rPr lang="en-US" sz="2200" dirty="0" smtClean="0">
                <a:solidFill>
                  <a:srgbClr val="000099"/>
                </a:solidFill>
                <a:latin typeface="Times New Roman" pitchFamily="18" charset="0"/>
                <a:cs typeface="Times New Roman" pitchFamily="18" charset="0"/>
              </a:rPr>
              <a:t>  It is a good reagent for textile fibers like nylon, polyurethane foam.</a:t>
            </a:r>
          </a:p>
        </p:txBody>
      </p:sp>
    </p:spTree>
  </p:cSld>
  <p:clrMapOvr>
    <a:masterClrMapping/>
  </p:clrMapOvr>
  <p:transition spd="slow">
    <p:wedg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838200"/>
            <a:ext cx="7772400" cy="5847755"/>
          </a:xfrm>
          <a:prstGeom prst="rect">
            <a:avLst/>
          </a:prstGeom>
        </p:spPr>
        <p:txBody>
          <a:bodyPr wrap="square">
            <a:spAutoFit/>
          </a:bodyPr>
          <a:lstStyle/>
          <a:p>
            <a:pPr>
              <a:buFont typeface="Wingdings" pitchFamily="2" charset="2"/>
              <a:buChar char="Ø"/>
            </a:pPr>
            <a:r>
              <a:rPr lang="en-US" sz="2200" dirty="0" smtClean="0">
                <a:solidFill>
                  <a:srgbClr val="000099"/>
                </a:solidFill>
                <a:latin typeface="Times New Roman" pitchFamily="18" charset="0"/>
                <a:cs typeface="Times New Roman" pitchFamily="18" charset="0"/>
              </a:rPr>
              <a:t>  Hydrogen is used in metallurgy for heat treatment process to produce mechanical parts (or) to alter their properties.</a:t>
            </a:r>
          </a:p>
          <a:p>
            <a:pPr>
              <a:buFont typeface="Wingdings" pitchFamily="2" charset="2"/>
              <a:buChar char="Ø"/>
            </a:pPr>
            <a:endParaRPr lang="en-US" sz="2200" dirty="0" smtClean="0">
              <a:solidFill>
                <a:srgbClr val="000099"/>
              </a:solidFill>
              <a:latin typeface="Times New Roman" pitchFamily="18" charset="0"/>
              <a:cs typeface="Times New Roman" pitchFamily="18" charset="0"/>
            </a:endParaRPr>
          </a:p>
          <a:p>
            <a:pPr>
              <a:buFont typeface="Wingdings" pitchFamily="2" charset="2"/>
              <a:buChar char="Ø"/>
            </a:pPr>
            <a:r>
              <a:rPr lang="en-US" sz="2200" dirty="0" smtClean="0">
                <a:solidFill>
                  <a:srgbClr val="000099"/>
                </a:solidFill>
                <a:latin typeface="Times New Roman" pitchFamily="18" charset="0"/>
                <a:cs typeface="Times New Roman" pitchFamily="18" charset="0"/>
              </a:rPr>
              <a:t>  Hydrogen is used during fuel refining to remove this </a:t>
            </a:r>
            <a:r>
              <a:rPr lang="en-US" sz="2200" dirty="0" err="1" smtClean="0">
                <a:solidFill>
                  <a:srgbClr val="000099"/>
                </a:solidFill>
                <a:latin typeface="Times New Roman" pitchFamily="18" charset="0"/>
                <a:cs typeface="Times New Roman" pitchFamily="18" charset="0"/>
              </a:rPr>
              <a:t>sulphur</a:t>
            </a:r>
            <a:r>
              <a:rPr lang="en-US" sz="2200" dirty="0" smtClean="0">
                <a:solidFill>
                  <a:srgbClr val="000099"/>
                </a:solidFill>
                <a:latin typeface="Times New Roman" pitchFamily="18" charset="0"/>
                <a:cs typeface="Times New Roman" pitchFamily="18" charset="0"/>
              </a:rPr>
              <a:t> via a process of desulphurization.</a:t>
            </a:r>
          </a:p>
          <a:p>
            <a:pPr>
              <a:buFont typeface="Wingdings" pitchFamily="2" charset="2"/>
              <a:buChar char="Ø"/>
            </a:pPr>
            <a:endParaRPr lang="en-US" sz="2200" dirty="0" smtClean="0">
              <a:solidFill>
                <a:srgbClr val="000099"/>
              </a:solidFill>
              <a:latin typeface="Times New Roman" pitchFamily="18" charset="0"/>
              <a:cs typeface="Times New Roman" pitchFamily="18" charset="0"/>
            </a:endParaRPr>
          </a:p>
          <a:p>
            <a:pPr>
              <a:buFont typeface="Wingdings" pitchFamily="2" charset="2"/>
              <a:buChar char="Ø"/>
            </a:pPr>
            <a:r>
              <a:rPr lang="en-US" sz="2200" dirty="0" smtClean="0">
                <a:solidFill>
                  <a:srgbClr val="000099"/>
                </a:solidFill>
                <a:latin typeface="Times New Roman" pitchFamily="18" charset="0"/>
                <a:cs typeface="Times New Roman" pitchFamily="18" charset="0"/>
              </a:rPr>
              <a:t>  Atomic hydrogen welding (AHW) is a type of arc welding which utilizes a hydrogen environment.</a:t>
            </a:r>
          </a:p>
          <a:p>
            <a:pPr>
              <a:buFont typeface="Wingdings" pitchFamily="2" charset="2"/>
              <a:buChar char="Ø"/>
            </a:pPr>
            <a:endParaRPr lang="en-US" sz="2200" dirty="0" smtClean="0">
              <a:solidFill>
                <a:srgbClr val="000099"/>
              </a:solidFill>
              <a:latin typeface="Times New Roman" pitchFamily="18" charset="0"/>
              <a:cs typeface="Times New Roman" pitchFamily="18" charset="0"/>
            </a:endParaRPr>
          </a:p>
          <a:p>
            <a:pPr>
              <a:buFont typeface="Wingdings" pitchFamily="2" charset="2"/>
              <a:buChar char="Ø"/>
            </a:pPr>
            <a:r>
              <a:rPr lang="en-US" sz="2200" dirty="0" smtClean="0">
                <a:solidFill>
                  <a:srgbClr val="000099"/>
                </a:solidFill>
                <a:latin typeface="Times New Roman" pitchFamily="18" charset="0"/>
                <a:cs typeface="Times New Roman" pitchFamily="18" charset="0"/>
              </a:rPr>
              <a:t>  A mixture of hydrogen and nitrogen is used to prevent oxidation in flat glass production.</a:t>
            </a:r>
          </a:p>
          <a:p>
            <a:pPr>
              <a:buFont typeface="Wingdings" pitchFamily="2" charset="2"/>
              <a:buChar char="Ø"/>
            </a:pPr>
            <a:endParaRPr lang="en-US" sz="2200" dirty="0" smtClean="0">
              <a:solidFill>
                <a:srgbClr val="000099"/>
              </a:solidFill>
              <a:latin typeface="Times New Roman" pitchFamily="18" charset="0"/>
              <a:cs typeface="Times New Roman" pitchFamily="18" charset="0"/>
            </a:endParaRPr>
          </a:p>
          <a:p>
            <a:pPr>
              <a:buFont typeface="Wingdings" pitchFamily="2" charset="2"/>
              <a:buChar char="Ø"/>
            </a:pPr>
            <a:r>
              <a:rPr lang="en-US" sz="2200" dirty="0" smtClean="0">
                <a:solidFill>
                  <a:srgbClr val="000099"/>
                </a:solidFill>
                <a:latin typeface="Times New Roman" pitchFamily="18" charset="0"/>
                <a:cs typeface="Times New Roman" pitchFamily="18" charset="0"/>
              </a:rPr>
              <a:t>  As an efficient reducing and etching agent, hydrogen is used to create semiconductors, LEDs, displays.</a:t>
            </a:r>
          </a:p>
          <a:p>
            <a:pPr>
              <a:buFont typeface="Wingdings" pitchFamily="2" charset="2"/>
              <a:buChar char="Ø"/>
            </a:pPr>
            <a:endParaRPr lang="en-US" sz="2200" dirty="0" smtClean="0">
              <a:solidFill>
                <a:srgbClr val="000099"/>
              </a:solidFill>
              <a:latin typeface="Times New Roman" pitchFamily="18" charset="0"/>
              <a:cs typeface="Times New Roman" pitchFamily="18" charset="0"/>
            </a:endParaRPr>
          </a:p>
          <a:p>
            <a:pPr>
              <a:buFont typeface="Wingdings" pitchFamily="2" charset="2"/>
              <a:buChar char="Ø"/>
            </a:pPr>
            <a:r>
              <a:rPr lang="en-US" sz="2200" dirty="0" smtClean="0">
                <a:solidFill>
                  <a:srgbClr val="000099"/>
                </a:solidFill>
                <a:latin typeface="Times New Roman" pitchFamily="18" charset="0"/>
                <a:cs typeface="Times New Roman" pitchFamily="18" charset="0"/>
              </a:rPr>
              <a:t>  Hydrogen gas is used as a therapeutic gas for a number of different diseases.</a:t>
            </a:r>
            <a:endParaRPr lang="en-US" sz="2200" dirty="0">
              <a:solidFill>
                <a:srgbClr val="000099"/>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0600"/>
            <a:ext cx="7848600" cy="5509200"/>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11. Hydrogen fuel cell</a:t>
            </a:r>
          </a:p>
          <a:p>
            <a:pPr>
              <a:buFont typeface="Wingdings" pitchFamily="2" charset="2"/>
              <a:buChar char="v"/>
            </a:pPr>
            <a:r>
              <a:rPr lang="en-US" sz="2200" dirty="0" smtClean="0">
                <a:solidFill>
                  <a:srgbClr val="009900"/>
                </a:solidFill>
                <a:latin typeface="Times New Roman" pitchFamily="18" charset="0"/>
                <a:cs typeface="Times New Roman" pitchFamily="18" charset="0"/>
              </a:rPr>
              <a:t>  Hydrogen fuel cell uses hydrogen as a fuel in an electrochemical process that combines H    and O   to produce electrical energy with water and heat as the only by-product. </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Two main applications of fuel cells are,</a:t>
            </a:r>
          </a:p>
          <a:p>
            <a:endParaRPr lang="en-US" sz="2200" dirty="0" smtClean="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a:t>
            </a:r>
            <a:r>
              <a:rPr lang="en-US" sz="2200" b="1" dirty="0" err="1" smtClean="0">
                <a:solidFill>
                  <a:srgbClr val="00B0F0"/>
                </a:solidFill>
                <a:latin typeface="Times New Roman" pitchFamily="18" charset="0"/>
                <a:cs typeface="Times New Roman" pitchFamily="18" charset="0"/>
              </a:rPr>
              <a:t>i</a:t>
            </a:r>
            <a:r>
              <a:rPr lang="en-US" sz="2200" b="1" dirty="0" smtClean="0">
                <a:solidFill>
                  <a:srgbClr val="00B0F0"/>
                </a:solidFill>
                <a:latin typeface="Times New Roman" pitchFamily="18" charset="0"/>
                <a:cs typeface="Times New Roman" pitchFamily="18" charset="0"/>
              </a:rPr>
              <a:t>) Stationary power sources.</a:t>
            </a:r>
          </a:p>
          <a:p>
            <a:pPr marL="342900" indent="-342900">
              <a:buFont typeface="Wingdings" pitchFamily="2" charset="2"/>
              <a:buChar char="q"/>
            </a:pPr>
            <a:r>
              <a:rPr lang="en-US" sz="2200" dirty="0" smtClean="0">
                <a:solidFill>
                  <a:srgbClr val="009900"/>
                </a:solidFill>
                <a:latin typeface="Times New Roman" pitchFamily="18" charset="0"/>
                <a:cs typeface="Times New Roman" pitchFamily="18" charset="0"/>
              </a:rPr>
              <a:t> These are used to power office buildings, data </a:t>
            </a:r>
            <a:r>
              <a:rPr lang="en-US" sz="2200" dirty="0" err="1" smtClean="0">
                <a:solidFill>
                  <a:srgbClr val="009900"/>
                </a:solidFill>
                <a:latin typeface="Times New Roman" pitchFamily="18" charset="0"/>
                <a:cs typeface="Times New Roman" pitchFamily="18" charset="0"/>
              </a:rPr>
              <a:t>centres</a:t>
            </a:r>
            <a:r>
              <a:rPr lang="en-US" sz="2200" dirty="0" smtClean="0">
                <a:solidFill>
                  <a:srgbClr val="009900"/>
                </a:solidFill>
                <a:latin typeface="Times New Roman" pitchFamily="18" charset="0"/>
                <a:cs typeface="Times New Roman" pitchFamily="18" charset="0"/>
              </a:rPr>
              <a:t>, grocery stores and off-grid telecommunication towers.</a:t>
            </a:r>
          </a:p>
          <a:p>
            <a:pPr marL="342900" indent="-342900">
              <a:buFont typeface="Wingdings" pitchFamily="2" charset="2"/>
              <a:buChar char="q"/>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It is used as a part of uninterruptible power supply (UPS) system, where continuous uptime is critical.</a:t>
            </a:r>
          </a:p>
          <a:p>
            <a:r>
              <a:rPr lang="en-US" sz="2200" b="1" dirty="0" smtClean="0">
                <a:solidFill>
                  <a:srgbClr val="00B0F0"/>
                </a:solidFill>
                <a:latin typeface="Times New Roman" pitchFamily="18" charset="0"/>
                <a:cs typeface="Times New Roman" pitchFamily="18" charset="0"/>
              </a:rPr>
              <a:t>(ii) Hydrogen fuel cell vehicles (FCVs)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The heat produced by the hydrogen fuel cell can be used for space and water heating (or) industrial process.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Hydrogen fuel cells power clean trucks, fork lifts, etc.,</a:t>
            </a:r>
            <a:endParaRPr lang="en-US" sz="2200" dirty="0">
              <a:solidFill>
                <a:srgbClr val="009900"/>
              </a:solidFill>
              <a:latin typeface="Times New Roman" pitchFamily="18" charset="0"/>
              <a:cs typeface="Times New Roman" pitchFamily="18" charset="0"/>
            </a:endParaRPr>
          </a:p>
        </p:txBody>
      </p:sp>
      <p:sp>
        <p:nvSpPr>
          <p:cNvPr id="4" name="Rectangle 3"/>
          <p:cNvSpPr/>
          <p:nvPr/>
        </p:nvSpPr>
        <p:spPr>
          <a:xfrm>
            <a:off x="3429000" y="19812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
        <p:nvSpPr>
          <p:cNvPr id="5" name="Rectangle 4"/>
          <p:cNvSpPr/>
          <p:nvPr/>
        </p:nvSpPr>
        <p:spPr>
          <a:xfrm>
            <a:off x="4343400" y="1981200"/>
            <a:ext cx="152400" cy="762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00"/>
                </a:solidFill>
                <a:latin typeface="Times New Roman" pitchFamily="18" charset="0"/>
                <a:cs typeface="Times New Roman" pitchFamily="18" charset="0"/>
              </a:rPr>
              <a:t>2</a:t>
            </a:r>
            <a:endParaRPr lang="en-US" sz="20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028343"/>
            <a:ext cx="7924800" cy="5170646"/>
          </a:xfrm>
          <a:prstGeom prst="rect">
            <a:avLst/>
          </a:prstGeom>
        </p:spPr>
        <p:txBody>
          <a:bodyPr wrap="square">
            <a:spAutoFit/>
          </a:bodyPr>
          <a:lstStyle/>
          <a:p>
            <a:pPr>
              <a:buFont typeface="Wingdings" pitchFamily="2" charset="2"/>
              <a:buChar char="q"/>
            </a:pPr>
            <a:r>
              <a:rPr lang="en-US" sz="2200" dirty="0" smtClean="0">
                <a:solidFill>
                  <a:srgbClr val="009900"/>
                </a:solidFill>
                <a:latin typeface="Times New Roman" pitchFamily="18" charset="0"/>
                <a:cs typeface="Times New Roman" pitchFamily="18" charset="0"/>
              </a:rPr>
              <a:t>  Hydrogen power is being considered for transportation applications including hydrogen fuel cell buses.</a:t>
            </a:r>
          </a:p>
          <a:p>
            <a:pPr>
              <a:buFont typeface="Wingdings" pitchFamily="2" charset="2"/>
              <a:buChar char="q"/>
            </a:pPr>
            <a:r>
              <a:rPr lang="en-US" sz="2200" dirty="0" smtClean="0">
                <a:solidFill>
                  <a:srgbClr val="009900"/>
                </a:solidFill>
                <a:latin typeface="Times New Roman" pitchFamily="18" charset="0"/>
                <a:cs typeface="Times New Roman" pitchFamily="18" charset="0"/>
              </a:rPr>
              <a:t>  Hydrogen fuel cell trains have now appeared.</a:t>
            </a:r>
          </a:p>
          <a:p>
            <a:pPr>
              <a:buFont typeface="Wingdings" pitchFamily="2" charset="2"/>
              <a:buChar char="q"/>
            </a:pPr>
            <a:r>
              <a:rPr lang="en-US" sz="2200" dirty="0" smtClean="0">
                <a:solidFill>
                  <a:srgbClr val="009900"/>
                </a:solidFill>
                <a:latin typeface="Times New Roman" pitchFamily="18" charset="0"/>
                <a:cs typeface="Times New Roman" pitchFamily="18" charset="0"/>
              </a:rPr>
              <a:t>  Hydrogen offers versatile options for mobile power generation. Some of the hydrogen fuel cells were developed by NASA to provide electricity for rockets and shuttles in space.</a:t>
            </a:r>
          </a:p>
          <a:p>
            <a:pPr>
              <a:buFont typeface="Wingdings" pitchFamily="2" charset="2"/>
              <a:buChar char="q"/>
            </a:pPr>
            <a:r>
              <a:rPr lang="en-US" sz="2200" dirty="0" smtClean="0">
                <a:solidFill>
                  <a:srgbClr val="009900"/>
                </a:solidFill>
                <a:latin typeface="Times New Roman" pitchFamily="18" charset="0"/>
                <a:cs typeface="Times New Roman" pitchFamily="18" charset="0"/>
              </a:rPr>
              <a:t>  Hydrogen fuel cells have found a number of marine applications (used in boats and submarines).</a:t>
            </a:r>
          </a:p>
          <a:p>
            <a:endParaRPr lang="en-US" sz="2200" dirty="0" smtClean="0">
              <a:latin typeface="Times New Roman" pitchFamily="18" charset="0"/>
              <a:cs typeface="Times New Roman" pitchFamily="18" charset="0"/>
            </a:endParaRPr>
          </a:p>
          <a:p>
            <a:r>
              <a:rPr lang="en-US" sz="2200" b="1" i="1" dirty="0" smtClean="0">
                <a:solidFill>
                  <a:srgbClr val="0070C0"/>
                </a:solidFill>
                <a:latin typeface="Times New Roman" pitchFamily="18" charset="0"/>
                <a:cs typeface="Times New Roman" pitchFamily="18" charset="0"/>
              </a:rPr>
              <a:t>3.3.1 Advantages and disadvantages of hydrogen fuel cells </a:t>
            </a:r>
            <a:r>
              <a:rPr lang="en-US" sz="2200" b="1" dirty="0" smtClean="0">
                <a:solidFill>
                  <a:srgbClr val="FF0000"/>
                </a:solidFill>
                <a:latin typeface="Times New Roman" pitchFamily="18" charset="0"/>
                <a:cs typeface="Times New Roman" pitchFamily="18" charset="0"/>
              </a:rPr>
              <a:t>Advantages</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Hydrogen is readily available.</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It does not produce harmful emissions.</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It is environmentally friendly.</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It can be used as fuel in rocket.</a:t>
            </a:r>
            <a:endParaRPr lang="en-US" sz="2200" dirty="0">
              <a:solidFill>
                <a:srgbClr val="000099"/>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7848600" cy="4832092"/>
          </a:xfrm>
          <a:prstGeom prst="rect">
            <a:avLst/>
          </a:prstGeom>
        </p:spPr>
        <p:txBody>
          <a:bodyPr wrap="square">
            <a:spAutoFit/>
          </a:bodyPr>
          <a:lstStyle/>
          <a:p>
            <a:pPr lvl="2">
              <a:buFont typeface="Wingdings" pitchFamily="2" charset="2"/>
              <a:buChar char="ü"/>
            </a:pPr>
            <a:r>
              <a:rPr lang="en-US" sz="2200" dirty="0" smtClean="0">
                <a:solidFill>
                  <a:srgbClr val="000099"/>
                </a:solidFill>
              </a:rPr>
              <a:t>  It is energy efficient and more powerful than fossil fuels.</a:t>
            </a:r>
          </a:p>
          <a:p>
            <a:pPr lvl="2">
              <a:buFont typeface="Wingdings" pitchFamily="2" charset="2"/>
              <a:buChar char="ü"/>
            </a:pPr>
            <a:r>
              <a:rPr lang="en-US" sz="2200" dirty="0" smtClean="0">
                <a:solidFill>
                  <a:srgbClr val="000099"/>
                </a:solidFill>
              </a:rPr>
              <a:t>  It is renewable.</a:t>
            </a:r>
          </a:p>
          <a:p>
            <a:pPr lvl="2">
              <a:buFont typeface="Wingdings" pitchFamily="2" charset="2"/>
              <a:buChar char="ü"/>
            </a:pPr>
            <a:r>
              <a:rPr lang="en-US" sz="2200" dirty="0" smtClean="0">
                <a:solidFill>
                  <a:srgbClr val="000099"/>
                </a:solidFill>
              </a:rPr>
              <a:t>  It reduces carbon foot prints.</a:t>
            </a:r>
          </a:p>
          <a:p>
            <a:pPr lvl="2">
              <a:buFont typeface="Wingdings" pitchFamily="2" charset="2"/>
              <a:buChar char="ü"/>
            </a:pPr>
            <a:r>
              <a:rPr lang="en-US" sz="2200" dirty="0" smtClean="0">
                <a:solidFill>
                  <a:srgbClr val="000099"/>
                </a:solidFill>
              </a:rPr>
              <a:t>  Charging times is fast.</a:t>
            </a:r>
          </a:p>
          <a:p>
            <a:pPr lvl="2">
              <a:buFont typeface="Wingdings" pitchFamily="2" charset="2"/>
              <a:buChar char="ü"/>
            </a:pPr>
            <a:r>
              <a:rPr lang="en-US" sz="2200" dirty="0" smtClean="0">
                <a:solidFill>
                  <a:srgbClr val="000099"/>
                </a:solidFill>
              </a:rPr>
              <a:t>  It does not make noise and visual pollution.</a:t>
            </a:r>
          </a:p>
          <a:p>
            <a:pPr lvl="2">
              <a:buFont typeface="Wingdings" pitchFamily="2" charset="2"/>
              <a:buChar char="ü"/>
            </a:pPr>
            <a:r>
              <a:rPr lang="en-US" sz="2200" dirty="0" smtClean="0">
                <a:solidFill>
                  <a:srgbClr val="000099"/>
                </a:solidFill>
              </a:rPr>
              <a:t>  It can be used for long time.</a:t>
            </a:r>
          </a:p>
          <a:p>
            <a:endParaRPr lang="en-US" sz="2200" dirty="0" smtClean="0">
              <a:solidFill>
                <a:srgbClr val="FF0000"/>
              </a:solidFill>
            </a:endParaRPr>
          </a:p>
          <a:p>
            <a:r>
              <a:rPr lang="en-US" sz="2200" b="1" dirty="0" smtClean="0">
                <a:solidFill>
                  <a:srgbClr val="FF0000"/>
                </a:solidFill>
              </a:rPr>
              <a:t>Disadvantages</a:t>
            </a:r>
          </a:p>
          <a:p>
            <a:pPr lvl="3">
              <a:buFont typeface="Wingdings" pitchFamily="2" charset="2"/>
              <a:buChar char="ü"/>
            </a:pPr>
            <a:r>
              <a:rPr lang="en-US" sz="2200" dirty="0" smtClean="0">
                <a:solidFill>
                  <a:srgbClr val="000099"/>
                </a:solidFill>
              </a:rPr>
              <a:t>  It is expensive.</a:t>
            </a:r>
          </a:p>
          <a:p>
            <a:pPr lvl="3">
              <a:buFont typeface="Wingdings" pitchFamily="2" charset="2"/>
              <a:buChar char="ü"/>
            </a:pPr>
            <a:r>
              <a:rPr lang="en-US" sz="2200" dirty="0" smtClean="0">
                <a:solidFill>
                  <a:srgbClr val="000099"/>
                </a:solidFill>
              </a:rPr>
              <a:t>  It is difficult to store.</a:t>
            </a:r>
          </a:p>
          <a:p>
            <a:pPr lvl="3">
              <a:buFont typeface="Wingdings" pitchFamily="2" charset="2"/>
              <a:buChar char="ü"/>
            </a:pPr>
            <a:r>
              <a:rPr lang="en-US" sz="2200" dirty="0" smtClean="0">
                <a:solidFill>
                  <a:srgbClr val="000099"/>
                </a:solidFill>
              </a:rPr>
              <a:t>  It is highly inflammable.</a:t>
            </a:r>
          </a:p>
          <a:p>
            <a:pPr lvl="3">
              <a:buFont typeface="Wingdings" pitchFamily="2" charset="2"/>
              <a:buChar char="ü"/>
            </a:pPr>
            <a:r>
              <a:rPr lang="en-US" sz="2200" dirty="0" smtClean="0">
                <a:solidFill>
                  <a:srgbClr val="000099"/>
                </a:solidFill>
              </a:rPr>
              <a:t>  Infra-structure.</a:t>
            </a:r>
          </a:p>
          <a:p>
            <a:pPr lvl="3">
              <a:buFont typeface="Wingdings" pitchFamily="2" charset="2"/>
              <a:buChar char="ü"/>
            </a:pPr>
            <a:r>
              <a:rPr lang="en-US" sz="2200" dirty="0" smtClean="0">
                <a:solidFill>
                  <a:srgbClr val="000099"/>
                </a:solidFill>
              </a:rPr>
              <a:t>  Regulatory issues.</a:t>
            </a:r>
          </a:p>
        </p:txBody>
      </p:sp>
    </p:spTree>
  </p:cSld>
  <p:clrMapOvr>
    <a:masterClrMapping/>
  </p:clrMapOvr>
  <p:transition spd="slow">
    <p:wedg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0600"/>
            <a:ext cx="7696200" cy="5170646"/>
          </a:xfrm>
          <a:prstGeom prst="rect">
            <a:avLst/>
          </a:prstGeom>
        </p:spPr>
        <p:txBody>
          <a:bodyPr wrap="square">
            <a:spAutoFit/>
          </a:bodyPr>
          <a:lstStyle/>
          <a:p>
            <a:r>
              <a:rPr lang="en-US" sz="2200" b="1" dirty="0" smtClean="0">
                <a:solidFill>
                  <a:srgbClr val="C00000"/>
                </a:solidFill>
                <a:latin typeface="Times New Roman" pitchFamily="18" charset="0"/>
                <a:cs typeface="Times New Roman" pitchFamily="18" charset="0"/>
              </a:rPr>
              <a:t>3.4 APPLICATIONS OF OCEAN ENERGY RESOURCES</a:t>
            </a:r>
          </a:p>
          <a:p>
            <a:endParaRPr lang="en-US" sz="2200" dirty="0" smtClean="0">
              <a:latin typeface="Times New Roman" pitchFamily="18" charset="0"/>
              <a:cs typeface="Times New Roman" pitchFamily="18" charset="0"/>
            </a:endParaRPr>
          </a:p>
          <a:p>
            <a:pPr>
              <a:buFont typeface="Wingdings" pitchFamily="2" charset="2"/>
              <a:buChar char="q"/>
            </a:pPr>
            <a:r>
              <a:rPr lang="en-US" sz="2200" dirty="0" smtClean="0">
                <a:solidFill>
                  <a:srgbClr val="009900"/>
                </a:solidFill>
                <a:latin typeface="Times New Roman" pitchFamily="18" charset="0"/>
                <a:cs typeface="Times New Roman" pitchFamily="18" charset="0"/>
              </a:rPr>
              <a:t>  Tidal energy (or) tidal power is a form of ocean energy that is harnessed by converting tide energy into useful forms of power. </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Tidal energy is obtained from the rise and fall of tides. </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Tidal barrages and dams are constructed across a narrow opening to the sea. </a:t>
            </a:r>
          </a:p>
          <a:p>
            <a:pPr>
              <a:buFont typeface="Wingdings" pitchFamily="2" charset="2"/>
              <a:buChar char="q"/>
            </a:pPr>
            <a:r>
              <a:rPr lang="en-US" sz="2200" dirty="0" smtClean="0">
                <a:solidFill>
                  <a:srgbClr val="009900"/>
                </a:solidFill>
                <a:latin typeface="Times New Roman" pitchFamily="18" charset="0"/>
                <a:cs typeface="Times New Roman" pitchFamily="18" charset="0"/>
              </a:rPr>
              <a:t>  Water rushes into the dam when the sea level rises which moves the blade of the turbines which helps in the generation of electricity.</a:t>
            </a:r>
          </a:p>
          <a:p>
            <a:pPr>
              <a:buFont typeface="Wingdings" pitchFamily="2" charset="2"/>
              <a:buChar char="q"/>
            </a:pPr>
            <a:r>
              <a:rPr lang="en-US" sz="2200" dirty="0" smtClean="0">
                <a:solidFill>
                  <a:srgbClr val="009900"/>
                </a:solidFill>
                <a:latin typeface="Times New Roman" pitchFamily="18" charset="0"/>
                <a:cs typeface="Times New Roman" pitchFamily="18" charset="0"/>
              </a:rPr>
              <a:t>  Below are some important applications of ocean energy.</a:t>
            </a:r>
          </a:p>
          <a:p>
            <a:endParaRPr lang="en-US" sz="2200" dirty="0" smtClean="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1. Ocean waves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Potential energy associated with ocean waves can be harnessed using modular technologies.</a:t>
            </a:r>
            <a:endParaRPr lang="en-US" sz="22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7924800" cy="5170646"/>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2. Temperature gradients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Difference in thermal energy between sea surface and deep water can be harnessed by Ocean Thermal Energy Conversion (OTEC) process.</a:t>
            </a:r>
            <a:endParaRPr lang="en-US" sz="2200" dirty="0" smtClean="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3. Salinity gradient</a:t>
            </a:r>
          </a:p>
          <a:p>
            <a:pPr>
              <a:buFont typeface="Wingdings" pitchFamily="2" charset="2"/>
              <a:buChar char="v"/>
            </a:pPr>
            <a:r>
              <a:rPr lang="en-US" sz="2200" dirty="0" smtClean="0">
                <a:solidFill>
                  <a:srgbClr val="009900"/>
                </a:solidFill>
                <a:latin typeface="Times New Roman" pitchFamily="18" charset="0"/>
                <a:cs typeface="Times New Roman" pitchFamily="18" charset="0"/>
              </a:rPr>
              <a:t>  At the mouth of rivers, where fresh water mixes with salt water, energy associated with the salinity gradient can be harnessed using pressure retarded reverse osmosis process and associated conversion technologies.</a:t>
            </a:r>
          </a:p>
          <a:p>
            <a:r>
              <a:rPr lang="en-US" sz="2200" b="1" dirty="0" smtClean="0">
                <a:solidFill>
                  <a:srgbClr val="00B0F0"/>
                </a:solidFill>
                <a:latin typeface="Times New Roman" pitchFamily="18" charset="0"/>
                <a:cs typeface="Times New Roman" pitchFamily="18" charset="0"/>
              </a:rPr>
              <a:t>4. Ocean wave energy convertors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These are the technology used to trap the mechanical energy of the wave to convert it to electrical power.</a:t>
            </a:r>
          </a:p>
          <a:p>
            <a:r>
              <a:rPr lang="en-US" sz="2200" b="1" dirty="0" smtClean="0">
                <a:solidFill>
                  <a:srgbClr val="00B0F0"/>
                </a:solidFill>
                <a:latin typeface="Times New Roman" pitchFamily="18" charset="0"/>
                <a:cs typeface="Times New Roman" pitchFamily="18" charset="0"/>
              </a:rPr>
              <a:t>5. Oscillating bodies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Oscillating waves uses hydraulic motors (or) electrical generators as a power take-off system.</a:t>
            </a:r>
            <a:endParaRPr lang="en-US" sz="22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914400"/>
            <a:ext cx="8077200" cy="5509200"/>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6. Overtopping wave energy convertors</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The overtopping wave energy convertors (or) terminators, using the low head hydraulic turbines, converts the potential energy formed by the height of accumulated water over the wave surface to electrical power.</a:t>
            </a:r>
          </a:p>
          <a:p>
            <a:r>
              <a:rPr lang="en-US" sz="2200" b="1" dirty="0" smtClean="0">
                <a:solidFill>
                  <a:srgbClr val="00B0F0"/>
                </a:solidFill>
                <a:latin typeface="Times New Roman" pitchFamily="18" charset="0"/>
                <a:cs typeface="Times New Roman" pitchFamily="18" charset="0"/>
              </a:rPr>
              <a:t>7. Ocean thermal energy (OTE)</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The temperature difference, between the surface level and deeper level of the tropical oceans, can be utilized to generate electricity.</a:t>
            </a:r>
          </a:p>
          <a:p>
            <a:endParaRPr lang="en-US" sz="2200" dirty="0" smtClean="0">
              <a:latin typeface="Times New Roman" pitchFamily="18" charset="0"/>
              <a:cs typeface="Times New Roman" pitchFamily="18" charset="0"/>
            </a:endParaRPr>
          </a:p>
          <a:p>
            <a:r>
              <a:rPr lang="en-US" sz="2200" b="1" i="1" dirty="0" smtClean="0">
                <a:solidFill>
                  <a:srgbClr val="0070C0"/>
                </a:solidFill>
                <a:latin typeface="Times New Roman" pitchFamily="18" charset="0"/>
                <a:cs typeface="Times New Roman" pitchFamily="18" charset="0"/>
              </a:rPr>
              <a:t>3.4.1 Advantages and disadvantages of ocean energy</a:t>
            </a:r>
          </a:p>
          <a:p>
            <a:r>
              <a:rPr lang="en-US" sz="2200" b="1" dirty="0" smtClean="0">
                <a:solidFill>
                  <a:srgbClr val="FF0000"/>
                </a:solidFill>
                <a:latin typeface="Times New Roman" pitchFamily="18" charset="0"/>
                <a:cs typeface="Times New Roman" pitchFamily="18" charset="0"/>
              </a:rPr>
              <a:t>Advantages (or) Benefits</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Ocean energy is cheaper and efficient.</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It is environment - friendly.</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The source of ocean energy is inexhaustible</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Operational and maintenance costs are low.</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Tidal energy sources can last for decades.</a:t>
            </a:r>
            <a:endParaRPr lang="en-US" sz="2200" dirty="0">
              <a:solidFill>
                <a:srgbClr val="000099"/>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8229600" cy="5170646"/>
          </a:xfrm>
          <a:prstGeom prst="rect">
            <a:avLst/>
          </a:prstGeom>
        </p:spPr>
        <p:txBody>
          <a:bodyPr wrap="square">
            <a:spAutoFit/>
          </a:bodyPr>
          <a:lstStyle/>
          <a:p>
            <a:pPr lvl="1">
              <a:buFont typeface="Wingdings" pitchFamily="2" charset="2"/>
              <a:buChar char="ü"/>
            </a:pPr>
            <a:r>
              <a:rPr lang="en-US" sz="2200" dirty="0" smtClean="0">
                <a:solidFill>
                  <a:srgbClr val="000099"/>
                </a:solidFill>
                <a:latin typeface="Times New Roman" pitchFamily="18" charset="0"/>
                <a:cs typeface="Times New Roman" pitchFamily="18" charset="0"/>
              </a:rPr>
              <a:t>  It protects coastal </a:t>
            </a:r>
            <a:r>
              <a:rPr lang="en-US" sz="2200" dirty="0" err="1" smtClean="0">
                <a:solidFill>
                  <a:srgbClr val="000099"/>
                </a:solidFill>
                <a:latin typeface="Times New Roman" pitchFamily="18" charset="0"/>
                <a:cs typeface="Times New Roman" pitchFamily="18" charset="0"/>
              </a:rPr>
              <a:t>floodings</a:t>
            </a:r>
            <a:r>
              <a:rPr lang="en-US" sz="2200" dirty="0" smtClean="0">
                <a:solidFill>
                  <a:srgbClr val="000099"/>
                </a:solidFill>
                <a:latin typeface="Times New Roman" pitchFamily="18" charset="0"/>
                <a:cs typeface="Times New Roman" pitchFamily="18" charset="0"/>
              </a:rPr>
              <a:t> due to the stability of rock armor.</a:t>
            </a:r>
          </a:p>
          <a:p>
            <a:r>
              <a:rPr lang="en-US" sz="2200" b="1" dirty="0" smtClean="0">
                <a:solidFill>
                  <a:srgbClr val="FF0000"/>
                </a:solidFill>
                <a:latin typeface="Times New Roman" pitchFamily="18" charset="0"/>
                <a:cs typeface="Times New Roman" pitchFamily="18" charset="0"/>
              </a:rPr>
              <a:t>Disadvantages (or) limitations</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Construction of tidal power plant is expensive and requires high capital investment.</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Maintenance and equipment repairing is a challenge.</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Negative influence on marine life forms.</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Storage capacity is required.</a:t>
            </a:r>
          </a:p>
          <a:p>
            <a:pPr lvl="2">
              <a:buFont typeface="Wingdings" pitchFamily="2" charset="2"/>
              <a:buChar char="ü"/>
            </a:pPr>
            <a:r>
              <a:rPr lang="fr-FR" sz="2200" dirty="0" smtClean="0">
                <a:solidFill>
                  <a:srgbClr val="000099"/>
                </a:solidFill>
                <a:latin typeface="Times New Roman" pitchFamily="18" charset="0"/>
                <a:cs typeface="Times New Roman" pitchFamily="18" charset="0"/>
              </a:rPr>
              <a:t> </a:t>
            </a:r>
            <a:r>
              <a:rPr lang="fr-FR" sz="2200" dirty="0" err="1" smtClean="0">
                <a:solidFill>
                  <a:srgbClr val="000099"/>
                </a:solidFill>
                <a:latin typeface="Times New Roman" pitchFamily="18" charset="0"/>
                <a:cs typeface="Times New Roman" pitchFamily="18" charset="0"/>
              </a:rPr>
              <a:t>Environmental</a:t>
            </a:r>
            <a:r>
              <a:rPr lang="fr-FR" sz="2200" dirty="0" smtClean="0">
                <a:solidFill>
                  <a:srgbClr val="000099"/>
                </a:solidFill>
                <a:latin typeface="Times New Roman" pitchFamily="18" charset="0"/>
                <a:cs typeface="Times New Roman" pitchFamily="18" charset="0"/>
              </a:rPr>
              <a:t> </a:t>
            </a:r>
            <a:r>
              <a:rPr lang="fr-FR" sz="2200" dirty="0" err="1" smtClean="0">
                <a:solidFill>
                  <a:srgbClr val="000099"/>
                </a:solidFill>
                <a:latin typeface="Times New Roman" pitchFamily="18" charset="0"/>
                <a:cs typeface="Times New Roman" pitchFamily="18" charset="0"/>
              </a:rPr>
              <a:t>problems</a:t>
            </a:r>
            <a:r>
              <a:rPr lang="fr-FR" sz="2200" dirty="0" smtClean="0">
                <a:solidFill>
                  <a:srgbClr val="000099"/>
                </a:solidFill>
                <a:latin typeface="Times New Roman" pitchFamily="18" charset="0"/>
                <a:cs typeface="Times New Roman" pitchFamily="18" charset="0"/>
              </a:rPr>
              <a:t> </a:t>
            </a:r>
            <a:r>
              <a:rPr lang="fr-FR" sz="2200" dirty="0" err="1" smtClean="0">
                <a:solidFill>
                  <a:srgbClr val="000099"/>
                </a:solidFill>
                <a:latin typeface="Times New Roman" pitchFamily="18" charset="0"/>
                <a:cs typeface="Times New Roman" pitchFamily="18" charset="0"/>
              </a:rPr>
              <a:t>like</a:t>
            </a:r>
            <a:r>
              <a:rPr lang="fr-FR" sz="2200" dirty="0" smtClean="0">
                <a:solidFill>
                  <a:srgbClr val="000099"/>
                </a:solidFill>
                <a:latin typeface="Times New Roman" pitchFamily="18" charset="0"/>
                <a:cs typeface="Times New Roman" pitchFamily="18" charset="0"/>
              </a:rPr>
              <a:t> habitat change arises.</a:t>
            </a:r>
          </a:p>
          <a:p>
            <a:endParaRPr lang="fr-FR" sz="2200" dirty="0" smtClean="0">
              <a:latin typeface="Times New Roman" pitchFamily="18" charset="0"/>
              <a:cs typeface="Times New Roman" pitchFamily="18" charset="0"/>
            </a:endParaRPr>
          </a:p>
          <a:p>
            <a:r>
              <a:rPr lang="fr-FR" sz="2200" b="1" dirty="0" smtClean="0">
                <a:solidFill>
                  <a:srgbClr val="C00000"/>
                </a:solidFill>
                <a:latin typeface="Times New Roman" pitchFamily="18" charset="0"/>
                <a:cs typeface="Times New Roman" pitchFamily="18" charset="0"/>
              </a:rPr>
              <a:t>3.5 APPLICATIONS OF TIDAL ENERGY CONVERSION</a:t>
            </a:r>
          </a:p>
          <a:p>
            <a:endParaRPr lang="fr-FR" sz="2200" dirty="0" smtClean="0">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Electricity can be generated from the tidal energy.</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Tidal energy is used in </a:t>
            </a:r>
            <a:r>
              <a:rPr lang="en-US" sz="2200" dirty="0" err="1" smtClean="0">
                <a:solidFill>
                  <a:srgbClr val="009900"/>
                </a:solidFill>
                <a:latin typeface="Times New Roman" pitchFamily="18" charset="0"/>
                <a:cs typeface="Times New Roman" pitchFamily="18" charset="0"/>
              </a:rPr>
              <a:t>grining</a:t>
            </a:r>
            <a:r>
              <a:rPr lang="en-US" sz="2200" dirty="0" smtClean="0">
                <a:solidFill>
                  <a:srgbClr val="009900"/>
                </a:solidFill>
                <a:latin typeface="Times New Roman" pitchFamily="18" charset="0"/>
                <a:cs typeface="Times New Roman" pitchFamily="18" charset="0"/>
              </a:rPr>
              <a:t> mills for the mechanical crushing of grains.</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Tidal energy is used to rotate a turbine.</a:t>
            </a:r>
            <a:endParaRPr lang="en-US" sz="22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772400" cy="5509200"/>
          </a:xfrm>
          <a:prstGeom prst="rect">
            <a:avLst/>
          </a:prstGeom>
        </p:spPr>
        <p:txBody>
          <a:bodyPr wrap="square">
            <a:spAutoFit/>
          </a:bodyPr>
          <a:lstStyle/>
          <a:p>
            <a:pPr>
              <a:buFont typeface="Wingdings" pitchFamily="2" charset="2"/>
              <a:buChar char="Ø"/>
            </a:pPr>
            <a:r>
              <a:rPr lang="en-US" sz="2200" dirty="0" smtClean="0">
                <a:solidFill>
                  <a:srgbClr val="009900"/>
                </a:solidFill>
                <a:latin typeface="Times New Roman" pitchFamily="18" charset="0"/>
                <a:cs typeface="Times New Roman" pitchFamily="18" charset="0"/>
              </a:rPr>
              <a:t>  Tidal energy is used to store energy in a hydroelectric dam, acting as large energy storage.</a:t>
            </a:r>
          </a:p>
          <a:p>
            <a:pPr>
              <a:buFont typeface="Wingdings" pitchFamily="2" charset="2"/>
              <a:buChar char="Ø"/>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Tidal barrages and reservoirs can be modified to store energy.</a:t>
            </a:r>
          </a:p>
          <a:p>
            <a:pPr>
              <a:buFont typeface="Wingdings" pitchFamily="2" charset="2"/>
              <a:buChar char="Ø"/>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Tidal barrages are capable of preventing damages to the coast during high storms.</a:t>
            </a:r>
          </a:p>
          <a:p>
            <a:pPr>
              <a:buFont typeface="Wingdings" pitchFamily="2" charset="2"/>
              <a:buChar char="Ø"/>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Ø"/>
            </a:pPr>
            <a:r>
              <a:rPr lang="en-US" sz="2200" dirty="0" smtClean="0">
                <a:solidFill>
                  <a:srgbClr val="009900"/>
                </a:solidFill>
                <a:latin typeface="Times New Roman" pitchFamily="18" charset="0"/>
                <a:cs typeface="Times New Roman" pitchFamily="18" charset="0"/>
              </a:rPr>
              <a:t>  Tidal barrages also help to create easy transport between the two arms of an estuary (or) a bay.</a:t>
            </a:r>
          </a:p>
          <a:p>
            <a:endParaRPr lang="en-US" sz="2200" dirty="0" smtClean="0">
              <a:latin typeface="Times New Roman" pitchFamily="18" charset="0"/>
              <a:cs typeface="Times New Roman" pitchFamily="18" charset="0"/>
            </a:endParaRPr>
          </a:p>
          <a:p>
            <a:r>
              <a:rPr lang="en-US" sz="2200" b="1" i="1" dirty="0" smtClean="0">
                <a:solidFill>
                  <a:srgbClr val="0070C0"/>
                </a:solidFill>
                <a:latin typeface="Times New Roman" pitchFamily="18" charset="0"/>
                <a:cs typeface="Times New Roman" pitchFamily="18" charset="0"/>
              </a:rPr>
              <a:t>3.5.1 Advantages and disadvantages</a:t>
            </a:r>
          </a:p>
          <a:p>
            <a:r>
              <a:rPr lang="en-US" sz="2200" b="1" dirty="0" smtClean="0">
                <a:solidFill>
                  <a:srgbClr val="FF0000"/>
                </a:solidFill>
                <a:latin typeface="Times New Roman" pitchFamily="18" charset="0"/>
                <a:cs typeface="Times New Roman" pitchFamily="18" charset="0"/>
              </a:rPr>
              <a:t>Advantages (or) Merits</a:t>
            </a: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It is environment friendly.</a:t>
            </a: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It is cheaper and efficient.</a:t>
            </a: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Low operating and maintenance costs.</a:t>
            </a:r>
            <a:endParaRPr lang="en-US" sz="2200" dirty="0">
              <a:solidFill>
                <a:srgbClr val="000099"/>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71691"/>
            <a:ext cx="7620000" cy="6186309"/>
          </a:xfrm>
          <a:prstGeom prst="rect">
            <a:avLst/>
          </a:prstGeom>
        </p:spPr>
        <p:txBody>
          <a:bodyPr wrap="square">
            <a:spAutoFit/>
          </a:bodyPr>
          <a:lstStyle/>
          <a:p>
            <a:pPr lvl="3">
              <a:buFont typeface="Wingdings" pitchFamily="2" charset="2"/>
              <a:buChar char="ü"/>
            </a:pPr>
            <a:r>
              <a:rPr lang="en-US" sz="2200" dirty="0" smtClean="0">
                <a:solidFill>
                  <a:srgbClr val="000099"/>
                </a:solidFill>
                <a:latin typeface="Times New Roman" pitchFamily="18" charset="0"/>
                <a:cs typeface="Times New Roman" pitchFamily="18" charset="0"/>
              </a:rPr>
              <a:t>  The source of energy is inexhaustible.</a:t>
            </a: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Protects coastal flooding.</a:t>
            </a: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Tidal energy sources can last for decades.</a:t>
            </a: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Power output is highly predictable.</a:t>
            </a:r>
          </a:p>
          <a:p>
            <a:endParaRPr lang="en-US" sz="2200" dirty="0" smtClean="0">
              <a:latin typeface="Times New Roman" pitchFamily="18" charset="0"/>
              <a:cs typeface="Times New Roman" pitchFamily="18" charset="0"/>
            </a:endParaRPr>
          </a:p>
          <a:p>
            <a:r>
              <a:rPr lang="en-US" sz="2200" b="1" dirty="0" smtClean="0">
                <a:solidFill>
                  <a:srgbClr val="FF0000"/>
                </a:solidFill>
                <a:latin typeface="Times New Roman" pitchFamily="18" charset="0"/>
                <a:cs typeface="Times New Roman" pitchFamily="18" charset="0"/>
              </a:rPr>
              <a:t>Disadvantages</a:t>
            </a: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Construction of tidal power plants is expensive and requires high capital investment.</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Equipment repairing and maintenance is difficult.</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fr-FR" sz="2200" dirty="0" smtClean="0">
                <a:solidFill>
                  <a:srgbClr val="000099"/>
                </a:solidFill>
                <a:latin typeface="Times New Roman" pitchFamily="18" charset="0"/>
                <a:cs typeface="Times New Roman" pitchFamily="18" charset="0"/>
              </a:rPr>
              <a:t>  </a:t>
            </a:r>
            <a:r>
              <a:rPr lang="fr-FR" sz="2200" dirty="0" err="1" smtClean="0">
                <a:solidFill>
                  <a:srgbClr val="000099"/>
                </a:solidFill>
                <a:latin typeface="Times New Roman" pitchFamily="18" charset="0"/>
                <a:cs typeface="Times New Roman" pitchFamily="18" charset="0"/>
              </a:rPr>
              <a:t>Environment</a:t>
            </a:r>
            <a:r>
              <a:rPr lang="fr-FR" sz="2200" dirty="0" smtClean="0">
                <a:solidFill>
                  <a:srgbClr val="000099"/>
                </a:solidFill>
                <a:latin typeface="Times New Roman" pitchFamily="18" charset="0"/>
                <a:cs typeface="Times New Roman" pitchFamily="18" charset="0"/>
              </a:rPr>
              <a:t> </a:t>
            </a:r>
            <a:r>
              <a:rPr lang="fr-FR" sz="2200" dirty="0" err="1" smtClean="0">
                <a:solidFill>
                  <a:srgbClr val="000099"/>
                </a:solidFill>
                <a:latin typeface="Times New Roman" pitchFamily="18" charset="0"/>
                <a:cs typeface="Times New Roman" pitchFamily="18" charset="0"/>
              </a:rPr>
              <a:t>problems</a:t>
            </a:r>
            <a:r>
              <a:rPr lang="fr-FR" sz="2200" dirty="0" smtClean="0">
                <a:solidFill>
                  <a:srgbClr val="000099"/>
                </a:solidFill>
                <a:latin typeface="Times New Roman" pitchFamily="18" charset="0"/>
                <a:cs typeface="Times New Roman" pitchFamily="18" charset="0"/>
              </a:rPr>
              <a:t>, </a:t>
            </a:r>
            <a:r>
              <a:rPr lang="fr-FR" sz="2200" dirty="0" err="1" smtClean="0">
                <a:solidFill>
                  <a:srgbClr val="000099"/>
                </a:solidFill>
                <a:latin typeface="Times New Roman" pitchFamily="18" charset="0"/>
                <a:cs typeface="Times New Roman" pitchFamily="18" charset="0"/>
              </a:rPr>
              <a:t>like</a:t>
            </a:r>
            <a:r>
              <a:rPr lang="fr-FR" sz="2200" dirty="0" smtClean="0">
                <a:solidFill>
                  <a:srgbClr val="000099"/>
                </a:solidFill>
                <a:latin typeface="Times New Roman" pitchFamily="18" charset="0"/>
                <a:cs typeface="Times New Roman" pitchFamily="18" charset="0"/>
              </a:rPr>
              <a:t> habitat change, arises.</a:t>
            </a:r>
          </a:p>
          <a:p>
            <a:pPr lvl="2">
              <a:buFont typeface="Wingdings" pitchFamily="2" charset="2"/>
              <a:buChar char="ü"/>
            </a:pPr>
            <a:endParaRPr lang="fr-FR"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Storage capacity is required.</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Negative influence on marine life forms.</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Location limited.</a:t>
            </a:r>
            <a:endParaRPr lang="en-US" sz="2200" dirty="0">
              <a:solidFill>
                <a:srgbClr val="000099"/>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010245"/>
            <a:ext cx="8382000" cy="5509200"/>
          </a:xfrm>
          <a:prstGeom prst="rect">
            <a:avLst/>
          </a:prstGeom>
        </p:spPr>
        <p:txBody>
          <a:bodyPr wrap="square">
            <a:spAutoFit/>
          </a:bodyPr>
          <a:lstStyle/>
          <a:p>
            <a:r>
              <a:rPr lang="en-US" sz="2200" b="1" i="1" dirty="0" smtClean="0">
                <a:solidFill>
                  <a:srgbClr val="C00000"/>
                </a:solidFill>
                <a:latin typeface="Times New Roman" pitchFamily="18" charset="0"/>
                <a:cs typeface="Times New Roman" pitchFamily="18" charset="0"/>
              </a:rPr>
              <a:t>3.6 GEOTHERMAL POWER PLANT (GPP)</a:t>
            </a:r>
          </a:p>
          <a:p>
            <a:endParaRPr lang="en-US" sz="2200" b="1" i="1" dirty="0" smtClean="0">
              <a:latin typeface="Times New Roman" pitchFamily="18" charset="0"/>
              <a:cs typeface="Times New Roman" pitchFamily="18" charset="0"/>
            </a:endParaRPr>
          </a:p>
          <a:p>
            <a:r>
              <a:rPr lang="en-US" sz="2200" b="1" i="1" dirty="0" smtClean="0">
                <a:solidFill>
                  <a:srgbClr val="0070C0"/>
                </a:solidFill>
                <a:latin typeface="Times New Roman" pitchFamily="18" charset="0"/>
                <a:cs typeface="Times New Roman" pitchFamily="18" charset="0"/>
              </a:rPr>
              <a:t>3.6.1 Definitions</a:t>
            </a:r>
          </a:p>
          <a:p>
            <a:endParaRPr lang="en-US" sz="2200" b="1" i="1" dirty="0" smtClean="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1. Geothermal Power</a:t>
            </a:r>
          </a:p>
          <a:p>
            <a:pPr>
              <a:buFont typeface="Wingdings" pitchFamily="2" charset="2"/>
              <a:buChar char="q"/>
            </a:pPr>
            <a:r>
              <a:rPr lang="en-US" sz="2200" dirty="0" smtClean="0">
                <a:solidFill>
                  <a:srgbClr val="009900"/>
                </a:solidFill>
                <a:latin typeface="Times New Roman" pitchFamily="18" charset="0"/>
                <a:cs typeface="Times New Roman" pitchFamily="18" charset="0"/>
              </a:rPr>
              <a:t>  It is the electrical power generated from geothermal energy.</a:t>
            </a:r>
          </a:p>
          <a:p>
            <a:endParaRPr lang="en-US" sz="2200" b="1" i="1" dirty="0" smtClean="0">
              <a:latin typeface="Times New Roman" pitchFamily="18" charset="0"/>
              <a:cs typeface="Times New Roman" pitchFamily="18" charset="0"/>
            </a:endParaRPr>
          </a:p>
          <a:p>
            <a:r>
              <a:rPr lang="en-US" sz="2200" b="1" dirty="0" smtClean="0">
                <a:solidFill>
                  <a:srgbClr val="00B0F0"/>
                </a:solidFill>
                <a:latin typeface="Times New Roman" pitchFamily="18" charset="0"/>
                <a:cs typeface="Times New Roman" pitchFamily="18" charset="0"/>
              </a:rPr>
              <a:t>2. Geothermal Energy</a:t>
            </a:r>
          </a:p>
          <a:p>
            <a:pPr>
              <a:buFont typeface="Wingdings" pitchFamily="2" charset="2"/>
              <a:buChar char="q"/>
            </a:pPr>
            <a:r>
              <a:rPr lang="en-US" sz="2200" dirty="0" smtClean="0">
                <a:solidFill>
                  <a:srgbClr val="009900"/>
                </a:solidFill>
                <a:latin typeface="Times New Roman" pitchFamily="18" charset="0"/>
                <a:cs typeface="Times New Roman" pitchFamily="18" charset="0"/>
              </a:rPr>
              <a:t>  It is the heat produced deep in the earth’s core.</a:t>
            </a:r>
          </a:p>
          <a:p>
            <a:endParaRPr lang="en-US" sz="2200" b="1" i="1" dirty="0" smtClean="0">
              <a:latin typeface="Times New Roman" pitchFamily="18" charset="0"/>
              <a:cs typeface="Times New Roman" pitchFamily="18" charset="0"/>
            </a:endParaRPr>
          </a:p>
          <a:p>
            <a:r>
              <a:rPr lang="en-US" sz="2200" b="1" i="1" dirty="0" smtClean="0">
                <a:solidFill>
                  <a:srgbClr val="0070C0"/>
                </a:solidFill>
                <a:latin typeface="Times New Roman" pitchFamily="18" charset="0"/>
                <a:cs typeface="Times New Roman" pitchFamily="18" charset="0"/>
              </a:rPr>
              <a:t>3.6.2 Origin</a:t>
            </a:r>
          </a:p>
          <a:p>
            <a:pPr>
              <a:buFont typeface="Wingdings" pitchFamily="2" charset="2"/>
              <a:buChar char="q"/>
            </a:pPr>
            <a:r>
              <a:rPr lang="en-US" sz="2200" dirty="0" smtClean="0">
                <a:solidFill>
                  <a:srgbClr val="009900"/>
                </a:solidFill>
                <a:latin typeface="Times New Roman" pitchFamily="18" charset="0"/>
                <a:cs typeface="Times New Roman" pitchFamily="18" charset="0"/>
              </a:rPr>
              <a:t>  Geothermal energy is the thermal energy found in the earth’s crust which originates from the formation of the planet and from radioactive decay of materials. </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The high temperature and pressure in earth’s interior cause some rock to melt and solid mantle to behave </a:t>
            </a:r>
            <a:r>
              <a:rPr lang="en-US" sz="2200" dirty="0" err="1" smtClean="0">
                <a:solidFill>
                  <a:srgbClr val="009900"/>
                </a:solidFill>
                <a:latin typeface="Times New Roman" pitchFamily="18" charset="0"/>
                <a:cs typeface="Times New Roman" pitchFamily="18" charset="0"/>
              </a:rPr>
              <a:t>plasmically</a:t>
            </a:r>
            <a:r>
              <a:rPr lang="en-US" sz="2200" dirty="0" smtClean="0">
                <a:solidFill>
                  <a:srgbClr val="009900"/>
                </a:solidFill>
                <a:latin typeface="Times New Roman" pitchFamily="18" charset="0"/>
                <a:cs typeface="Times New Roman" pitchFamily="18" charset="0"/>
              </a:rPr>
              <a:t>.</a:t>
            </a:r>
          </a:p>
        </p:txBody>
      </p:sp>
    </p:spTree>
  </p:cSld>
  <p:clrMapOvr>
    <a:masterClrMapping/>
  </p:clrMapOvr>
  <p:transition spd="slow">
    <p:wedg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8077200" cy="5509200"/>
          </a:xfrm>
          <a:prstGeom prst="rect">
            <a:avLst/>
          </a:prstGeom>
        </p:spPr>
        <p:txBody>
          <a:bodyPr wrap="square">
            <a:spAutoFit/>
          </a:bodyPr>
          <a:lstStyle/>
          <a:p>
            <a:pPr>
              <a:buFont typeface="Wingdings" pitchFamily="2" charset="2"/>
              <a:buChar char="q"/>
            </a:pPr>
            <a:r>
              <a:rPr lang="en-US" sz="2200" dirty="0" smtClean="0">
                <a:solidFill>
                  <a:srgbClr val="009900"/>
                </a:solidFill>
                <a:latin typeface="Times New Roman" pitchFamily="18" charset="0"/>
                <a:cs typeface="Times New Roman" pitchFamily="18" charset="0"/>
              </a:rPr>
              <a:t>  This results in parts of the mantle </a:t>
            </a:r>
            <a:r>
              <a:rPr lang="en-US" sz="2200" dirty="0" err="1" smtClean="0">
                <a:solidFill>
                  <a:srgbClr val="009900"/>
                </a:solidFill>
                <a:latin typeface="Times New Roman" pitchFamily="18" charset="0"/>
                <a:cs typeface="Times New Roman" pitchFamily="18" charset="0"/>
              </a:rPr>
              <a:t>convecting</a:t>
            </a:r>
            <a:r>
              <a:rPr lang="en-US" sz="2200" dirty="0" smtClean="0">
                <a:solidFill>
                  <a:srgbClr val="009900"/>
                </a:solidFill>
                <a:latin typeface="Times New Roman" pitchFamily="18" charset="0"/>
                <a:cs typeface="Times New Roman" pitchFamily="18" charset="0"/>
              </a:rPr>
              <a:t> upward since it is lighter than the surrounding rock. </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Temperatures at the core mantle boundary can reach over 400°C.</a:t>
            </a:r>
          </a:p>
          <a:p>
            <a:endParaRPr lang="en-US" sz="2200" dirty="0" smtClean="0">
              <a:latin typeface="Times New Roman" pitchFamily="18" charset="0"/>
              <a:cs typeface="Times New Roman" pitchFamily="18" charset="0"/>
            </a:endParaRPr>
          </a:p>
          <a:p>
            <a:r>
              <a:rPr lang="en-US" sz="2200" b="1" i="1" dirty="0" smtClean="0">
                <a:solidFill>
                  <a:srgbClr val="0070C0"/>
                </a:solidFill>
                <a:latin typeface="Times New Roman" pitchFamily="18" charset="0"/>
                <a:cs typeface="Times New Roman" pitchFamily="18" charset="0"/>
              </a:rPr>
              <a:t>3.6.3 Concept</a:t>
            </a:r>
          </a:p>
          <a:p>
            <a:pPr>
              <a:buFont typeface="Wingdings" pitchFamily="2" charset="2"/>
              <a:buChar char="v"/>
            </a:pPr>
            <a:r>
              <a:rPr lang="en-US" sz="2200" dirty="0" smtClean="0">
                <a:solidFill>
                  <a:srgbClr val="009900"/>
                </a:solidFill>
                <a:latin typeface="Times New Roman" pitchFamily="18" charset="0"/>
                <a:cs typeface="Times New Roman" pitchFamily="18" charset="0"/>
              </a:rPr>
              <a:t>  Geothermal technology extracts the heat found within the subsurface of the earth, which can be used directly for heating and cooling (or) converting it to electricity.</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The steam comes from the reservoirs of hot water, found a few miles (or) more below the earth’s surface, rotates a turbine that activates a generator, which produces electricity.</a:t>
            </a:r>
          </a:p>
          <a:p>
            <a:endParaRPr lang="en-US" sz="2200" dirty="0" smtClean="0">
              <a:latin typeface="Times New Roman" pitchFamily="18" charset="0"/>
              <a:cs typeface="Times New Roman" pitchFamily="18" charset="0"/>
            </a:endParaRPr>
          </a:p>
          <a:p>
            <a:r>
              <a:rPr lang="en-US" sz="2200" b="1" i="1" dirty="0" smtClean="0">
                <a:solidFill>
                  <a:srgbClr val="0070C0"/>
                </a:solidFill>
                <a:latin typeface="Times New Roman" pitchFamily="18" charset="0"/>
                <a:cs typeface="Times New Roman" pitchFamily="18" charset="0"/>
              </a:rPr>
              <a:t>3.6.4 Power plants of GTE</a:t>
            </a:r>
          </a:p>
          <a:p>
            <a:pPr>
              <a:buFont typeface="Wingdings" pitchFamily="2" charset="2"/>
              <a:buChar char="v"/>
            </a:pPr>
            <a:r>
              <a:rPr lang="en-US" sz="2200" dirty="0" smtClean="0">
                <a:solidFill>
                  <a:srgbClr val="009900"/>
                </a:solidFill>
                <a:latin typeface="Times New Roman" pitchFamily="18" charset="0"/>
                <a:cs typeface="Times New Roman" pitchFamily="18" charset="0"/>
              </a:rPr>
              <a:t>  Geothermal power plant uses hydrothermal resources that have both water (hydro) and heat (thermal).</a:t>
            </a:r>
          </a:p>
          <a:p>
            <a:r>
              <a:rPr lang="en-US" sz="2200" dirty="0" smtClean="0">
                <a:latin typeface="Times New Roman" pitchFamily="18" charset="0"/>
                <a:cs typeface="Times New Roman" pitchFamily="18" charset="0"/>
              </a:rPr>
              <a:t> </a:t>
            </a:r>
            <a:endParaRPr lang="en-US" sz="22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7848600" cy="5170646"/>
          </a:xfrm>
          <a:prstGeom prst="rect">
            <a:avLst/>
          </a:prstGeom>
        </p:spPr>
        <p:txBody>
          <a:bodyPr wrap="square">
            <a:spAutoFit/>
          </a:bodyPr>
          <a:lstStyle/>
          <a:p>
            <a:pPr>
              <a:buFont typeface="Wingdings" pitchFamily="2" charset="2"/>
              <a:buChar char="v"/>
            </a:pPr>
            <a:r>
              <a:rPr lang="en-US" sz="2200" dirty="0" smtClean="0">
                <a:solidFill>
                  <a:srgbClr val="009900"/>
                </a:solidFill>
                <a:latin typeface="Times New Roman" pitchFamily="18" charset="0"/>
                <a:cs typeface="Times New Roman" pitchFamily="18" charset="0"/>
              </a:rPr>
              <a:t>  Geothermal power plants requires high temperature(300°F to 700°F) hydrothermal resources that come from either dry steam wells (or) from hot water wells.</a:t>
            </a:r>
          </a:p>
          <a:p>
            <a:pPr>
              <a:buFont typeface="Wingdings" pitchFamily="2" charset="2"/>
              <a:buChar char="v"/>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Generally we use these resources by drilling wells into the earth and then piping steam (or) hot water to the surface.</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The hot water (or) steam rotates a turbine that generates electricity. </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The depth of the geothermal wells is as much as 2 miles.</a:t>
            </a:r>
          </a:p>
          <a:p>
            <a:endParaRPr lang="en-US" sz="2200" dirty="0" smtClean="0">
              <a:latin typeface="Times New Roman" pitchFamily="18" charset="0"/>
              <a:cs typeface="Times New Roman" pitchFamily="18" charset="0"/>
            </a:endParaRPr>
          </a:p>
          <a:p>
            <a:r>
              <a:rPr lang="en-US" sz="2200" b="1" dirty="0" smtClean="0">
                <a:solidFill>
                  <a:srgbClr val="FF0000"/>
                </a:solidFill>
                <a:latin typeface="Times New Roman" pitchFamily="18" charset="0"/>
                <a:cs typeface="Times New Roman" pitchFamily="18" charset="0"/>
              </a:rPr>
              <a:t>Types of geothermal power plant</a:t>
            </a:r>
          </a:p>
          <a:p>
            <a:pPr>
              <a:buFont typeface="Wingdings" pitchFamily="2" charset="2"/>
              <a:buChar char="q"/>
            </a:pPr>
            <a:r>
              <a:rPr lang="en-US" sz="2200" dirty="0" smtClean="0">
                <a:solidFill>
                  <a:srgbClr val="009900"/>
                </a:solidFill>
                <a:latin typeface="Times New Roman" pitchFamily="18" charset="0"/>
                <a:cs typeface="Times New Roman" pitchFamily="18" charset="0"/>
              </a:rPr>
              <a:t>  There are three basic types of geothermal power plants.</a:t>
            </a:r>
          </a:p>
          <a:p>
            <a:r>
              <a:rPr lang="en-US" sz="2200" b="1" dirty="0" smtClean="0">
                <a:solidFill>
                  <a:srgbClr val="00B0F0"/>
                </a:solidFill>
                <a:latin typeface="Times New Roman" pitchFamily="18" charset="0"/>
                <a:cs typeface="Times New Roman" pitchFamily="18" charset="0"/>
              </a:rPr>
              <a:t>1. Dry steam power plant</a:t>
            </a:r>
          </a:p>
          <a:p>
            <a:pPr>
              <a:buFont typeface="Wingdings" pitchFamily="2" charset="2"/>
              <a:buChar char="Ø"/>
            </a:pPr>
            <a:r>
              <a:rPr lang="en-US" sz="2200" dirty="0" smtClean="0">
                <a:solidFill>
                  <a:srgbClr val="009900"/>
                </a:solidFill>
                <a:latin typeface="Times New Roman" pitchFamily="18" charset="0"/>
                <a:cs typeface="Times New Roman" pitchFamily="18" charset="0"/>
              </a:rPr>
              <a:t>  It uses steam directly from a geothermal reservoir to drive generator’s turbines.</a:t>
            </a:r>
            <a:endParaRPr lang="en-US" sz="22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User\AppData\Local\Temp\ksohtml\wpsCD0.tmp.png"/>
          <p:cNvPicPr>
            <a:picLocks noChangeAspect="1" noChangeArrowheads="1"/>
          </p:cNvPicPr>
          <p:nvPr/>
        </p:nvPicPr>
        <p:blipFill>
          <a:blip r:embed="rId2">
            <a:duotone>
              <a:schemeClr val="accent2">
                <a:shade val="45000"/>
                <a:satMod val="135000"/>
              </a:schemeClr>
              <a:prstClr val="white"/>
            </a:duotone>
          </a:blip>
          <a:srcRect/>
          <a:stretch>
            <a:fillRect/>
          </a:stretch>
        </p:blipFill>
        <p:spPr bwMode="auto">
          <a:xfrm>
            <a:off x="762000" y="914400"/>
            <a:ext cx="6934200" cy="4800600"/>
          </a:xfrm>
          <a:prstGeom prst="rect">
            <a:avLst/>
          </a:prstGeom>
          <a:noFill/>
        </p:spPr>
      </p:pic>
      <p:sp>
        <p:nvSpPr>
          <p:cNvPr id="6147" name="Rectangle 3"/>
          <p:cNvSpPr>
            <a:spLocks noChangeArrowheads="1"/>
          </p:cNvSpPr>
          <p:nvPr/>
        </p:nvSpPr>
        <p:spPr bwMode="auto">
          <a:xfrm>
            <a:off x="1828800" y="5715000"/>
            <a:ext cx="4495800" cy="7694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rgbClr val="FF0000"/>
                </a:solidFill>
                <a:effectLst/>
                <a:latin typeface="Times New Roman" pitchFamily="18" charset="0"/>
                <a:cs typeface="Times New Roman" pitchFamily="18" charset="0"/>
              </a:rPr>
              <a:t>Fig. 3.2 Dry steam power plant</a:t>
            </a:r>
            <a:endParaRPr kumimoji="0" lang="en-US" sz="2200" b="0" i="0" u="none" strike="noStrike" cap="none" normalizeH="0" baseline="0" dirty="0" smtClean="0">
              <a:ln>
                <a:noFill/>
              </a:ln>
              <a:solidFill>
                <a:srgbClr val="FF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smtClean="0">
              <a:ln>
                <a:noFill/>
              </a:ln>
              <a:solidFill>
                <a:srgbClr val="FF0000"/>
              </a:solidFill>
              <a:effectLst/>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7924800" cy="2123658"/>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2. Flash steam power plant</a:t>
            </a:r>
          </a:p>
          <a:p>
            <a:pPr>
              <a:buFont typeface="Wingdings" pitchFamily="2" charset="2"/>
              <a:buChar char="v"/>
            </a:pPr>
            <a:r>
              <a:rPr lang="en-US" sz="2200" dirty="0" smtClean="0">
                <a:solidFill>
                  <a:srgbClr val="009900"/>
                </a:solidFill>
                <a:latin typeface="Times New Roman" pitchFamily="18" charset="0"/>
                <a:cs typeface="Times New Roman" pitchFamily="18" charset="0"/>
              </a:rPr>
              <a:t>  It takes high-pressure hot water from deep inside the earth and converts it into steam to drive generator’s turbine.</a:t>
            </a:r>
          </a:p>
          <a:p>
            <a:pPr>
              <a:buFont typeface="Wingdings" pitchFamily="2" charset="2"/>
              <a:buChar char="v"/>
            </a:pPr>
            <a:r>
              <a:rPr lang="en-US" sz="2200" dirty="0" smtClean="0">
                <a:solidFill>
                  <a:srgbClr val="009900"/>
                </a:solidFill>
                <a:latin typeface="Times New Roman" pitchFamily="18" charset="0"/>
                <a:cs typeface="Times New Roman" pitchFamily="18" charset="0"/>
              </a:rPr>
              <a:t> When the steam cools, it condenses to water and is injected back into the ground to be used again.</a:t>
            </a:r>
          </a:p>
          <a:p>
            <a:pPr>
              <a:buFont typeface="Wingdings" pitchFamily="2" charset="2"/>
              <a:buChar char="v"/>
            </a:pPr>
            <a:r>
              <a:rPr lang="en-US" sz="2200" dirty="0" smtClean="0">
                <a:solidFill>
                  <a:srgbClr val="009900"/>
                </a:solidFill>
                <a:latin typeface="Times New Roman" pitchFamily="18" charset="0"/>
                <a:cs typeface="Times New Roman" pitchFamily="18" charset="0"/>
              </a:rPr>
              <a:t> Most geothermal power plants are flash steam plants.</a:t>
            </a:r>
            <a:endParaRPr lang="en-US" sz="2200" dirty="0">
              <a:solidFill>
                <a:srgbClr val="009900"/>
              </a:solidFill>
              <a:latin typeface="Times New Roman" pitchFamily="18" charset="0"/>
              <a:cs typeface="Times New Roman" pitchFamily="18" charset="0"/>
            </a:endParaRPr>
          </a:p>
        </p:txBody>
      </p:sp>
      <p:pic>
        <p:nvPicPr>
          <p:cNvPr id="5122" name="Picture 2" descr="C:\Users\User\AppData\Local\Temp\ksohtml\wps7794.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1066800" y="3429000"/>
            <a:ext cx="6477000" cy="3048000"/>
          </a:xfrm>
          <a:prstGeom prst="rect">
            <a:avLst/>
          </a:prstGeom>
          <a:noFill/>
        </p:spPr>
      </p:pic>
    </p:spTree>
  </p:cSld>
  <p:clrMapOvr>
    <a:masterClrMapping/>
  </p:clrMapOvr>
  <p:transition spd="slow">
    <p:wedg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User\AppData\Local\Temp\ksohtml\wps3AE.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990600" y="1676400"/>
            <a:ext cx="6934200" cy="4495800"/>
          </a:xfrm>
          <a:prstGeom prst="rect">
            <a:avLst/>
          </a:prstGeom>
          <a:noFill/>
        </p:spPr>
      </p:pic>
      <p:sp>
        <p:nvSpPr>
          <p:cNvPr id="5" name="Rectangle 4"/>
          <p:cNvSpPr/>
          <p:nvPr/>
        </p:nvSpPr>
        <p:spPr>
          <a:xfrm>
            <a:off x="1524000" y="914400"/>
            <a:ext cx="5257800" cy="430887"/>
          </a:xfrm>
          <a:prstGeom prst="rect">
            <a:avLst/>
          </a:prstGeom>
        </p:spPr>
        <p:txBody>
          <a:bodyPr wrap="square">
            <a:spAutoFit/>
          </a:bodyPr>
          <a:lstStyle/>
          <a:p>
            <a:r>
              <a:rPr lang="en-US" sz="2200" b="1" dirty="0" smtClean="0">
                <a:solidFill>
                  <a:srgbClr val="00B0F0"/>
                </a:solidFill>
                <a:latin typeface="Times New Roman" pitchFamily="18" charset="0"/>
                <a:cs typeface="Times New Roman" pitchFamily="18" charset="0"/>
              </a:rPr>
              <a:t>3  Binary cycle power plants</a:t>
            </a:r>
            <a:endParaRPr lang="en-US" sz="2200" dirty="0">
              <a:solidFill>
                <a:srgbClr val="00B0F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7924800" cy="5847755"/>
          </a:xfrm>
          <a:prstGeom prst="rect">
            <a:avLst/>
          </a:prstGeom>
        </p:spPr>
        <p:txBody>
          <a:bodyPr wrap="square">
            <a:spAutoFit/>
          </a:bodyPr>
          <a:lstStyle/>
          <a:p>
            <a:pPr>
              <a:buFont typeface="Wingdings" pitchFamily="2" charset="2"/>
              <a:buChar char="v"/>
            </a:pPr>
            <a:r>
              <a:rPr lang="en-US" sz="2200" dirty="0" smtClean="0">
                <a:solidFill>
                  <a:srgbClr val="009900"/>
                </a:solidFill>
                <a:latin typeface="Times New Roman" pitchFamily="18" charset="0"/>
                <a:cs typeface="Times New Roman" pitchFamily="18" charset="0"/>
              </a:rPr>
              <a:t>  It transfers the heat from geothermal hot water to another liquid. </a:t>
            </a:r>
          </a:p>
          <a:p>
            <a:pPr>
              <a:buFont typeface="Wingdings" pitchFamily="2" charset="2"/>
              <a:buChar char="v"/>
            </a:pPr>
            <a:r>
              <a:rPr lang="en-US" sz="2200" dirty="0" smtClean="0">
                <a:solidFill>
                  <a:srgbClr val="009900"/>
                </a:solidFill>
                <a:latin typeface="Times New Roman" pitchFamily="18" charset="0"/>
                <a:cs typeface="Times New Roman" pitchFamily="18" charset="0"/>
              </a:rPr>
              <a:t>  The heat causes the second liquid to convert it into steam, which is used to drive a generator’s turbine.</a:t>
            </a:r>
          </a:p>
          <a:p>
            <a:endParaRPr lang="en-US" sz="2200" dirty="0" smtClean="0">
              <a:latin typeface="Times New Roman" pitchFamily="18" charset="0"/>
              <a:cs typeface="Times New Roman" pitchFamily="18" charset="0"/>
            </a:endParaRPr>
          </a:p>
          <a:p>
            <a:r>
              <a:rPr lang="en-US" sz="2200" b="1" i="1" dirty="0" smtClean="0">
                <a:solidFill>
                  <a:srgbClr val="0070C0"/>
                </a:solidFill>
                <a:latin typeface="Times New Roman" pitchFamily="18" charset="0"/>
                <a:cs typeface="Times New Roman" pitchFamily="18" charset="0"/>
              </a:rPr>
              <a:t>3.6.5 Advantages and disadvantages of GTE</a:t>
            </a:r>
          </a:p>
          <a:p>
            <a:r>
              <a:rPr lang="en-US" sz="2200" b="1" dirty="0" smtClean="0">
                <a:solidFill>
                  <a:srgbClr val="FF0000"/>
                </a:solidFill>
                <a:latin typeface="Times New Roman" pitchFamily="18" charset="0"/>
                <a:cs typeface="Times New Roman" pitchFamily="18" charset="0"/>
              </a:rPr>
              <a:t>Advantages</a:t>
            </a: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GTE is environmentally friendly.</a:t>
            </a:r>
          </a:p>
          <a:p>
            <a:pPr lvl="3">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GTE is a source of renewable energy.</a:t>
            </a:r>
          </a:p>
          <a:p>
            <a:pPr lvl="3">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It is the sustainable form of energy.</a:t>
            </a:r>
          </a:p>
          <a:p>
            <a:pPr lvl="3">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The potential of GTE is huge.</a:t>
            </a:r>
          </a:p>
          <a:p>
            <a:pPr lvl="3">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Energy generated from this resource is reliable.</a:t>
            </a:r>
          </a:p>
          <a:p>
            <a:pPr lvl="3">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3">
              <a:buFont typeface="Wingdings" pitchFamily="2" charset="2"/>
              <a:buChar char="ü"/>
            </a:pPr>
            <a:r>
              <a:rPr lang="en-US" sz="2200" dirty="0" smtClean="0">
                <a:solidFill>
                  <a:srgbClr val="000099"/>
                </a:solidFill>
                <a:latin typeface="Times New Roman" pitchFamily="18" charset="0"/>
                <a:cs typeface="Times New Roman" pitchFamily="18" charset="0"/>
              </a:rPr>
              <a:t>  As GTE is natural, no fuel is required.</a:t>
            </a:r>
            <a:endParaRPr lang="en-US" sz="2200" dirty="0">
              <a:solidFill>
                <a:srgbClr val="000099"/>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620000" cy="4493538"/>
          </a:xfrm>
          <a:prstGeom prst="rect">
            <a:avLst/>
          </a:prstGeom>
        </p:spPr>
        <p:txBody>
          <a:bodyPr wrap="square">
            <a:spAutoFit/>
          </a:bodyPr>
          <a:lstStyle/>
          <a:p>
            <a:r>
              <a:rPr lang="en-US" sz="2200" b="1" dirty="0" smtClean="0">
                <a:solidFill>
                  <a:srgbClr val="FF0000"/>
                </a:solidFill>
                <a:latin typeface="Times New Roman" pitchFamily="18" charset="0"/>
                <a:cs typeface="Times New Roman" pitchFamily="18" charset="0"/>
              </a:rPr>
              <a:t>Disadvantages</a:t>
            </a:r>
          </a:p>
          <a:p>
            <a:endParaRPr lang="en-US" sz="2200" b="1" dirty="0" smtClean="0">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Location is restricted.</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As GTE does not release green house gases, there are many other gases released into the atmosphere (cause side effects).</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May cause earthquakes.</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It is expensive resource.</a:t>
            </a:r>
          </a:p>
          <a:p>
            <a:pPr lvl="2">
              <a:buFont typeface="Wingdings" pitchFamily="2" charset="2"/>
              <a:buChar char="ü"/>
            </a:pPr>
            <a:endParaRPr lang="en-US" sz="2200" dirty="0" smtClean="0">
              <a:solidFill>
                <a:srgbClr val="000099"/>
              </a:solidFill>
              <a:latin typeface="Times New Roman" pitchFamily="18" charset="0"/>
              <a:cs typeface="Times New Roman" pitchFamily="18" charset="0"/>
            </a:endParaRPr>
          </a:p>
          <a:p>
            <a:pPr lvl="2">
              <a:buFont typeface="Wingdings" pitchFamily="2" charset="2"/>
              <a:buChar char="ü"/>
            </a:pPr>
            <a:r>
              <a:rPr lang="en-US" sz="2200" dirty="0" smtClean="0">
                <a:solidFill>
                  <a:srgbClr val="000099"/>
                </a:solidFill>
                <a:latin typeface="Times New Roman" pitchFamily="18" charset="0"/>
                <a:cs typeface="Times New Roman" pitchFamily="18" charset="0"/>
              </a:rPr>
              <a:t> Management is required to maintain sustainability.</a:t>
            </a:r>
            <a:endParaRPr lang="en-US" sz="2200" dirty="0">
              <a:solidFill>
                <a:srgbClr val="000099"/>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71691"/>
            <a:ext cx="8001000" cy="6186309"/>
          </a:xfrm>
          <a:prstGeom prst="rect">
            <a:avLst/>
          </a:prstGeom>
        </p:spPr>
        <p:txBody>
          <a:bodyPr wrap="square">
            <a:spAutoFit/>
          </a:bodyPr>
          <a:lstStyle/>
          <a:p>
            <a:r>
              <a:rPr lang="en-US" sz="2200" b="1" i="1" dirty="0" smtClean="0">
                <a:solidFill>
                  <a:srgbClr val="0070C0"/>
                </a:solidFill>
                <a:latin typeface="Times New Roman" pitchFamily="18" charset="0"/>
                <a:cs typeface="Times New Roman" pitchFamily="18" charset="0"/>
              </a:rPr>
              <a:t>3.6.6 Applications of GTE</a:t>
            </a:r>
          </a:p>
          <a:p>
            <a:pPr>
              <a:buFont typeface="Wingdings" pitchFamily="2" charset="2"/>
              <a:buChar char="v"/>
            </a:pPr>
            <a:r>
              <a:rPr lang="en-US" sz="2200" dirty="0" smtClean="0">
                <a:solidFill>
                  <a:srgbClr val="00B050"/>
                </a:solidFill>
                <a:latin typeface="Times New Roman" pitchFamily="18" charset="0"/>
                <a:cs typeface="Times New Roman" pitchFamily="18" charset="0"/>
              </a:rPr>
              <a:t>  </a:t>
            </a:r>
            <a:r>
              <a:rPr lang="en-US" sz="2200" dirty="0" smtClean="0">
                <a:solidFill>
                  <a:srgbClr val="009900"/>
                </a:solidFill>
                <a:latin typeface="Times New Roman" pitchFamily="18" charset="0"/>
                <a:cs typeface="Times New Roman" pitchFamily="18" charset="0"/>
              </a:rPr>
              <a:t>GTE is used for space heating and cooling.</a:t>
            </a:r>
          </a:p>
          <a:p>
            <a:pPr>
              <a:buFont typeface="Wingdings" pitchFamily="2" charset="2"/>
              <a:buChar char="v"/>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GTE is used to generate electricity.</a:t>
            </a:r>
          </a:p>
          <a:p>
            <a:pPr>
              <a:buFont typeface="Wingdings" pitchFamily="2" charset="2"/>
              <a:buChar char="v"/>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It is also used for industrial process heat.</a:t>
            </a:r>
          </a:p>
          <a:p>
            <a:pPr>
              <a:buFont typeface="Wingdings" pitchFamily="2" charset="2"/>
              <a:buChar char="v"/>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It is used for desalination of geothermal water and heavy water production.</a:t>
            </a:r>
          </a:p>
          <a:p>
            <a:pPr>
              <a:buFont typeface="Wingdings" pitchFamily="2" charset="2"/>
              <a:buChar char="v"/>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It is also used in the extraction of minerals from geothermal fluids.</a:t>
            </a:r>
          </a:p>
          <a:p>
            <a:pPr>
              <a:buFont typeface="Wingdings" pitchFamily="2" charset="2"/>
              <a:buChar char="v"/>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Geothermal Heat Pumps (GHPs) are used to heat buildings in the winter and cool them in summer.</a:t>
            </a:r>
          </a:p>
          <a:p>
            <a:pPr>
              <a:buFont typeface="Wingdings" pitchFamily="2" charset="2"/>
              <a:buChar char="v"/>
            </a:pPr>
            <a:endParaRPr lang="en-US" sz="2200" dirty="0" smtClean="0">
              <a:solidFill>
                <a:srgbClr val="009900"/>
              </a:solidFill>
              <a:latin typeface="Times New Roman" pitchFamily="18" charset="0"/>
              <a:cs typeface="Times New Roman" pitchFamily="18" charset="0"/>
            </a:endParaRPr>
          </a:p>
          <a:p>
            <a:pPr>
              <a:buFont typeface="Wingdings" pitchFamily="2" charset="2"/>
              <a:buChar char="v"/>
            </a:pPr>
            <a:r>
              <a:rPr lang="en-US" sz="2200" dirty="0" smtClean="0">
                <a:solidFill>
                  <a:srgbClr val="009900"/>
                </a:solidFill>
                <a:latin typeface="Times New Roman" pitchFamily="18" charset="0"/>
                <a:cs typeface="Times New Roman" pitchFamily="18" charset="0"/>
              </a:rPr>
              <a:t>  The direct use of GTE involves the use of heated water from the ground without the need for any other sources.</a:t>
            </a:r>
            <a:endParaRPr lang="en-US" sz="2200" dirty="0">
              <a:solidFill>
                <a:srgbClr val="0099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316</TotalTime>
  <Words>4664</Words>
  <Application>Microsoft Office PowerPoint</Application>
  <PresentationFormat>On-screen Show (4:3)</PresentationFormat>
  <Paragraphs>524</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Flow</vt:lpstr>
      <vt:lpstr>ENVIRONMENTAL SCIENCE AND SUSTAINABILITY</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SIVA</dc:creator>
  <cp:lastModifiedBy>SIVA</cp:lastModifiedBy>
  <cp:revision>49</cp:revision>
  <dcterms:created xsi:type="dcterms:W3CDTF">2023-01-16T16:27:53Z</dcterms:created>
  <dcterms:modified xsi:type="dcterms:W3CDTF">2023-01-22T17:50:51Z</dcterms:modified>
</cp:coreProperties>
</file>