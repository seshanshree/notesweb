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s/slide119.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126.xml" ContentType="application/vnd.openxmlformats-officedocument.presentationml.slide+xml"/>
  <Override PartName="/ppt/slides/slide12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70" r:id="rId3"/>
    <p:sldId id="276" r:id="rId4"/>
    <p:sldId id="275" r:id="rId5"/>
    <p:sldId id="274" r:id="rId6"/>
    <p:sldId id="273" r:id="rId7"/>
    <p:sldId id="271" r:id="rId8"/>
    <p:sldId id="272" r:id="rId9"/>
    <p:sldId id="269" r:id="rId10"/>
    <p:sldId id="268" r:id="rId11"/>
    <p:sldId id="267" r:id="rId12"/>
    <p:sldId id="266" r:id="rId13"/>
    <p:sldId id="265" r:id="rId14"/>
    <p:sldId id="264" r:id="rId15"/>
    <p:sldId id="263" r:id="rId16"/>
    <p:sldId id="262" r:id="rId17"/>
    <p:sldId id="261" r:id="rId18"/>
    <p:sldId id="260" r:id="rId19"/>
    <p:sldId id="259" r:id="rId20"/>
    <p:sldId id="258" r:id="rId21"/>
    <p:sldId id="277" r:id="rId22"/>
    <p:sldId id="285" r:id="rId23"/>
    <p:sldId id="286" r:id="rId24"/>
    <p:sldId id="284" r:id="rId25"/>
    <p:sldId id="283" r:id="rId26"/>
    <p:sldId id="282" r:id="rId27"/>
    <p:sldId id="287" r:id="rId28"/>
    <p:sldId id="281" r:id="rId29"/>
    <p:sldId id="288" r:id="rId30"/>
    <p:sldId id="291" r:id="rId31"/>
    <p:sldId id="290" r:id="rId32"/>
    <p:sldId id="289" r:id="rId33"/>
    <p:sldId id="280" r:id="rId34"/>
    <p:sldId id="279" r:id="rId35"/>
    <p:sldId id="278" r:id="rId36"/>
    <p:sldId id="310" r:id="rId37"/>
    <p:sldId id="309" r:id="rId38"/>
    <p:sldId id="308" r:id="rId39"/>
    <p:sldId id="312" r:id="rId40"/>
    <p:sldId id="311" r:id="rId41"/>
    <p:sldId id="307" r:id="rId42"/>
    <p:sldId id="306" r:id="rId43"/>
    <p:sldId id="305" r:id="rId44"/>
    <p:sldId id="304" r:id="rId45"/>
    <p:sldId id="303" r:id="rId46"/>
    <p:sldId id="302" r:id="rId47"/>
    <p:sldId id="301" r:id="rId48"/>
    <p:sldId id="300" r:id="rId49"/>
    <p:sldId id="299" r:id="rId50"/>
    <p:sldId id="298" r:id="rId51"/>
    <p:sldId id="297" r:id="rId52"/>
    <p:sldId id="296" r:id="rId53"/>
    <p:sldId id="295" r:id="rId54"/>
    <p:sldId id="294" r:id="rId55"/>
    <p:sldId id="293" r:id="rId56"/>
    <p:sldId id="292" r:id="rId57"/>
    <p:sldId id="315" r:id="rId58"/>
    <p:sldId id="316" r:id="rId59"/>
    <p:sldId id="314" r:id="rId60"/>
    <p:sldId id="313" r:id="rId61"/>
    <p:sldId id="395" r:id="rId62"/>
    <p:sldId id="324" r:id="rId63"/>
    <p:sldId id="323" r:id="rId64"/>
    <p:sldId id="322" r:id="rId65"/>
    <p:sldId id="321" r:id="rId66"/>
    <p:sldId id="320" r:id="rId67"/>
    <p:sldId id="319" r:id="rId68"/>
    <p:sldId id="318" r:id="rId69"/>
    <p:sldId id="317" r:id="rId70"/>
    <p:sldId id="343" r:id="rId71"/>
    <p:sldId id="342" r:id="rId72"/>
    <p:sldId id="341" r:id="rId73"/>
    <p:sldId id="340" r:id="rId74"/>
    <p:sldId id="339" r:id="rId75"/>
    <p:sldId id="338" r:id="rId76"/>
    <p:sldId id="337" r:id="rId77"/>
    <p:sldId id="336" r:id="rId78"/>
    <p:sldId id="335" r:id="rId79"/>
    <p:sldId id="334" r:id="rId80"/>
    <p:sldId id="333" r:id="rId81"/>
    <p:sldId id="332" r:id="rId82"/>
    <p:sldId id="331" r:id="rId83"/>
    <p:sldId id="330" r:id="rId84"/>
    <p:sldId id="329" r:id="rId85"/>
    <p:sldId id="328" r:id="rId86"/>
    <p:sldId id="327" r:id="rId87"/>
    <p:sldId id="326" r:id="rId88"/>
    <p:sldId id="325" r:id="rId89"/>
    <p:sldId id="344" r:id="rId90"/>
    <p:sldId id="345" r:id="rId91"/>
    <p:sldId id="357" r:id="rId92"/>
    <p:sldId id="356" r:id="rId93"/>
    <p:sldId id="355" r:id="rId94"/>
    <p:sldId id="354" r:id="rId95"/>
    <p:sldId id="353" r:id="rId96"/>
    <p:sldId id="352" r:id="rId97"/>
    <p:sldId id="351" r:id="rId98"/>
    <p:sldId id="350" r:id="rId99"/>
    <p:sldId id="349" r:id="rId100"/>
    <p:sldId id="348" r:id="rId101"/>
    <p:sldId id="346" r:id="rId102"/>
    <p:sldId id="347" r:id="rId103"/>
    <p:sldId id="363" r:id="rId104"/>
    <p:sldId id="364" r:id="rId105"/>
    <p:sldId id="358" r:id="rId106"/>
    <p:sldId id="365" r:id="rId107"/>
    <p:sldId id="362" r:id="rId108"/>
    <p:sldId id="396" r:id="rId109"/>
    <p:sldId id="361" r:id="rId110"/>
    <p:sldId id="360" r:id="rId111"/>
    <p:sldId id="359" r:id="rId112"/>
    <p:sldId id="374" r:id="rId113"/>
    <p:sldId id="373" r:id="rId114"/>
    <p:sldId id="372" r:id="rId115"/>
    <p:sldId id="371" r:id="rId116"/>
    <p:sldId id="370" r:id="rId117"/>
    <p:sldId id="369" r:id="rId118"/>
    <p:sldId id="368" r:id="rId119"/>
    <p:sldId id="367" r:id="rId120"/>
    <p:sldId id="366" r:id="rId121"/>
    <p:sldId id="375" r:id="rId122"/>
    <p:sldId id="376" r:id="rId123"/>
    <p:sldId id="378" r:id="rId124"/>
    <p:sldId id="382" r:id="rId125"/>
    <p:sldId id="381" r:id="rId126"/>
    <p:sldId id="380" r:id="rId127"/>
    <p:sldId id="379" r:id="rId128"/>
    <p:sldId id="385" r:id="rId129"/>
    <p:sldId id="384" r:id="rId130"/>
    <p:sldId id="387" r:id="rId131"/>
    <p:sldId id="386" r:id="rId132"/>
    <p:sldId id="391" r:id="rId133"/>
    <p:sldId id="390" r:id="rId134"/>
    <p:sldId id="394" r:id="rId135"/>
    <p:sldId id="393" r:id="rId136"/>
    <p:sldId id="392" r:id="rId1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0AE3"/>
    <a:srgbClr val="CC0099"/>
    <a:srgbClr val="FF0066"/>
    <a:srgbClr val="0000CC"/>
    <a:srgbClr val="CC0066"/>
    <a:srgbClr val="008000"/>
    <a:srgbClr val="663300"/>
    <a:srgbClr val="FF9900"/>
    <a:srgbClr val="0B8319"/>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42D2B8C-BFF2-4943-9420-1C6DD2896ACD}" type="datetimeFigureOut">
              <a:rPr lang="en-US" smtClean="0"/>
              <a:pPr/>
              <a:t>01/22/2023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12B21CCA-A972-4730-9FE3-6787C3E77DFF}" type="slidenum">
              <a:rPr lang="en-US" smtClean="0"/>
              <a:pPr/>
              <a:t>‹#›</a:t>
            </a:fld>
            <a:endParaRPr lang="en-US"/>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42D2B8C-BFF2-4943-9420-1C6DD2896ACD}" type="datetimeFigureOut">
              <a:rPr lang="en-US" smtClean="0"/>
              <a:pPr/>
              <a:t>01/22/2023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B21CCA-A972-4730-9FE3-6787C3E77DFF}" type="slidenum">
              <a:rPr lang="en-US" smtClean="0"/>
              <a:pPr/>
              <a:t>‹#›</a:t>
            </a:fld>
            <a:endParaRPr lang="en-US"/>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42D2B8C-BFF2-4943-9420-1C6DD2896ACD}" type="datetimeFigureOut">
              <a:rPr lang="en-US" smtClean="0"/>
              <a:pPr/>
              <a:t>01/22/2023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B21CCA-A972-4730-9FE3-6787C3E77DFF}" type="slidenum">
              <a:rPr lang="en-US" smtClean="0"/>
              <a:pPr/>
              <a:t>‹#›</a:t>
            </a:fld>
            <a:endParaRPr lang="en-US"/>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42D2B8C-BFF2-4943-9420-1C6DD2896ACD}" type="datetimeFigureOut">
              <a:rPr lang="en-US" smtClean="0"/>
              <a:pPr/>
              <a:t>01/22/2023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B21CCA-A972-4730-9FE3-6787C3E77DFF}" type="slidenum">
              <a:rPr lang="en-US" smtClean="0"/>
              <a:pPr/>
              <a:t>‹#›</a:t>
            </a:fld>
            <a:endParaRPr lang="en-US"/>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42D2B8C-BFF2-4943-9420-1C6DD2896ACD}" type="datetimeFigureOut">
              <a:rPr lang="en-US" smtClean="0"/>
              <a:pPr/>
              <a:t>01/22/2023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B21CCA-A972-4730-9FE3-6787C3E77DFF}" type="slidenum">
              <a:rPr lang="en-US" smtClean="0"/>
              <a:pPr/>
              <a:t>‹#›</a:t>
            </a:fld>
            <a:endParaRPr lang="en-US"/>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42D2B8C-BFF2-4943-9420-1C6DD2896ACD}" type="datetimeFigureOut">
              <a:rPr lang="en-US" smtClean="0"/>
              <a:pPr/>
              <a:t>01/22/2023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B21CCA-A972-4730-9FE3-6787C3E77DFF}" type="slidenum">
              <a:rPr lang="en-US" smtClean="0"/>
              <a:pPr/>
              <a:t>‹#›</a:t>
            </a:fld>
            <a:endParaRPr lang="en-US"/>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2D2B8C-BFF2-4943-9420-1C6DD2896ACD}" type="datetimeFigureOut">
              <a:rPr lang="en-US" smtClean="0"/>
              <a:pPr/>
              <a:t>01/22/2023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B21CCA-A972-4730-9FE3-6787C3E77DFF}" type="slidenum">
              <a:rPr lang="en-US" smtClean="0"/>
              <a:pPr/>
              <a:t>‹#›</a:t>
            </a:fld>
            <a:endParaRPr lang="en-US"/>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42D2B8C-BFF2-4943-9420-1C6DD2896ACD}" type="datetimeFigureOut">
              <a:rPr lang="en-US" smtClean="0"/>
              <a:pPr/>
              <a:t>01/22/2023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B21CCA-A972-4730-9FE3-6787C3E77DFF}" type="slidenum">
              <a:rPr lang="en-US" smtClean="0"/>
              <a:pPr/>
              <a:t>‹#›</a:t>
            </a:fld>
            <a:endParaRPr lang="en-US"/>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42D2B8C-BFF2-4943-9420-1C6DD2896ACD}" type="datetimeFigureOut">
              <a:rPr lang="en-US" smtClean="0"/>
              <a:pPr/>
              <a:t>01/22/2023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12B21CCA-A972-4730-9FE3-6787C3E77DFF}"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42D2B8C-BFF2-4943-9420-1C6DD2896ACD}" type="datetimeFigureOut">
              <a:rPr lang="en-US" smtClean="0"/>
              <a:pPr/>
              <a:t>01/22/2023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B21CCA-A972-4730-9FE3-6787C3E77DFF}" type="slidenum">
              <a:rPr lang="en-US" smtClean="0"/>
              <a:pPr/>
              <a:t>‹#›</a:t>
            </a:fld>
            <a:endParaRPr lang="en-US"/>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42D2B8C-BFF2-4943-9420-1C6DD2896ACD}" type="datetimeFigureOut">
              <a:rPr lang="en-US" smtClean="0"/>
              <a:pPr/>
              <a:t>01/22/2023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B21CCA-A972-4730-9FE3-6787C3E77DFF}" type="slidenum">
              <a:rPr lang="en-US" smtClean="0"/>
              <a:pPr/>
              <a:t>‹#›</a:t>
            </a:fld>
            <a:endParaRPr lang="en-US"/>
          </a:p>
        </p:txBody>
      </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42D2B8C-BFF2-4943-9420-1C6DD2896ACD}" type="datetimeFigureOut">
              <a:rPr lang="en-US" smtClean="0"/>
              <a:pPr/>
              <a:t>01/22/2023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12B21CCA-A972-4730-9FE3-6787C3E77DFF}"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spd="slow">
    <p:push/>
  </p:transition>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143000"/>
            <a:ext cx="8610600" cy="1828800"/>
          </a:xfrm>
        </p:spPr>
        <p:txBody>
          <a:bodyPr>
            <a:noAutofit/>
          </a:bodyPr>
          <a:lstStyle/>
          <a:p>
            <a:r>
              <a:rPr lang="en-US" sz="4500" dirty="0" smtClean="0">
                <a:solidFill>
                  <a:srgbClr val="CC0099"/>
                </a:solidFill>
                <a:latin typeface="Times New Roman" pitchFamily="18" charset="0"/>
                <a:cs typeface="Times New Roman" pitchFamily="18" charset="0"/>
              </a:rPr>
              <a:t>ENVIRONMENTAL SCIENCES AND SUSTAINABILITY</a:t>
            </a:r>
            <a:endParaRPr lang="en-US" sz="4500" dirty="0">
              <a:solidFill>
                <a:srgbClr val="CC0099"/>
              </a:solidFill>
            </a:endParaRPr>
          </a:p>
        </p:txBody>
      </p:sp>
      <p:sp>
        <p:nvSpPr>
          <p:cNvPr id="3" name="Subtitle 2"/>
          <p:cNvSpPr>
            <a:spLocks noGrp="1"/>
          </p:cNvSpPr>
          <p:nvPr>
            <p:ph type="subTitle" idx="1"/>
          </p:nvPr>
        </p:nvSpPr>
        <p:spPr>
          <a:xfrm>
            <a:off x="685800" y="3581400"/>
            <a:ext cx="7854696" cy="1752600"/>
          </a:xfrm>
        </p:spPr>
        <p:txBody>
          <a:bodyPr>
            <a:normAutofit fontScale="92500" lnSpcReduction="10000"/>
          </a:bodyPr>
          <a:lstStyle/>
          <a:p>
            <a:r>
              <a:rPr lang="en-US" dirty="0" smtClean="0">
                <a:solidFill>
                  <a:srgbClr val="009900"/>
                </a:solidFill>
                <a:latin typeface="Times New Roman" pitchFamily="18" charset="0"/>
                <a:cs typeface="Times New Roman" pitchFamily="18" charset="0"/>
              </a:rPr>
              <a:t>By:</a:t>
            </a:r>
          </a:p>
          <a:p>
            <a:r>
              <a:rPr lang="en-US" dirty="0" smtClean="0">
                <a:solidFill>
                  <a:srgbClr val="009900"/>
                </a:solidFill>
                <a:latin typeface="Times New Roman" pitchFamily="18" charset="0"/>
                <a:cs typeface="Times New Roman" pitchFamily="18" charset="0"/>
              </a:rPr>
              <a:t>Dr. A. RAVIKRISHNAN,</a:t>
            </a:r>
          </a:p>
          <a:p>
            <a:r>
              <a:rPr lang="en-US" dirty="0" smtClean="0">
                <a:solidFill>
                  <a:srgbClr val="009900"/>
                </a:solidFill>
                <a:latin typeface="Times New Roman" pitchFamily="18" charset="0"/>
                <a:cs typeface="Times New Roman" pitchFamily="18" charset="0"/>
              </a:rPr>
              <a:t>M.Sc., </a:t>
            </a:r>
            <a:r>
              <a:rPr lang="en-US" dirty="0" err="1" smtClean="0">
                <a:solidFill>
                  <a:srgbClr val="009900"/>
                </a:solidFill>
                <a:latin typeface="Times New Roman" pitchFamily="18" charset="0"/>
                <a:cs typeface="Times New Roman" pitchFamily="18" charset="0"/>
              </a:rPr>
              <a:t>M.Phil.</a:t>
            </a:r>
            <a:r>
              <a:rPr lang="en-US" dirty="0" smtClean="0">
                <a:solidFill>
                  <a:srgbClr val="009900"/>
                </a:solidFill>
                <a:latin typeface="Times New Roman" pitchFamily="18" charset="0"/>
                <a:cs typeface="Times New Roman" pitchFamily="18" charset="0"/>
              </a:rPr>
              <a:t>, M.Ed., Ph.D., MISTE., MILCS.,</a:t>
            </a:r>
          </a:p>
          <a:p>
            <a:r>
              <a:rPr lang="en-US" dirty="0" err="1" smtClean="0">
                <a:solidFill>
                  <a:srgbClr val="009900"/>
                </a:solidFill>
                <a:latin typeface="Times New Roman" pitchFamily="18" charset="0"/>
                <a:cs typeface="Times New Roman" pitchFamily="18" charset="0"/>
              </a:rPr>
              <a:t>Asst.Prof</a:t>
            </a:r>
            <a:r>
              <a:rPr lang="en-US" dirty="0" smtClean="0">
                <a:solidFill>
                  <a:srgbClr val="009900"/>
                </a:solidFill>
                <a:latin typeface="Times New Roman" pitchFamily="18" charset="0"/>
                <a:cs typeface="Times New Roman" pitchFamily="18" charset="0"/>
              </a:rPr>
              <a:t> of Chemistry.</a:t>
            </a:r>
          </a:p>
          <a:p>
            <a:endParaRPr lang="en-US" dirty="0" smtClean="0">
              <a:solidFill>
                <a:srgbClr val="009900"/>
              </a:solidFill>
              <a:latin typeface="Times New Roman" pitchFamily="18" charset="0"/>
              <a:cs typeface="Times New Roman" pitchFamily="18" charset="0"/>
            </a:endParaRPr>
          </a:p>
          <a:p>
            <a:endParaRPr lang="en-US" dirty="0" smtClean="0">
              <a:solidFill>
                <a:srgbClr val="009900"/>
              </a:solidFill>
              <a:latin typeface="Times New Roman" pitchFamily="18" charset="0"/>
              <a:cs typeface="Times New Roman" pitchFamily="18" charset="0"/>
            </a:endParaRPr>
          </a:p>
          <a:p>
            <a:endParaRPr lang="en-US" dirty="0" smtClean="0">
              <a:solidFill>
                <a:srgbClr val="009900"/>
              </a:solidFill>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914400"/>
            <a:ext cx="8229600" cy="5293757"/>
          </a:xfrm>
          <a:prstGeom prst="rect">
            <a:avLst/>
          </a:prstGeom>
        </p:spPr>
        <p:txBody>
          <a:bodyPr wrap="square">
            <a:spAutoFit/>
          </a:bodyPr>
          <a:lstStyle/>
          <a:p>
            <a:r>
              <a:rPr lang="en-US" sz="3000" b="1" dirty="0" smtClean="0">
                <a:solidFill>
                  <a:srgbClr val="FF0066"/>
                </a:solidFill>
                <a:latin typeface="Times New Roman" pitchFamily="18" charset="0"/>
                <a:cs typeface="Times New Roman" pitchFamily="18" charset="0"/>
              </a:rPr>
              <a:t>                         Environmental Pollution</a:t>
            </a:r>
          </a:p>
          <a:p>
            <a:endParaRPr lang="en-US" sz="2200" b="1" dirty="0">
              <a:solidFill>
                <a:schemeClr val="tx2">
                  <a:lumMod val="10000"/>
                </a:schemeClr>
              </a:solidFill>
              <a:latin typeface="Times New Roman" pitchFamily="18" charset="0"/>
              <a:cs typeface="Times New Roman" pitchFamily="18" charset="0"/>
            </a:endParaRPr>
          </a:p>
          <a:p>
            <a:r>
              <a:rPr lang="en-US" sz="2200" b="1" dirty="0" smtClean="0">
                <a:solidFill>
                  <a:srgbClr val="0B8319"/>
                </a:solidFill>
                <a:latin typeface="Times New Roman" pitchFamily="18" charset="0"/>
                <a:cs typeface="Times New Roman" pitchFamily="18" charset="0"/>
              </a:rPr>
              <a:t>1.1 Introduction</a:t>
            </a:r>
          </a:p>
          <a:p>
            <a:endParaRPr lang="en-US" sz="2200" b="1" dirty="0">
              <a:solidFill>
                <a:schemeClr val="tx2">
                  <a:lumMod val="10000"/>
                </a:schemeClr>
              </a:solidFill>
              <a:latin typeface="Times New Roman" pitchFamily="18" charset="0"/>
              <a:cs typeface="Times New Roman" pitchFamily="18" charset="0"/>
            </a:endParaRPr>
          </a:p>
          <a:p>
            <a:pPr>
              <a:buFont typeface="Wingdings" pitchFamily="2" charset="2"/>
              <a:buChar char="Ø"/>
            </a:pPr>
            <a:r>
              <a:rPr lang="en-US" sz="2200" dirty="0" smtClean="0">
                <a:solidFill>
                  <a:srgbClr val="FF0066"/>
                </a:solidFill>
                <a:latin typeface="Times New Roman" pitchFamily="18" charset="0"/>
                <a:cs typeface="Times New Roman" pitchFamily="18" charset="0"/>
              </a:rPr>
              <a:t> Environmental </a:t>
            </a:r>
            <a:r>
              <a:rPr lang="en-US" sz="2200" dirty="0">
                <a:solidFill>
                  <a:srgbClr val="FF0066"/>
                </a:solidFill>
                <a:latin typeface="Times New Roman" pitchFamily="18" charset="0"/>
                <a:cs typeface="Times New Roman" pitchFamily="18" charset="0"/>
              </a:rPr>
              <a:t>pollution may be defined as, </a:t>
            </a:r>
            <a:r>
              <a:rPr lang="en-US" sz="2200" dirty="0">
                <a:solidFill>
                  <a:srgbClr val="00B0F0"/>
                </a:solidFill>
                <a:latin typeface="Times New Roman" pitchFamily="18" charset="0"/>
                <a:cs typeface="Times New Roman" pitchFamily="18" charset="0"/>
              </a:rPr>
              <a:t>“</a:t>
            </a:r>
            <a:r>
              <a:rPr lang="en-US" sz="2200" b="1" i="1" dirty="0" smtClean="0">
                <a:solidFill>
                  <a:srgbClr val="00B0F0"/>
                </a:solidFill>
                <a:latin typeface="Times New Roman" pitchFamily="18" charset="0"/>
                <a:cs typeface="Times New Roman" pitchFamily="18" charset="0"/>
              </a:rPr>
              <a:t>the unfavorable </a:t>
            </a:r>
            <a:r>
              <a:rPr lang="en-US" sz="2200" b="1" i="1" dirty="0">
                <a:solidFill>
                  <a:srgbClr val="00B0F0"/>
                </a:solidFill>
                <a:latin typeface="Times New Roman" pitchFamily="18" charset="0"/>
                <a:cs typeface="Times New Roman" pitchFamily="18" charset="0"/>
              </a:rPr>
              <a:t>alteration of our surroundings”. </a:t>
            </a:r>
            <a:endParaRPr lang="en-US" sz="2200" b="1" i="1" dirty="0" smtClean="0">
              <a:solidFill>
                <a:srgbClr val="00B0F0"/>
              </a:solidFill>
              <a:latin typeface="Times New Roman" pitchFamily="18" charset="0"/>
              <a:cs typeface="Times New Roman" pitchFamily="18" charset="0"/>
            </a:endParaRPr>
          </a:p>
          <a:p>
            <a:pPr>
              <a:buFont typeface="Wingdings" pitchFamily="2" charset="2"/>
              <a:buChar char="Ø"/>
            </a:pPr>
            <a:r>
              <a:rPr lang="en-US" sz="2200" b="1" i="1" dirty="0" smtClean="0">
                <a:latin typeface="Times New Roman" pitchFamily="18" charset="0"/>
                <a:cs typeface="Times New Roman" pitchFamily="18" charset="0"/>
              </a:rPr>
              <a:t> It changes </a:t>
            </a:r>
            <a:r>
              <a:rPr lang="en-US" sz="2200" dirty="0" smtClean="0">
                <a:solidFill>
                  <a:srgbClr val="FF0066"/>
                </a:solidFill>
                <a:latin typeface="Times New Roman" pitchFamily="18" charset="0"/>
                <a:cs typeface="Times New Roman" pitchFamily="18" charset="0"/>
              </a:rPr>
              <a:t>the </a:t>
            </a:r>
            <a:r>
              <a:rPr lang="en-US" sz="2200" dirty="0">
                <a:solidFill>
                  <a:srgbClr val="FF0066"/>
                </a:solidFill>
                <a:latin typeface="Times New Roman" pitchFamily="18" charset="0"/>
                <a:cs typeface="Times New Roman" pitchFamily="18" charset="0"/>
              </a:rPr>
              <a:t>quality of air, water and land which interferes with </a:t>
            </a:r>
            <a:r>
              <a:rPr lang="en-US" sz="2200" dirty="0" smtClean="0">
                <a:solidFill>
                  <a:srgbClr val="FF0066"/>
                </a:solidFill>
                <a:latin typeface="Times New Roman" pitchFamily="18" charset="0"/>
                <a:cs typeface="Times New Roman" pitchFamily="18" charset="0"/>
              </a:rPr>
              <a:t>the health </a:t>
            </a:r>
            <a:r>
              <a:rPr lang="en-US" sz="2200" dirty="0">
                <a:solidFill>
                  <a:srgbClr val="FF0066"/>
                </a:solidFill>
                <a:latin typeface="Times New Roman" pitchFamily="18" charset="0"/>
                <a:cs typeface="Times New Roman" pitchFamily="18" charset="0"/>
              </a:rPr>
              <a:t>of humans and other life on </a:t>
            </a:r>
            <a:r>
              <a:rPr lang="en-US" sz="2200" dirty="0" smtClean="0">
                <a:solidFill>
                  <a:srgbClr val="FF0066"/>
                </a:solidFill>
                <a:latin typeface="Times New Roman" pitchFamily="18" charset="0"/>
                <a:cs typeface="Times New Roman" pitchFamily="18" charset="0"/>
              </a:rPr>
              <a:t>earth. </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Pollution </a:t>
            </a:r>
            <a:r>
              <a:rPr lang="en-US" sz="2200" dirty="0">
                <a:solidFill>
                  <a:srgbClr val="FF0066"/>
                </a:solidFill>
                <a:latin typeface="Times New Roman" pitchFamily="18" charset="0"/>
                <a:cs typeface="Times New Roman" pitchFamily="18" charset="0"/>
              </a:rPr>
              <a:t>are of different kinds depending on </a:t>
            </a:r>
            <a:r>
              <a:rPr lang="en-US" sz="2200" dirty="0" smtClean="0">
                <a:solidFill>
                  <a:srgbClr val="FF0066"/>
                </a:solidFill>
                <a:latin typeface="Times New Roman" pitchFamily="18" charset="0"/>
                <a:cs typeface="Times New Roman" pitchFamily="18" charset="0"/>
              </a:rPr>
              <a:t>the nature </a:t>
            </a:r>
            <a:r>
              <a:rPr lang="en-US" sz="2200" dirty="0">
                <a:solidFill>
                  <a:srgbClr val="FF0066"/>
                </a:solidFill>
                <a:latin typeface="Times New Roman" pitchFamily="18" charset="0"/>
                <a:cs typeface="Times New Roman" pitchFamily="18" charset="0"/>
              </a:rPr>
              <a:t>of pollutant generated from different sources</a:t>
            </a:r>
            <a:r>
              <a:rPr lang="en-US" sz="2200" dirty="0" smtClean="0">
                <a:solidFill>
                  <a:srgbClr val="FF0066"/>
                </a:solidFill>
                <a:latin typeface="Times New Roman" pitchFamily="18" charset="0"/>
                <a:cs typeface="Times New Roman" pitchFamily="18" charset="0"/>
              </a:rPr>
              <a:t>.</a:t>
            </a:r>
          </a:p>
          <a:p>
            <a:endParaRPr lang="en-US" sz="2200" dirty="0">
              <a:solidFill>
                <a:schemeClr val="tx2">
                  <a:lumMod val="10000"/>
                </a:schemeClr>
              </a:solidFill>
              <a:latin typeface="Times New Roman" pitchFamily="18" charset="0"/>
              <a:cs typeface="Times New Roman" pitchFamily="18" charset="0"/>
            </a:endParaRPr>
          </a:p>
          <a:p>
            <a:r>
              <a:rPr lang="en-US" sz="2200" b="1" dirty="0" smtClean="0">
                <a:latin typeface="Times New Roman" pitchFamily="18" charset="0"/>
                <a:cs typeface="Times New Roman" pitchFamily="18" charset="0"/>
              </a:rPr>
              <a:t>Examples</a:t>
            </a:r>
          </a:p>
          <a:p>
            <a:r>
              <a:rPr lang="en-US" sz="2200" b="1" dirty="0" smtClean="0">
                <a:latin typeface="Times New Roman" pitchFamily="18" charset="0"/>
                <a:cs typeface="Times New Roman" pitchFamily="18" charset="0"/>
              </a:rPr>
              <a:t> </a:t>
            </a:r>
            <a:r>
              <a:rPr lang="en-US" sz="2200" i="1" dirty="0">
                <a:solidFill>
                  <a:srgbClr val="00B0F0"/>
                </a:solidFill>
                <a:latin typeface="Times New Roman" pitchFamily="18" charset="0"/>
                <a:cs typeface="Times New Roman" pitchFamily="18" charset="0"/>
              </a:rPr>
              <a:t>Industry, automobiles, thermal power </a:t>
            </a:r>
            <a:r>
              <a:rPr lang="en-US" sz="2200" i="1" dirty="0" smtClean="0">
                <a:solidFill>
                  <a:srgbClr val="00B0F0"/>
                </a:solidFill>
                <a:latin typeface="Times New Roman" pitchFamily="18" charset="0"/>
                <a:cs typeface="Times New Roman" pitchFamily="18" charset="0"/>
              </a:rPr>
              <a:t>plants,</a:t>
            </a:r>
            <a:r>
              <a:rPr lang="en-US" sz="2200" b="1" i="1" dirty="0" smtClean="0">
                <a:solidFill>
                  <a:srgbClr val="00B0F0"/>
                </a:solidFill>
                <a:latin typeface="Times New Roman" pitchFamily="18" charset="0"/>
                <a:cs typeface="Times New Roman" pitchFamily="18" charset="0"/>
              </a:rPr>
              <a:t> </a:t>
            </a:r>
            <a:r>
              <a:rPr lang="en-US" sz="2200" i="1" dirty="0" smtClean="0">
                <a:solidFill>
                  <a:srgbClr val="00B0F0"/>
                </a:solidFill>
                <a:latin typeface="Times New Roman" pitchFamily="18" charset="0"/>
                <a:cs typeface="Times New Roman" pitchFamily="18" charset="0"/>
              </a:rPr>
              <a:t>farming</a:t>
            </a:r>
            <a:r>
              <a:rPr lang="en-US" sz="2200" i="1" dirty="0">
                <a:solidFill>
                  <a:srgbClr val="00B0F0"/>
                </a:solidFill>
                <a:latin typeface="Times New Roman" pitchFamily="18" charset="0"/>
                <a:cs typeface="Times New Roman" pitchFamily="18" charset="0"/>
              </a:rPr>
              <a:t>, nuclear reactors, generate </a:t>
            </a:r>
            <a:r>
              <a:rPr lang="en-US" sz="2200" i="1" dirty="0" smtClean="0">
                <a:solidFill>
                  <a:srgbClr val="00B0F0"/>
                </a:solidFill>
                <a:latin typeface="Times New Roman" pitchFamily="18" charset="0"/>
                <a:cs typeface="Times New Roman" pitchFamily="18" charset="0"/>
              </a:rPr>
              <a:t>different types </a:t>
            </a:r>
            <a:r>
              <a:rPr lang="en-US" sz="2200" i="1" dirty="0">
                <a:solidFill>
                  <a:srgbClr val="00B0F0"/>
                </a:solidFill>
                <a:latin typeface="Times New Roman" pitchFamily="18" charset="0"/>
                <a:cs typeface="Times New Roman" pitchFamily="18" charset="0"/>
              </a:rPr>
              <a:t>of pollutants causing pollution to </a:t>
            </a:r>
            <a:r>
              <a:rPr lang="en-US" sz="2200" i="1" dirty="0" smtClean="0">
                <a:solidFill>
                  <a:srgbClr val="00B0F0"/>
                </a:solidFill>
                <a:latin typeface="Times New Roman" pitchFamily="18" charset="0"/>
                <a:cs typeface="Times New Roman" pitchFamily="18" charset="0"/>
              </a:rPr>
              <a:t>air, water </a:t>
            </a:r>
            <a:r>
              <a:rPr lang="en-US" sz="2200" i="1" dirty="0">
                <a:solidFill>
                  <a:srgbClr val="00B0F0"/>
                </a:solidFill>
                <a:latin typeface="Times New Roman" pitchFamily="18" charset="0"/>
                <a:cs typeface="Times New Roman" pitchFamily="18" charset="0"/>
              </a:rPr>
              <a:t>bodies and land.</a:t>
            </a:r>
            <a:endParaRPr lang="en-US" sz="2200" b="1" dirty="0">
              <a:solidFill>
                <a:srgbClr val="00B0F0"/>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14400"/>
            <a:ext cx="8153400" cy="5847755"/>
          </a:xfrm>
          <a:prstGeom prst="rect">
            <a:avLst/>
          </a:prstGeom>
        </p:spPr>
        <p:txBody>
          <a:bodyPr wrap="square">
            <a:spAutoFit/>
          </a:bodyPr>
          <a:lstStyle/>
          <a:p>
            <a:r>
              <a:rPr lang="en-US" sz="2200" b="1" i="1" dirty="0">
                <a:solidFill>
                  <a:srgbClr val="0000CC"/>
                </a:solidFill>
                <a:latin typeface="Times New Roman" pitchFamily="18" charset="0"/>
                <a:cs typeface="Times New Roman" pitchFamily="18" charset="0"/>
              </a:rPr>
              <a:t>2.1.1 Types of </a:t>
            </a:r>
            <a:r>
              <a:rPr lang="en-US" sz="2200" b="1" i="1" dirty="0" smtClean="0">
                <a:solidFill>
                  <a:srgbClr val="0000CC"/>
                </a:solidFill>
                <a:latin typeface="Times New Roman" pitchFamily="18" charset="0"/>
                <a:cs typeface="Times New Roman" pitchFamily="18" charset="0"/>
              </a:rPr>
              <a:t>Pollutants</a:t>
            </a:r>
          </a:p>
          <a:p>
            <a:endParaRPr lang="en-US" sz="2200" b="1" i="1" dirty="0">
              <a:latin typeface="Times New Roman" pitchFamily="18" charset="0"/>
              <a:cs typeface="Times New Roman" pitchFamily="18" charset="0"/>
            </a:endParaRPr>
          </a:p>
          <a:p>
            <a:pPr marL="342900" indent="-342900">
              <a:buAutoNum type="arabicPeriod"/>
            </a:pPr>
            <a:r>
              <a:rPr lang="fr-FR" sz="2200" b="1" dirty="0" err="1" smtClean="0">
                <a:solidFill>
                  <a:srgbClr val="FF9900"/>
                </a:solidFill>
                <a:latin typeface="Times New Roman" pitchFamily="18" charset="0"/>
                <a:cs typeface="Times New Roman" pitchFamily="18" charset="0"/>
              </a:rPr>
              <a:t>Biodegradable</a:t>
            </a:r>
            <a:r>
              <a:rPr lang="fr-FR" sz="2200" b="1" dirty="0" smtClean="0">
                <a:solidFill>
                  <a:srgbClr val="FF9900"/>
                </a:solidFill>
                <a:latin typeface="Times New Roman" pitchFamily="18" charset="0"/>
                <a:cs typeface="Times New Roman" pitchFamily="18" charset="0"/>
              </a:rPr>
              <a:t> </a:t>
            </a:r>
            <a:r>
              <a:rPr lang="fr-FR" sz="2200" b="1" dirty="0" err="1">
                <a:solidFill>
                  <a:srgbClr val="FF9900"/>
                </a:solidFill>
                <a:latin typeface="Times New Roman" pitchFamily="18" charset="0"/>
                <a:cs typeface="Times New Roman" pitchFamily="18" charset="0"/>
              </a:rPr>
              <a:t>pollutants</a:t>
            </a:r>
            <a:r>
              <a:rPr lang="fr-FR" sz="2200" b="1" dirty="0" smtClean="0">
                <a:solidFill>
                  <a:srgbClr val="FF9900"/>
                </a:solidFill>
                <a:latin typeface="Times New Roman" pitchFamily="18" charset="0"/>
                <a:cs typeface="Times New Roman" pitchFamily="18" charset="0"/>
              </a:rPr>
              <a:t>:</a:t>
            </a:r>
          </a:p>
          <a:p>
            <a:pPr marL="342900" indent="-342900">
              <a:buFont typeface="Wingdings" pitchFamily="2" charset="2"/>
              <a:buChar char="q"/>
            </a:pPr>
            <a:r>
              <a:rPr lang="fr-FR" sz="2200" b="1" dirty="0" smtClean="0">
                <a:solidFill>
                  <a:srgbClr val="FF0066"/>
                </a:solidFill>
                <a:latin typeface="Times New Roman" pitchFamily="18" charset="0"/>
                <a:cs typeface="Times New Roman" pitchFamily="18" charset="0"/>
              </a:rPr>
              <a:t> </a:t>
            </a:r>
            <a:r>
              <a:rPr lang="fr-FR" sz="2200" dirty="0" err="1">
                <a:solidFill>
                  <a:srgbClr val="FF0066"/>
                </a:solidFill>
                <a:latin typeface="Times New Roman" pitchFamily="18" charset="0"/>
                <a:cs typeface="Times New Roman" pitchFamily="18" charset="0"/>
              </a:rPr>
              <a:t>Biodegradable</a:t>
            </a:r>
            <a:r>
              <a:rPr lang="fr-FR" sz="2200" dirty="0">
                <a:solidFill>
                  <a:srgbClr val="FF0066"/>
                </a:solidFill>
                <a:latin typeface="Times New Roman" pitchFamily="18" charset="0"/>
                <a:cs typeface="Times New Roman" pitchFamily="18" charset="0"/>
              </a:rPr>
              <a:t> </a:t>
            </a:r>
            <a:r>
              <a:rPr lang="fr-FR" sz="2200" dirty="0" err="1" smtClean="0">
                <a:solidFill>
                  <a:srgbClr val="FF0066"/>
                </a:solidFill>
                <a:latin typeface="Times New Roman" pitchFamily="18" charset="0"/>
                <a:cs typeface="Times New Roman" pitchFamily="18" charset="0"/>
              </a:rPr>
              <a:t>pollutants</a:t>
            </a:r>
            <a:r>
              <a:rPr lang="fr-FR" sz="2200" dirty="0" smtClean="0">
                <a:solidFill>
                  <a:srgbClr val="FF0066"/>
                </a:solidFill>
                <a:latin typeface="Times New Roman" pitchFamily="18" charset="0"/>
                <a:cs typeface="Times New Roman" pitchFamily="18" charset="0"/>
              </a:rPr>
              <a:t> </a:t>
            </a:r>
            <a:r>
              <a:rPr lang="en-US" sz="2200" dirty="0" smtClean="0">
                <a:solidFill>
                  <a:srgbClr val="FF0066"/>
                </a:solidFill>
                <a:latin typeface="Times New Roman" pitchFamily="18" charset="0"/>
                <a:cs typeface="Times New Roman" pitchFamily="18" charset="0"/>
              </a:rPr>
              <a:t>decompose </a:t>
            </a:r>
            <a:r>
              <a:rPr lang="en-US" sz="2200" dirty="0">
                <a:solidFill>
                  <a:srgbClr val="FF0066"/>
                </a:solidFill>
                <a:latin typeface="Times New Roman" pitchFamily="18" charset="0"/>
                <a:cs typeface="Times New Roman" pitchFamily="18" charset="0"/>
              </a:rPr>
              <a:t>rapidly by natural processes</a:t>
            </a:r>
            <a:r>
              <a:rPr lang="en-US" sz="2200" dirty="0" smtClean="0">
                <a:solidFill>
                  <a:srgbClr val="FF0066"/>
                </a:solidFill>
                <a:latin typeface="Times New Roman" pitchFamily="18" charset="0"/>
                <a:cs typeface="Times New Roman" pitchFamily="18" charset="0"/>
              </a:rPr>
              <a:t>.</a:t>
            </a:r>
          </a:p>
          <a:p>
            <a:pPr marL="342900" indent="-342900"/>
            <a:endParaRPr lang="en-US" sz="2200" dirty="0">
              <a:solidFill>
                <a:srgbClr val="FF0066"/>
              </a:solidFill>
              <a:latin typeface="Times New Roman" pitchFamily="18" charset="0"/>
              <a:cs typeface="Times New Roman" pitchFamily="18" charset="0"/>
            </a:endParaRPr>
          </a:p>
          <a:p>
            <a:r>
              <a:rPr lang="fr-FR" sz="2200" b="1" dirty="0">
                <a:solidFill>
                  <a:srgbClr val="FF9900"/>
                </a:solidFill>
                <a:latin typeface="Times New Roman" pitchFamily="18" charset="0"/>
                <a:cs typeface="Times New Roman" pitchFamily="18" charset="0"/>
              </a:rPr>
              <a:t>2. Non-</a:t>
            </a:r>
            <a:r>
              <a:rPr lang="fr-FR" sz="2200" b="1" dirty="0" err="1">
                <a:solidFill>
                  <a:srgbClr val="FF9900"/>
                </a:solidFill>
                <a:latin typeface="Times New Roman" pitchFamily="18" charset="0"/>
                <a:cs typeface="Times New Roman" pitchFamily="18" charset="0"/>
              </a:rPr>
              <a:t>degradable</a:t>
            </a:r>
            <a:r>
              <a:rPr lang="fr-FR" sz="2200" b="1" dirty="0">
                <a:solidFill>
                  <a:srgbClr val="FF9900"/>
                </a:solidFill>
                <a:latin typeface="Times New Roman" pitchFamily="18" charset="0"/>
                <a:cs typeface="Times New Roman" pitchFamily="18" charset="0"/>
              </a:rPr>
              <a:t> </a:t>
            </a:r>
            <a:r>
              <a:rPr lang="fr-FR" sz="2200" b="1" dirty="0" err="1">
                <a:solidFill>
                  <a:srgbClr val="FF9900"/>
                </a:solidFill>
                <a:latin typeface="Times New Roman" pitchFamily="18" charset="0"/>
                <a:cs typeface="Times New Roman" pitchFamily="18" charset="0"/>
              </a:rPr>
              <a:t>pollutants</a:t>
            </a:r>
            <a:r>
              <a:rPr lang="fr-FR" sz="2200" b="1" dirty="0" smtClean="0">
                <a:solidFill>
                  <a:srgbClr val="FF9900"/>
                </a:solidFill>
                <a:latin typeface="Times New Roman" pitchFamily="18" charset="0"/>
                <a:cs typeface="Times New Roman" pitchFamily="18" charset="0"/>
              </a:rPr>
              <a:t>:</a:t>
            </a:r>
          </a:p>
          <a:p>
            <a:pPr>
              <a:buFont typeface="Wingdings" pitchFamily="2" charset="2"/>
              <a:buChar char="q"/>
            </a:pPr>
            <a:r>
              <a:rPr lang="fr-FR" sz="2200" dirty="0" smtClean="0">
                <a:solidFill>
                  <a:srgbClr val="FF0066"/>
                </a:solidFill>
                <a:latin typeface="Times New Roman" pitchFamily="18" charset="0"/>
                <a:cs typeface="Times New Roman" pitchFamily="18" charset="0"/>
              </a:rPr>
              <a:t> </a:t>
            </a:r>
            <a:r>
              <a:rPr lang="fr-FR" sz="2200" dirty="0">
                <a:solidFill>
                  <a:srgbClr val="FF0066"/>
                </a:solidFill>
                <a:latin typeface="Times New Roman" pitchFamily="18" charset="0"/>
                <a:cs typeface="Times New Roman" pitchFamily="18" charset="0"/>
              </a:rPr>
              <a:t>Non-</a:t>
            </a:r>
            <a:r>
              <a:rPr lang="fr-FR" sz="2200" dirty="0" err="1">
                <a:solidFill>
                  <a:srgbClr val="FF0066"/>
                </a:solidFill>
                <a:latin typeface="Times New Roman" pitchFamily="18" charset="0"/>
                <a:cs typeface="Times New Roman" pitchFamily="18" charset="0"/>
              </a:rPr>
              <a:t>degradable</a:t>
            </a:r>
            <a:r>
              <a:rPr lang="fr-FR" sz="2200" dirty="0">
                <a:solidFill>
                  <a:srgbClr val="FF0066"/>
                </a:solidFill>
                <a:latin typeface="Times New Roman" pitchFamily="18" charset="0"/>
                <a:cs typeface="Times New Roman" pitchFamily="18" charset="0"/>
              </a:rPr>
              <a:t> </a:t>
            </a:r>
            <a:r>
              <a:rPr lang="fr-FR" sz="2200" dirty="0" err="1" smtClean="0">
                <a:solidFill>
                  <a:srgbClr val="FF0066"/>
                </a:solidFill>
                <a:latin typeface="Times New Roman" pitchFamily="18" charset="0"/>
                <a:cs typeface="Times New Roman" pitchFamily="18" charset="0"/>
              </a:rPr>
              <a:t>pollutants</a:t>
            </a:r>
            <a:r>
              <a:rPr lang="fr-FR" sz="2200" dirty="0" smtClean="0">
                <a:solidFill>
                  <a:srgbClr val="FF0066"/>
                </a:solidFill>
                <a:latin typeface="Times New Roman" pitchFamily="18" charset="0"/>
                <a:cs typeface="Times New Roman" pitchFamily="18" charset="0"/>
              </a:rPr>
              <a:t> </a:t>
            </a:r>
            <a:r>
              <a:rPr lang="en-US" sz="2200" dirty="0" smtClean="0">
                <a:solidFill>
                  <a:srgbClr val="FF0066"/>
                </a:solidFill>
                <a:latin typeface="Times New Roman" pitchFamily="18" charset="0"/>
                <a:cs typeface="Times New Roman" pitchFamily="18" charset="0"/>
              </a:rPr>
              <a:t>do </a:t>
            </a:r>
            <a:r>
              <a:rPr lang="en-US" sz="2200" dirty="0">
                <a:solidFill>
                  <a:srgbClr val="FF0066"/>
                </a:solidFill>
                <a:latin typeface="Times New Roman" pitchFamily="18" charset="0"/>
                <a:cs typeface="Times New Roman" pitchFamily="18" charset="0"/>
              </a:rPr>
              <a:t>not decompose (or) decompose slowly in </a:t>
            </a:r>
            <a:r>
              <a:rPr lang="en-US" sz="2200" dirty="0" smtClean="0">
                <a:solidFill>
                  <a:srgbClr val="FF0066"/>
                </a:solidFill>
                <a:latin typeface="Times New Roman" pitchFamily="18" charset="0"/>
                <a:cs typeface="Times New Roman" pitchFamily="18" charset="0"/>
              </a:rPr>
              <a:t>the environment.</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a:t>
            </a:r>
            <a:r>
              <a:rPr lang="en-US" sz="2200" dirty="0">
                <a:solidFill>
                  <a:srgbClr val="FF0066"/>
                </a:solidFill>
                <a:latin typeface="Times New Roman" pitchFamily="18" charset="0"/>
                <a:cs typeface="Times New Roman" pitchFamily="18" charset="0"/>
              </a:rPr>
              <a:t>slowly decomposed materials are </a:t>
            </a:r>
            <a:r>
              <a:rPr lang="en-US" sz="2200" dirty="0" smtClean="0">
                <a:solidFill>
                  <a:srgbClr val="FF0066"/>
                </a:solidFill>
                <a:latin typeface="Times New Roman" pitchFamily="18" charset="0"/>
                <a:cs typeface="Times New Roman" pitchFamily="18" charset="0"/>
              </a:rPr>
              <a:t>more dangerous </a:t>
            </a:r>
            <a:r>
              <a:rPr lang="en-US" sz="2200" dirty="0">
                <a:solidFill>
                  <a:srgbClr val="FF0066"/>
                </a:solidFill>
                <a:latin typeface="Times New Roman" pitchFamily="18" charset="0"/>
                <a:cs typeface="Times New Roman" pitchFamily="18" charset="0"/>
              </a:rPr>
              <a:t>because it is more difficult to remove them</a:t>
            </a:r>
            <a:r>
              <a:rPr lang="en-US" sz="2200" dirty="0" smtClean="0">
                <a:solidFill>
                  <a:srgbClr val="FF0066"/>
                </a:solidFill>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a:p>
            <a:r>
              <a:rPr lang="en-US" sz="2200" b="1" i="1" dirty="0">
                <a:solidFill>
                  <a:srgbClr val="0000CC"/>
                </a:solidFill>
                <a:latin typeface="Times New Roman" pitchFamily="18" charset="0"/>
                <a:cs typeface="Times New Roman" pitchFamily="18" charset="0"/>
              </a:rPr>
              <a:t>2.1.2 Classification of Pollution</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 </a:t>
            </a:r>
            <a:r>
              <a:rPr lang="en-US" sz="2200" dirty="0">
                <a:solidFill>
                  <a:srgbClr val="FF0066"/>
                </a:solidFill>
                <a:latin typeface="Times New Roman" pitchFamily="18" charset="0"/>
                <a:cs typeface="Times New Roman" pitchFamily="18" charset="0"/>
              </a:rPr>
              <a:t>different kinds of pollution that affects </a:t>
            </a:r>
            <a:r>
              <a:rPr lang="en-US" sz="2200" dirty="0" smtClean="0">
                <a:solidFill>
                  <a:srgbClr val="FF0066"/>
                </a:solidFill>
                <a:latin typeface="Times New Roman" pitchFamily="18" charset="0"/>
                <a:cs typeface="Times New Roman" pitchFamily="18" charset="0"/>
              </a:rPr>
              <a:t>the environment </a:t>
            </a:r>
            <a:r>
              <a:rPr lang="en-US" sz="2200" dirty="0">
                <a:solidFill>
                  <a:srgbClr val="FF0066"/>
                </a:solidFill>
                <a:latin typeface="Times New Roman" pitchFamily="18" charset="0"/>
                <a:cs typeface="Times New Roman" pitchFamily="18" charset="0"/>
              </a:rPr>
              <a:t>are,</a:t>
            </a:r>
          </a:p>
          <a:p>
            <a:pPr lvl="4">
              <a:buFont typeface="Wingdings" pitchFamily="2" charset="2"/>
              <a:buChar char="ü"/>
            </a:pPr>
            <a:r>
              <a:rPr lang="en-US" sz="2200" dirty="0" smtClean="0">
                <a:solidFill>
                  <a:srgbClr val="008000"/>
                </a:solidFill>
                <a:latin typeface="Times New Roman" pitchFamily="18" charset="0"/>
                <a:cs typeface="Times New Roman" pitchFamily="18" charset="0"/>
              </a:rPr>
              <a:t>  Air </a:t>
            </a:r>
            <a:r>
              <a:rPr lang="en-US" sz="2200" dirty="0">
                <a:solidFill>
                  <a:srgbClr val="008000"/>
                </a:solidFill>
                <a:latin typeface="Times New Roman" pitchFamily="18" charset="0"/>
                <a:cs typeface="Times New Roman" pitchFamily="18" charset="0"/>
              </a:rPr>
              <a:t>Pollution</a:t>
            </a:r>
          </a:p>
          <a:p>
            <a:pPr lvl="4">
              <a:buFont typeface="Wingdings" pitchFamily="2" charset="2"/>
              <a:buChar char="ü"/>
            </a:pPr>
            <a:r>
              <a:rPr lang="en-US" sz="2200" dirty="0" smtClean="0">
                <a:solidFill>
                  <a:srgbClr val="008000"/>
                </a:solidFill>
                <a:latin typeface="Times New Roman" pitchFamily="18" charset="0"/>
                <a:cs typeface="Times New Roman" pitchFamily="18" charset="0"/>
              </a:rPr>
              <a:t>  Water </a:t>
            </a:r>
            <a:r>
              <a:rPr lang="en-US" sz="2200" dirty="0">
                <a:solidFill>
                  <a:srgbClr val="008000"/>
                </a:solidFill>
                <a:latin typeface="Times New Roman" pitchFamily="18" charset="0"/>
                <a:cs typeface="Times New Roman" pitchFamily="18" charset="0"/>
              </a:rPr>
              <a:t>Pollution</a:t>
            </a:r>
          </a:p>
          <a:p>
            <a:pPr lvl="4">
              <a:buFont typeface="Wingdings" pitchFamily="2" charset="2"/>
              <a:buChar char="ü"/>
            </a:pPr>
            <a:r>
              <a:rPr lang="en-US" sz="2200" dirty="0" smtClean="0">
                <a:solidFill>
                  <a:srgbClr val="008000"/>
                </a:solidFill>
                <a:latin typeface="Times New Roman" pitchFamily="18" charset="0"/>
                <a:cs typeface="Times New Roman" pitchFamily="18" charset="0"/>
              </a:rPr>
              <a:t>  Soil </a:t>
            </a:r>
            <a:r>
              <a:rPr lang="en-US" sz="2200" dirty="0">
                <a:solidFill>
                  <a:srgbClr val="008000"/>
                </a:solidFill>
                <a:latin typeface="Times New Roman" pitchFamily="18" charset="0"/>
                <a:cs typeface="Times New Roman" pitchFamily="18" charset="0"/>
              </a:rPr>
              <a:t>Pollution and</a:t>
            </a:r>
          </a:p>
          <a:p>
            <a:pPr lvl="4">
              <a:buFont typeface="Wingdings" pitchFamily="2" charset="2"/>
              <a:buChar char="ü"/>
            </a:pPr>
            <a:r>
              <a:rPr lang="en-US" sz="2200" dirty="0" smtClean="0">
                <a:solidFill>
                  <a:srgbClr val="008000"/>
                </a:solidFill>
                <a:latin typeface="Times New Roman" pitchFamily="18" charset="0"/>
                <a:cs typeface="Times New Roman" pitchFamily="18" charset="0"/>
              </a:rPr>
              <a:t>  Noise </a:t>
            </a:r>
            <a:r>
              <a:rPr lang="en-US" sz="2200" dirty="0">
                <a:solidFill>
                  <a:srgbClr val="008000"/>
                </a:solidFill>
                <a:latin typeface="Times New Roman" pitchFamily="18" charset="0"/>
                <a:cs typeface="Times New Roman" pitchFamily="18" charset="0"/>
              </a:rPr>
              <a:t>Pollution</a:t>
            </a:r>
          </a:p>
        </p:txBody>
      </p:sp>
    </p:spTree>
  </p:cSld>
  <p:clrMapOvr>
    <a:masterClrMapping/>
  </p:clrMapOvr>
  <p:transition spd="slow">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838200"/>
            <a:ext cx="8305800" cy="5847755"/>
          </a:xfrm>
          <a:prstGeom prst="rect">
            <a:avLst/>
          </a:prstGeom>
        </p:spPr>
        <p:txBody>
          <a:bodyPr wrap="square">
            <a:spAutoFit/>
          </a:bodyPr>
          <a:lstStyle/>
          <a:p>
            <a:r>
              <a:rPr lang="en-US" sz="2200" b="1" dirty="0" smtClean="0">
                <a:solidFill>
                  <a:srgbClr val="0B8319"/>
                </a:solidFill>
                <a:latin typeface="Times New Roman" pitchFamily="18" charset="0"/>
                <a:cs typeface="Times New Roman" pitchFamily="18" charset="0"/>
              </a:rPr>
              <a:t>2.2 AIR POLLUTION</a:t>
            </a:r>
          </a:p>
          <a:p>
            <a:endParaRPr lang="en-US" sz="2200" b="1" dirty="0">
              <a:latin typeface="Times New Roman" pitchFamily="18" charset="0"/>
              <a:cs typeface="Times New Roman" pitchFamily="18" charset="0"/>
            </a:endParaRPr>
          </a:p>
          <a:p>
            <a:r>
              <a:rPr lang="en-US" sz="2200" b="1" dirty="0" smtClean="0">
                <a:solidFill>
                  <a:srgbClr val="663300"/>
                </a:solidFill>
                <a:latin typeface="Times New Roman" pitchFamily="18" charset="0"/>
                <a:cs typeface="Times New Roman" pitchFamily="18" charset="0"/>
              </a:rPr>
              <a:t>Definition</a:t>
            </a:r>
          </a:p>
          <a:p>
            <a:endParaRPr lang="en-US" sz="2200" b="1" dirty="0">
              <a:latin typeface="Times New Roman" pitchFamily="18" charset="0"/>
              <a:cs typeface="Times New Roman" pitchFamily="18" charset="0"/>
            </a:endParaRPr>
          </a:p>
          <a:p>
            <a:r>
              <a:rPr lang="en-US" sz="2200" dirty="0">
                <a:solidFill>
                  <a:srgbClr val="FF0066"/>
                </a:solidFill>
                <a:latin typeface="Times New Roman" pitchFamily="18" charset="0"/>
                <a:cs typeface="Times New Roman" pitchFamily="18" charset="0"/>
              </a:rPr>
              <a:t>Air pollution may be defined as, </a:t>
            </a:r>
            <a:r>
              <a:rPr lang="en-US" sz="2200" dirty="0">
                <a:solidFill>
                  <a:srgbClr val="FF9900"/>
                </a:solidFill>
                <a:latin typeface="Times New Roman" pitchFamily="18" charset="0"/>
                <a:cs typeface="Times New Roman" pitchFamily="18" charset="0"/>
              </a:rPr>
              <a:t>“</a:t>
            </a:r>
            <a:r>
              <a:rPr lang="en-US" sz="2200" b="1" i="1" dirty="0">
                <a:solidFill>
                  <a:srgbClr val="FF9900"/>
                </a:solidFill>
                <a:latin typeface="Times New Roman" pitchFamily="18" charset="0"/>
                <a:cs typeface="Times New Roman" pitchFamily="18" charset="0"/>
              </a:rPr>
              <a:t>the presence </a:t>
            </a:r>
            <a:r>
              <a:rPr lang="en-US" sz="2200" b="1" i="1" dirty="0" smtClean="0">
                <a:solidFill>
                  <a:srgbClr val="FF9900"/>
                </a:solidFill>
                <a:latin typeface="Times New Roman" pitchFamily="18" charset="0"/>
                <a:cs typeface="Times New Roman" pitchFamily="18" charset="0"/>
              </a:rPr>
              <a:t>of one </a:t>
            </a:r>
            <a:r>
              <a:rPr lang="en-US" sz="2200" b="1" i="1" dirty="0">
                <a:solidFill>
                  <a:srgbClr val="FF9900"/>
                </a:solidFill>
                <a:latin typeface="Times New Roman" pitchFamily="18" charset="0"/>
                <a:cs typeface="Times New Roman" pitchFamily="18" charset="0"/>
              </a:rPr>
              <a:t>(or) </a:t>
            </a:r>
            <a:r>
              <a:rPr lang="en-US" sz="2200" b="1" i="1" dirty="0" smtClean="0">
                <a:solidFill>
                  <a:srgbClr val="FF9900"/>
                </a:solidFill>
                <a:latin typeface="Times New Roman" pitchFamily="18" charset="0"/>
                <a:cs typeface="Times New Roman" pitchFamily="18" charset="0"/>
              </a:rPr>
              <a:t>more contaminants </a:t>
            </a:r>
            <a:r>
              <a:rPr lang="en-US" sz="2200" b="1" i="1" dirty="0">
                <a:solidFill>
                  <a:srgbClr val="FF9900"/>
                </a:solidFill>
                <a:latin typeface="Times New Roman" pitchFamily="18" charset="0"/>
                <a:cs typeface="Times New Roman" pitchFamily="18" charset="0"/>
              </a:rPr>
              <a:t>like dust, smoke, mist </a:t>
            </a:r>
            <a:r>
              <a:rPr lang="en-US" sz="2200" b="1" i="1" dirty="0" smtClean="0">
                <a:solidFill>
                  <a:srgbClr val="FF9900"/>
                </a:solidFill>
                <a:latin typeface="Times New Roman" pitchFamily="18" charset="0"/>
                <a:cs typeface="Times New Roman" pitchFamily="18" charset="0"/>
              </a:rPr>
              <a:t>and </a:t>
            </a:r>
            <a:r>
              <a:rPr lang="en-US" sz="2200" b="1" i="1" dirty="0" err="1" smtClean="0">
                <a:solidFill>
                  <a:srgbClr val="FF9900"/>
                </a:solidFill>
                <a:latin typeface="Times New Roman" pitchFamily="18" charset="0"/>
                <a:cs typeface="Times New Roman" pitchFamily="18" charset="0"/>
              </a:rPr>
              <a:t>odour</a:t>
            </a:r>
            <a:r>
              <a:rPr lang="en-US" sz="2200" b="1" i="1" dirty="0" smtClean="0">
                <a:solidFill>
                  <a:srgbClr val="FF9900"/>
                </a:solidFill>
                <a:latin typeface="Times New Roman" pitchFamily="18" charset="0"/>
                <a:cs typeface="Times New Roman" pitchFamily="18" charset="0"/>
              </a:rPr>
              <a:t> </a:t>
            </a:r>
            <a:r>
              <a:rPr lang="en-US" sz="2200" b="1" i="1" dirty="0">
                <a:solidFill>
                  <a:srgbClr val="FF9900"/>
                </a:solidFill>
                <a:latin typeface="Times New Roman" pitchFamily="18" charset="0"/>
                <a:cs typeface="Times New Roman" pitchFamily="18" charset="0"/>
              </a:rPr>
              <a:t>in the atmosphere which are injurious to </a:t>
            </a:r>
            <a:r>
              <a:rPr lang="en-US" sz="2200" b="1" i="1" dirty="0" smtClean="0">
                <a:solidFill>
                  <a:srgbClr val="FF9900"/>
                </a:solidFill>
                <a:latin typeface="Times New Roman" pitchFamily="18" charset="0"/>
                <a:cs typeface="Times New Roman" pitchFamily="18" charset="0"/>
              </a:rPr>
              <a:t>human beings</a:t>
            </a:r>
            <a:r>
              <a:rPr lang="en-US" sz="2200" b="1" i="1" dirty="0">
                <a:solidFill>
                  <a:srgbClr val="FF9900"/>
                </a:solidFill>
                <a:latin typeface="Times New Roman" pitchFamily="18" charset="0"/>
                <a:cs typeface="Times New Roman" pitchFamily="18" charset="0"/>
              </a:rPr>
              <a:t>, plants and animals</a:t>
            </a:r>
            <a:r>
              <a:rPr lang="en-US" sz="2200" b="1" i="1" dirty="0" smtClean="0">
                <a:solidFill>
                  <a:srgbClr val="FF9900"/>
                </a:solidFill>
                <a:latin typeface="Times New Roman" pitchFamily="18" charset="0"/>
                <a:cs typeface="Times New Roman" pitchFamily="18" charset="0"/>
              </a:rPr>
              <a:t>.”</a:t>
            </a:r>
          </a:p>
          <a:p>
            <a:endParaRPr lang="en-US" sz="2200" b="1" i="1" dirty="0">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The </a:t>
            </a:r>
            <a:r>
              <a:rPr lang="en-US" sz="2200" dirty="0">
                <a:solidFill>
                  <a:srgbClr val="FF0066"/>
                </a:solidFill>
                <a:latin typeface="Times New Roman" pitchFamily="18" charset="0"/>
                <a:cs typeface="Times New Roman" pitchFamily="18" charset="0"/>
              </a:rPr>
              <a:t>rapid industrialization, fast urbanization, </a:t>
            </a:r>
            <a:r>
              <a:rPr lang="en-US" sz="2200" dirty="0" smtClean="0">
                <a:solidFill>
                  <a:srgbClr val="FF0066"/>
                </a:solidFill>
                <a:latin typeface="Times New Roman" pitchFamily="18" charset="0"/>
                <a:cs typeface="Times New Roman" pitchFamily="18" charset="0"/>
              </a:rPr>
              <a:t>rapid growth </a:t>
            </a:r>
            <a:r>
              <a:rPr lang="en-US" sz="2200" dirty="0">
                <a:solidFill>
                  <a:srgbClr val="FF0066"/>
                </a:solidFill>
                <a:latin typeface="Times New Roman" pitchFamily="18" charset="0"/>
                <a:cs typeface="Times New Roman" pitchFamily="18" charset="0"/>
              </a:rPr>
              <a:t>in population, drastic increase in vehicles on </a:t>
            </a:r>
            <a:r>
              <a:rPr lang="en-US" sz="2200" dirty="0" smtClean="0">
                <a:solidFill>
                  <a:srgbClr val="FF0066"/>
                </a:solidFill>
                <a:latin typeface="Times New Roman" pitchFamily="18" charset="0"/>
                <a:cs typeface="Times New Roman" pitchFamily="18" charset="0"/>
              </a:rPr>
              <a:t>the roads </a:t>
            </a:r>
            <a:r>
              <a:rPr lang="en-US" sz="2200" dirty="0">
                <a:solidFill>
                  <a:srgbClr val="FF0066"/>
                </a:solidFill>
                <a:latin typeface="Times New Roman" pitchFamily="18" charset="0"/>
                <a:cs typeface="Times New Roman" pitchFamily="18" charset="0"/>
              </a:rPr>
              <a:t>and other activities of human beings have </a:t>
            </a:r>
            <a:r>
              <a:rPr lang="en-US" sz="2200" dirty="0" smtClean="0">
                <a:solidFill>
                  <a:srgbClr val="FF0066"/>
                </a:solidFill>
                <a:latin typeface="Times New Roman" pitchFamily="18" charset="0"/>
                <a:cs typeface="Times New Roman" pitchFamily="18" charset="0"/>
              </a:rPr>
              <a:t>disturbed the </a:t>
            </a:r>
            <a:r>
              <a:rPr lang="en-US" sz="2200" dirty="0">
                <a:solidFill>
                  <a:srgbClr val="FF0066"/>
                </a:solidFill>
                <a:latin typeface="Times New Roman" pitchFamily="18" charset="0"/>
                <a:cs typeface="Times New Roman" pitchFamily="18" charset="0"/>
              </a:rPr>
              <a:t>balance of natural atmosphere</a:t>
            </a:r>
            <a:r>
              <a:rPr lang="en-US" sz="2200" dirty="0" smtClean="0">
                <a:solidFill>
                  <a:srgbClr val="FF0066"/>
                </a:solidFill>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a:p>
            <a:r>
              <a:rPr lang="en-US" sz="2200" b="1" dirty="0">
                <a:solidFill>
                  <a:srgbClr val="663300"/>
                </a:solidFill>
                <a:latin typeface="Times New Roman" pitchFamily="18" charset="0"/>
                <a:cs typeface="Times New Roman" pitchFamily="18" charset="0"/>
              </a:rPr>
              <a:t>Composition of Atmospheric Air</a:t>
            </a:r>
          </a:p>
          <a:p>
            <a:pPr>
              <a:buFont typeface="Wingdings" pitchFamily="2" charset="2"/>
              <a:buChar char="q"/>
            </a:pPr>
            <a:r>
              <a:rPr lang="en-US" sz="2200" dirty="0" smtClean="0">
                <a:solidFill>
                  <a:srgbClr val="FF0066"/>
                </a:solidFill>
                <a:latin typeface="Times New Roman" pitchFamily="18" charset="0"/>
                <a:cs typeface="Times New Roman" pitchFamily="18" charset="0"/>
              </a:rPr>
              <a:t>  During </a:t>
            </a:r>
            <a:r>
              <a:rPr lang="en-US" sz="2200" dirty="0">
                <a:solidFill>
                  <a:srgbClr val="FF0066"/>
                </a:solidFill>
                <a:latin typeface="Times New Roman" pitchFamily="18" charset="0"/>
                <a:cs typeface="Times New Roman" pitchFamily="18" charset="0"/>
              </a:rPr>
              <a:t>several billion years of chemical </a:t>
            </a:r>
            <a:r>
              <a:rPr lang="en-US" sz="2200" dirty="0" smtClean="0">
                <a:solidFill>
                  <a:srgbClr val="FF0066"/>
                </a:solidFill>
                <a:latin typeface="Times New Roman" pitchFamily="18" charset="0"/>
                <a:cs typeface="Times New Roman" pitchFamily="18" charset="0"/>
              </a:rPr>
              <a:t>and biological </a:t>
            </a:r>
            <a:r>
              <a:rPr lang="en-US" sz="2200" dirty="0">
                <a:solidFill>
                  <a:srgbClr val="FF0066"/>
                </a:solidFill>
                <a:latin typeface="Times New Roman" pitchFamily="18" charset="0"/>
                <a:cs typeface="Times New Roman" pitchFamily="18" charset="0"/>
              </a:rPr>
              <a:t>evolution, the composition of the </a:t>
            </a:r>
            <a:r>
              <a:rPr lang="en-US" sz="2200" dirty="0" smtClean="0">
                <a:solidFill>
                  <a:srgbClr val="FF0066"/>
                </a:solidFill>
                <a:latin typeface="Times New Roman" pitchFamily="18" charset="0"/>
                <a:cs typeface="Times New Roman" pitchFamily="18" charset="0"/>
              </a:rPr>
              <a:t>earth’s atmosphere </a:t>
            </a:r>
            <a:r>
              <a:rPr lang="en-US" sz="2200" dirty="0">
                <a:solidFill>
                  <a:srgbClr val="FF0066"/>
                </a:solidFill>
                <a:latin typeface="Times New Roman" pitchFamily="18" charset="0"/>
                <a:cs typeface="Times New Roman" pitchFamily="18" charset="0"/>
              </a:rPr>
              <a:t>has varied. </a:t>
            </a: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Today</a:t>
            </a:r>
            <a:r>
              <a:rPr lang="en-US" sz="2200" dirty="0">
                <a:solidFill>
                  <a:srgbClr val="FF0066"/>
                </a:solidFill>
                <a:latin typeface="Times New Roman" pitchFamily="18" charset="0"/>
                <a:cs typeface="Times New Roman" pitchFamily="18" charset="0"/>
              </a:rPr>
              <a:t>, about 99% of the </a:t>
            </a:r>
            <a:r>
              <a:rPr lang="en-US" sz="2200" dirty="0" smtClean="0">
                <a:solidFill>
                  <a:srgbClr val="FF0066"/>
                </a:solidFill>
                <a:latin typeface="Times New Roman" pitchFamily="18" charset="0"/>
                <a:cs typeface="Times New Roman" pitchFamily="18" charset="0"/>
              </a:rPr>
              <a:t>volume of </a:t>
            </a:r>
            <a:r>
              <a:rPr lang="en-US" sz="2200" dirty="0">
                <a:solidFill>
                  <a:srgbClr val="FF0066"/>
                </a:solidFill>
                <a:latin typeface="Times New Roman" pitchFamily="18" charset="0"/>
                <a:cs typeface="Times New Roman" pitchFamily="18" charset="0"/>
              </a:rPr>
              <a:t>air we inhale consists of two gases: Nitrogen </a:t>
            </a:r>
            <a:r>
              <a:rPr lang="en-US" sz="2200" dirty="0" smtClean="0">
                <a:solidFill>
                  <a:srgbClr val="FF0066"/>
                </a:solidFill>
                <a:latin typeface="Times New Roman" pitchFamily="18" charset="0"/>
                <a:cs typeface="Times New Roman" pitchFamily="18" charset="0"/>
              </a:rPr>
              <a:t>and Oxygen</a:t>
            </a:r>
            <a:r>
              <a:rPr lang="en-US" sz="2200" dirty="0">
                <a:solidFill>
                  <a:srgbClr val="FF0066"/>
                </a:solidFill>
                <a:latin typeface="Times New Roman" pitchFamily="18" charset="0"/>
                <a:cs typeface="Times New Roman" pitchFamily="18" charset="0"/>
              </a:rPr>
              <a:t>.</a:t>
            </a:r>
          </a:p>
        </p:txBody>
      </p:sp>
    </p:spTree>
  </p:cSld>
  <p:clrMapOvr>
    <a:masterClrMapping/>
  </p:clrMapOvr>
  <p:transition spd="slow">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19200" y="1066800"/>
            <a:ext cx="4700839" cy="400110"/>
          </a:xfrm>
          <a:prstGeom prst="rect">
            <a:avLst/>
          </a:prstGeom>
        </p:spPr>
        <p:txBody>
          <a:bodyPr wrap="none">
            <a:spAutoFit/>
          </a:bodyPr>
          <a:lstStyle/>
          <a:p>
            <a:r>
              <a:rPr lang="en-US" sz="2000" b="1" dirty="0">
                <a:solidFill>
                  <a:srgbClr val="0000CC"/>
                </a:solidFill>
                <a:latin typeface="Times New Roman" pitchFamily="18" charset="0"/>
                <a:cs typeface="Times New Roman" pitchFamily="18" charset="0"/>
              </a:rPr>
              <a:t>Table 2.1 Composition of atmospheric air</a:t>
            </a:r>
            <a:endParaRPr lang="en-US" sz="2000" dirty="0">
              <a:solidFill>
                <a:srgbClr val="0000CC"/>
              </a:solidFill>
              <a:latin typeface="Times New Roman" pitchFamily="18" charset="0"/>
              <a:cs typeface="Times New Roman" pitchFamily="18" charset="0"/>
            </a:endParaRPr>
          </a:p>
        </p:txBody>
      </p:sp>
      <p:graphicFrame>
        <p:nvGraphicFramePr>
          <p:cNvPr id="3" name="Table 2"/>
          <p:cNvGraphicFramePr>
            <a:graphicFrameLocks noGrp="1"/>
          </p:cNvGraphicFramePr>
          <p:nvPr/>
        </p:nvGraphicFramePr>
        <p:xfrm>
          <a:off x="838200" y="1828797"/>
          <a:ext cx="7010400" cy="4343402"/>
        </p:xfrm>
        <a:graphic>
          <a:graphicData uri="http://schemas.openxmlformats.org/drawingml/2006/table">
            <a:tbl>
              <a:tblPr firstRow="1" bandRow="1">
                <a:tableStyleId>{1FECB4D8-DB02-4DC6-A0A2-4F2EBAE1DC90}</a:tableStyleId>
              </a:tblPr>
              <a:tblGrid>
                <a:gridCol w="3505200"/>
                <a:gridCol w="3505200"/>
              </a:tblGrid>
              <a:tr h="620486">
                <a:tc>
                  <a:txBody>
                    <a:bodyPr/>
                    <a:lstStyle/>
                    <a:p>
                      <a:r>
                        <a:rPr kumimoji="0" lang="en-US" sz="2200" kern="1200" baseline="0" dirty="0" smtClean="0">
                          <a:solidFill>
                            <a:srgbClr val="F40AE3"/>
                          </a:solidFill>
                          <a:latin typeface="Times New Roman" pitchFamily="18" charset="0"/>
                          <a:cs typeface="Times New Roman" pitchFamily="18" charset="0"/>
                        </a:rPr>
                        <a:t>Constituents</a:t>
                      </a:r>
                      <a:endParaRPr lang="en-US" sz="2200" dirty="0">
                        <a:solidFill>
                          <a:srgbClr val="F40AE3"/>
                        </a:solidFill>
                        <a:latin typeface="Times New Roman" pitchFamily="18" charset="0"/>
                        <a:cs typeface="Times New Roman" pitchFamily="18" charset="0"/>
                      </a:endParaRPr>
                    </a:p>
                  </a:txBody>
                  <a:tcPr/>
                </a:tc>
                <a:tc>
                  <a:txBody>
                    <a:bodyPr/>
                    <a:lstStyle/>
                    <a:p>
                      <a:r>
                        <a:rPr lang="en-US" sz="2200" dirty="0" smtClean="0">
                          <a:solidFill>
                            <a:srgbClr val="F40AE3"/>
                          </a:solidFill>
                          <a:latin typeface="Times New Roman" pitchFamily="18" charset="0"/>
                          <a:cs typeface="Times New Roman" pitchFamily="18" charset="0"/>
                        </a:rPr>
                        <a:t>%</a:t>
                      </a:r>
                      <a:endParaRPr lang="en-US" sz="2200" dirty="0">
                        <a:solidFill>
                          <a:srgbClr val="F40AE3"/>
                        </a:solidFill>
                        <a:latin typeface="Times New Roman" pitchFamily="18" charset="0"/>
                        <a:cs typeface="Times New Roman" pitchFamily="18" charset="0"/>
                      </a:endParaRPr>
                    </a:p>
                  </a:txBody>
                  <a:tcPr/>
                </a:tc>
              </a:tr>
              <a:tr h="620486">
                <a:tc>
                  <a:txBody>
                    <a:bodyPr/>
                    <a:lstStyle/>
                    <a:p>
                      <a:r>
                        <a:rPr kumimoji="0" lang="en-US" sz="2200" kern="1200" baseline="0" dirty="0" smtClean="0">
                          <a:solidFill>
                            <a:srgbClr val="F40AE3"/>
                          </a:solidFill>
                          <a:latin typeface="Times New Roman" pitchFamily="18" charset="0"/>
                          <a:cs typeface="Times New Roman" pitchFamily="18" charset="0"/>
                        </a:rPr>
                        <a:t>Nitrogen</a:t>
                      </a:r>
                      <a:endParaRPr lang="en-US" sz="2200" dirty="0">
                        <a:solidFill>
                          <a:srgbClr val="F40AE3"/>
                        </a:solidFill>
                        <a:latin typeface="Times New Roman" pitchFamily="18" charset="0"/>
                        <a:cs typeface="Times New Roman" pitchFamily="18" charset="0"/>
                      </a:endParaRPr>
                    </a:p>
                  </a:txBody>
                  <a:tcPr/>
                </a:tc>
                <a:tc>
                  <a:txBody>
                    <a:bodyPr/>
                    <a:lstStyle/>
                    <a:p>
                      <a:r>
                        <a:rPr lang="en-US" sz="2200" dirty="0" smtClean="0">
                          <a:solidFill>
                            <a:srgbClr val="F40AE3"/>
                          </a:solidFill>
                          <a:latin typeface="Times New Roman" pitchFamily="18" charset="0"/>
                          <a:cs typeface="Times New Roman" pitchFamily="18" charset="0"/>
                        </a:rPr>
                        <a:t>78</a:t>
                      </a:r>
                      <a:endParaRPr lang="en-US" sz="2200" dirty="0">
                        <a:solidFill>
                          <a:srgbClr val="F40AE3"/>
                        </a:solidFill>
                        <a:latin typeface="Times New Roman" pitchFamily="18" charset="0"/>
                        <a:cs typeface="Times New Roman" pitchFamily="18" charset="0"/>
                      </a:endParaRPr>
                    </a:p>
                  </a:txBody>
                  <a:tcPr/>
                </a:tc>
              </a:tr>
              <a:tr h="620486">
                <a:tc>
                  <a:txBody>
                    <a:bodyPr/>
                    <a:lstStyle/>
                    <a:p>
                      <a:r>
                        <a:rPr kumimoji="0" lang="en-US" sz="2200" kern="1200" baseline="0" dirty="0" smtClean="0">
                          <a:solidFill>
                            <a:srgbClr val="F40AE3"/>
                          </a:solidFill>
                          <a:latin typeface="Times New Roman" pitchFamily="18" charset="0"/>
                          <a:cs typeface="Times New Roman" pitchFamily="18" charset="0"/>
                        </a:rPr>
                        <a:t>Oxygen</a:t>
                      </a:r>
                      <a:endParaRPr lang="en-US" sz="2200" dirty="0">
                        <a:solidFill>
                          <a:srgbClr val="F40AE3"/>
                        </a:solidFill>
                        <a:latin typeface="Times New Roman" pitchFamily="18" charset="0"/>
                        <a:cs typeface="Times New Roman" pitchFamily="18" charset="0"/>
                      </a:endParaRPr>
                    </a:p>
                  </a:txBody>
                  <a:tcPr/>
                </a:tc>
                <a:tc>
                  <a:txBody>
                    <a:bodyPr/>
                    <a:lstStyle/>
                    <a:p>
                      <a:r>
                        <a:rPr lang="en-US" sz="2200" dirty="0" smtClean="0">
                          <a:solidFill>
                            <a:srgbClr val="F40AE3"/>
                          </a:solidFill>
                          <a:latin typeface="Times New Roman" pitchFamily="18" charset="0"/>
                          <a:cs typeface="Times New Roman" pitchFamily="18" charset="0"/>
                        </a:rPr>
                        <a:t>21</a:t>
                      </a:r>
                      <a:endParaRPr lang="en-US" sz="2200" dirty="0">
                        <a:solidFill>
                          <a:srgbClr val="F40AE3"/>
                        </a:solidFill>
                        <a:latin typeface="Times New Roman" pitchFamily="18" charset="0"/>
                        <a:cs typeface="Times New Roman" pitchFamily="18" charset="0"/>
                      </a:endParaRPr>
                    </a:p>
                  </a:txBody>
                  <a:tcPr/>
                </a:tc>
              </a:tr>
              <a:tr h="620486">
                <a:tc>
                  <a:txBody>
                    <a:bodyPr/>
                    <a:lstStyle/>
                    <a:p>
                      <a:r>
                        <a:rPr kumimoji="0" lang="en-US" sz="2200" kern="1200" baseline="0" dirty="0" smtClean="0">
                          <a:solidFill>
                            <a:srgbClr val="F40AE3"/>
                          </a:solidFill>
                          <a:latin typeface="Times New Roman" pitchFamily="18" charset="0"/>
                          <a:cs typeface="Times New Roman" pitchFamily="18" charset="0"/>
                        </a:rPr>
                        <a:t>Argon (</a:t>
                      </a:r>
                      <a:r>
                        <a:rPr kumimoji="0" lang="en-US" sz="2200" kern="1200" baseline="0" dirty="0" err="1" smtClean="0">
                          <a:solidFill>
                            <a:srgbClr val="F40AE3"/>
                          </a:solidFill>
                          <a:latin typeface="Times New Roman" pitchFamily="18" charset="0"/>
                          <a:cs typeface="Times New Roman" pitchFamily="18" charset="0"/>
                        </a:rPr>
                        <a:t>Ar</a:t>
                      </a:r>
                      <a:r>
                        <a:rPr kumimoji="0" lang="en-US" sz="2200" kern="1200" baseline="0" dirty="0" smtClean="0">
                          <a:solidFill>
                            <a:srgbClr val="F40AE3"/>
                          </a:solidFill>
                          <a:latin typeface="Times New Roman" pitchFamily="18" charset="0"/>
                          <a:cs typeface="Times New Roman" pitchFamily="18" charset="0"/>
                        </a:rPr>
                        <a:t>)</a:t>
                      </a:r>
                      <a:endParaRPr lang="en-US" sz="2200" dirty="0">
                        <a:solidFill>
                          <a:srgbClr val="F40AE3"/>
                        </a:solidFill>
                        <a:latin typeface="Times New Roman" pitchFamily="18" charset="0"/>
                        <a:cs typeface="Times New Roman" pitchFamily="18" charset="0"/>
                      </a:endParaRPr>
                    </a:p>
                  </a:txBody>
                  <a:tcPr/>
                </a:tc>
                <a:tc>
                  <a:txBody>
                    <a:bodyPr/>
                    <a:lstStyle/>
                    <a:p>
                      <a:r>
                        <a:rPr lang="en-US" sz="2200" dirty="0" smtClean="0">
                          <a:solidFill>
                            <a:srgbClr val="F40AE3"/>
                          </a:solidFill>
                          <a:latin typeface="Times New Roman" pitchFamily="18" charset="0"/>
                          <a:cs typeface="Times New Roman" pitchFamily="18" charset="0"/>
                        </a:rPr>
                        <a:t>&lt;</a:t>
                      </a:r>
                      <a:r>
                        <a:rPr lang="en-US" sz="2200" baseline="0" dirty="0" smtClean="0">
                          <a:solidFill>
                            <a:srgbClr val="F40AE3"/>
                          </a:solidFill>
                          <a:latin typeface="Times New Roman" pitchFamily="18" charset="0"/>
                          <a:cs typeface="Times New Roman" pitchFamily="18" charset="0"/>
                        </a:rPr>
                        <a:t> 1</a:t>
                      </a:r>
                      <a:endParaRPr lang="en-US" sz="2200" dirty="0">
                        <a:solidFill>
                          <a:srgbClr val="F40AE3"/>
                        </a:solidFill>
                        <a:latin typeface="Times New Roman" pitchFamily="18" charset="0"/>
                        <a:cs typeface="Times New Roman" pitchFamily="18" charset="0"/>
                      </a:endParaRPr>
                    </a:p>
                  </a:txBody>
                  <a:tcPr/>
                </a:tc>
              </a:tr>
              <a:tr h="620486">
                <a:tc>
                  <a:txBody>
                    <a:bodyPr/>
                    <a:lstStyle/>
                    <a:p>
                      <a:r>
                        <a:rPr kumimoji="0" lang="en-US" sz="2200" kern="1200" baseline="0" dirty="0" smtClean="0">
                          <a:solidFill>
                            <a:srgbClr val="F40AE3"/>
                          </a:solidFill>
                          <a:latin typeface="Times New Roman" pitchFamily="18" charset="0"/>
                          <a:cs typeface="Times New Roman" pitchFamily="18" charset="0"/>
                        </a:rPr>
                        <a:t> CO</a:t>
                      </a:r>
                      <a:endParaRPr lang="en-US" sz="2200" dirty="0">
                        <a:solidFill>
                          <a:srgbClr val="F40AE3"/>
                        </a:solidFill>
                        <a:latin typeface="Times New Roman" pitchFamily="18" charset="0"/>
                        <a:cs typeface="Times New Roman" pitchFamily="18" charset="0"/>
                      </a:endParaRPr>
                    </a:p>
                  </a:txBody>
                  <a:tcPr/>
                </a:tc>
                <a:tc>
                  <a:txBody>
                    <a:bodyPr/>
                    <a:lstStyle/>
                    <a:p>
                      <a:r>
                        <a:rPr kumimoji="0" lang="en-US" sz="2200" kern="1200" baseline="0" dirty="0" smtClean="0">
                          <a:solidFill>
                            <a:srgbClr val="F40AE3"/>
                          </a:solidFill>
                          <a:latin typeface="Times New Roman" pitchFamily="18" charset="0"/>
                          <a:cs typeface="Times New Roman" pitchFamily="18" charset="0"/>
                        </a:rPr>
                        <a:t>0.037</a:t>
                      </a:r>
                      <a:endParaRPr lang="en-US" sz="2200" dirty="0">
                        <a:solidFill>
                          <a:srgbClr val="F40AE3"/>
                        </a:solidFill>
                        <a:latin typeface="Times New Roman" pitchFamily="18" charset="0"/>
                        <a:cs typeface="Times New Roman" pitchFamily="18" charset="0"/>
                      </a:endParaRPr>
                    </a:p>
                  </a:txBody>
                  <a:tcPr/>
                </a:tc>
              </a:tr>
              <a:tr h="620486">
                <a:tc>
                  <a:txBody>
                    <a:bodyPr/>
                    <a:lstStyle/>
                    <a:p>
                      <a:r>
                        <a:rPr kumimoji="0" lang="en-US" sz="2200" kern="1200" baseline="0" dirty="0" smtClean="0">
                          <a:solidFill>
                            <a:srgbClr val="F40AE3"/>
                          </a:solidFill>
                          <a:latin typeface="Times New Roman" pitchFamily="18" charset="0"/>
                          <a:cs typeface="Times New Roman" pitchFamily="18" charset="0"/>
                        </a:rPr>
                        <a:t>Water </a:t>
                      </a:r>
                      <a:r>
                        <a:rPr kumimoji="0" lang="en-US" sz="2200" kern="1200" baseline="0" dirty="0" err="1" smtClean="0">
                          <a:solidFill>
                            <a:srgbClr val="F40AE3"/>
                          </a:solidFill>
                          <a:latin typeface="Times New Roman" pitchFamily="18" charset="0"/>
                          <a:cs typeface="Times New Roman" pitchFamily="18" charset="0"/>
                        </a:rPr>
                        <a:t>vapour</a:t>
                      </a:r>
                      <a:endParaRPr lang="en-US" sz="2200" dirty="0">
                        <a:solidFill>
                          <a:srgbClr val="F40AE3"/>
                        </a:solidFill>
                        <a:latin typeface="Times New Roman" pitchFamily="18" charset="0"/>
                        <a:cs typeface="Times New Roman" pitchFamily="18" charset="0"/>
                      </a:endParaRPr>
                    </a:p>
                  </a:txBody>
                  <a:tcPr/>
                </a:tc>
                <a:tc>
                  <a:txBody>
                    <a:bodyPr/>
                    <a:lstStyle/>
                    <a:p>
                      <a:r>
                        <a:rPr kumimoji="0" lang="en-US" sz="2200" kern="1200" baseline="0" dirty="0" smtClean="0">
                          <a:solidFill>
                            <a:srgbClr val="F40AE3"/>
                          </a:solidFill>
                          <a:latin typeface="Times New Roman" pitchFamily="18" charset="0"/>
                          <a:cs typeface="Times New Roman" pitchFamily="18" charset="0"/>
                        </a:rPr>
                        <a:t>Remaining</a:t>
                      </a:r>
                      <a:endParaRPr lang="en-US" sz="2200" dirty="0">
                        <a:solidFill>
                          <a:srgbClr val="F40AE3"/>
                        </a:solidFill>
                        <a:latin typeface="Times New Roman" pitchFamily="18" charset="0"/>
                        <a:cs typeface="Times New Roman" pitchFamily="18" charset="0"/>
                      </a:endParaRPr>
                    </a:p>
                  </a:txBody>
                  <a:tcPr/>
                </a:tc>
              </a:tr>
              <a:tr h="620486">
                <a:tc>
                  <a:txBody>
                    <a:bodyPr/>
                    <a:lstStyle/>
                    <a:p>
                      <a:r>
                        <a:rPr kumimoji="0" lang="en-US" sz="2200" kern="1200" baseline="0" dirty="0" smtClean="0">
                          <a:solidFill>
                            <a:srgbClr val="F40AE3"/>
                          </a:solidFill>
                          <a:latin typeface="Times New Roman" pitchFamily="18" charset="0"/>
                          <a:cs typeface="Times New Roman" pitchFamily="18" charset="0"/>
                        </a:rPr>
                        <a:t>O   , He, NH</a:t>
                      </a:r>
                      <a:endParaRPr lang="en-US" sz="2200" dirty="0">
                        <a:solidFill>
                          <a:srgbClr val="F40AE3"/>
                        </a:solidFill>
                        <a:latin typeface="Times New Roman" pitchFamily="18" charset="0"/>
                        <a:cs typeface="Times New Roman" pitchFamily="18" charset="0"/>
                      </a:endParaRPr>
                    </a:p>
                  </a:txBody>
                  <a:tcPr/>
                </a:tc>
                <a:tc>
                  <a:txBody>
                    <a:bodyPr/>
                    <a:lstStyle/>
                    <a:p>
                      <a:r>
                        <a:rPr kumimoji="0" lang="en-US" sz="2200" kern="1200" baseline="0" dirty="0" smtClean="0">
                          <a:solidFill>
                            <a:srgbClr val="F40AE3"/>
                          </a:solidFill>
                          <a:latin typeface="Times New Roman" pitchFamily="18" charset="0"/>
                          <a:cs typeface="Times New Roman" pitchFamily="18" charset="0"/>
                        </a:rPr>
                        <a:t>Trace amount</a:t>
                      </a:r>
                      <a:endParaRPr lang="en-US" sz="2200" dirty="0">
                        <a:solidFill>
                          <a:srgbClr val="F40AE3"/>
                        </a:solidFill>
                        <a:latin typeface="Times New Roman" pitchFamily="18" charset="0"/>
                        <a:cs typeface="Times New Roman" pitchFamily="18" charset="0"/>
                      </a:endParaRPr>
                    </a:p>
                  </a:txBody>
                  <a:tcPr/>
                </a:tc>
              </a:tr>
            </a:tbl>
          </a:graphicData>
        </a:graphic>
      </p:graphicFrame>
      <p:sp>
        <p:nvSpPr>
          <p:cNvPr id="4" name="Rectangle 3"/>
          <p:cNvSpPr/>
          <p:nvPr/>
        </p:nvSpPr>
        <p:spPr>
          <a:xfrm>
            <a:off x="1371600" y="4572000"/>
            <a:ext cx="152400" cy="76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40AE3"/>
                </a:solidFill>
              </a:rPr>
              <a:t>2</a:t>
            </a:r>
            <a:endParaRPr lang="en-US" sz="2000" dirty="0">
              <a:solidFill>
                <a:srgbClr val="F40AE3"/>
              </a:solidFill>
            </a:endParaRPr>
          </a:p>
        </p:txBody>
      </p:sp>
      <p:sp>
        <p:nvSpPr>
          <p:cNvPr id="5" name="Rectangle 4"/>
          <p:cNvSpPr/>
          <p:nvPr/>
        </p:nvSpPr>
        <p:spPr>
          <a:xfrm>
            <a:off x="1143000" y="5791200"/>
            <a:ext cx="152400" cy="76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40AE3"/>
                </a:solidFill>
              </a:rPr>
              <a:t>2</a:t>
            </a:r>
            <a:endParaRPr lang="en-US" sz="2000" dirty="0">
              <a:solidFill>
                <a:srgbClr val="F40AE3"/>
              </a:solidFill>
            </a:endParaRPr>
          </a:p>
        </p:txBody>
      </p:sp>
      <p:sp>
        <p:nvSpPr>
          <p:cNvPr id="6" name="Rectangle 5"/>
          <p:cNvSpPr/>
          <p:nvPr/>
        </p:nvSpPr>
        <p:spPr>
          <a:xfrm>
            <a:off x="2286000" y="5867400"/>
            <a:ext cx="152400" cy="76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40AE3"/>
                </a:solidFill>
              </a:rPr>
              <a:t>2</a:t>
            </a:r>
            <a:endParaRPr lang="en-US" sz="2000" dirty="0">
              <a:solidFill>
                <a:srgbClr val="F40AE3"/>
              </a:solidFill>
            </a:endParaRPr>
          </a:p>
        </p:txBody>
      </p:sp>
    </p:spTree>
  </p:cSld>
  <p:clrMapOvr>
    <a:masterClrMapping/>
  </p:clrMapOvr>
  <p:transition spd="slow">
    <p:push/>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143000"/>
            <a:ext cx="8077200" cy="4832092"/>
          </a:xfrm>
          <a:prstGeom prst="rect">
            <a:avLst/>
          </a:prstGeom>
        </p:spPr>
        <p:txBody>
          <a:bodyPr wrap="square">
            <a:spAutoFit/>
          </a:bodyPr>
          <a:lstStyle/>
          <a:p>
            <a:r>
              <a:rPr lang="en-US" sz="2200" b="1" i="1" dirty="0">
                <a:solidFill>
                  <a:srgbClr val="0000CC"/>
                </a:solidFill>
                <a:latin typeface="Times New Roman" pitchFamily="18" charset="0"/>
                <a:cs typeface="Times New Roman" pitchFamily="18" charset="0"/>
              </a:rPr>
              <a:t>2.2.1 Sources of Air Pollution</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 </a:t>
            </a:r>
            <a:r>
              <a:rPr lang="en-US" sz="2200" dirty="0">
                <a:solidFill>
                  <a:srgbClr val="FF0066"/>
                </a:solidFill>
                <a:latin typeface="Times New Roman" pitchFamily="18" charset="0"/>
                <a:cs typeface="Times New Roman" pitchFamily="18" charset="0"/>
              </a:rPr>
              <a:t>sources of air pollution are of two </a:t>
            </a:r>
            <a:r>
              <a:rPr lang="en-US" sz="2200" dirty="0" smtClean="0">
                <a:solidFill>
                  <a:srgbClr val="FF0066"/>
                </a:solidFill>
                <a:latin typeface="Times New Roman" pitchFamily="18" charset="0"/>
                <a:cs typeface="Times New Roman" pitchFamily="18" charset="0"/>
              </a:rPr>
              <a:t>types</a:t>
            </a:r>
          </a:p>
          <a:p>
            <a:endParaRPr lang="en-US" sz="2200" dirty="0">
              <a:latin typeface="Times New Roman" pitchFamily="18" charset="0"/>
              <a:cs typeface="Times New Roman" pitchFamily="18" charset="0"/>
            </a:endParaRPr>
          </a:p>
          <a:p>
            <a:r>
              <a:rPr lang="en-US" sz="2200" b="1" dirty="0">
                <a:solidFill>
                  <a:srgbClr val="FF9900"/>
                </a:solidFill>
                <a:latin typeface="Times New Roman" pitchFamily="18" charset="0"/>
                <a:cs typeface="Times New Roman" pitchFamily="18" charset="0"/>
              </a:rPr>
              <a:t>1. Natural sources</a:t>
            </a:r>
          </a:p>
          <a:p>
            <a:r>
              <a:rPr lang="en-US" sz="2200" b="1" i="1" dirty="0">
                <a:latin typeface="Times New Roman" pitchFamily="18" charset="0"/>
                <a:cs typeface="Times New Roman" pitchFamily="18" charset="0"/>
              </a:rPr>
              <a:t>Examples: </a:t>
            </a:r>
            <a:endParaRPr lang="en-US" sz="2200" b="1" i="1" dirty="0" smtClean="0">
              <a:latin typeface="Times New Roman" pitchFamily="18" charset="0"/>
              <a:cs typeface="Times New Roman" pitchFamily="18" charset="0"/>
            </a:endParaRPr>
          </a:p>
          <a:p>
            <a:r>
              <a:rPr lang="en-US" sz="2200" i="1" dirty="0" smtClean="0">
                <a:solidFill>
                  <a:srgbClr val="00B0F0"/>
                </a:solidFill>
                <a:latin typeface="Times New Roman" pitchFamily="18" charset="0"/>
                <a:cs typeface="Times New Roman" pitchFamily="18" charset="0"/>
              </a:rPr>
              <a:t>Volcanic </a:t>
            </a:r>
            <a:r>
              <a:rPr lang="en-US" sz="2200" i="1" dirty="0">
                <a:solidFill>
                  <a:srgbClr val="00B0F0"/>
                </a:solidFill>
                <a:latin typeface="Times New Roman" pitchFamily="18" charset="0"/>
                <a:cs typeface="Times New Roman" pitchFamily="18" charset="0"/>
              </a:rPr>
              <a:t>eruptions, forest fires, </a:t>
            </a:r>
            <a:r>
              <a:rPr lang="en-US" sz="2200" i="1" dirty="0" smtClean="0">
                <a:solidFill>
                  <a:srgbClr val="00B0F0"/>
                </a:solidFill>
                <a:latin typeface="Times New Roman" pitchFamily="18" charset="0"/>
                <a:cs typeface="Times New Roman" pitchFamily="18" charset="0"/>
              </a:rPr>
              <a:t>biological</a:t>
            </a:r>
            <a:r>
              <a:rPr lang="en-US" sz="2200" b="1" i="1" dirty="0" smtClean="0">
                <a:solidFill>
                  <a:srgbClr val="00B0F0"/>
                </a:solidFill>
                <a:latin typeface="Times New Roman" pitchFamily="18" charset="0"/>
                <a:cs typeface="Times New Roman" pitchFamily="18" charset="0"/>
              </a:rPr>
              <a:t> </a:t>
            </a:r>
            <a:r>
              <a:rPr lang="en-US" sz="2200" i="1" dirty="0" smtClean="0">
                <a:solidFill>
                  <a:srgbClr val="00B0F0"/>
                </a:solidFill>
                <a:latin typeface="Times New Roman" pitchFamily="18" charset="0"/>
                <a:cs typeface="Times New Roman" pitchFamily="18" charset="0"/>
              </a:rPr>
              <a:t>decay</a:t>
            </a:r>
            <a:r>
              <a:rPr lang="en-US" sz="2200" i="1" dirty="0">
                <a:solidFill>
                  <a:srgbClr val="00B0F0"/>
                </a:solidFill>
                <a:latin typeface="Times New Roman" pitchFamily="18" charset="0"/>
                <a:cs typeface="Times New Roman" pitchFamily="18" charset="0"/>
              </a:rPr>
              <a:t>, pollen grains, marshes, </a:t>
            </a:r>
            <a:r>
              <a:rPr lang="en-US" sz="2200" i="1" dirty="0" smtClean="0">
                <a:solidFill>
                  <a:srgbClr val="00B0F0"/>
                </a:solidFill>
                <a:latin typeface="Times New Roman" pitchFamily="18" charset="0"/>
                <a:cs typeface="Times New Roman" pitchFamily="18" charset="0"/>
              </a:rPr>
              <a:t>radioactive materials </a:t>
            </a:r>
            <a:r>
              <a:rPr lang="en-US" sz="2200" i="1" dirty="0">
                <a:solidFill>
                  <a:srgbClr val="00B0F0"/>
                </a:solidFill>
                <a:latin typeface="Times New Roman" pitchFamily="18" charset="0"/>
                <a:cs typeface="Times New Roman" pitchFamily="18" charset="0"/>
              </a:rPr>
              <a:t>etc</a:t>
            </a:r>
            <a:r>
              <a:rPr lang="en-US" sz="2200" i="1" dirty="0" smtClean="0">
                <a:solidFill>
                  <a:srgbClr val="00B0F0"/>
                </a:solidFill>
                <a:latin typeface="Times New Roman" pitchFamily="18" charset="0"/>
                <a:cs typeface="Times New Roman" pitchFamily="18" charset="0"/>
              </a:rPr>
              <a:t>.</a:t>
            </a:r>
          </a:p>
          <a:p>
            <a:endParaRPr lang="en-US" sz="2200" i="1" dirty="0">
              <a:latin typeface="Times New Roman" pitchFamily="18" charset="0"/>
              <a:cs typeface="Times New Roman" pitchFamily="18" charset="0"/>
            </a:endParaRPr>
          </a:p>
          <a:p>
            <a:pPr>
              <a:buFont typeface="Wingdings" pitchFamily="2" charset="2"/>
              <a:buChar char="Ø"/>
            </a:pPr>
            <a:r>
              <a:rPr lang="en-US" sz="2200" dirty="0" smtClean="0">
                <a:solidFill>
                  <a:srgbClr val="FF0066"/>
                </a:solidFill>
                <a:latin typeface="Times New Roman" pitchFamily="18" charset="0"/>
                <a:cs typeface="Times New Roman" pitchFamily="18" charset="0"/>
              </a:rPr>
              <a:t>  These </a:t>
            </a:r>
            <a:r>
              <a:rPr lang="en-US" sz="2200" dirty="0">
                <a:solidFill>
                  <a:srgbClr val="FF0066"/>
                </a:solidFill>
                <a:latin typeface="Times New Roman" pitchFamily="18" charset="0"/>
                <a:cs typeface="Times New Roman" pitchFamily="18" charset="0"/>
              </a:rPr>
              <a:t>pollutants are caused by the natural sources</a:t>
            </a:r>
            <a:r>
              <a:rPr lang="en-US" sz="2200" dirty="0" smtClean="0">
                <a:solidFill>
                  <a:srgbClr val="FF0066"/>
                </a:solidFill>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a:p>
            <a:r>
              <a:rPr lang="en-US" sz="2200" b="1" dirty="0">
                <a:solidFill>
                  <a:srgbClr val="FF9900"/>
                </a:solidFill>
                <a:latin typeface="Times New Roman" pitchFamily="18" charset="0"/>
                <a:cs typeface="Times New Roman" pitchFamily="18" charset="0"/>
              </a:rPr>
              <a:t>2. Man-made (anthropogenic) activities</a:t>
            </a:r>
          </a:p>
          <a:p>
            <a:r>
              <a:rPr lang="en-US" sz="2200" b="1" i="1" dirty="0">
                <a:latin typeface="Times New Roman" pitchFamily="18" charset="0"/>
                <a:cs typeface="Times New Roman" pitchFamily="18" charset="0"/>
              </a:rPr>
              <a:t>Examples: </a:t>
            </a:r>
            <a:endParaRPr lang="en-US" sz="2200" b="1" i="1" dirty="0" smtClean="0">
              <a:latin typeface="Times New Roman" pitchFamily="18" charset="0"/>
              <a:cs typeface="Times New Roman" pitchFamily="18" charset="0"/>
            </a:endParaRPr>
          </a:p>
          <a:p>
            <a:r>
              <a:rPr lang="en-US" sz="2200" i="1" dirty="0" smtClean="0">
                <a:solidFill>
                  <a:srgbClr val="00B0F0"/>
                </a:solidFill>
                <a:latin typeface="Times New Roman" pitchFamily="18" charset="0"/>
                <a:cs typeface="Times New Roman" pitchFamily="18" charset="0"/>
              </a:rPr>
              <a:t>Thermal </a:t>
            </a:r>
            <a:r>
              <a:rPr lang="en-US" sz="2200" i="1" dirty="0">
                <a:solidFill>
                  <a:srgbClr val="00B0F0"/>
                </a:solidFill>
                <a:latin typeface="Times New Roman" pitchFamily="18" charset="0"/>
                <a:cs typeface="Times New Roman" pitchFamily="18" charset="0"/>
              </a:rPr>
              <a:t>power plants, vehicular </a:t>
            </a:r>
            <a:r>
              <a:rPr lang="en-US" sz="2200" i="1" dirty="0" smtClean="0">
                <a:solidFill>
                  <a:srgbClr val="00B0F0"/>
                </a:solidFill>
                <a:latin typeface="Times New Roman" pitchFamily="18" charset="0"/>
                <a:cs typeface="Times New Roman" pitchFamily="18" charset="0"/>
              </a:rPr>
              <a:t>emissions,</a:t>
            </a:r>
            <a:r>
              <a:rPr lang="en-US" sz="2200" b="1" i="1" dirty="0" smtClean="0">
                <a:solidFill>
                  <a:srgbClr val="00B0F0"/>
                </a:solidFill>
                <a:latin typeface="Times New Roman" pitchFamily="18" charset="0"/>
                <a:cs typeface="Times New Roman" pitchFamily="18" charset="0"/>
              </a:rPr>
              <a:t> </a:t>
            </a:r>
            <a:r>
              <a:rPr lang="en-US" sz="2200" i="1" dirty="0" smtClean="0">
                <a:solidFill>
                  <a:srgbClr val="00B0F0"/>
                </a:solidFill>
                <a:latin typeface="Times New Roman" pitchFamily="18" charset="0"/>
                <a:cs typeface="Times New Roman" pitchFamily="18" charset="0"/>
              </a:rPr>
              <a:t>fossil </a:t>
            </a:r>
            <a:r>
              <a:rPr lang="en-US" sz="2200" i="1" dirty="0">
                <a:solidFill>
                  <a:srgbClr val="00B0F0"/>
                </a:solidFill>
                <a:latin typeface="Times New Roman" pitchFamily="18" charset="0"/>
                <a:cs typeface="Times New Roman" pitchFamily="18" charset="0"/>
              </a:rPr>
              <a:t>fuel burning, agricultural activities etc.,</a:t>
            </a:r>
            <a:endParaRPr lang="en-US" sz="2200" dirty="0">
              <a:solidFill>
                <a:srgbClr val="00B0F0"/>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143000"/>
            <a:ext cx="8001000" cy="5170646"/>
          </a:xfrm>
          <a:prstGeom prst="rect">
            <a:avLst/>
          </a:prstGeom>
        </p:spPr>
        <p:txBody>
          <a:bodyPr wrap="square">
            <a:spAutoFit/>
          </a:bodyPr>
          <a:lstStyle/>
          <a:p>
            <a:r>
              <a:rPr lang="en-US" sz="2200" b="1" i="1" dirty="0">
                <a:solidFill>
                  <a:srgbClr val="0000CC"/>
                </a:solidFill>
                <a:latin typeface="Times New Roman" pitchFamily="18" charset="0"/>
                <a:cs typeface="Times New Roman" pitchFamily="18" charset="0"/>
              </a:rPr>
              <a:t>2.2.2 Classification of Air Pollutants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Depending </a:t>
            </a:r>
            <a:r>
              <a:rPr lang="en-US" sz="2200" dirty="0">
                <a:solidFill>
                  <a:srgbClr val="FF0066"/>
                </a:solidFill>
                <a:latin typeface="Times New Roman" pitchFamily="18" charset="0"/>
                <a:cs typeface="Times New Roman" pitchFamily="18" charset="0"/>
              </a:rPr>
              <a:t>upon the form (origin) of </a:t>
            </a:r>
            <a:r>
              <a:rPr lang="en-US" sz="2200" dirty="0" smtClean="0">
                <a:solidFill>
                  <a:srgbClr val="FF0066"/>
                </a:solidFill>
                <a:latin typeface="Times New Roman" pitchFamily="18" charset="0"/>
                <a:cs typeface="Times New Roman" pitchFamily="18" charset="0"/>
              </a:rPr>
              <a:t>pollutants present </a:t>
            </a:r>
            <a:r>
              <a:rPr lang="en-US" sz="2200" dirty="0">
                <a:solidFill>
                  <a:srgbClr val="FF0066"/>
                </a:solidFill>
                <a:latin typeface="Times New Roman" pitchFamily="18" charset="0"/>
                <a:cs typeface="Times New Roman" pitchFamily="18" charset="0"/>
              </a:rPr>
              <a:t>in the environment, they are classified as</a:t>
            </a:r>
          </a:p>
          <a:p>
            <a:pPr lvl="5">
              <a:buFont typeface="Wingdings" pitchFamily="2" charset="2"/>
              <a:buChar char="ü"/>
            </a:pPr>
            <a:r>
              <a:rPr lang="en-US" sz="2200" dirty="0" smtClean="0">
                <a:solidFill>
                  <a:srgbClr val="00B0F0"/>
                </a:solidFill>
                <a:latin typeface="Times New Roman" pitchFamily="18" charset="0"/>
                <a:cs typeface="Times New Roman" pitchFamily="18" charset="0"/>
              </a:rPr>
              <a:t>  Primary </a:t>
            </a:r>
            <a:r>
              <a:rPr lang="en-US" sz="2200" dirty="0">
                <a:solidFill>
                  <a:srgbClr val="00B0F0"/>
                </a:solidFill>
                <a:latin typeface="Times New Roman" pitchFamily="18" charset="0"/>
                <a:cs typeface="Times New Roman" pitchFamily="18" charset="0"/>
              </a:rPr>
              <a:t>air pollutants.</a:t>
            </a:r>
          </a:p>
          <a:p>
            <a:pPr lvl="5">
              <a:buFont typeface="Wingdings" pitchFamily="2" charset="2"/>
              <a:buChar char="ü"/>
            </a:pPr>
            <a:r>
              <a:rPr lang="en-US" sz="2200" dirty="0" smtClean="0">
                <a:solidFill>
                  <a:srgbClr val="00B0F0"/>
                </a:solidFill>
                <a:latin typeface="Times New Roman" pitchFamily="18" charset="0"/>
                <a:cs typeface="Times New Roman" pitchFamily="18" charset="0"/>
              </a:rPr>
              <a:t>  Secondary </a:t>
            </a:r>
            <a:r>
              <a:rPr lang="en-US" sz="2200" dirty="0">
                <a:solidFill>
                  <a:srgbClr val="00B0F0"/>
                </a:solidFill>
                <a:latin typeface="Times New Roman" pitchFamily="18" charset="0"/>
                <a:cs typeface="Times New Roman" pitchFamily="18" charset="0"/>
              </a:rPr>
              <a:t>air pollutants</a:t>
            </a:r>
            <a:r>
              <a:rPr lang="en-US" sz="2200" dirty="0" smtClean="0">
                <a:solidFill>
                  <a:srgbClr val="00B0F0"/>
                </a:solidFill>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a:p>
            <a:r>
              <a:rPr lang="en-US" sz="2200" b="1" dirty="0">
                <a:solidFill>
                  <a:srgbClr val="FF9900"/>
                </a:solidFill>
                <a:latin typeface="Times New Roman" pitchFamily="18" charset="0"/>
                <a:cs typeface="Times New Roman" pitchFamily="18" charset="0"/>
              </a:rPr>
              <a:t>1. Primary air pollutants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Primary </a:t>
            </a:r>
            <a:r>
              <a:rPr lang="en-US" sz="2200" dirty="0">
                <a:solidFill>
                  <a:srgbClr val="FF0066"/>
                </a:solidFill>
                <a:latin typeface="Times New Roman" pitchFamily="18" charset="0"/>
                <a:cs typeface="Times New Roman" pitchFamily="18" charset="0"/>
              </a:rPr>
              <a:t>air pollutants are those emitted directly </a:t>
            </a:r>
            <a:r>
              <a:rPr lang="en-US" sz="2200" dirty="0" smtClean="0">
                <a:solidFill>
                  <a:srgbClr val="FF0066"/>
                </a:solidFill>
                <a:latin typeface="Times New Roman" pitchFamily="18" charset="0"/>
                <a:cs typeface="Times New Roman" pitchFamily="18" charset="0"/>
              </a:rPr>
              <a:t>in the </a:t>
            </a:r>
            <a:r>
              <a:rPr lang="en-US" sz="2200" dirty="0">
                <a:solidFill>
                  <a:srgbClr val="FF0066"/>
                </a:solidFill>
                <a:latin typeface="Times New Roman" pitchFamily="18" charset="0"/>
                <a:cs typeface="Times New Roman" pitchFamily="18" charset="0"/>
              </a:rPr>
              <a:t>atmosphere in harmful form</a:t>
            </a:r>
            <a:r>
              <a:rPr lang="en-US" sz="2200" dirty="0" smtClean="0">
                <a:solidFill>
                  <a:srgbClr val="FF0066"/>
                </a:solidFill>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Example </a:t>
            </a:r>
            <a:r>
              <a:rPr lang="en-US" sz="2200" b="1" i="1" dirty="0">
                <a:solidFill>
                  <a:srgbClr val="00B0F0"/>
                </a:solidFill>
                <a:latin typeface="Times New Roman" pitchFamily="18" charset="0"/>
                <a:cs typeface="Times New Roman" pitchFamily="18" charset="0"/>
              </a:rPr>
              <a:t>CO, NO</a:t>
            </a:r>
            <a:r>
              <a:rPr lang="en-US" sz="2200" b="1" i="1" dirty="0" smtClean="0">
                <a:solidFill>
                  <a:srgbClr val="00B0F0"/>
                </a:solidFill>
                <a:latin typeface="Times New Roman" pitchFamily="18" charset="0"/>
                <a:cs typeface="Times New Roman" pitchFamily="18" charset="0"/>
              </a:rPr>
              <a:t>,  SO    , </a:t>
            </a:r>
            <a:r>
              <a:rPr lang="en-US" sz="2200" b="1" i="1" dirty="0">
                <a:solidFill>
                  <a:srgbClr val="00B0F0"/>
                </a:solidFill>
                <a:latin typeface="Times New Roman" pitchFamily="18" charset="0"/>
                <a:cs typeface="Times New Roman" pitchFamily="18" charset="0"/>
              </a:rPr>
              <a:t>etc</a:t>
            </a:r>
            <a:r>
              <a:rPr lang="en-US" sz="2200" b="1" i="1" dirty="0" smtClean="0">
                <a:solidFill>
                  <a:srgbClr val="00B0F0"/>
                </a:solidFill>
                <a:latin typeface="Times New Roman" pitchFamily="18" charset="0"/>
                <a:cs typeface="Times New Roman" pitchFamily="18" charset="0"/>
              </a:rPr>
              <a:t>.,</a:t>
            </a:r>
          </a:p>
          <a:p>
            <a:endParaRPr lang="en-US" sz="2200" b="1" i="1" dirty="0">
              <a:latin typeface="Times New Roman" pitchFamily="18" charset="0"/>
              <a:cs typeface="Times New Roman" pitchFamily="18" charset="0"/>
            </a:endParaRPr>
          </a:p>
          <a:p>
            <a:r>
              <a:rPr lang="en-US" sz="2200" b="1" i="1" dirty="0">
                <a:solidFill>
                  <a:srgbClr val="663300"/>
                </a:solidFill>
                <a:latin typeface="Times New Roman" pitchFamily="18" charset="0"/>
                <a:cs typeface="Times New Roman" pitchFamily="18" charset="0"/>
              </a:rPr>
              <a:t>Indoor Air Pollutants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Indoor </a:t>
            </a:r>
            <a:r>
              <a:rPr lang="en-US" sz="2200" dirty="0">
                <a:solidFill>
                  <a:srgbClr val="FF0066"/>
                </a:solidFill>
                <a:latin typeface="Times New Roman" pitchFamily="18" charset="0"/>
                <a:cs typeface="Times New Roman" pitchFamily="18" charset="0"/>
              </a:rPr>
              <a:t>air pollutants are primary air pollutants. </a:t>
            </a: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The most </a:t>
            </a:r>
            <a:r>
              <a:rPr lang="en-US" sz="2200" dirty="0">
                <a:solidFill>
                  <a:srgbClr val="FF0066"/>
                </a:solidFill>
                <a:latin typeface="Times New Roman" pitchFamily="18" charset="0"/>
                <a:cs typeface="Times New Roman" pitchFamily="18" charset="0"/>
              </a:rPr>
              <a:t>important indoor air pollutant is radon gas.</a:t>
            </a:r>
          </a:p>
        </p:txBody>
      </p:sp>
      <p:sp>
        <p:nvSpPr>
          <p:cNvPr id="3" name="Rectangle 2"/>
          <p:cNvSpPr/>
          <p:nvPr/>
        </p:nvSpPr>
        <p:spPr>
          <a:xfrm>
            <a:off x="3048000" y="4800600"/>
            <a:ext cx="1524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B0F0"/>
                </a:solidFill>
              </a:rPr>
              <a:t>2</a:t>
            </a:r>
            <a:endParaRPr lang="en-US" sz="2000" dirty="0">
              <a:solidFill>
                <a:srgbClr val="00B0F0"/>
              </a:solidFill>
            </a:endParaRPr>
          </a:p>
        </p:txBody>
      </p:sp>
    </p:spTree>
  </p:cSld>
  <p:clrMapOvr>
    <a:masterClrMapping/>
  </p:clrMapOvr>
  <p:transition spd="slow">
    <p:pu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066800"/>
            <a:ext cx="8229600" cy="5170646"/>
          </a:xfrm>
          <a:prstGeom prst="rect">
            <a:avLst/>
          </a:prstGeom>
        </p:spPr>
        <p:txBody>
          <a:bodyPr wrap="square">
            <a:spAutoFit/>
          </a:bodyPr>
          <a:lstStyle/>
          <a:p>
            <a:r>
              <a:rPr lang="en-US" sz="2200" b="1" i="1" dirty="0">
                <a:solidFill>
                  <a:srgbClr val="663300"/>
                </a:solidFill>
                <a:latin typeface="Times New Roman" pitchFamily="18" charset="0"/>
                <a:cs typeface="Times New Roman" pitchFamily="18" charset="0"/>
              </a:rPr>
              <a:t>Sources (causes) of indoor air pollutants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Radon </a:t>
            </a:r>
            <a:r>
              <a:rPr lang="en-US" sz="2200" dirty="0">
                <a:solidFill>
                  <a:srgbClr val="FF0066"/>
                </a:solidFill>
                <a:latin typeface="Times New Roman" pitchFamily="18" charset="0"/>
                <a:cs typeface="Times New Roman" pitchFamily="18" charset="0"/>
              </a:rPr>
              <a:t>gas is emitted from the building materials </a:t>
            </a:r>
            <a:r>
              <a:rPr lang="en-US" sz="2200" dirty="0" smtClean="0">
                <a:solidFill>
                  <a:srgbClr val="FF0066"/>
                </a:solidFill>
                <a:latin typeface="Times New Roman" pitchFamily="18" charset="0"/>
                <a:cs typeface="Times New Roman" pitchFamily="18" charset="0"/>
              </a:rPr>
              <a:t>like bricks</a:t>
            </a:r>
            <a:r>
              <a:rPr lang="en-US" sz="2200" dirty="0">
                <a:solidFill>
                  <a:srgbClr val="FF0066"/>
                </a:solidFill>
                <a:latin typeface="Times New Roman" pitchFamily="18" charset="0"/>
                <a:cs typeface="Times New Roman" pitchFamily="18" charset="0"/>
              </a:rPr>
              <a:t>, concrete, tiles, etc., which are derived </a:t>
            </a:r>
            <a:r>
              <a:rPr lang="en-US" sz="2200" dirty="0" smtClean="0">
                <a:solidFill>
                  <a:srgbClr val="FF0066"/>
                </a:solidFill>
                <a:latin typeface="Times New Roman" pitchFamily="18" charset="0"/>
                <a:cs typeface="Times New Roman" pitchFamily="18" charset="0"/>
              </a:rPr>
              <a:t>from soil </a:t>
            </a:r>
            <a:r>
              <a:rPr lang="en-US" sz="2200" dirty="0">
                <a:solidFill>
                  <a:srgbClr val="FF0066"/>
                </a:solidFill>
                <a:latin typeface="Times New Roman" pitchFamily="18" charset="0"/>
                <a:cs typeface="Times New Roman" pitchFamily="18" charset="0"/>
              </a:rPr>
              <a:t>containing radium</a:t>
            </a:r>
            <a:r>
              <a:rPr lang="en-US" sz="2200" dirty="0" smtClean="0">
                <a:solidFill>
                  <a:srgbClr val="FF0066"/>
                </a:solidFill>
                <a:latin typeface="Times New Roman" pitchFamily="18" charset="0"/>
                <a:cs typeface="Times New Roman" pitchFamily="18" charset="0"/>
              </a:rPr>
              <a:t>.</a:t>
            </a:r>
          </a:p>
          <a:p>
            <a:pPr>
              <a:buFont typeface="Wingdings" pitchFamily="2" charset="2"/>
              <a:buChar char="q"/>
            </a:pPr>
            <a:endParaRPr lang="en-US" sz="2200" dirty="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It </a:t>
            </a:r>
            <a:r>
              <a:rPr lang="en-US" sz="2200" dirty="0">
                <a:solidFill>
                  <a:srgbClr val="FF0066"/>
                </a:solidFill>
                <a:latin typeface="Times New Roman" pitchFamily="18" charset="0"/>
                <a:cs typeface="Times New Roman" pitchFamily="18" charset="0"/>
              </a:rPr>
              <a:t>is also present in natural gas and ground </a:t>
            </a:r>
            <a:r>
              <a:rPr lang="en-US" sz="2200" dirty="0" smtClean="0">
                <a:solidFill>
                  <a:srgbClr val="FF0066"/>
                </a:solidFill>
                <a:latin typeface="Times New Roman" pitchFamily="18" charset="0"/>
                <a:cs typeface="Times New Roman" pitchFamily="18" charset="0"/>
              </a:rPr>
              <a:t>water and </a:t>
            </a:r>
            <a:r>
              <a:rPr lang="en-US" sz="2200" dirty="0">
                <a:solidFill>
                  <a:srgbClr val="FF0066"/>
                </a:solidFill>
                <a:latin typeface="Times New Roman" pitchFamily="18" charset="0"/>
                <a:cs typeface="Times New Roman" pitchFamily="18" charset="0"/>
              </a:rPr>
              <a:t>is emitted indoors while using them</a:t>
            </a:r>
            <a:r>
              <a:rPr lang="en-US" sz="2200" dirty="0" smtClean="0">
                <a:solidFill>
                  <a:srgbClr val="FF0066"/>
                </a:solidFill>
                <a:latin typeface="Times New Roman" pitchFamily="18" charset="0"/>
                <a:cs typeface="Times New Roman" pitchFamily="18" charset="0"/>
              </a:rPr>
              <a:t>.</a:t>
            </a:r>
          </a:p>
          <a:p>
            <a:pPr>
              <a:buFont typeface="Wingdings" pitchFamily="2" charset="2"/>
              <a:buChar char="q"/>
            </a:pPr>
            <a:endParaRPr lang="en-US" sz="2200" dirty="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Burning </a:t>
            </a:r>
            <a:r>
              <a:rPr lang="en-US" sz="2200" dirty="0">
                <a:solidFill>
                  <a:srgbClr val="FF0066"/>
                </a:solidFill>
                <a:latin typeface="Times New Roman" pitchFamily="18" charset="0"/>
                <a:cs typeface="Times New Roman" pitchFamily="18" charset="0"/>
              </a:rPr>
              <a:t>of fuels in the kitchen, cigarette </a:t>
            </a:r>
            <a:r>
              <a:rPr lang="en-US" sz="2200" dirty="0" smtClean="0">
                <a:solidFill>
                  <a:srgbClr val="FF0066"/>
                </a:solidFill>
                <a:latin typeface="Times New Roman" pitchFamily="18" charset="0"/>
                <a:cs typeface="Times New Roman" pitchFamily="18" charset="0"/>
              </a:rPr>
              <a:t>smoke, liberates </a:t>
            </a:r>
            <a:r>
              <a:rPr lang="en-US" sz="2200" dirty="0">
                <a:solidFill>
                  <a:srgbClr val="FF0066"/>
                </a:solidFill>
                <a:latin typeface="Times New Roman" pitchFamily="18" charset="0"/>
                <a:cs typeface="Times New Roman" pitchFamily="18" charset="0"/>
              </a:rPr>
              <a:t>the pollutants like CO</a:t>
            </a:r>
            <a:r>
              <a:rPr lang="en-US" sz="2200" dirty="0" smtClean="0">
                <a:solidFill>
                  <a:srgbClr val="FF0066"/>
                </a:solidFill>
                <a:latin typeface="Times New Roman" pitchFamily="18" charset="0"/>
                <a:cs typeface="Times New Roman" pitchFamily="18" charset="0"/>
              </a:rPr>
              <a:t>, SO    , formaldehyde, BAP </a:t>
            </a:r>
            <a:r>
              <a:rPr lang="en-US" sz="2200" dirty="0">
                <a:solidFill>
                  <a:srgbClr val="FF0066"/>
                </a:solidFill>
                <a:latin typeface="Times New Roman" pitchFamily="18" charset="0"/>
                <a:cs typeface="Times New Roman" pitchFamily="18" charset="0"/>
              </a:rPr>
              <a:t>(</a:t>
            </a:r>
            <a:r>
              <a:rPr lang="en-US" sz="2200" dirty="0" err="1">
                <a:solidFill>
                  <a:srgbClr val="FF0066"/>
                </a:solidFill>
                <a:latin typeface="Times New Roman" pitchFamily="18" charset="0"/>
                <a:cs typeface="Times New Roman" pitchFamily="18" charset="0"/>
              </a:rPr>
              <a:t>benzo</a:t>
            </a:r>
            <a:r>
              <a:rPr lang="en-US" sz="2200" dirty="0">
                <a:solidFill>
                  <a:srgbClr val="FF0066"/>
                </a:solidFill>
                <a:latin typeface="Times New Roman" pitchFamily="18" charset="0"/>
                <a:cs typeface="Times New Roman" pitchFamily="18" charset="0"/>
              </a:rPr>
              <a:t>-(a) </a:t>
            </a:r>
            <a:r>
              <a:rPr lang="en-US" sz="2200" dirty="0" err="1">
                <a:solidFill>
                  <a:srgbClr val="FF0066"/>
                </a:solidFill>
                <a:latin typeface="Times New Roman" pitchFamily="18" charset="0"/>
                <a:cs typeface="Times New Roman" pitchFamily="18" charset="0"/>
              </a:rPr>
              <a:t>pyrene</a:t>
            </a:r>
            <a:r>
              <a:rPr lang="en-US" sz="2200" dirty="0" smtClean="0">
                <a:solidFill>
                  <a:srgbClr val="FF0066"/>
                </a:solidFill>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a:p>
            <a:r>
              <a:rPr lang="en-US" sz="2200" b="1" dirty="0">
                <a:solidFill>
                  <a:srgbClr val="FF9900"/>
                </a:solidFill>
                <a:latin typeface="Times New Roman" pitchFamily="18" charset="0"/>
                <a:cs typeface="Times New Roman" pitchFamily="18" charset="0"/>
              </a:rPr>
              <a:t>2. Secondary air pollutants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Some </a:t>
            </a:r>
            <a:r>
              <a:rPr lang="en-US" sz="2200" dirty="0">
                <a:solidFill>
                  <a:srgbClr val="FF0066"/>
                </a:solidFill>
                <a:latin typeface="Times New Roman" pitchFamily="18" charset="0"/>
                <a:cs typeface="Times New Roman" pitchFamily="18" charset="0"/>
              </a:rPr>
              <a:t>of the primary air pollutants may react </a:t>
            </a:r>
            <a:r>
              <a:rPr lang="en-US" sz="2200" dirty="0" smtClean="0">
                <a:solidFill>
                  <a:srgbClr val="FF0066"/>
                </a:solidFill>
                <a:latin typeface="Times New Roman" pitchFamily="18" charset="0"/>
                <a:cs typeface="Times New Roman" pitchFamily="18" charset="0"/>
              </a:rPr>
              <a:t>with one </a:t>
            </a:r>
            <a:r>
              <a:rPr lang="en-US" sz="2200" dirty="0">
                <a:solidFill>
                  <a:srgbClr val="FF0066"/>
                </a:solidFill>
                <a:latin typeface="Times New Roman" pitchFamily="18" charset="0"/>
                <a:cs typeface="Times New Roman" pitchFamily="18" charset="0"/>
              </a:rPr>
              <a:t>another (or) with the basic components of air to </a:t>
            </a:r>
            <a:r>
              <a:rPr lang="en-US" sz="2200" dirty="0" smtClean="0">
                <a:solidFill>
                  <a:srgbClr val="FF0066"/>
                </a:solidFill>
                <a:latin typeface="Times New Roman" pitchFamily="18" charset="0"/>
                <a:cs typeface="Times New Roman" pitchFamily="18" charset="0"/>
              </a:rPr>
              <a:t>form new </a:t>
            </a:r>
            <a:r>
              <a:rPr lang="en-US" sz="2200" dirty="0">
                <a:solidFill>
                  <a:srgbClr val="FF0066"/>
                </a:solidFill>
                <a:latin typeface="Times New Roman" pitchFamily="18" charset="0"/>
                <a:cs typeface="Times New Roman" pitchFamily="18" charset="0"/>
              </a:rPr>
              <a:t>pollutants. </a:t>
            </a: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They </a:t>
            </a:r>
            <a:r>
              <a:rPr lang="en-US" sz="2200" dirty="0">
                <a:solidFill>
                  <a:srgbClr val="FF0066"/>
                </a:solidFill>
                <a:latin typeface="Times New Roman" pitchFamily="18" charset="0"/>
                <a:cs typeface="Times New Roman" pitchFamily="18" charset="0"/>
              </a:rPr>
              <a:t>are called as secondary air pollutants.</a:t>
            </a:r>
          </a:p>
        </p:txBody>
      </p:sp>
      <p:sp>
        <p:nvSpPr>
          <p:cNvPr id="3" name="Rectangle 2"/>
          <p:cNvSpPr/>
          <p:nvPr/>
        </p:nvSpPr>
        <p:spPr>
          <a:xfrm>
            <a:off x="2895600" y="4038600"/>
            <a:ext cx="1524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rPr>
              <a:t>2</a:t>
            </a:r>
            <a:endParaRPr lang="en-US" sz="2000" dirty="0">
              <a:solidFill>
                <a:srgbClr val="FF0066"/>
              </a:solidFill>
            </a:endParaRPr>
          </a:p>
        </p:txBody>
      </p:sp>
    </p:spTree>
  </p:cSld>
  <p:clrMapOvr>
    <a:masterClrMapping/>
  </p:clrMapOvr>
  <p:transition spd="slow">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990600"/>
            <a:ext cx="8153400" cy="5509200"/>
          </a:xfrm>
          <a:prstGeom prst="rect">
            <a:avLst/>
          </a:prstGeom>
        </p:spPr>
        <p:txBody>
          <a:bodyPr wrap="square">
            <a:spAutoFit/>
          </a:bodyPr>
          <a:lstStyle/>
          <a:p>
            <a:r>
              <a:rPr lang="fr-FR" sz="2200" b="1" i="1" dirty="0">
                <a:solidFill>
                  <a:srgbClr val="0000CC"/>
                </a:solidFill>
                <a:latin typeface="Times New Roman" pitchFamily="18" charset="0"/>
                <a:cs typeface="Times New Roman" pitchFamily="18" charset="0"/>
              </a:rPr>
              <a:t>2.2.3 Common air </a:t>
            </a:r>
            <a:r>
              <a:rPr lang="fr-FR" sz="2200" b="1" i="1" dirty="0" err="1">
                <a:solidFill>
                  <a:srgbClr val="0000CC"/>
                </a:solidFill>
                <a:latin typeface="Times New Roman" pitchFamily="18" charset="0"/>
                <a:cs typeface="Times New Roman" pitchFamily="18" charset="0"/>
              </a:rPr>
              <a:t>pollutants</a:t>
            </a:r>
            <a:r>
              <a:rPr lang="fr-FR" sz="2200" b="1" i="1" dirty="0">
                <a:solidFill>
                  <a:srgbClr val="0000CC"/>
                </a:solidFill>
                <a:latin typeface="Times New Roman" pitchFamily="18" charset="0"/>
                <a:cs typeface="Times New Roman" pitchFamily="18" charset="0"/>
              </a:rPr>
              <a:t> </a:t>
            </a:r>
            <a:r>
              <a:rPr lang="fr-FR" sz="2200" b="1" i="1" dirty="0" smtClean="0">
                <a:solidFill>
                  <a:srgbClr val="0000CC"/>
                </a:solidFill>
                <a:latin typeface="Times New Roman" pitchFamily="18" charset="0"/>
                <a:cs typeface="Times New Roman" pitchFamily="18" charset="0"/>
              </a:rPr>
              <a:t>sources </a:t>
            </a:r>
            <a:r>
              <a:rPr lang="en-US" sz="2200" b="1" i="1" dirty="0" smtClean="0">
                <a:solidFill>
                  <a:srgbClr val="0000CC"/>
                </a:solidFill>
                <a:latin typeface="Times New Roman" pitchFamily="18" charset="0"/>
                <a:cs typeface="Times New Roman" pitchFamily="18" charset="0"/>
              </a:rPr>
              <a:t>(causes</a:t>
            </a:r>
            <a:r>
              <a:rPr lang="en-US" sz="2200" b="1" i="1" dirty="0">
                <a:solidFill>
                  <a:srgbClr val="0000CC"/>
                </a:solidFill>
                <a:latin typeface="Times New Roman" pitchFamily="18" charset="0"/>
                <a:cs typeface="Times New Roman" pitchFamily="18" charset="0"/>
              </a:rPr>
              <a:t>) and their effects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According </a:t>
            </a:r>
            <a:r>
              <a:rPr lang="en-US" sz="2200" dirty="0">
                <a:solidFill>
                  <a:srgbClr val="FF0066"/>
                </a:solidFill>
                <a:latin typeface="Times New Roman" pitchFamily="18" charset="0"/>
                <a:cs typeface="Times New Roman" pitchFamily="18" charset="0"/>
              </a:rPr>
              <a:t>to the World Health Organization (WHO</a:t>
            </a:r>
            <a:r>
              <a:rPr lang="en-US" sz="2200" dirty="0" smtClean="0">
                <a:solidFill>
                  <a:srgbClr val="FF0066"/>
                </a:solidFill>
                <a:latin typeface="Times New Roman" pitchFamily="18" charset="0"/>
                <a:cs typeface="Times New Roman" pitchFamily="18" charset="0"/>
              </a:rPr>
              <a:t>), more </a:t>
            </a:r>
            <a:r>
              <a:rPr lang="en-US" sz="2200" dirty="0">
                <a:solidFill>
                  <a:srgbClr val="FF0066"/>
                </a:solidFill>
                <a:latin typeface="Times New Roman" pitchFamily="18" charset="0"/>
                <a:cs typeface="Times New Roman" pitchFamily="18" charset="0"/>
              </a:rPr>
              <a:t>than 1.1 billion people live in urban areas </a:t>
            </a:r>
            <a:r>
              <a:rPr lang="en-US" sz="2200" dirty="0" smtClean="0">
                <a:solidFill>
                  <a:srgbClr val="FF0066"/>
                </a:solidFill>
                <a:latin typeface="Times New Roman" pitchFamily="18" charset="0"/>
                <a:cs typeface="Times New Roman" pitchFamily="18" charset="0"/>
              </a:rPr>
              <a:t>where outdoor </a:t>
            </a:r>
            <a:r>
              <a:rPr lang="en-US" sz="2200" dirty="0">
                <a:solidFill>
                  <a:srgbClr val="FF0066"/>
                </a:solidFill>
                <a:latin typeface="Times New Roman" pitchFamily="18" charset="0"/>
                <a:cs typeface="Times New Roman" pitchFamily="18" charset="0"/>
              </a:rPr>
              <a:t>air is unhealthy to breathe. </a:t>
            </a: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Some </a:t>
            </a:r>
            <a:r>
              <a:rPr lang="en-US" sz="2200" dirty="0">
                <a:solidFill>
                  <a:srgbClr val="FF0066"/>
                </a:solidFill>
                <a:latin typeface="Times New Roman" pitchFamily="18" charset="0"/>
                <a:cs typeface="Times New Roman" pitchFamily="18" charset="0"/>
              </a:rPr>
              <a:t>of the common </a:t>
            </a:r>
            <a:r>
              <a:rPr lang="en-US" sz="2200" dirty="0" smtClean="0">
                <a:solidFill>
                  <a:srgbClr val="FF0066"/>
                </a:solidFill>
                <a:latin typeface="Times New Roman" pitchFamily="18" charset="0"/>
                <a:cs typeface="Times New Roman" pitchFamily="18" charset="0"/>
              </a:rPr>
              <a:t>air pollutants </a:t>
            </a:r>
            <a:r>
              <a:rPr lang="en-US" sz="2200" dirty="0">
                <a:solidFill>
                  <a:srgbClr val="FF0066"/>
                </a:solidFill>
                <a:latin typeface="Times New Roman" pitchFamily="18" charset="0"/>
                <a:cs typeface="Times New Roman" pitchFamily="18" charset="0"/>
              </a:rPr>
              <a:t>are described below</a:t>
            </a:r>
            <a:r>
              <a:rPr lang="en-US" sz="2200" dirty="0" smtClean="0">
                <a:solidFill>
                  <a:srgbClr val="FF0066"/>
                </a:solidFill>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a:p>
            <a:r>
              <a:rPr lang="en-US" sz="2200" b="1" i="1" dirty="0">
                <a:solidFill>
                  <a:srgbClr val="663300"/>
                </a:solidFill>
                <a:latin typeface="Times New Roman" pitchFamily="18" charset="0"/>
                <a:cs typeface="Times New Roman" pitchFamily="18" charset="0"/>
              </a:rPr>
              <a:t>Description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It </a:t>
            </a:r>
            <a:r>
              <a:rPr lang="en-US" sz="2200" dirty="0">
                <a:solidFill>
                  <a:srgbClr val="FF0066"/>
                </a:solidFill>
                <a:latin typeface="Times New Roman" pitchFamily="18" charset="0"/>
                <a:cs typeface="Times New Roman" pitchFamily="18" charset="0"/>
              </a:rPr>
              <a:t>is a </a:t>
            </a:r>
            <a:r>
              <a:rPr lang="en-US" sz="2200" dirty="0" err="1">
                <a:solidFill>
                  <a:srgbClr val="FF0066"/>
                </a:solidFill>
                <a:latin typeface="Times New Roman" pitchFamily="18" charset="0"/>
                <a:cs typeface="Times New Roman" pitchFamily="18" charset="0"/>
              </a:rPr>
              <a:t>colourless</a:t>
            </a:r>
            <a:r>
              <a:rPr lang="en-US" sz="2200" dirty="0">
                <a:solidFill>
                  <a:srgbClr val="FF0066"/>
                </a:solidFill>
                <a:latin typeface="Times New Roman" pitchFamily="18" charset="0"/>
                <a:cs typeface="Times New Roman" pitchFamily="18" charset="0"/>
              </a:rPr>
              <a:t>, </a:t>
            </a:r>
            <a:r>
              <a:rPr lang="en-US" sz="2200" dirty="0" err="1">
                <a:solidFill>
                  <a:srgbClr val="FF0066"/>
                </a:solidFill>
                <a:latin typeface="Times New Roman" pitchFamily="18" charset="0"/>
                <a:cs typeface="Times New Roman" pitchFamily="18" charset="0"/>
              </a:rPr>
              <a:t>odourless</a:t>
            </a:r>
            <a:r>
              <a:rPr lang="en-US" sz="2200" dirty="0">
                <a:solidFill>
                  <a:srgbClr val="FF0066"/>
                </a:solidFill>
                <a:latin typeface="Times New Roman" pitchFamily="18" charset="0"/>
                <a:cs typeface="Times New Roman" pitchFamily="18" charset="0"/>
              </a:rPr>
              <a:t> gas that is poisonous </a:t>
            </a:r>
            <a:r>
              <a:rPr lang="en-US" sz="2200" dirty="0" smtClean="0">
                <a:solidFill>
                  <a:srgbClr val="FF0066"/>
                </a:solidFill>
                <a:latin typeface="Times New Roman" pitchFamily="18" charset="0"/>
                <a:cs typeface="Times New Roman" pitchFamily="18" charset="0"/>
              </a:rPr>
              <a:t>to air-breathing </a:t>
            </a:r>
            <a:r>
              <a:rPr lang="en-US" sz="2200" dirty="0">
                <a:solidFill>
                  <a:srgbClr val="FF0066"/>
                </a:solidFill>
                <a:latin typeface="Times New Roman" pitchFamily="18" charset="0"/>
                <a:cs typeface="Times New Roman" pitchFamily="18" charset="0"/>
              </a:rPr>
              <a:t>animals. </a:t>
            </a: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It </a:t>
            </a:r>
            <a:r>
              <a:rPr lang="en-US" sz="2200" dirty="0">
                <a:solidFill>
                  <a:srgbClr val="FF0066"/>
                </a:solidFill>
                <a:latin typeface="Times New Roman" pitchFamily="18" charset="0"/>
                <a:cs typeface="Times New Roman" pitchFamily="18" charset="0"/>
              </a:rPr>
              <a:t>is formed during the </a:t>
            </a:r>
            <a:r>
              <a:rPr lang="en-US" sz="2200" dirty="0" smtClean="0">
                <a:solidFill>
                  <a:srgbClr val="FF0066"/>
                </a:solidFill>
                <a:latin typeface="Times New Roman" pitchFamily="18" charset="0"/>
                <a:cs typeface="Times New Roman" pitchFamily="18" charset="0"/>
              </a:rPr>
              <a:t>incomplete combustion </a:t>
            </a:r>
            <a:r>
              <a:rPr lang="en-US" sz="2200" dirty="0">
                <a:solidFill>
                  <a:srgbClr val="FF0066"/>
                </a:solidFill>
                <a:latin typeface="Times New Roman" pitchFamily="18" charset="0"/>
                <a:cs typeface="Times New Roman" pitchFamily="18" charset="0"/>
              </a:rPr>
              <a:t>of carbon containing fuels.</a:t>
            </a:r>
          </a:p>
          <a:p>
            <a:r>
              <a:rPr lang="en-US" sz="2200" b="1" dirty="0" smtClean="0">
                <a:latin typeface="Times New Roman" pitchFamily="18" charset="0"/>
                <a:cs typeface="Times New Roman" pitchFamily="18" charset="0"/>
              </a:rPr>
              <a:t>                                2C + O    </a:t>
            </a:r>
            <a:r>
              <a:rPr lang="en-US" sz="2200" b="1" dirty="0">
                <a:latin typeface="Times New Roman" pitchFamily="18" charset="0"/>
                <a:cs typeface="Times New Roman" pitchFamily="18" charset="0"/>
              </a:rPr>
              <a:t>−−−−−&gt; </a:t>
            </a:r>
            <a:r>
              <a:rPr lang="en-US" sz="2200" b="1" dirty="0" smtClean="0">
                <a:latin typeface="Times New Roman" pitchFamily="18" charset="0"/>
                <a:cs typeface="Times New Roman" pitchFamily="18" charset="0"/>
              </a:rPr>
              <a:t>2CO</a:t>
            </a:r>
          </a:p>
          <a:p>
            <a:endParaRPr lang="en-US" sz="2200" dirty="0">
              <a:solidFill>
                <a:srgbClr val="663300"/>
              </a:solidFill>
              <a:latin typeface="Times New Roman" pitchFamily="18" charset="0"/>
              <a:cs typeface="Times New Roman" pitchFamily="18" charset="0"/>
            </a:endParaRPr>
          </a:p>
          <a:p>
            <a:r>
              <a:rPr lang="en-US" sz="2200" b="1" i="1" dirty="0">
                <a:solidFill>
                  <a:srgbClr val="663300"/>
                </a:solidFill>
                <a:latin typeface="Times New Roman" pitchFamily="18" charset="0"/>
                <a:cs typeface="Times New Roman" pitchFamily="18" charset="0"/>
              </a:rPr>
              <a:t>Human Sources (causes)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Cigarette smoking</a:t>
            </a:r>
            <a:r>
              <a:rPr lang="en-US" sz="2200" dirty="0">
                <a:solidFill>
                  <a:srgbClr val="FF0066"/>
                </a:solidFill>
                <a:latin typeface="Times New Roman" pitchFamily="18" charset="0"/>
                <a:cs typeface="Times New Roman" pitchFamily="18" charset="0"/>
              </a:rPr>
              <a:t>, incomplete burning of fossil </a:t>
            </a:r>
            <a:r>
              <a:rPr lang="en-US" sz="2200" dirty="0" smtClean="0">
                <a:solidFill>
                  <a:srgbClr val="FF0066"/>
                </a:solidFill>
                <a:latin typeface="Times New Roman" pitchFamily="18" charset="0"/>
                <a:cs typeface="Times New Roman" pitchFamily="18" charset="0"/>
              </a:rPr>
              <a:t>fuels.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About </a:t>
            </a:r>
            <a:r>
              <a:rPr lang="en-US" sz="2200" dirty="0">
                <a:solidFill>
                  <a:srgbClr val="FF0066"/>
                </a:solidFill>
                <a:latin typeface="Times New Roman" pitchFamily="18" charset="0"/>
                <a:cs typeface="Times New Roman" pitchFamily="18" charset="0"/>
              </a:rPr>
              <a:t>77% comes from </a:t>
            </a:r>
            <a:r>
              <a:rPr lang="en-US" sz="2200" dirty="0" smtClean="0">
                <a:solidFill>
                  <a:srgbClr val="FF0066"/>
                </a:solidFill>
                <a:latin typeface="Times New Roman" pitchFamily="18" charset="0"/>
                <a:cs typeface="Times New Roman" pitchFamily="18" charset="0"/>
              </a:rPr>
              <a:t>motor </a:t>
            </a:r>
            <a:r>
              <a:rPr lang="en-US" sz="2200" dirty="0">
                <a:solidFill>
                  <a:srgbClr val="FF0066"/>
                </a:solidFill>
                <a:latin typeface="Times New Roman" pitchFamily="18" charset="0"/>
                <a:cs typeface="Times New Roman" pitchFamily="18" charset="0"/>
              </a:rPr>
              <a:t>vehicle exhaust</a:t>
            </a:r>
            <a:r>
              <a:rPr lang="en-US" sz="2200" dirty="0" smtClean="0">
                <a:solidFill>
                  <a:srgbClr val="FF0066"/>
                </a:solidFill>
                <a:latin typeface="Times New Roman" pitchFamily="18" charset="0"/>
                <a:cs typeface="Times New Roman" pitchFamily="18" charset="0"/>
              </a:rPr>
              <a:t>.</a:t>
            </a:r>
          </a:p>
        </p:txBody>
      </p:sp>
      <p:sp>
        <p:nvSpPr>
          <p:cNvPr id="3" name="Rectangle 2"/>
          <p:cNvSpPr/>
          <p:nvPr/>
        </p:nvSpPr>
        <p:spPr>
          <a:xfrm>
            <a:off x="3581400" y="4953000"/>
            <a:ext cx="2286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rPr>
              <a:t>2</a:t>
            </a:r>
            <a:endParaRPr lang="en-US" sz="2000" b="1" dirty="0">
              <a:solidFill>
                <a:schemeClr val="tx1"/>
              </a:solidFill>
            </a:endParaRPr>
          </a:p>
        </p:txBody>
      </p:sp>
    </p:spTree>
  </p:cSld>
  <p:clrMapOvr>
    <a:masterClrMapping/>
  </p:clrMapOvr>
  <p:transition spd="slow">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990600"/>
            <a:ext cx="8305800" cy="5509200"/>
          </a:xfrm>
          <a:prstGeom prst="rect">
            <a:avLst/>
          </a:prstGeom>
        </p:spPr>
        <p:txBody>
          <a:bodyPr wrap="square">
            <a:spAutoFit/>
          </a:bodyPr>
          <a:lstStyle/>
          <a:p>
            <a:r>
              <a:rPr lang="en-US" sz="2200" b="1" i="1" dirty="0" smtClean="0">
                <a:solidFill>
                  <a:srgbClr val="663300"/>
                </a:solidFill>
                <a:latin typeface="Times New Roman" pitchFamily="18" charset="0"/>
                <a:cs typeface="Times New Roman" pitchFamily="18" charset="0"/>
              </a:rPr>
              <a:t>Health Effects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Reacts with </a:t>
            </a:r>
            <a:r>
              <a:rPr lang="en-US" sz="2200" dirty="0" err="1" smtClean="0">
                <a:solidFill>
                  <a:srgbClr val="FF0066"/>
                </a:solidFill>
                <a:latin typeface="Times New Roman" pitchFamily="18" charset="0"/>
                <a:cs typeface="Times New Roman" pitchFamily="18" charset="0"/>
              </a:rPr>
              <a:t>heamoglobin</a:t>
            </a:r>
            <a:r>
              <a:rPr lang="en-US" sz="2200" dirty="0" smtClean="0">
                <a:solidFill>
                  <a:srgbClr val="FF0066"/>
                </a:solidFill>
                <a:latin typeface="Times New Roman" pitchFamily="18" charset="0"/>
                <a:cs typeface="Times New Roman" pitchFamily="18" charset="0"/>
              </a:rPr>
              <a:t> in red blood cells and reduces the ability of blood to bring oxygen to body cells and tissues, which causes headaches and anemia.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At high levels it causes coma, irreversible brain cell damage and death.</a:t>
            </a:r>
          </a:p>
          <a:p>
            <a:endParaRPr lang="en-US" sz="2200" dirty="0">
              <a:solidFill>
                <a:srgbClr val="663300"/>
              </a:solidFill>
              <a:latin typeface="Times New Roman" pitchFamily="18" charset="0"/>
              <a:cs typeface="Times New Roman" pitchFamily="18" charset="0"/>
            </a:endParaRPr>
          </a:p>
          <a:p>
            <a:r>
              <a:rPr lang="en-US" sz="2200" b="1" i="1" dirty="0">
                <a:solidFill>
                  <a:srgbClr val="663300"/>
                </a:solidFill>
                <a:latin typeface="Times New Roman" pitchFamily="18" charset="0"/>
                <a:cs typeface="Times New Roman" pitchFamily="18" charset="0"/>
              </a:rPr>
              <a:t>Environmental Effects</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It </a:t>
            </a:r>
            <a:r>
              <a:rPr lang="en-US" sz="2200" dirty="0">
                <a:solidFill>
                  <a:srgbClr val="FF0066"/>
                </a:solidFill>
                <a:latin typeface="Times New Roman" pitchFamily="18" charset="0"/>
                <a:cs typeface="Times New Roman" pitchFamily="18" charset="0"/>
              </a:rPr>
              <a:t>increases the globe temperature</a:t>
            </a:r>
            <a:r>
              <a:rPr lang="en-US" sz="2200" dirty="0" smtClean="0">
                <a:solidFill>
                  <a:srgbClr val="FF0066"/>
                </a:solidFill>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a:t>
            </a:r>
            <a:r>
              <a:rPr lang="en-US" sz="2200" b="1" dirty="0" smtClean="0">
                <a:solidFill>
                  <a:srgbClr val="FF9900"/>
                </a:solidFill>
                <a:latin typeface="Times New Roman" pitchFamily="18" charset="0"/>
                <a:cs typeface="Times New Roman" pitchFamily="18" charset="0"/>
              </a:rPr>
              <a:t>2.Nitrogen dioxide ( NO  ) </a:t>
            </a:r>
            <a:endParaRPr lang="en-US" sz="2200" b="1" dirty="0">
              <a:solidFill>
                <a:srgbClr val="FF9900"/>
              </a:solidFill>
              <a:latin typeface="Times New Roman" pitchFamily="18" charset="0"/>
              <a:cs typeface="Times New Roman" pitchFamily="18" charset="0"/>
            </a:endParaRPr>
          </a:p>
          <a:p>
            <a:r>
              <a:rPr lang="en-US" sz="2200" b="1" i="1" dirty="0">
                <a:solidFill>
                  <a:srgbClr val="663300"/>
                </a:solidFill>
                <a:latin typeface="Times New Roman" pitchFamily="18" charset="0"/>
                <a:cs typeface="Times New Roman" pitchFamily="18" charset="0"/>
              </a:rPr>
              <a:t>Description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It is a reddish-brown irritating gas that gives photochemical smog.</a:t>
            </a:r>
          </a:p>
          <a:p>
            <a:pPr>
              <a:buFont typeface="Wingdings" pitchFamily="2" charset="2"/>
              <a:buChar char="q"/>
            </a:pPr>
            <a:r>
              <a:rPr lang="en-US" sz="2200" dirty="0" smtClean="0">
                <a:solidFill>
                  <a:srgbClr val="FF0066"/>
                </a:solidFill>
                <a:latin typeface="Times New Roman" pitchFamily="18" charset="0"/>
                <a:cs typeface="Times New Roman" pitchFamily="18" charset="0"/>
              </a:rPr>
              <a:t> </a:t>
            </a:r>
            <a:r>
              <a:rPr lang="en-US" sz="2200" dirty="0">
                <a:solidFill>
                  <a:srgbClr val="FF0066"/>
                </a:solidFill>
                <a:latin typeface="Times New Roman" pitchFamily="18" charset="0"/>
                <a:cs typeface="Times New Roman" pitchFamily="18" charset="0"/>
              </a:rPr>
              <a:t>In the atmosphere it can be </a:t>
            </a:r>
            <a:r>
              <a:rPr lang="en-US" sz="2200" dirty="0" smtClean="0">
                <a:solidFill>
                  <a:srgbClr val="FF0066"/>
                </a:solidFill>
                <a:latin typeface="Times New Roman" pitchFamily="18" charset="0"/>
                <a:cs typeface="Times New Roman" pitchFamily="18" charset="0"/>
              </a:rPr>
              <a:t>converted into </a:t>
            </a:r>
            <a:r>
              <a:rPr lang="en-US" sz="2200" dirty="0">
                <a:solidFill>
                  <a:srgbClr val="FF0066"/>
                </a:solidFill>
                <a:latin typeface="Times New Roman" pitchFamily="18" charset="0"/>
                <a:cs typeface="Times New Roman" pitchFamily="18" charset="0"/>
              </a:rPr>
              <a:t>nitric acid </a:t>
            </a:r>
            <a:r>
              <a:rPr lang="en-US" sz="2200" dirty="0" smtClean="0">
                <a:solidFill>
                  <a:srgbClr val="FF0066"/>
                </a:solidFill>
                <a:latin typeface="Times New Roman" pitchFamily="18" charset="0"/>
                <a:cs typeface="Times New Roman" pitchFamily="18" charset="0"/>
              </a:rPr>
              <a:t>( HNO   ).</a:t>
            </a:r>
          </a:p>
          <a:p>
            <a:pPr>
              <a:buFont typeface="Wingdings" pitchFamily="2" charset="2"/>
              <a:buChar char="q"/>
            </a:pPr>
            <a:endParaRPr lang="en-US" sz="2200" dirty="0">
              <a:solidFill>
                <a:srgbClr val="FF0066"/>
              </a:solidFill>
              <a:latin typeface="Times New Roman" pitchFamily="18" charset="0"/>
              <a:cs typeface="Times New Roman" pitchFamily="18" charset="0"/>
            </a:endParaRPr>
          </a:p>
          <a:p>
            <a:r>
              <a:rPr lang="en-US" sz="2200" b="1" dirty="0" smtClean="0">
                <a:latin typeface="Times New Roman" pitchFamily="18" charset="0"/>
                <a:cs typeface="Times New Roman" pitchFamily="18" charset="0"/>
              </a:rPr>
              <a:t>                         NO     </a:t>
            </a:r>
            <a:r>
              <a:rPr lang="en-US" sz="2200" b="1" dirty="0">
                <a:latin typeface="Times New Roman" pitchFamily="18" charset="0"/>
                <a:cs typeface="Times New Roman" pitchFamily="18" charset="0"/>
              </a:rPr>
              <a:t>+ Moisture −−−−−&gt; </a:t>
            </a:r>
            <a:r>
              <a:rPr lang="en-US" sz="2200" b="1" dirty="0" smtClean="0">
                <a:latin typeface="Times New Roman" pitchFamily="18" charset="0"/>
                <a:cs typeface="Times New Roman" pitchFamily="18" charset="0"/>
              </a:rPr>
              <a:t>HNO</a:t>
            </a:r>
            <a:endParaRPr lang="en-US" sz="2200" b="1" dirty="0">
              <a:latin typeface="Times New Roman" pitchFamily="18" charset="0"/>
              <a:cs typeface="Times New Roman" pitchFamily="18" charset="0"/>
            </a:endParaRPr>
          </a:p>
        </p:txBody>
      </p:sp>
      <p:sp>
        <p:nvSpPr>
          <p:cNvPr id="3" name="Rectangle 2"/>
          <p:cNvSpPr/>
          <p:nvPr/>
        </p:nvSpPr>
        <p:spPr>
          <a:xfrm>
            <a:off x="7467600" y="5638800"/>
            <a:ext cx="2286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3</a:t>
            </a:r>
            <a:endParaRPr lang="en-US" sz="2000" dirty="0">
              <a:solidFill>
                <a:srgbClr val="FF0066"/>
              </a:solidFill>
              <a:latin typeface="Times New Roman" pitchFamily="18" charset="0"/>
              <a:cs typeface="Times New Roman" pitchFamily="18" charset="0"/>
            </a:endParaRPr>
          </a:p>
        </p:txBody>
      </p:sp>
      <p:sp>
        <p:nvSpPr>
          <p:cNvPr id="4" name="Rectangle 3"/>
          <p:cNvSpPr/>
          <p:nvPr/>
        </p:nvSpPr>
        <p:spPr>
          <a:xfrm>
            <a:off x="2667000" y="6324600"/>
            <a:ext cx="2286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latin typeface="Times New Roman" pitchFamily="18" charset="0"/>
                <a:cs typeface="Times New Roman" pitchFamily="18" charset="0"/>
              </a:rPr>
              <a:t>2</a:t>
            </a:r>
            <a:endParaRPr lang="en-US" sz="2000" b="1" dirty="0">
              <a:solidFill>
                <a:schemeClr val="tx1"/>
              </a:solidFill>
              <a:latin typeface="Times New Roman" pitchFamily="18" charset="0"/>
              <a:cs typeface="Times New Roman" pitchFamily="18" charset="0"/>
            </a:endParaRPr>
          </a:p>
        </p:txBody>
      </p:sp>
      <p:sp>
        <p:nvSpPr>
          <p:cNvPr id="5" name="Rectangle 4"/>
          <p:cNvSpPr/>
          <p:nvPr/>
        </p:nvSpPr>
        <p:spPr>
          <a:xfrm>
            <a:off x="6019800" y="6324600"/>
            <a:ext cx="2286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latin typeface="Times New Roman" pitchFamily="18" charset="0"/>
                <a:cs typeface="Times New Roman" pitchFamily="18" charset="0"/>
              </a:rPr>
              <a:t>3</a:t>
            </a:r>
            <a:endParaRPr lang="en-US" sz="2000" b="1" dirty="0">
              <a:solidFill>
                <a:schemeClr val="tx1"/>
              </a:solidFill>
              <a:latin typeface="Times New Roman" pitchFamily="18" charset="0"/>
              <a:cs typeface="Times New Roman" pitchFamily="18" charset="0"/>
            </a:endParaRPr>
          </a:p>
        </p:txBody>
      </p:sp>
      <p:sp>
        <p:nvSpPr>
          <p:cNvPr id="6" name="Rectangle 5"/>
          <p:cNvSpPr/>
          <p:nvPr/>
        </p:nvSpPr>
        <p:spPr>
          <a:xfrm>
            <a:off x="3352800" y="4648200"/>
            <a:ext cx="1524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9900"/>
                </a:solidFill>
                <a:latin typeface="Times New Roman" pitchFamily="18" charset="0"/>
                <a:cs typeface="Times New Roman" pitchFamily="18" charset="0"/>
              </a:rPr>
              <a:t>2</a:t>
            </a:r>
            <a:endParaRPr lang="en-US" sz="2000" dirty="0">
              <a:solidFill>
                <a:srgbClr val="FF9900"/>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219200"/>
            <a:ext cx="7924800" cy="5170646"/>
          </a:xfrm>
          <a:prstGeom prst="rect">
            <a:avLst/>
          </a:prstGeom>
        </p:spPr>
        <p:txBody>
          <a:bodyPr wrap="square">
            <a:spAutoFit/>
          </a:bodyPr>
          <a:lstStyle/>
          <a:p>
            <a:r>
              <a:rPr lang="en-US" sz="2200" b="1" i="1" dirty="0" smtClean="0">
                <a:solidFill>
                  <a:srgbClr val="663300"/>
                </a:solidFill>
                <a:latin typeface="Times New Roman" pitchFamily="18" charset="0"/>
                <a:cs typeface="Times New Roman" pitchFamily="18" charset="0"/>
              </a:rPr>
              <a:t>Human Sources (causes)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Fossil fuel burning in motor vehicles (49%) and power industrial plants (49%).</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Health Effects</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Lung irritation and damage.</a:t>
            </a:r>
          </a:p>
          <a:p>
            <a:endParaRPr lang="en-US" sz="2200" dirty="0" smtClean="0">
              <a:solidFill>
                <a:srgbClr val="663300"/>
              </a:solidFill>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Environmental Effects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Acid deposition of HNO    can damage trees, soils and aquatic life in lakes,  HNO   can corrode metals and eat away stone on buildings, statues and monuments.</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NO   can damage fabrics.</a:t>
            </a:r>
          </a:p>
          <a:p>
            <a:endParaRPr lang="en-US" sz="2200" dirty="0" smtClean="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p:txBody>
      </p:sp>
      <p:sp>
        <p:nvSpPr>
          <p:cNvPr id="3" name="Rectangle 2"/>
          <p:cNvSpPr/>
          <p:nvPr/>
        </p:nvSpPr>
        <p:spPr>
          <a:xfrm>
            <a:off x="3581400" y="4191000"/>
            <a:ext cx="228600" cy="45719"/>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3</a:t>
            </a:r>
            <a:endParaRPr lang="en-US" sz="2000" dirty="0">
              <a:solidFill>
                <a:srgbClr val="FF0066"/>
              </a:solidFill>
              <a:latin typeface="Times New Roman" pitchFamily="18" charset="0"/>
              <a:cs typeface="Times New Roman" pitchFamily="18" charset="0"/>
            </a:endParaRPr>
          </a:p>
        </p:txBody>
      </p:sp>
      <p:sp>
        <p:nvSpPr>
          <p:cNvPr id="4" name="Rectangle 3"/>
          <p:cNvSpPr/>
          <p:nvPr/>
        </p:nvSpPr>
        <p:spPr>
          <a:xfrm>
            <a:off x="2590800" y="4495800"/>
            <a:ext cx="1524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3</a:t>
            </a:r>
            <a:endParaRPr lang="en-US" sz="2000" dirty="0">
              <a:solidFill>
                <a:srgbClr val="FF0066"/>
              </a:solidFill>
              <a:latin typeface="Times New Roman" pitchFamily="18" charset="0"/>
              <a:cs typeface="Times New Roman" pitchFamily="18" charset="0"/>
            </a:endParaRPr>
          </a:p>
        </p:txBody>
      </p:sp>
      <p:sp>
        <p:nvSpPr>
          <p:cNvPr id="5" name="Rectangle 4"/>
          <p:cNvSpPr/>
          <p:nvPr/>
        </p:nvSpPr>
        <p:spPr>
          <a:xfrm>
            <a:off x="1219200" y="5562600"/>
            <a:ext cx="2286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2</a:t>
            </a:r>
            <a:endParaRPr lang="en-US" sz="20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838200"/>
            <a:ext cx="8229600" cy="5847755"/>
          </a:xfrm>
          <a:prstGeom prst="rect">
            <a:avLst/>
          </a:prstGeom>
        </p:spPr>
        <p:txBody>
          <a:bodyPr wrap="square">
            <a:spAutoFit/>
          </a:bodyPr>
          <a:lstStyle/>
          <a:p>
            <a:r>
              <a:rPr lang="en-US" sz="2200" dirty="0" smtClean="0">
                <a:latin typeface="Times New Roman" pitchFamily="18" charset="0"/>
                <a:cs typeface="Times New Roman" pitchFamily="18" charset="0"/>
              </a:rPr>
              <a:t> </a:t>
            </a:r>
            <a:r>
              <a:rPr lang="en-US" sz="2200" b="1" dirty="0" smtClean="0">
                <a:solidFill>
                  <a:srgbClr val="FF9900"/>
                </a:solidFill>
                <a:latin typeface="Times New Roman" pitchFamily="18" charset="0"/>
                <a:cs typeface="Times New Roman" pitchFamily="18" charset="0"/>
              </a:rPr>
              <a:t>3. </a:t>
            </a:r>
            <a:r>
              <a:rPr lang="en-US" sz="2200" b="1" dirty="0" err="1" smtClean="0">
                <a:solidFill>
                  <a:srgbClr val="FF9900"/>
                </a:solidFill>
                <a:latin typeface="Times New Roman" pitchFamily="18" charset="0"/>
                <a:cs typeface="Times New Roman" pitchFamily="18" charset="0"/>
              </a:rPr>
              <a:t>Sulphur</a:t>
            </a:r>
            <a:r>
              <a:rPr lang="en-US" sz="2200" b="1" dirty="0" smtClean="0">
                <a:solidFill>
                  <a:srgbClr val="FF9900"/>
                </a:solidFill>
                <a:latin typeface="Times New Roman" pitchFamily="18" charset="0"/>
                <a:cs typeface="Times New Roman" pitchFamily="18" charset="0"/>
              </a:rPr>
              <a:t> dioxide (SO2) </a:t>
            </a:r>
          </a:p>
          <a:p>
            <a:r>
              <a:rPr lang="en-US" sz="2200" b="1" i="1" dirty="0" smtClean="0">
                <a:solidFill>
                  <a:srgbClr val="663300"/>
                </a:solidFill>
                <a:latin typeface="Times New Roman" pitchFamily="18" charset="0"/>
                <a:cs typeface="Times New Roman" pitchFamily="18" charset="0"/>
              </a:rPr>
              <a:t>Description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It is a </a:t>
            </a:r>
            <a:r>
              <a:rPr lang="en-US" sz="2200" dirty="0" err="1" smtClean="0">
                <a:solidFill>
                  <a:srgbClr val="FF0066"/>
                </a:solidFill>
                <a:latin typeface="Times New Roman" pitchFamily="18" charset="0"/>
                <a:cs typeface="Times New Roman" pitchFamily="18" charset="0"/>
              </a:rPr>
              <a:t>colourless</a:t>
            </a:r>
            <a:r>
              <a:rPr lang="en-US" sz="2200" dirty="0" smtClean="0">
                <a:solidFill>
                  <a:srgbClr val="FF0066"/>
                </a:solidFill>
                <a:latin typeface="Times New Roman" pitchFamily="18" charset="0"/>
                <a:cs typeface="Times New Roman" pitchFamily="18" charset="0"/>
              </a:rPr>
              <a:t> and irritating gas.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It is formed mostly from the combustion of </a:t>
            </a:r>
            <a:r>
              <a:rPr lang="en-US" sz="2200" dirty="0" err="1" smtClean="0">
                <a:solidFill>
                  <a:srgbClr val="FF0066"/>
                </a:solidFill>
                <a:latin typeface="Times New Roman" pitchFamily="18" charset="0"/>
                <a:cs typeface="Times New Roman" pitchFamily="18" charset="0"/>
              </a:rPr>
              <a:t>sulphur</a:t>
            </a:r>
            <a:r>
              <a:rPr lang="en-US" sz="2200" dirty="0" smtClean="0">
                <a:solidFill>
                  <a:srgbClr val="FF0066"/>
                </a:solidFill>
                <a:latin typeface="Times New Roman" pitchFamily="18" charset="0"/>
                <a:cs typeface="Times New Roman" pitchFamily="18" charset="0"/>
              </a:rPr>
              <a:t> containing fossil fuels such as coal and oil.</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In the atmosphere it can be converted to </a:t>
            </a:r>
            <a:r>
              <a:rPr lang="en-US" sz="2200" dirty="0" err="1" smtClean="0">
                <a:solidFill>
                  <a:srgbClr val="FF0066"/>
                </a:solidFill>
                <a:latin typeface="Times New Roman" pitchFamily="18" charset="0"/>
                <a:cs typeface="Times New Roman" pitchFamily="18" charset="0"/>
              </a:rPr>
              <a:t>sulphuric</a:t>
            </a:r>
            <a:r>
              <a:rPr lang="en-US" sz="2200" dirty="0" smtClean="0">
                <a:solidFill>
                  <a:srgbClr val="FF0066"/>
                </a:solidFill>
                <a:latin typeface="Times New Roman" pitchFamily="18" charset="0"/>
                <a:cs typeface="Times New Roman" pitchFamily="18" charset="0"/>
              </a:rPr>
              <a:t> acid (H   SO   ) which is a major component of acid deposition.</a:t>
            </a:r>
          </a:p>
          <a:p>
            <a:endParaRPr lang="en-US" sz="2200" dirty="0" smtClean="0">
              <a:solidFill>
                <a:srgbClr val="663300"/>
              </a:solidFill>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Human Sources (causes)</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Coal burning in power plants (88%) and industrial processes (10%).</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Health Effects</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Breathing problems for healthy people.</a:t>
            </a:r>
          </a:p>
          <a:p>
            <a:endParaRPr lang="en-US" sz="2200" dirty="0" smtClean="0">
              <a:solidFill>
                <a:srgbClr val="663300"/>
              </a:solidFill>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Environmental Effects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Reduce visibility, acid deposition of H   SO    can damage trees, soils and aquatic life in lakes.</a:t>
            </a:r>
            <a:endParaRPr lang="en-US" sz="2200" dirty="0">
              <a:solidFill>
                <a:srgbClr val="FF0066"/>
              </a:solidFill>
              <a:latin typeface="Times New Roman" pitchFamily="18" charset="0"/>
              <a:cs typeface="Times New Roman" pitchFamily="18" charset="0"/>
            </a:endParaRPr>
          </a:p>
        </p:txBody>
      </p:sp>
      <p:sp>
        <p:nvSpPr>
          <p:cNvPr id="3" name="Rectangle 2"/>
          <p:cNvSpPr/>
          <p:nvPr/>
        </p:nvSpPr>
        <p:spPr>
          <a:xfrm>
            <a:off x="7315200" y="2819400"/>
            <a:ext cx="2286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2</a:t>
            </a:r>
            <a:endParaRPr lang="en-US" sz="2000" dirty="0">
              <a:solidFill>
                <a:srgbClr val="FF0066"/>
              </a:solidFill>
              <a:latin typeface="Times New Roman" pitchFamily="18" charset="0"/>
              <a:cs typeface="Times New Roman" pitchFamily="18" charset="0"/>
            </a:endParaRPr>
          </a:p>
        </p:txBody>
      </p:sp>
      <p:sp>
        <p:nvSpPr>
          <p:cNvPr id="4" name="Rectangle 3"/>
          <p:cNvSpPr/>
          <p:nvPr/>
        </p:nvSpPr>
        <p:spPr>
          <a:xfrm>
            <a:off x="7924800" y="2819400"/>
            <a:ext cx="1524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4</a:t>
            </a:r>
            <a:endParaRPr lang="en-US" sz="2000" dirty="0">
              <a:solidFill>
                <a:srgbClr val="FF0066"/>
              </a:solidFill>
              <a:latin typeface="Times New Roman" pitchFamily="18" charset="0"/>
              <a:cs typeface="Times New Roman" pitchFamily="18" charset="0"/>
            </a:endParaRPr>
          </a:p>
        </p:txBody>
      </p:sp>
      <p:sp>
        <p:nvSpPr>
          <p:cNvPr id="5" name="Rectangle 4"/>
          <p:cNvSpPr/>
          <p:nvPr/>
        </p:nvSpPr>
        <p:spPr>
          <a:xfrm>
            <a:off x="5257800" y="6172200"/>
            <a:ext cx="1524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2</a:t>
            </a:r>
            <a:endParaRPr lang="en-US" sz="2000" dirty="0">
              <a:solidFill>
                <a:srgbClr val="FF0066"/>
              </a:solidFill>
              <a:latin typeface="Times New Roman" pitchFamily="18" charset="0"/>
              <a:cs typeface="Times New Roman" pitchFamily="18" charset="0"/>
            </a:endParaRPr>
          </a:p>
        </p:txBody>
      </p:sp>
      <p:sp>
        <p:nvSpPr>
          <p:cNvPr id="6" name="Rectangle 5"/>
          <p:cNvSpPr/>
          <p:nvPr/>
        </p:nvSpPr>
        <p:spPr>
          <a:xfrm>
            <a:off x="5791200" y="6172200"/>
            <a:ext cx="1524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4</a:t>
            </a:r>
            <a:endParaRPr lang="en-US" sz="20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90600"/>
            <a:ext cx="8001000" cy="5509200"/>
          </a:xfrm>
          <a:prstGeom prst="rect">
            <a:avLst/>
          </a:prstGeom>
        </p:spPr>
        <p:txBody>
          <a:bodyPr wrap="square">
            <a:spAutoFit/>
          </a:bodyPr>
          <a:lstStyle/>
          <a:p>
            <a:r>
              <a:rPr lang="en-US" sz="2200" b="1" dirty="0" smtClean="0">
                <a:latin typeface="Times New Roman" pitchFamily="18" charset="0"/>
                <a:cs typeface="Times New Roman" pitchFamily="18" charset="0"/>
              </a:rPr>
              <a:t> </a:t>
            </a:r>
            <a:r>
              <a:rPr lang="en-US" sz="2200" b="1" dirty="0" smtClean="0">
                <a:solidFill>
                  <a:srgbClr val="FF9900"/>
                </a:solidFill>
                <a:latin typeface="Times New Roman" pitchFamily="18" charset="0"/>
                <a:cs typeface="Times New Roman" pitchFamily="18" charset="0"/>
              </a:rPr>
              <a:t>4. Suspended Particulate matter (SPM)</a:t>
            </a:r>
          </a:p>
          <a:p>
            <a:endParaRPr lang="en-US" sz="2200" b="1"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Description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It includes variety of particles and droplets (aerosols).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They can be suspended in atmosphere for short periods to long periods.</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Human Sources (causes)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Burning coal in power and industrial plants (40%), burning diesel and other fuels in vehicles (17%), </a:t>
            </a:r>
            <a:r>
              <a:rPr lang="fr-FR" sz="2200" dirty="0" smtClean="0">
                <a:solidFill>
                  <a:srgbClr val="FF0066"/>
                </a:solidFill>
                <a:latin typeface="Times New Roman" pitchFamily="18" charset="0"/>
                <a:cs typeface="Times New Roman" pitchFamily="18" charset="0"/>
              </a:rPr>
              <a:t>agriculture, </a:t>
            </a:r>
            <a:r>
              <a:rPr lang="fr-FR" sz="2200" dirty="0" err="1" smtClean="0">
                <a:solidFill>
                  <a:srgbClr val="FF0066"/>
                </a:solidFill>
                <a:latin typeface="Times New Roman" pitchFamily="18" charset="0"/>
                <a:cs typeface="Times New Roman" pitchFamily="18" charset="0"/>
              </a:rPr>
              <a:t>unpaved</a:t>
            </a:r>
            <a:r>
              <a:rPr lang="fr-FR" sz="2200" dirty="0" smtClean="0">
                <a:solidFill>
                  <a:srgbClr val="FF0066"/>
                </a:solidFill>
                <a:latin typeface="Times New Roman" pitchFamily="18" charset="0"/>
                <a:cs typeface="Times New Roman" pitchFamily="18" charset="0"/>
              </a:rPr>
              <a:t> </a:t>
            </a:r>
            <a:r>
              <a:rPr lang="fr-FR" sz="2200" dirty="0" err="1" smtClean="0">
                <a:solidFill>
                  <a:srgbClr val="FF0066"/>
                </a:solidFill>
                <a:latin typeface="Times New Roman" pitchFamily="18" charset="0"/>
                <a:cs typeface="Times New Roman" pitchFamily="18" charset="0"/>
              </a:rPr>
              <a:t>roads</a:t>
            </a:r>
            <a:r>
              <a:rPr lang="fr-FR" sz="2200" dirty="0" smtClean="0">
                <a:solidFill>
                  <a:srgbClr val="FF0066"/>
                </a:solidFill>
                <a:latin typeface="Times New Roman" pitchFamily="18" charset="0"/>
                <a:cs typeface="Times New Roman" pitchFamily="18" charset="0"/>
              </a:rPr>
              <a:t>, construction etc.,</a:t>
            </a:r>
          </a:p>
          <a:p>
            <a:endParaRPr lang="en-US" sz="2200" dirty="0" smtClean="0">
              <a:solidFill>
                <a:srgbClr val="663300"/>
              </a:solidFill>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Health Effects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Nose and throat irritation, lung damage, bronchitis, asthma, reproductive problems and cancer.</a:t>
            </a:r>
          </a:p>
          <a:p>
            <a:endParaRPr lang="en-US" sz="2200" dirty="0" smtClean="0">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143000"/>
            <a:ext cx="7772400" cy="5509200"/>
          </a:xfrm>
          <a:prstGeom prst="rect">
            <a:avLst/>
          </a:prstGeom>
        </p:spPr>
        <p:txBody>
          <a:bodyPr wrap="square">
            <a:spAutoFit/>
          </a:bodyPr>
          <a:lstStyle/>
          <a:p>
            <a:r>
              <a:rPr lang="en-US" sz="2200" b="1" i="1" dirty="0" smtClean="0">
                <a:solidFill>
                  <a:srgbClr val="663300"/>
                </a:solidFill>
                <a:latin typeface="Times New Roman" pitchFamily="18" charset="0"/>
                <a:cs typeface="Times New Roman" pitchFamily="18" charset="0"/>
              </a:rPr>
              <a:t>Environmental Effects</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Reduces visibility, acid deposition and H   SO    droplets can damage trees, soils and aquatic life in lakes.</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4. Ozone (O   </a:t>
            </a:r>
            <a:r>
              <a:rPr lang="en-US" sz="2200" dirty="0" smtClean="0">
                <a:solidFill>
                  <a:srgbClr val="FF9900"/>
                </a:solidFill>
                <a:latin typeface="Times New Roman" pitchFamily="18" charset="0"/>
                <a:cs typeface="Times New Roman" pitchFamily="18" charset="0"/>
              </a:rPr>
              <a:t>)</a:t>
            </a:r>
          </a:p>
          <a:p>
            <a:r>
              <a:rPr lang="en-US" sz="2200" b="1" i="1" dirty="0" smtClean="0">
                <a:solidFill>
                  <a:srgbClr val="663300"/>
                </a:solidFill>
                <a:latin typeface="Times New Roman" pitchFamily="18" charset="0"/>
                <a:cs typeface="Times New Roman" pitchFamily="18" charset="0"/>
              </a:rPr>
              <a:t>Description</a:t>
            </a:r>
          </a:p>
          <a:p>
            <a:pPr>
              <a:buFont typeface="Wingdings" pitchFamily="2" charset="2"/>
              <a:buChar char="v"/>
            </a:pPr>
            <a:r>
              <a:rPr lang="en-US" sz="2200" dirty="0" smtClean="0">
                <a:solidFill>
                  <a:srgbClr val="FF0066"/>
                </a:solidFill>
                <a:latin typeface="Times New Roman" pitchFamily="18" charset="0"/>
                <a:cs typeface="Times New Roman" pitchFamily="18" charset="0"/>
              </a:rPr>
              <a:t>  Highly reactive irritating gas with an unpleasant </a:t>
            </a:r>
            <a:r>
              <a:rPr lang="en-US" sz="2200" dirty="0" err="1" smtClean="0">
                <a:solidFill>
                  <a:srgbClr val="FF0066"/>
                </a:solidFill>
                <a:latin typeface="Times New Roman" pitchFamily="18" charset="0"/>
                <a:cs typeface="Times New Roman" pitchFamily="18" charset="0"/>
              </a:rPr>
              <a:t>odour</a:t>
            </a:r>
            <a:r>
              <a:rPr lang="en-US" sz="2200" dirty="0" smtClean="0">
                <a:solidFill>
                  <a:srgbClr val="FF0066"/>
                </a:solidFill>
                <a:latin typeface="Times New Roman" pitchFamily="18" charset="0"/>
                <a:cs typeface="Times New Roman" pitchFamily="18" charset="0"/>
              </a:rPr>
              <a:t> that forms in the troposphere. </a:t>
            </a:r>
          </a:p>
          <a:p>
            <a:pPr>
              <a:buFont typeface="Wingdings" pitchFamily="2" charset="2"/>
              <a:buChar char="v"/>
            </a:pPr>
            <a:r>
              <a:rPr lang="en-US" sz="2200" dirty="0" smtClean="0">
                <a:solidFill>
                  <a:srgbClr val="FF0066"/>
                </a:solidFill>
                <a:latin typeface="Times New Roman" pitchFamily="18" charset="0"/>
                <a:cs typeface="Times New Roman" pitchFamily="18" charset="0"/>
              </a:rPr>
              <a:t>  It is a major component of photochemical smog.</a:t>
            </a:r>
          </a:p>
          <a:p>
            <a:endParaRPr lang="en-US" sz="2200" dirty="0" smtClean="0">
              <a:solidFill>
                <a:srgbClr val="663300"/>
              </a:solidFill>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Human Sources (causes)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Chemical reaction with volatile organic compounds (emitted mostly by cars and industries) and nitrogen oxides.</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Environmental Effect</a:t>
            </a:r>
          </a:p>
          <a:p>
            <a:pPr>
              <a:buFont typeface="Wingdings" pitchFamily="2" charset="2"/>
              <a:buChar char="q"/>
            </a:pPr>
            <a:r>
              <a:rPr lang="en-US" sz="2200" dirty="0" smtClean="0">
                <a:solidFill>
                  <a:srgbClr val="FF0066"/>
                </a:solidFill>
                <a:latin typeface="Times New Roman" pitchFamily="18" charset="0"/>
                <a:cs typeface="Times New Roman" pitchFamily="18" charset="0"/>
              </a:rPr>
              <a:t>  Moderates the climate.</a:t>
            </a:r>
            <a:endParaRPr lang="en-US" sz="2200" dirty="0">
              <a:solidFill>
                <a:srgbClr val="FF0066"/>
              </a:solidFill>
              <a:latin typeface="Times New Roman" pitchFamily="18" charset="0"/>
              <a:cs typeface="Times New Roman" pitchFamily="18" charset="0"/>
            </a:endParaRPr>
          </a:p>
        </p:txBody>
      </p:sp>
      <p:sp>
        <p:nvSpPr>
          <p:cNvPr id="3" name="Rectangle 2"/>
          <p:cNvSpPr/>
          <p:nvPr/>
        </p:nvSpPr>
        <p:spPr>
          <a:xfrm>
            <a:off x="5562600" y="1828800"/>
            <a:ext cx="1524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2</a:t>
            </a:r>
            <a:endParaRPr lang="en-US" sz="2000" dirty="0">
              <a:solidFill>
                <a:srgbClr val="FF0066"/>
              </a:solidFill>
              <a:latin typeface="Times New Roman" pitchFamily="18" charset="0"/>
              <a:cs typeface="Times New Roman" pitchFamily="18" charset="0"/>
            </a:endParaRPr>
          </a:p>
        </p:txBody>
      </p:sp>
      <p:sp>
        <p:nvSpPr>
          <p:cNvPr id="4" name="Rectangle 3"/>
          <p:cNvSpPr/>
          <p:nvPr/>
        </p:nvSpPr>
        <p:spPr>
          <a:xfrm>
            <a:off x="6096000" y="1752600"/>
            <a:ext cx="1524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4</a:t>
            </a:r>
            <a:endParaRPr lang="en-US" sz="2000" dirty="0">
              <a:solidFill>
                <a:srgbClr val="FF0066"/>
              </a:solidFill>
              <a:latin typeface="Times New Roman" pitchFamily="18" charset="0"/>
              <a:cs typeface="Times New Roman" pitchFamily="18" charset="0"/>
            </a:endParaRPr>
          </a:p>
        </p:txBody>
      </p:sp>
      <p:sp>
        <p:nvSpPr>
          <p:cNvPr id="5" name="Rectangle 4"/>
          <p:cNvSpPr/>
          <p:nvPr/>
        </p:nvSpPr>
        <p:spPr>
          <a:xfrm>
            <a:off x="1981200" y="2819400"/>
            <a:ext cx="228600" cy="76200"/>
          </a:xfrm>
          <a:prstGeom prst="rect">
            <a:avLst/>
          </a:prstGeom>
          <a:solidFill>
            <a:schemeClr val="accent5">
              <a:lumMod val="20000"/>
              <a:lumOff val="8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FFC000"/>
                </a:solidFill>
                <a:latin typeface="Times New Roman" pitchFamily="18" charset="0"/>
                <a:cs typeface="Times New Roman" pitchFamily="18" charset="0"/>
              </a:rPr>
              <a:t>3</a:t>
            </a:r>
            <a:endParaRPr lang="en-US" b="1" dirty="0">
              <a:solidFill>
                <a:srgbClr val="FFC000"/>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10245"/>
            <a:ext cx="8153400" cy="5847755"/>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6. Photochemical smog</a:t>
            </a:r>
          </a:p>
          <a:p>
            <a:endParaRPr lang="en-US" sz="2200" b="1"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Description</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 brownish smoke like appearance that frequently forms on clear, sunny days over large cities with significant amounts of automobile traffic.</a:t>
            </a:r>
          </a:p>
          <a:p>
            <a:endParaRPr lang="en-US" sz="2200" dirty="0" smtClean="0">
              <a:solidFill>
                <a:srgbClr val="663300"/>
              </a:solidFill>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Sources (causes)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It is mainly due to chemical reactions among nitrogen oxides and hydrocarbon by sunlight.</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Health Effects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Breathing problems, cough, eye, nose and throat irritation, heart diseases, reduces resistance to colds and pneumonia.</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Environmental Effects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Ozone can damage plants and trees. Smog can reduce visibility.</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010245"/>
            <a:ext cx="8077200" cy="5847755"/>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7. Lead (</a:t>
            </a:r>
            <a:r>
              <a:rPr lang="en-US" sz="2200" b="1" dirty="0" err="1" smtClean="0">
                <a:solidFill>
                  <a:srgbClr val="FF9900"/>
                </a:solidFill>
                <a:latin typeface="Times New Roman" pitchFamily="18" charset="0"/>
                <a:cs typeface="Times New Roman" pitchFamily="18" charset="0"/>
              </a:rPr>
              <a:t>pb</a:t>
            </a:r>
            <a:r>
              <a:rPr lang="en-US" sz="2200" b="1" dirty="0" smtClean="0">
                <a:solidFill>
                  <a:srgbClr val="FF9900"/>
                </a:solidFill>
                <a:latin typeface="Times New Roman" pitchFamily="18" charset="0"/>
                <a:cs typeface="Times New Roman" pitchFamily="18" charset="0"/>
              </a:rPr>
              <a:t>)</a:t>
            </a:r>
          </a:p>
          <a:p>
            <a:r>
              <a:rPr lang="en-US" sz="2200" b="1" i="1" dirty="0" smtClean="0">
                <a:solidFill>
                  <a:srgbClr val="663300"/>
                </a:solidFill>
                <a:latin typeface="Times New Roman" pitchFamily="18" charset="0"/>
                <a:cs typeface="Times New Roman" pitchFamily="18" charset="0"/>
              </a:rPr>
              <a:t>Description</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Solid toxic metal and its compounds, emitted into the atmosphere as particulate matter.</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Human Sources (causes)</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Paint, smelters (metal refineries), lead manufacture, storage batteries, leaded petrol.</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Health Effects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Accumulates in the body, brain and other nervous system damage and mental retardation (especially in children); digestive and other health problems, some</a:t>
            </a:r>
          </a:p>
          <a:p>
            <a:pPr>
              <a:buFont typeface="Wingdings" pitchFamily="2" charset="2"/>
              <a:buChar char="v"/>
            </a:pPr>
            <a:r>
              <a:rPr lang="en-US" sz="2200" dirty="0" smtClean="0">
                <a:solidFill>
                  <a:srgbClr val="FF0066"/>
                </a:solidFill>
                <a:latin typeface="Times New Roman" pitchFamily="18" charset="0"/>
                <a:cs typeface="Times New Roman" pitchFamily="18" charset="0"/>
              </a:rPr>
              <a:t>  lead-containing chemicals cause cancer in test animals.</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Environmental Effect</a:t>
            </a:r>
          </a:p>
          <a:p>
            <a:pPr>
              <a:buFont typeface="Wingdings" pitchFamily="2" charset="2"/>
              <a:buChar char="v"/>
            </a:pPr>
            <a:r>
              <a:rPr lang="en-US" sz="2200" dirty="0" smtClean="0">
                <a:solidFill>
                  <a:srgbClr val="FF0066"/>
                </a:solidFill>
                <a:latin typeface="Times New Roman" pitchFamily="18" charset="0"/>
                <a:cs typeface="Times New Roman" pitchFamily="18" charset="0"/>
              </a:rPr>
              <a:t>  Can harm wild life.</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90600"/>
            <a:ext cx="7924800" cy="5509200"/>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8. Hydrocarbons ( aromatic and aliphatic)</a:t>
            </a:r>
          </a:p>
          <a:p>
            <a:endParaRPr lang="en-US" sz="2200" b="1" dirty="0" smtClean="0">
              <a:solidFill>
                <a:srgbClr val="663300"/>
              </a:solidFill>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Description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Hydrocarbons especially lower hydrocarbons get accumulated due to the decay of vegetable matter.</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Human sources (causes)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Agriculture, decay of plants, burning of wet logs.</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Health Effects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Carcinogenic.</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Environmental effect</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It produces an oily film on the surface and do not as such causes a serious problem until they react to form secondary pollutants.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Ethylene causes plant damage even at low concentrations.</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295400"/>
            <a:ext cx="7543800" cy="4832092"/>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9. Chromium (Cr) </a:t>
            </a:r>
          </a:p>
          <a:p>
            <a:endParaRPr lang="en-US" sz="2200" b="1"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Description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It is a solid toxic metal, emitted into the atmosphere as particulate matter.</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Human Sources (causes)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Paint, smelters, chromium manufacture, chromium plating.</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Health effects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Perforation of nasal septum, chrome holes, gastro intestinal ulcer, central nervous system disease and cancer.</a:t>
            </a:r>
          </a:p>
          <a:p>
            <a:endParaRPr lang="en-US" sz="2200" dirty="0" smtClean="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10245"/>
            <a:ext cx="8458200" cy="5847755"/>
          </a:xfrm>
          <a:prstGeom prst="rect">
            <a:avLst/>
          </a:prstGeom>
        </p:spPr>
        <p:txBody>
          <a:bodyPr wrap="square">
            <a:spAutoFit/>
          </a:bodyPr>
          <a:lstStyle/>
          <a:p>
            <a:r>
              <a:rPr lang="en-US" sz="2200" b="1" i="1" dirty="0" smtClean="0">
                <a:solidFill>
                  <a:srgbClr val="0000CC"/>
                </a:solidFill>
                <a:latin typeface="Times New Roman" pitchFamily="18" charset="0"/>
                <a:cs typeface="Times New Roman" pitchFamily="18" charset="0"/>
              </a:rPr>
              <a:t>2.2.4 Control (or) Preventive Measures of air pollution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atmosphere has several built-in self cleaning processes such as dispersion, gravitational settling, flocculation, absorption, rain washout and so on, to cleanse the atmosphere.</a:t>
            </a:r>
          </a:p>
          <a:p>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In terms of a long range control of air pollution, control of contaminants at their source is a more desirable and effective method through preventive (or) control technologies.</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1.Source control</a:t>
            </a:r>
          </a:p>
          <a:p>
            <a:pPr>
              <a:buFont typeface="Wingdings" pitchFamily="2" charset="2"/>
              <a:buChar char="v"/>
            </a:pPr>
            <a:r>
              <a:rPr lang="en-US" sz="2200" dirty="0" smtClean="0">
                <a:solidFill>
                  <a:srgbClr val="FF0066"/>
                </a:solidFill>
                <a:latin typeface="Times New Roman" pitchFamily="18" charset="0"/>
                <a:cs typeface="Times New Roman" pitchFamily="18" charset="0"/>
              </a:rPr>
              <a:t> Since we know the substances that causes air pollution, the first approach to its control will be through source reduction.</a:t>
            </a:r>
          </a:p>
          <a:p>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Some actions that can be taken in this regard are as follows:</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Use only unleaded petrol.</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Use petroleum products and other fuels that have low </a:t>
            </a:r>
            <a:r>
              <a:rPr lang="en-US" sz="2200" dirty="0" err="1" smtClean="0">
                <a:solidFill>
                  <a:srgbClr val="00B0F0"/>
                </a:solidFill>
                <a:latin typeface="Times New Roman" pitchFamily="18" charset="0"/>
                <a:cs typeface="Times New Roman" pitchFamily="18" charset="0"/>
              </a:rPr>
              <a:t>sulphur</a:t>
            </a:r>
            <a:r>
              <a:rPr lang="en-US" sz="2200" dirty="0" smtClean="0">
                <a:solidFill>
                  <a:srgbClr val="00B0F0"/>
                </a:solidFill>
                <a:latin typeface="Times New Roman" pitchFamily="18" charset="0"/>
                <a:cs typeface="Times New Roman" pitchFamily="18" charset="0"/>
              </a:rPr>
              <a:t> and ash content.</a:t>
            </a:r>
            <a:endParaRPr lang="en-US" sz="2200" dirty="0">
              <a:solidFill>
                <a:srgbClr val="00B0F0"/>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143000"/>
            <a:ext cx="8153400" cy="5170646"/>
          </a:xfrm>
          <a:prstGeom prst="rect">
            <a:avLst/>
          </a:prstGeom>
        </p:spPr>
        <p:txBody>
          <a:bodyPr wrap="square">
            <a:spAutoFit/>
          </a:bodyPr>
          <a:lstStyle/>
          <a:p>
            <a:pPr lvl="1">
              <a:buFont typeface="Wingdings" pitchFamily="2" charset="2"/>
              <a:buChar char="ü"/>
            </a:pPr>
            <a:r>
              <a:rPr lang="en-US" sz="2200" dirty="0" smtClean="0">
                <a:solidFill>
                  <a:srgbClr val="00B0F0"/>
                </a:solidFill>
                <a:latin typeface="Times New Roman" pitchFamily="18" charset="0"/>
                <a:cs typeface="Times New Roman" pitchFamily="18" charset="0"/>
              </a:rPr>
              <a:t>  Reduce the number of private vehicles on the road by developing an efficient public-transport system and encouraging people to walk (or) use cycles.</a:t>
            </a:r>
          </a:p>
          <a:p>
            <a:pPr lvl="1">
              <a:buFont typeface="Wingdings" pitchFamily="2" charset="2"/>
              <a:buChar char="ü"/>
            </a:pPr>
            <a:endParaRPr lang="en-US" sz="2200" dirty="0" smtClean="0">
              <a:solidFill>
                <a:srgbClr val="00B0F0"/>
              </a:solidFill>
              <a:latin typeface="Times New Roman" pitchFamily="18" charset="0"/>
              <a:cs typeface="Times New Roman" pitchFamily="18" charset="0"/>
            </a:endParaRP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Ensure that houses, schools, restaurants and places where children play are not located on busy streets.</a:t>
            </a:r>
          </a:p>
          <a:p>
            <a:pPr lvl="1">
              <a:buFont typeface="Wingdings" pitchFamily="2" charset="2"/>
              <a:buChar char="ü"/>
            </a:pPr>
            <a:endParaRPr lang="en-US" sz="2200" dirty="0" smtClean="0">
              <a:solidFill>
                <a:srgbClr val="00B0F0"/>
              </a:solidFill>
              <a:latin typeface="Times New Roman" pitchFamily="18" charset="0"/>
              <a:cs typeface="Times New Roman" pitchFamily="18" charset="0"/>
            </a:endParaRP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Plant trees along busy streets because they remove particulates and carbon monoxide, and absorb noise.</a:t>
            </a:r>
          </a:p>
          <a:p>
            <a:pPr lvl="1">
              <a:buFont typeface="Wingdings" pitchFamily="2" charset="2"/>
              <a:buChar char="ü"/>
            </a:pPr>
            <a:endParaRPr lang="en-US" sz="2200" dirty="0" smtClean="0">
              <a:solidFill>
                <a:srgbClr val="00B0F0"/>
              </a:solidFill>
              <a:latin typeface="Times New Roman" pitchFamily="18" charset="0"/>
              <a:cs typeface="Times New Roman" pitchFamily="18" charset="0"/>
            </a:endParaRP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Industries and waste disposal sites should be situated outside the city centre preferably downwind of the city.</a:t>
            </a:r>
          </a:p>
          <a:p>
            <a:pPr lvl="1">
              <a:buFont typeface="Wingdings" pitchFamily="2" charset="2"/>
              <a:buChar char="ü"/>
            </a:pPr>
            <a:endParaRPr lang="en-US" sz="2200" dirty="0" smtClean="0">
              <a:solidFill>
                <a:srgbClr val="00B0F0"/>
              </a:solidFill>
              <a:latin typeface="Times New Roman" pitchFamily="18" charset="0"/>
              <a:cs typeface="Times New Roman" pitchFamily="18" charset="0"/>
            </a:endParaRP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Use catalytic converters to help control the emissions of carbon monoxide and hydrocarbons.</a:t>
            </a:r>
            <a:endParaRPr lang="en-US" sz="2200" dirty="0">
              <a:solidFill>
                <a:srgbClr val="00B0F0"/>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143000"/>
            <a:ext cx="7848600" cy="5509200"/>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II Control measures in  industrial centre</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 emission rates should be restricted to permissible levels by each and every industry.</a:t>
            </a:r>
          </a:p>
          <a:p>
            <a:pPr>
              <a:buFont typeface="Wingdings" pitchFamily="2" charset="2"/>
              <a:buChar char="v"/>
            </a:pPr>
            <a:r>
              <a:rPr lang="en-US" sz="2200" dirty="0" smtClean="0">
                <a:solidFill>
                  <a:srgbClr val="FF0066"/>
                </a:solidFill>
                <a:latin typeface="Times New Roman" pitchFamily="18" charset="0"/>
                <a:cs typeface="Times New Roman" pitchFamily="18" charset="0"/>
              </a:rPr>
              <a:t>  Incorporation of air pollution control equipments in the design of the plant layout must be made mandatory.</a:t>
            </a:r>
          </a:p>
          <a:p>
            <a:pPr>
              <a:buFont typeface="Wingdings" pitchFamily="2" charset="2"/>
              <a:buChar char="v"/>
            </a:pPr>
            <a:r>
              <a:rPr lang="en-US" sz="2200" dirty="0" smtClean="0">
                <a:solidFill>
                  <a:srgbClr val="FF0066"/>
                </a:solidFill>
                <a:latin typeface="Times New Roman" pitchFamily="18" charset="0"/>
                <a:cs typeface="Times New Roman" pitchFamily="18" charset="0"/>
              </a:rPr>
              <a:t>  Continuous monitoring of the atmosphere for the pollutants should be carried out to know the emission levels.</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Equipments used to control air pollution</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Air pollution can be reduced by adopting the following approaches.</a:t>
            </a:r>
          </a:p>
          <a:p>
            <a:endParaRPr lang="en-US" sz="2200" dirty="0" smtClean="0">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To ensure sufficient supply of oxygen to the combustion chamber and adequate temperature so that the combustion is complete, eliminating much of the smoke consisting of partly burnt ashes and dust.</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143000"/>
            <a:ext cx="8001000" cy="4832092"/>
          </a:xfrm>
          <a:prstGeom prst="rect">
            <a:avLst/>
          </a:prstGeom>
        </p:spPr>
        <p:txBody>
          <a:bodyPr wrap="square">
            <a:spAutoFit/>
          </a:bodyPr>
          <a:lstStyle/>
          <a:p>
            <a:pPr>
              <a:buFont typeface="Wingdings" pitchFamily="2" charset="2"/>
              <a:buChar char="q"/>
            </a:pPr>
            <a:r>
              <a:rPr lang="en-US" sz="2200" dirty="0" smtClean="0">
                <a:solidFill>
                  <a:srgbClr val="FF0066"/>
                </a:solidFill>
                <a:latin typeface="Times New Roman" pitchFamily="18" charset="0"/>
                <a:cs typeface="Times New Roman" pitchFamily="18" charset="0"/>
              </a:rPr>
              <a:t>  To use mechanical devices such as scrubbers, cyclones, bag houses and electro-static precipitators, reducing particulate pollutants..</a:t>
            </a:r>
          </a:p>
          <a:p>
            <a:endParaRPr lang="en-US" sz="2200" dirty="0" smtClean="0">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The four figures (fig 2.1) are commonly used control methods for removing particulates from the exhaust gases of electric power and industrial plants. </a:t>
            </a:r>
          </a:p>
          <a:p>
            <a:pPr>
              <a:buFont typeface="Wingdings" pitchFamily="2" charset="2"/>
              <a:buChar char="v"/>
            </a:pPr>
            <a:r>
              <a:rPr lang="en-US" sz="2200" dirty="0" smtClean="0">
                <a:solidFill>
                  <a:srgbClr val="FF0066"/>
                </a:solidFill>
                <a:latin typeface="Times New Roman" pitchFamily="18" charset="0"/>
                <a:cs typeface="Times New Roman" pitchFamily="18" charset="0"/>
              </a:rPr>
              <a:t>All these methods retain hazardous materials that must be disposed of safely.</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 wet scrubber can also reduce </a:t>
            </a:r>
            <a:r>
              <a:rPr lang="en-US" sz="2200" dirty="0" err="1" smtClean="0">
                <a:solidFill>
                  <a:srgbClr val="FF0066"/>
                </a:solidFill>
                <a:latin typeface="Times New Roman" pitchFamily="18" charset="0"/>
                <a:cs typeface="Times New Roman" pitchFamily="18" charset="0"/>
              </a:rPr>
              <a:t>sulphurdioxide</a:t>
            </a:r>
            <a:r>
              <a:rPr lang="en-US" sz="2200" dirty="0" smtClean="0">
                <a:solidFill>
                  <a:srgbClr val="FF0066"/>
                </a:solidFill>
                <a:latin typeface="Times New Roman" pitchFamily="18" charset="0"/>
                <a:cs typeface="Times New Roman" pitchFamily="18" charset="0"/>
              </a:rPr>
              <a:t> emissions.</a:t>
            </a:r>
          </a:p>
          <a:p>
            <a:endParaRPr lang="en-US" sz="2200" dirty="0" smtClean="0">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Chemical treatment to deal with factory fumes. The disposal of the collected air pollutants is equally important for successful control of air pollution.</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prstClr val="black"/>
              <a:schemeClr val="accent6">
                <a:tint val="45000"/>
                <a:satMod val="400000"/>
              </a:schemeClr>
            </a:duotone>
          </a:blip>
          <a:srcRect/>
          <a:stretch>
            <a:fillRect/>
          </a:stretch>
        </p:blipFill>
        <p:spPr bwMode="auto">
          <a:xfrm>
            <a:off x="990600" y="1828800"/>
            <a:ext cx="7086599" cy="4724400"/>
          </a:xfrm>
          <a:prstGeom prst="rect">
            <a:avLst/>
          </a:prstGeom>
          <a:noFill/>
          <a:ln w="9525">
            <a:noFill/>
            <a:miter lim="800000"/>
            <a:headEnd/>
            <a:tailEnd/>
          </a:ln>
          <a:effectLst/>
        </p:spPr>
      </p:pic>
      <p:sp>
        <p:nvSpPr>
          <p:cNvPr id="3" name="Rectangle 2"/>
          <p:cNvSpPr/>
          <p:nvPr/>
        </p:nvSpPr>
        <p:spPr>
          <a:xfrm>
            <a:off x="304800" y="1143000"/>
            <a:ext cx="7924800" cy="400110"/>
          </a:xfrm>
          <a:prstGeom prst="rect">
            <a:avLst/>
          </a:prstGeom>
        </p:spPr>
        <p:txBody>
          <a:bodyPr wrap="square">
            <a:spAutoFit/>
          </a:bodyPr>
          <a:lstStyle/>
          <a:p>
            <a:r>
              <a:rPr lang="en-US" sz="2000" b="1" dirty="0" smtClean="0">
                <a:solidFill>
                  <a:srgbClr val="FF0000"/>
                </a:solidFill>
                <a:latin typeface="Times New Roman" pitchFamily="18" charset="0"/>
                <a:cs typeface="Times New Roman" pitchFamily="18" charset="0"/>
              </a:rPr>
              <a:t>Fig. 2.1 Control methods for removing particulates from exhaust gases</a:t>
            </a:r>
            <a:endParaRPr lang="en-US" sz="2000" dirty="0">
              <a:solidFill>
                <a:srgbClr val="FF0000"/>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838200"/>
            <a:ext cx="7924800" cy="5847755"/>
          </a:xfrm>
          <a:prstGeom prst="rect">
            <a:avLst/>
          </a:prstGeom>
        </p:spPr>
        <p:txBody>
          <a:bodyPr wrap="square">
            <a:spAutoFit/>
          </a:bodyPr>
          <a:lstStyle/>
          <a:p>
            <a:r>
              <a:rPr lang="en-US" sz="2200" b="1" dirty="0" smtClean="0">
                <a:solidFill>
                  <a:srgbClr val="0B8319"/>
                </a:solidFill>
                <a:latin typeface="Times New Roman" pitchFamily="18" charset="0"/>
                <a:cs typeface="Times New Roman" pitchFamily="18" charset="0"/>
              </a:rPr>
              <a:t>2.3 WATER POLLUTION</a:t>
            </a:r>
          </a:p>
          <a:p>
            <a:endParaRPr lang="en-US" sz="2200" b="1" dirty="0" smtClean="0">
              <a:latin typeface="Times New Roman" pitchFamily="18" charset="0"/>
              <a:cs typeface="Times New Roman" pitchFamily="18" charset="0"/>
            </a:endParaRPr>
          </a:p>
          <a:p>
            <a:r>
              <a:rPr lang="en-US" sz="2200" b="1" dirty="0" smtClean="0">
                <a:solidFill>
                  <a:srgbClr val="663300"/>
                </a:solidFill>
                <a:latin typeface="Times New Roman" pitchFamily="18" charset="0"/>
                <a:cs typeface="Times New Roman" pitchFamily="18" charset="0"/>
              </a:rPr>
              <a:t>Definition</a:t>
            </a:r>
          </a:p>
          <a:p>
            <a:r>
              <a:rPr lang="en-US" sz="2200" i="1" dirty="0" smtClean="0">
                <a:solidFill>
                  <a:srgbClr val="FF0066"/>
                </a:solidFill>
                <a:latin typeface="Times New Roman" pitchFamily="18" charset="0"/>
                <a:cs typeface="Times New Roman" pitchFamily="18" charset="0"/>
              </a:rPr>
              <a:t>Water pollution may be defined as</a:t>
            </a:r>
            <a:r>
              <a:rPr lang="en-US" sz="2200" b="1" i="1" dirty="0" smtClean="0">
                <a:solidFill>
                  <a:srgbClr val="FF0066"/>
                </a:solidFill>
                <a:latin typeface="Times New Roman" pitchFamily="18" charset="0"/>
                <a:cs typeface="Times New Roman" pitchFamily="18" charset="0"/>
              </a:rPr>
              <a:t>, </a:t>
            </a:r>
            <a:r>
              <a:rPr lang="en-US" sz="2200" b="1" i="1" dirty="0" smtClean="0">
                <a:solidFill>
                  <a:srgbClr val="00B0F0"/>
                </a:solidFill>
                <a:latin typeface="Times New Roman" pitchFamily="18" charset="0"/>
                <a:cs typeface="Times New Roman" pitchFamily="18" charset="0"/>
              </a:rPr>
              <a:t>“the alteration in physical, chemical and biological characteristics of water which may cause harmful effects on humans and aquatic life.”</a:t>
            </a:r>
          </a:p>
          <a:p>
            <a:endParaRPr lang="en-US" sz="2200" b="1" i="1" dirty="0" smtClean="0">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The pollutants include sewage, industrial chemicals and effluents, oil and other wastes.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Besides, chemicals from the air dissolved in rain water, and fertilizers, pesticides and herbicides leached from the land also pollute water.</a:t>
            </a:r>
          </a:p>
          <a:p>
            <a:endParaRPr lang="en-US" sz="2200" dirty="0" smtClean="0">
              <a:latin typeface="Times New Roman" pitchFamily="18" charset="0"/>
              <a:cs typeface="Times New Roman" pitchFamily="18" charset="0"/>
            </a:endParaRPr>
          </a:p>
          <a:p>
            <a:r>
              <a:rPr lang="en-US" sz="2200" b="1" i="1" dirty="0" smtClean="0">
                <a:solidFill>
                  <a:srgbClr val="0000CC"/>
                </a:solidFill>
                <a:latin typeface="Times New Roman" pitchFamily="18" charset="0"/>
                <a:cs typeface="Times New Roman" pitchFamily="18" charset="0"/>
              </a:rPr>
              <a:t>2.3.1 Types, effects and sources (causes) of water pollution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Water pollution is any chemical, biological (or) physical change in water quality that has a harmful effect on living organisms (or) makes water unsuitable for desired uses.</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838200"/>
            <a:ext cx="8458200" cy="5847755"/>
          </a:xfrm>
          <a:prstGeom prst="rect">
            <a:avLst/>
          </a:prstGeom>
        </p:spPr>
        <p:txBody>
          <a:bodyPr wrap="square">
            <a:spAutoFit/>
          </a:bodyPr>
          <a:lstStyle/>
          <a:p>
            <a:r>
              <a:rPr lang="en-US" sz="2200" b="1" dirty="0" smtClean="0">
                <a:latin typeface="Times New Roman" pitchFamily="18" charset="0"/>
                <a:cs typeface="Times New Roman" pitchFamily="18" charset="0"/>
              </a:rPr>
              <a:t> </a:t>
            </a:r>
            <a:r>
              <a:rPr lang="en-US" sz="2200" b="1" dirty="0" smtClean="0">
                <a:solidFill>
                  <a:srgbClr val="FF9900"/>
                </a:solidFill>
                <a:latin typeface="Times New Roman" pitchFamily="18" charset="0"/>
                <a:cs typeface="Times New Roman" pitchFamily="18" charset="0"/>
              </a:rPr>
              <a:t>1. Infectious </a:t>
            </a:r>
            <a:r>
              <a:rPr lang="en-US" sz="2200" b="1" dirty="0" err="1" smtClean="0">
                <a:solidFill>
                  <a:srgbClr val="FF9900"/>
                </a:solidFill>
                <a:latin typeface="Times New Roman" pitchFamily="18" charset="0"/>
                <a:cs typeface="Times New Roman" pitchFamily="18" charset="0"/>
              </a:rPr>
              <a:t>Agens</a:t>
            </a:r>
            <a:endParaRPr lang="en-US" sz="2200" b="1" dirty="0" smtClean="0">
              <a:solidFill>
                <a:srgbClr val="FF9900"/>
              </a:solidFill>
              <a:latin typeface="Times New Roman" pitchFamily="18" charset="0"/>
              <a:cs typeface="Times New Roman" pitchFamily="18" charset="0"/>
            </a:endParaRPr>
          </a:p>
          <a:p>
            <a:r>
              <a:rPr lang="en-US" sz="2200" b="1" dirty="0" smtClean="0">
                <a:latin typeface="Times New Roman" pitchFamily="18" charset="0"/>
                <a:cs typeface="Times New Roman" pitchFamily="18" charset="0"/>
              </a:rPr>
              <a:t>Example: </a:t>
            </a:r>
            <a:r>
              <a:rPr lang="en-US" sz="2200" i="1" dirty="0" smtClean="0">
                <a:solidFill>
                  <a:srgbClr val="FF0066"/>
                </a:solidFill>
                <a:latin typeface="Times New Roman" pitchFamily="18" charset="0"/>
                <a:cs typeface="Times New Roman" pitchFamily="18" charset="0"/>
              </a:rPr>
              <a:t>Bacteria, viruses, protozoa and parasitic worms.</a:t>
            </a:r>
          </a:p>
          <a:p>
            <a:endParaRPr lang="en-US" sz="2200" i="1" dirty="0" smtClean="0">
              <a:solidFill>
                <a:srgbClr val="663300"/>
              </a:solidFill>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Human Sources (causes)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Human and animals wastes.</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Effects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Variety of diseases.</a:t>
            </a:r>
          </a:p>
          <a:p>
            <a:endParaRPr lang="en-US" sz="2200" b="1"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2. Oxygen Demanding Wastes  (Dissolved  Oxygen)</a:t>
            </a:r>
          </a:p>
          <a:p>
            <a:r>
              <a:rPr lang="en-US" sz="2200" b="1" dirty="0" smtClean="0">
                <a:latin typeface="Times New Roman" pitchFamily="18" charset="0"/>
                <a:cs typeface="Times New Roman" pitchFamily="18" charset="0"/>
              </a:rPr>
              <a:t>Example: </a:t>
            </a:r>
            <a:r>
              <a:rPr lang="en-US" sz="2200" i="1" dirty="0" smtClean="0">
                <a:solidFill>
                  <a:srgbClr val="FF0066"/>
                </a:solidFill>
                <a:latin typeface="Times New Roman" pitchFamily="18" charset="0"/>
                <a:cs typeface="Times New Roman" pitchFamily="18" charset="0"/>
              </a:rPr>
              <a:t>Organic wastes such as animal manure and plant debris that can be decomposed by aerobic (oxygen-requiring) bacteria.</a:t>
            </a:r>
          </a:p>
          <a:p>
            <a:endParaRPr lang="en-US" sz="2200" i="1" dirty="0" smtClean="0">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This degradation consumes dissolved oxygen in water. </a:t>
            </a:r>
          </a:p>
          <a:p>
            <a:pPr>
              <a:buFont typeface="Wingdings" pitchFamily="2" charset="2"/>
              <a:buChar char="v"/>
            </a:pPr>
            <a:r>
              <a:rPr lang="en-US" sz="2200" dirty="0" smtClean="0">
                <a:solidFill>
                  <a:srgbClr val="FF0066"/>
                </a:solidFill>
                <a:latin typeface="Times New Roman" pitchFamily="18" charset="0"/>
                <a:cs typeface="Times New Roman" pitchFamily="18" charset="0"/>
              </a:rPr>
              <a:t>  Dissolved oxygen (DO) is the amount of oxygen dissolved in a given quantity of water at a particular pressure and temperature.</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 saturated point of DO varies from 8-15 mg/lit.</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66800"/>
            <a:ext cx="8305800" cy="5509200"/>
          </a:xfrm>
          <a:prstGeom prst="rect">
            <a:avLst/>
          </a:prstGeom>
        </p:spPr>
        <p:txBody>
          <a:bodyPr wrap="square">
            <a:spAutoFit/>
          </a:bodyPr>
          <a:lstStyle/>
          <a:p>
            <a:r>
              <a:rPr lang="en-US" sz="2200" b="1" i="1" dirty="0" smtClean="0">
                <a:solidFill>
                  <a:srgbClr val="663300"/>
                </a:solidFill>
                <a:latin typeface="Times New Roman" pitchFamily="18" charset="0"/>
                <a:cs typeface="Times New Roman" pitchFamily="18" charset="0"/>
              </a:rPr>
              <a:t>Human Sources (causes)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Sewage, animal feedlots, paper mills, and food processing facilities.</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Effects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Large populations of bacteria decomposing these wastes can degrade water quality by depleting water of dissolved oxygen.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This causes fish and other forms of oxygen-consuming aquatic life to die.</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3. Inorganic Chemical </a:t>
            </a:r>
          </a:p>
          <a:p>
            <a:r>
              <a:rPr lang="en-US" sz="2200" b="1" dirty="0" smtClean="0">
                <a:latin typeface="Times New Roman" pitchFamily="18" charset="0"/>
                <a:cs typeface="Times New Roman" pitchFamily="18" charset="0"/>
              </a:rPr>
              <a:t>Example: </a:t>
            </a:r>
            <a:r>
              <a:rPr lang="en-US" sz="2200" b="1" i="1" dirty="0" smtClean="0">
                <a:solidFill>
                  <a:srgbClr val="FF0066"/>
                </a:solidFill>
                <a:latin typeface="Times New Roman" pitchFamily="18" charset="0"/>
                <a:cs typeface="Times New Roman" pitchFamily="18" charset="0"/>
              </a:rPr>
              <a:t>Water soluble inorganic chemicals.</a:t>
            </a:r>
          </a:p>
          <a:p>
            <a:pPr lvl="1">
              <a:buFont typeface="Wingdings" pitchFamily="2" charset="2"/>
              <a:buChar char="ü"/>
            </a:pPr>
            <a:r>
              <a:rPr lang="en-US" sz="2200" i="1" dirty="0" smtClean="0">
                <a:solidFill>
                  <a:srgbClr val="00B0F0"/>
                </a:solidFill>
                <a:latin typeface="Times New Roman" pitchFamily="18" charset="0"/>
                <a:cs typeface="Times New Roman" pitchFamily="18" charset="0"/>
              </a:rPr>
              <a:t>  acids,</a:t>
            </a:r>
          </a:p>
          <a:p>
            <a:pPr lvl="1">
              <a:buFont typeface="Wingdings" pitchFamily="2" charset="2"/>
              <a:buChar char="ü"/>
            </a:pPr>
            <a:r>
              <a:rPr lang="en-US" sz="2200" i="1" dirty="0" smtClean="0">
                <a:solidFill>
                  <a:srgbClr val="00B0F0"/>
                </a:solidFill>
                <a:latin typeface="Times New Roman" pitchFamily="18" charset="0"/>
                <a:cs typeface="Times New Roman" pitchFamily="18" charset="0"/>
              </a:rPr>
              <a:t>  compounds of toxic metals such as lead (</a:t>
            </a:r>
            <a:r>
              <a:rPr lang="en-US" sz="2200" i="1" dirty="0" err="1" smtClean="0">
                <a:solidFill>
                  <a:srgbClr val="00B0F0"/>
                </a:solidFill>
                <a:latin typeface="Times New Roman" pitchFamily="18" charset="0"/>
                <a:cs typeface="Times New Roman" pitchFamily="18" charset="0"/>
              </a:rPr>
              <a:t>Pb</a:t>
            </a:r>
            <a:r>
              <a:rPr lang="en-US" sz="2200" i="1" dirty="0" smtClean="0">
                <a:solidFill>
                  <a:srgbClr val="00B0F0"/>
                </a:solidFill>
                <a:latin typeface="Times New Roman" pitchFamily="18" charset="0"/>
                <a:cs typeface="Times New Roman" pitchFamily="18" charset="0"/>
              </a:rPr>
              <a:t>), arsenic (As) and selenium (Se) and</a:t>
            </a:r>
          </a:p>
          <a:p>
            <a:pPr lvl="1">
              <a:buFont typeface="Wingdings" pitchFamily="2" charset="2"/>
              <a:buChar char="ü"/>
            </a:pPr>
            <a:r>
              <a:rPr lang="en-US" sz="2200" i="1" dirty="0" smtClean="0">
                <a:solidFill>
                  <a:srgbClr val="00B0F0"/>
                </a:solidFill>
                <a:latin typeface="Times New Roman" pitchFamily="18" charset="0"/>
                <a:cs typeface="Times New Roman" pitchFamily="18" charset="0"/>
              </a:rPr>
              <a:t>  salts such as </a:t>
            </a:r>
            <a:r>
              <a:rPr lang="en-US" sz="2200" i="1" dirty="0" err="1" smtClean="0">
                <a:solidFill>
                  <a:srgbClr val="00B0F0"/>
                </a:solidFill>
                <a:latin typeface="Times New Roman" pitchFamily="18" charset="0"/>
                <a:cs typeface="Times New Roman" pitchFamily="18" charset="0"/>
              </a:rPr>
              <a:t>NaCl</a:t>
            </a:r>
            <a:r>
              <a:rPr lang="en-US" sz="2200" i="1" dirty="0" smtClean="0">
                <a:solidFill>
                  <a:srgbClr val="00B0F0"/>
                </a:solidFill>
                <a:latin typeface="Times New Roman" pitchFamily="18" charset="0"/>
                <a:cs typeface="Times New Roman" pitchFamily="18" charset="0"/>
              </a:rPr>
              <a:t> in ocean water and fluorides </a:t>
            </a:r>
            <a:r>
              <a:rPr lang="en-US" sz="2200" dirty="0" smtClean="0">
                <a:solidFill>
                  <a:srgbClr val="00B0F0"/>
                </a:solidFill>
                <a:latin typeface="Times New Roman" pitchFamily="18" charset="0"/>
                <a:cs typeface="Times New Roman" pitchFamily="18" charset="0"/>
              </a:rPr>
              <a:t>(</a:t>
            </a:r>
            <a:r>
              <a:rPr lang="en-US" sz="2200" i="1" dirty="0" smtClean="0">
                <a:solidFill>
                  <a:srgbClr val="00B0F0"/>
                </a:solidFill>
                <a:latin typeface="Times New Roman" pitchFamily="18" charset="0"/>
                <a:cs typeface="Times New Roman" pitchFamily="18" charset="0"/>
              </a:rPr>
              <a:t>F−) found in some soils.</a:t>
            </a:r>
          </a:p>
        </p:txBody>
      </p:sp>
    </p:spTree>
  </p:cSld>
  <p:clrMapOvr>
    <a:masterClrMapping/>
  </p:clrMapOvr>
  <p:transition spd="slow">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90600"/>
            <a:ext cx="8153400" cy="5170646"/>
          </a:xfrm>
          <a:prstGeom prst="rect">
            <a:avLst/>
          </a:prstGeom>
        </p:spPr>
        <p:txBody>
          <a:bodyPr wrap="square">
            <a:spAutoFit/>
          </a:bodyPr>
          <a:lstStyle/>
          <a:p>
            <a:r>
              <a:rPr lang="en-US" sz="2200" b="1" i="1" dirty="0" smtClean="0">
                <a:solidFill>
                  <a:srgbClr val="663300"/>
                </a:solidFill>
                <a:latin typeface="Times New Roman" pitchFamily="18" charset="0"/>
                <a:cs typeface="Times New Roman" pitchFamily="18" charset="0"/>
              </a:rPr>
              <a:t>Human Sources (causes)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Surface runoff, industrial effluents and household cleansers</a:t>
            </a:r>
          </a:p>
          <a:p>
            <a:endParaRPr lang="en-US" sz="2200" dirty="0" smtClean="0">
              <a:latin typeface="Times New Roman" pitchFamily="18" charset="0"/>
              <a:cs typeface="Times New Roman" pitchFamily="18" charset="0"/>
            </a:endParaRPr>
          </a:p>
          <a:p>
            <a:r>
              <a:rPr lang="en-US" sz="2200" b="1" dirty="0" smtClean="0">
                <a:solidFill>
                  <a:srgbClr val="663300"/>
                </a:solidFill>
                <a:latin typeface="Times New Roman" pitchFamily="18" charset="0"/>
                <a:cs typeface="Times New Roman" pitchFamily="18" charset="0"/>
              </a:rPr>
              <a:t>Effects</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Can make fresh water unusable for drinking (or) irrigation.</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Causes skin cancers and neck damage.</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Damage the nervous system, liver and kidneys.</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Harm fish and other aquatic life.</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Lower crop yields.</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Accelerates corrosion of metals exposed to such water.</a:t>
            </a:r>
          </a:p>
          <a:p>
            <a:pPr lvl="2">
              <a:buFont typeface="Wingdings" pitchFamily="2" charset="2"/>
              <a:buChar char="ü"/>
            </a:pPr>
            <a:endParaRPr lang="en-US" sz="2200" dirty="0" smtClean="0">
              <a:latin typeface="Times New Roman" pitchFamily="18" charset="0"/>
              <a:cs typeface="Times New Roman" pitchFamily="18" charset="0"/>
            </a:endParaRPr>
          </a:p>
          <a:p>
            <a:r>
              <a:rPr lang="en-US" sz="2200" b="1" dirty="0" smtClean="0">
                <a:latin typeface="Times New Roman" pitchFamily="18" charset="0"/>
                <a:cs typeface="Times New Roman" pitchFamily="18" charset="0"/>
              </a:rPr>
              <a:t> </a:t>
            </a:r>
            <a:r>
              <a:rPr lang="en-US" sz="2200" b="1" dirty="0" smtClean="0">
                <a:solidFill>
                  <a:srgbClr val="FF9900"/>
                </a:solidFill>
                <a:latin typeface="Times New Roman" pitchFamily="18" charset="0"/>
                <a:cs typeface="Times New Roman" pitchFamily="18" charset="0"/>
              </a:rPr>
              <a:t>4. Organic Chemical</a:t>
            </a:r>
          </a:p>
          <a:p>
            <a:endParaRPr lang="en-US" sz="2200" b="1" dirty="0" smtClean="0">
              <a:latin typeface="Times New Roman" pitchFamily="18" charset="0"/>
              <a:cs typeface="Times New Roman" pitchFamily="18" charset="0"/>
            </a:endParaRPr>
          </a:p>
          <a:p>
            <a:r>
              <a:rPr lang="en-US" sz="2200" b="1" dirty="0" smtClean="0">
                <a:latin typeface="Times New Roman" pitchFamily="18" charset="0"/>
                <a:cs typeface="Times New Roman" pitchFamily="18" charset="0"/>
              </a:rPr>
              <a:t>Examples </a:t>
            </a:r>
            <a:r>
              <a:rPr lang="en-US" sz="2200" i="1" dirty="0" smtClean="0">
                <a:solidFill>
                  <a:srgbClr val="FF0066"/>
                </a:solidFill>
                <a:latin typeface="Times New Roman" pitchFamily="18" charset="0"/>
                <a:cs typeface="Times New Roman" pitchFamily="18" charset="0"/>
              </a:rPr>
              <a:t>Oil, gasoline, plastics, pesticides, cleaning solvents, detergents.</a:t>
            </a:r>
          </a:p>
        </p:txBody>
      </p:sp>
    </p:spTree>
  </p:cSld>
  <p:clrMapOvr>
    <a:masterClrMapping/>
  </p:clrMapOvr>
  <p:transition spd="slow">
    <p:push/>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66800"/>
            <a:ext cx="7696200" cy="5509200"/>
          </a:xfrm>
          <a:prstGeom prst="rect">
            <a:avLst/>
          </a:prstGeom>
          <a:solidFill>
            <a:schemeClr val="accent5">
              <a:lumMod val="40000"/>
              <a:lumOff val="60000"/>
            </a:schemeClr>
          </a:solidFill>
        </p:spPr>
        <p:txBody>
          <a:bodyPr wrap="square">
            <a:spAutoFit/>
          </a:bodyPr>
          <a:lstStyle/>
          <a:p>
            <a:r>
              <a:rPr lang="en-US" sz="2200" b="1" i="1" dirty="0" smtClean="0">
                <a:solidFill>
                  <a:srgbClr val="663300"/>
                </a:solidFill>
                <a:latin typeface="Times New Roman" pitchFamily="18" charset="0"/>
                <a:cs typeface="Times New Roman" pitchFamily="18" charset="0"/>
              </a:rPr>
              <a:t>Human Sources (causes)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Industrial effluents, household cleansers, surface runoff from farms.</a:t>
            </a:r>
          </a:p>
          <a:p>
            <a:endParaRPr lang="en-US" sz="2200" b="1" i="1"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Effects</a:t>
            </a: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Can threaten human health by causing nervous system damage and some cancers.</a:t>
            </a: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Harm fish and wild life.</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5. Plant Nutrients</a:t>
            </a:r>
          </a:p>
          <a:p>
            <a:r>
              <a:rPr lang="en-US" sz="2200" b="1" dirty="0" smtClean="0">
                <a:latin typeface="Times New Roman" pitchFamily="18" charset="0"/>
                <a:cs typeface="Times New Roman" pitchFamily="18" charset="0"/>
              </a:rPr>
              <a:t>Examples </a:t>
            </a:r>
            <a:r>
              <a:rPr lang="en-US" sz="2200" i="1" dirty="0" smtClean="0">
                <a:solidFill>
                  <a:srgbClr val="FF0066"/>
                </a:solidFill>
                <a:latin typeface="Times New Roman" pitchFamily="18" charset="0"/>
                <a:cs typeface="Times New Roman" pitchFamily="18" charset="0"/>
              </a:rPr>
              <a:t>Water-soluble compounds containing nitrate </a:t>
            </a:r>
            <a:r>
              <a:rPr lang="en-US" sz="2200" dirty="0" smtClean="0">
                <a:solidFill>
                  <a:srgbClr val="FF0066"/>
                </a:solidFill>
                <a:latin typeface="Times New Roman" pitchFamily="18" charset="0"/>
                <a:cs typeface="Times New Roman" pitchFamily="18" charset="0"/>
              </a:rPr>
              <a:t>( </a:t>
            </a:r>
            <a:r>
              <a:rPr lang="en-US" sz="2200" i="1" dirty="0" smtClean="0">
                <a:solidFill>
                  <a:srgbClr val="FF0066"/>
                </a:solidFill>
                <a:latin typeface="Times New Roman" pitchFamily="18" charset="0"/>
                <a:cs typeface="Times New Roman" pitchFamily="18" charset="0"/>
              </a:rPr>
              <a:t>NO    </a:t>
            </a:r>
            <a:r>
              <a:rPr lang="en-US" sz="2200" dirty="0" smtClean="0">
                <a:solidFill>
                  <a:srgbClr val="FF0066"/>
                </a:solidFill>
                <a:latin typeface="Times New Roman" pitchFamily="18" charset="0"/>
                <a:cs typeface="Times New Roman" pitchFamily="18" charset="0"/>
              </a:rPr>
              <a:t>)</a:t>
            </a:r>
            <a:r>
              <a:rPr lang="en-US" sz="2200" i="1" dirty="0" smtClean="0">
                <a:solidFill>
                  <a:srgbClr val="FF0066"/>
                </a:solidFill>
                <a:latin typeface="Times New Roman" pitchFamily="18" charset="0"/>
                <a:cs typeface="Times New Roman" pitchFamily="18" charset="0"/>
              </a:rPr>
              <a:t>, phosphate (PO     </a:t>
            </a:r>
            <a:r>
              <a:rPr lang="en-US" sz="2200" dirty="0" smtClean="0">
                <a:solidFill>
                  <a:srgbClr val="FF0066"/>
                </a:solidFill>
                <a:latin typeface="Times New Roman" pitchFamily="18" charset="0"/>
                <a:cs typeface="Times New Roman" pitchFamily="18" charset="0"/>
              </a:rPr>
              <a:t>) </a:t>
            </a:r>
            <a:r>
              <a:rPr lang="en-US" sz="2200" i="1" dirty="0" smtClean="0">
                <a:solidFill>
                  <a:srgbClr val="FF0066"/>
                </a:solidFill>
                <a:latin typeface="Times New Roman" pitchFamily="18" charset="0"/>
                <a:cs typeface="Times New Roman" pitchFamily="18" charset="0"/>
              </a:rPr>
              <a:t>and ammonium </a:t>
            </a:r>
            <a:r>
              <a:rPr lang="en-US" sz="2200" dirty="0" smtClean="0">
                <a:solidFill>
                  <a:srgbClr val="FF0066"/>
                </a:solidFill>
                <a:latin typeface="Times New Roman" pitchFamily="18" charset="0"/>
                <a:cs typeface="Times New Roman" pitchFamily="18" charset="0"/>
              </a:rPr>
              <a:t>(</a:t>
            </a:r>
            <a:r>
              <a:rPr lang="en-US" sz="2200" i="1" dirty="0" smtClean="0">
                <a:solidFill>
                  <a:srgbClr val="FF0066"/>
                </a:solidFill>
                <a:latin typeface="Times New Roman" pitchFamily="18" charset="0"/>
                <a:cs typeface="Times New Roman" pitchFamily="18" charset="0"/>
              </a:rPr>
              <a:t>NH   </a:t>
            </a:r>
            <a:r>
              <a:rPr lang="en-US" sz="2200" dirty="0" smtClean="0">
                <a:solidFill>
                  <a:srgbClr val="FF0066"/>
                </a:solidFill>
                <a:latin typeface="Times New Roman" pitchFamily="18" charset="0"/>
                <a:cs typeface="Times New Roman" pitchFamily="18" charset="0"/>
              </a:rPr>
              <a:t>) </a:t>
            </a:r>
            <a:r>
              <a:rPr lang="en-US" sz="2200" i="1" dirty="0" smtClean="0">
                <a:solidFill>
                  <a:srgbClr val="FF0066"/>
                </a:solidFill>
                <a:latin typeface="Times New Roman" pitchFamily="18" charset="0"/>
                <a:cs typeface="Times New Roman" pitchFamily="18" charset="0"/>
              </a:rPr>
              <a:t>ions.</a:t>
            </a:r>
          </a:p>
          <a:p>
            <a:endParaRPr lang="en-US" sz="2200" i="1"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Human Sources (causes)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Sewage, manure, and runoff of agricultural and urban fertilizers.</a:t>
            </a:r>
            <a:endParaRPr lang="en-US" sz="2200" dirty="0">
              <a:solidFill>
                <a:srgbClr val="FF0066"/>
              </a:solidFill>
              <a:latin typeface="Times New Roman" pitchFamily="18" charset="0"/>
              <a:cs typeface="Times New Roman" pitchFamily="18" charset="0"/>
            </a:endParaRPr>
          </a:p>
        </p:txBody>
      </p:sp>
      <p:sp>
        <p:nvSpPr>
          <p:cNvPr id="3" name="Rectangle 2"/>
          <p:cNvSpPr/>
          <p:nvPr/>
        </p:nvSpPr>
        <p:spPr>
          <a:xfrm>
            <a:off x="7391400" y="4724400"/>
            <a:ext cx="2286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3</a:t>
            </a:r>
            <a:endParaRPr lang="en-US" sz="2000" dirty="0">
              <a:solidFill>
                <a:srgbClr val="FF0066"/>
              </a:solidFill>
              <a:latin typeface="Times New Roman" pitchFamily="18" charset="0"/>
              <a:cs typeface="Times New Roman" pitchFamily="18" charset="0"/>
            </a:endParaRPr>
          </a:p>
        </p:txBody>
      </p:sp>
      <p:sp>
        <p:nvSpPr>
          <p:cNvPr id="4" name="Rectangle 3"/>
          <p:cNvSpPr/>
          <p:nvPr/>
        </p:nvSpPr>
        <p:spPr>
          <a:xfrm>
            <a:off x="7391400" y="4419600"/>
            <a:ext cx="2286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a:t>
            </a:r>
            <a:endParaRPr lang="en-US" sz="2000" dirty="0">
              <a:solidFill>
                <a:srgbClr val="FF0066"/>
              </a:solidFill>
              <a:latin typeface="Times New Roman" pitchFamily="18" charset="0"/>
              <a:cs typeface="Times New Roman" pitchFamily="18" charset="0"/>
            </a:endParaRPr>
          </a:p>
        </p:txBody>
      </p:sp>
      <p:sp>
        <p:nvSpPr>
          <p:cNvPr id="5" name="Rectangle 4"/>
          <p:cNvSpPr/>
          <p:nvPr/>
        </p:nvSpPr>
        <p:spPr>
          <a:xfrm>
            <a:off x="2286000" y="5029200"/>
            <a:ext cx="2286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4</a:t>
            </a:r>
            <a:endParaRPr lang="en-US" sz="2000" dirty="0">
              <a:solidFill>
                <a:srgbClr val="FF0066"/>
              </a:solidFill>
              <a:latin typeface="Times New Roman" pitchFamily="18" charset="0"/>
              <a:cs typeface="Times New Roman" pitchFamily="18" charset="0"/>
            </a:endParaRPr>
          </a:p>
        </p:txBody>
      </p:sp>
      <p:sp>
        <p:nvSpPr>
          <p:cNvPr id="6" name="Rectangle 5"/>
          <p:cNvSpPr/>
          <p:nvPr/>
        </p:nvSpPr>
        <p:spPr>
          <a:xfrm>
            <a:off x="2209800" y="4800600"/>
            <a:ext cx="4572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3-</a:t>
            </a:r>
            <a:endParaRPr lang="en-US" sz="2000" dirty="0">
              <a:solidFill>
                <a:srgbClr val="FF0066"/>
              </a:solidFill>
              <a:latin typeface="Times New Roman" pitchFamily="18" charset="0"/>
              <a:cs typeface="Times New Roman" pitchFamily="18" charset="0"/>
            </a:endParaRPr>
          </a:p>
        </p:txBody>
      </p:sp>
      <p:sp>
        <p:nvSpPr>
          <p:cNvPr id="7" name="Rectangle 6"/>
          <p:cNvSpPr/>
          <p:nvPr/>
        </p:nvSpPr>
        <p:spPr>
          <a:xfrm>
            <a:off x="5105400" y="5029200"/>
            <a:ext cx="1524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4</a:t>
            </a:r>
            <a:endParaRPr lang="en-US" sz="2000" dirty="0">
              <a:solidFill>
                <a:srgbClr val="FF0066"/>
              </a:solidFill>
              <a:latin typeface="Times New Roman" pitchFamily="18" charset="0"/>
              <a:cs typeface="Times New Roman" pitchFamily="18" charset="0"/>
            </a:endParaRPr>
          </a:p>
        </p:txBody>
      </p:sp>
      <p:sp>
        <p:nvSpPr>
          <p:cNvPr id="8" name="Rectangle 7"/>
          <p:cNvSpPr/>
          <p:nvPr/>
        </p:nvSpPr>
        <p:spPr>
          <a:xfrm>
            <a:off x="5029200" y="4800600"/>
            <a:ext cx="2286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a:t>
            </a:r>
            <a:endParaRPr lang="en-US" sz="20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10245"/>
            <a:ext cx="7924800" cy="5847755"/>
          </a:xfrm>
          <a:prstGeom prst="rect">
            <a:avLst/>
          </a:prstGeom>
        </p:spPr>
        <p:txBody>
          <a:bodyPr wrap="square">
            <a:spAutoFit/>
          </a:bodyPr>
          <a:lstStyle/>
          <a:p>
            <a:r>
              <a:rPr lang="en-US" sz="2200" b="1" i="1" dirty="0" smtClean="0">
                <a:solidFill>
                  <a:srgbClr val="663300"/>
                </a:solidFill>
                <a:latin typeface="Times New Roman" pitchFamily="18" charset="0"/>
                <a:cs typeface="Times New Roman" pitchFamily="18" charset="0"/>
              </a:rPr>
              <a:t>Effects</a:t>
            </a:r>
          </a:p>
          <a:p>
            <a:pPr marL="857250" lvl="1" indent="-400050">
              <a:buFont typeface="Wingdings" pitchFamily="2" charset="2"/>
              <a:buChar char="ü"/>
            </a:pPr>
            <a:r>
              <a:rPr lang="en-US" sz="2200" dirty="0" smtClean="0">
                <a:solidFill>
                  <a:srgbClr val="00B0F0"/>
                </a:solidFill>
                <a:latin typeface="Times New Roman" pitchFamily="18" charset="0"/>
                <a:cs typeface="Times New Roman" pitchFamily="18" charset="0"/>
              </a:rPr>
              <a:t>Can cause excessive growth of algae and other aquatic plants, which die, decay, deplete dissolved oxygen in water and kill the fish.</a:t>
            </a: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Drinking water with excessive levels of nitrates lower the oxygen carrying capacity of the blood and can kill urban children and infants.</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6. Sediment</a:t>
            </a:r>
          </a:p>
          <a:p>
            <a:r>
              <a:rPr lang="en-US" sz="2200" b="1" dirty="0" smtClean="0">
                <a:latin typeface="Times New Roman" pitchFamily="18" charset="0"/>
                <a:cs typeface="Times New Roman" pitchFamily="18" charset="0"/>
              </a:rPr>
              <a:t>Examples  </a:t>
            </a:r>
            <a:r>
              <a:rPr lang="en-US" sz="2200" b="1" i="1" dirty="0" smtClean="0">
                <a:solidFill>
                  <a:srgbClr val="FF0066"/>
                </a:solidFill>
                <a:latin typeface="Times New Roman" pitchFamily="18" charset="0"/>
                <a:cs typeface="Times New Roman" pitchFamily="18" charset="0"/>
              </a:rPr>
              <a:t>Soil, silt, etc.,</a:t>
            </a:r>
          </a:p>
          <a:p>
            <a:endParaRPr lang="en-US" sz="2200" b="1" i="1" dirty="0" smtClean="0">
              <a:solidFill>
                <a:srgbClr val="663300"/>
              </a:solidFill>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Human Sources (causes)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Land erosion.</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Effects</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Can reduce photosynthesis and cloud water.</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Disrupt aquatic food webs.</a:t>
            </a:r>
          </a:p>
        </p:txBody>
      </p:sp>
    </p:spTree>
  </p:cSld>
  <p:clrMapOvr>
    <a:masterClrMapping/>
  </p:clrMapOvr>
  <p:transition spd="slow">
    <p:push/>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09600" y="1219200"/>
            <a:ext cx="8153400" cy="5170646"/>
          </a:xfrm>
          <a:prstGeom prst="rect">
            <a:avLst/>
          </a:prstGeom>
        </p:spPr>
        <p:txBody>
          <a:bodyPr wrap="square">
            <a:spAutoFit/>
          </a:bodyPr>
          <a:lstStyle/>
          <a:p>
            <a:pPr lvl="1">
              <a:buFont typeface="Wingdings" pitchFamily="2" charset="2"/>
              <a:buChar char="ü"/>
            </a:pPr>
            <a:r>
              <a:rPr lang="en-US" sz="2200" dirty="0" smtClean="0">
                <a:solidFill>
                  <a:srgbClr val="00B0F0"/>
                </a:solidFill>
                <a:latin typeface="Times New Roman" pitchFamily="18" charset="0"/>
                <a:cs typeface="Times New Roman" pitchFamily="18" charset="0"/>
              </a:rPr>
              <a:t>  Carry pesticides, bacteria, and other harmful substances.</a:t>
            </a: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Settle out and destroy feeding and spawning rounds of fish.</a:t>
            </a: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Clog and fill lakes, artificial reservoirs, stream channels and </a:t>
            </a:r>
            <a:r>
              <a:rPr lang="en-US" sz="2200" dirty="0" err="1" smtClean="0">
                <a:solidFill>
                  <a:srgbClr val="00B0F0"/>
                </a:solidFill>
                <a:latin typeface="Times New Roman" pitchFamily="18" charset="0"/>
                <a:cs typeface="Times New Roman" pitchFamily="18" charset="0"/>
              </a:rPr>
              <a:t>harbours</a:t>
            </a:r>
            <a:r>
              <a:rPr lang="en-US" sz="2200" dirty="0" smtClean="0">
                <a:solidFill>
                  <a:srgbClr val="00B0F0"/>
                </a:solidFill>
                <a:latin typeface="Times New Roman" pitchFamily="18" charset="0"/>
                <a:cs typeface="Times New Roman" pitchFamily="18" charset="0"/>
              </a:rPr>
              <a:t>.</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7. Radioactive Materials</a:t>
            </a:r>
            <a:r>
              <a:rPr lang="en-US" sz="2200" dirty="0" smtClean="0">
                <a:solidFill>
                  <a:srgbClr val="FF9900"/>
                </a:solidFill>
                <a:latin typeface="Times New Roman" pitchFamily="18" charset="0"/>
                <a:cs typeface="Times New Roman" pitchFamily="18" charset="0"/>
              </a:rPr>
              <a:t> </a:t>
            </a:r>
          </a:p>
          <a:p>
            <a:r>
              <a:rPr lang="en-US" sz="2200" b="1" dirty="0" smtClean="0">
                <a:latin typeface="Times New Roman" pitchFamily="18" charset="0"/>
                <a:cs typeface="Times New Roman" pitchFamily="18" charset="0"/>
              </a:rPr>
              <a:t>Examples  </a:t>
            </a:r>
            <a:r>
              <a:rPr lang="en-US" sz="2200" i="1" dirty="0" smtClean="0">
                <a:solidFill>
                  <a:srgbClr val="FF0066"/>
                </a:solidFill>
                <a:latin typeface="Times New Roman" pitchFamily="18" charset="0"/>
                <a:cs typeface="Times New Roman" pitchFamily="18" charset="0"/>
              </a:rPr>
              <a:t>Radioactive isotopes of iodine, radon, uranium, cesium, and thorium.</a:t>
            </a:r>
          </a:p>
          <a:p>
            <a:endParaRPr lang="en-US" sz="2200" i="1" dirty="0" smtClean="0">
              <a:solidFill>
                <a:srgbClr val="663300"/>
              </a:solidFill>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Human Sources (causes)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Nuclear power plants, mining and processing of uranium and other ores, nuclear weapons production and natural sources.</a:t>
            </a:r>
          </a:p>
          <a:p>
            <a:endParaRPr lang="en-US" sz="2200" dirty="0" smtClean="0">
              <a:solidFill>
                <a:srgbClr val="663300"/>
              </a:solidFill>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Effects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Genetic mutations, birth defects, and certain cancers.</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10245"/>
            <a:ext cx="8382000" cy="5847755"/>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8. Heat (Thermal Pollution)</a:t>
            </a:r>
          </a:p>
          <a:p>
            <a:r>
              <a:rPr lang="en-US" sz="2200" b="1" dirty="0" smtClean="0">
                <a:latin typeface="Times New Roman" pitchFamily="18" charset="0"/>
                <a:cs typeface="Times New Roman" pitchFamily="18" charset="0"/>
              </a:rPr>
              <a:t>Example  </a:t>
            </a:r>
            <a:r>
              <a:rPr lang="en-US" sz="2200" b="1" i="1" dirty="0" smtClean="0">
                <a:solidFill>
                  <a:srgbClr val="FF0066"/>
                </a:solidFill>
                <a:latin typeface="Times New Roman" pitchFamily="18" charset="0"/>
                <a:cs typeface="Times New Roman" pitchFamily="18" charset="0"/>
              </a:rPr>
              <a:t>Excessive heat</a:t>
            </a:r>
          </a:p>
          <a:p>
            <a:endParaRPr lang="en-US" sz="2200" b="1" i="1" dirty="0" smtClean="0">
              <a:solidFill>
                <a:srgbClr val="663300"/>
              </a:solidFill>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Human Sources (causes)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Water cooling of electric power plants and some types of industrial plants.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Almost half of all water withdrawn in United States each year is for cooling electric power plants.</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Effects</a:t>
            </a:r>
          </a:p>
          <a:p>
            <a:pPr marL="857250" lvl="1" indent="-400050">
              <a:buFont typeface="Wingdings" pitchFamily="2" charset="2"/>
              <a:buChar char="ü"/>
            </a:pPr>
            <a:r>
              <a:rPr lang="en-US" sz="2200" dirty="0" smtClean="0">
                <a:solidFill>
                  <a:srgbClr val="00B0F0"/>
                </a:solidFill>
                <a:latin typeface="Times New Roman" pitchFamily="18" charset="0"/>
                <a:cs typeface="Times New Roman" pitchFamily="18" charset="0"/>
              </a:rPr>
              <a:t>Lowers dissolved oxygen levels and makes aquatic organisms more vulnerable to disease, parasites and toxic chemicals.</a:t>
            </a:r>
          </a:p>
          <a:p>
            <a:pPr marL="857250" lvl="1" indent="-400050">
              <a:buFont typeface="Wingdings" pitchFamily="2" charset="2"/>
              <a:buChar char="ü"/>
            </a:pPr>
            <a:endParaRPr lang="en-US" sz="2200" dirty="0" smtClean="0">
              <a:solidFill>
                <a:srgbClr val="00B0F0"/>
              </a:solidFill>
              <a:latin typeface="Times New Roman" pitchFamily="18" charset="0"/>
              <a:cs typeface="Times New Roman" pitchFamily="18" charset="0"/>
            </a:endParaRP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When a power plant first opens (or) shuts down for repair, fish and other organisms adapted to a particular temperature range can be killed by the abrupt change in water temperature known as thermal shock.</a:t>
            </a:r>
            <a:endParaRPr lang="en-US" sz="2200" dirty="0">
              <a:solidFill>
                <a:srgbClr val="00B0F0"/>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914400"/>
            <a:ext cx="7848600" cy="5509200"/>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9. Point and Non- point sources of water  pollution</a:t>
            </a:r>
          </a:p>
          <a:p>
            <a:r>
              <a:rPr lang="en-US" sz="2200" b="1" i="1" dirty="0" smtClean="0">
                <a:solidFill>
                  <a:srgbClr val="663300"/>
                </a:solidFill>
                <a:latin typeface="Times New Roman" pitchFamily="18" charset="0"/>
                <a:cs typeface="Times New Roman" pitchFamily="18" charset="0"/>
              </a:rPr>
              <a:t>(</a:t>
            </a:r>
            <a:r>
              <a:rPr lang="en-US" sz="2200" b="1" i="1" dirty="0" err="1" smtClean="0">
                <a:solidFill>
                  <a:srgbClr val="663300"/>
                </a:solidFill>
                <a:latin typeface="Times New Roman" pitchFamily="18" charset="0"/>
                <a:cs typeface="Times New Roman" pitchFamily="18" charset="0"/>
              </a:rPr>
              <a:t>i</a:t>
            </a:r>
            <a:r>
              <a:rPr lang="en-US" sz="2200" b="1" i="1" dirty="0" smtClean="0">
                <a:solidFill>
                  <a:srgbClr val="663300"/>
                </a:solidFill>
                <a:latin typeface="Times New Roman" pitchFamily="18" charset="0"/>
                <a:cs typeface="Times New Roman" pitchFamily="18" charset="0"/>
              </a:rPr>
              <a:t>) Point Sources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Point sources are discharged pollutants at specific locations through pipes, ditches (or) sewers into bodies of surface water.</a:t>
            </a:r>
          </a:p>
          <a:p>
            <a:endParaRPr lang="en-US" sz="2200" dirty="0" smtClean="0">
              <a:latin typeface="Times New Roman" pitchFamily="18" charset="0"/>
              <a:cs typeface="Times New Roman" pitchFamily="18" charset="0"/>
            </a:endParaRPr>
          </a:p>
          <a:p>
            <a:r>
              <a:rPr lang="en-US" sz="2200" b="1" i="1" dirty="0" smtClean="0">
                <a:latin typeface="Times New Roman" pitchFamily="18" charset="0"/>
                <a:cs typeface="Times New Roman" pitchFamily="18" charset="0"/>
              </a:rPr>
              <a:t>Examples</a:t>
            </a:r>
            <a:r>
              <a:rPr lang="en-US" sz="2200" b="1" i="1" dirty="0" smtClean="0">
                <a:solidFill>
                  <a:srgbClr val="FF0066"/>
                </a:solidFill>
                <a:latin typeface="Times New Roman" pitchFamily="18" charset="0"/>
                <a:cs typeface="Times New Roman" pitchFamily="18" charset="0"/>
              </a:rPr>
              <a:t>: </a:t>
            </a:r>
            <a:r>
              <a:rPr lang="en-US" sz="2200" i="1" dirty="0" smtClean="0">
                <a:solidFill>
                  <a:srgbClr val="FF0066"/>
                </a:solidFill>
                <a:latin typeface="Times New Roman" pitchFamily="18" charset="0"/>
                <a:cs typeface="Times New Roman" pitchFamily="18" charset="0"/>
              </a:rPr>
              <a:t>Includes factories, sewage treatment plants, abandoned underground mines and oil tankers.</a:t>
            </a:r>
          </a:p>
          <a:p>
            <a:endParaRPr lang="en-US" sz="2200" i="1"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(ii) Non-point sources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They are usually large land areas (or) air sheds that pollute water by runoff, subsurface flow (or) deposition from the atmosphere.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Location of which cannot be easily identified.</a:t>
            </a:r>
          </a:p>
          <a:p>
            <a:endParaRPr lang="en-US" sz="2200" dirty="0" smtClean="0">
              <a:latin typeface="Times New Roman" pitchFamily="18" charset="0"/>
              <a:cs typeface="Times New Roman" pitchFamily="18" charset="0"/>
            </a:endParaRPr>
          </a:p>
          <a:p>
            <a:r>
              <a:rPr lang="en-US" sz="2200" b="1" i="1" dirty="0" smtClean="0">
                <a:latin typeface="Times New Roman" pitchFamily="18" charset="0"/>
                <a:cs typeface="Times New Roman" pitchFamily="18" charset="0"/>
              </a:rPr>
              <a:t>Examples  </a:t>
            </a:r>
            <a:r>
              <a:rPr lang="en-US" sz="2200" i="1" dirty="0" smtClean="0">
                <a:solidFill>
                  <a:srgbClr val="FF0066"/>
                </a:solidFill>
                <a:latin typeface="Times New Roman" pitchFamily="18" charset="0"/>
                <a:cs typeface="Times New Roman" pitchFamily="18" charset="0"/>
              </a:rPr>
              <a:t>Include acid deposition and runoff of chemicals into surface water from croplands, livestock feedlots, logged forests, urban street, lawn, golf courses and parking lots.</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010245"/>
            <a:ext cx="7696200" cy="5509200"/>
          </a:xfrm>
          <a:prstGeom prst="rect">
            <a:avLst/>
          </a:prstGeom>
        </p:spPr>
        <p:txBody>
          <a:bodyPr wrap="square">
            <a:spAutoFit/>
          </a:bodyPr>
          <a:lstStyle/>
          <a:p>
            <a:r>
              <a:rPr lang="en-US" sz="2200" b="1" i="1" dirty="0" smtClean="0">
                <a:solidFill>
                  <a:srgbClr val="0000CC"/>
                </a:solidFill>
                <a:latin typeface="Times New Roman" pitchFamily="18" charset="0"/>
                <a:cs typeface="Times New Roman" pitchFamily="18" charset="0"/>
              </a:rPr>
              <a:t>2.3.2 Characteristics (or) Testing of river water (waste water)</a:t>
            </a:r>
          </a:p>
          <a:p>
            <a:r>
              <a:rPr lang="en-US" sz="2200" dirty="0" smtClean="0">
                <a:latin typeface="Times New Roman" pitchFamily="18" charset="0"/>
                <a:cs typeface="Times New Roman" pitchFamily="18" charset="0"/>
              </a:rPr>
              <a:t> </a:t>
            </a:r>
            <a:r>
              <a:rPr lang="en-US" sz="2200" b="1" dirty="0" smtClean="0">
                <a:solidFill>
                  <a:srgbClr val="FF9900"/>
                </a:solidFill>
                <a:latin typeface="Times New Roman" pitchFamily="18" charset="0"/>
                <a:cs typeface="Times New Roman" pitchFamily="18" charset="0"/>
              </a:rPr>
              <a:t>1 . Dissolved oxygen (DO)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Dissolved oxygen (DO) is the amount of oxygen dissolved in a given quantity of water at a particular pressure and temperature.</a:t>
            </a:r>
          </a:p>
          <a:p>
            <a:endParaRPr lang="en-US" sz="2200" dirty="0" smtClean="0">
              <a:latin typeface="Times New Roman" pitchFamily="18" charset="0"/>
              <a:cs typeface="Times New Roman" pitchFamily="18" charset="0"/>
            </a:endParaRPr>
          </a:p>
          <a:p>
            <a:r>
              <a:rPr lang="en-US" sz="2200" b="1" dirty="0" smtClean="0">
                <a:solidFill>
                  <a:srgbClr val="663300"/>
                </a:solidFill>
                <a:latin typeface="Times New Roman" pitchFamily="18" charset="0"/>
                <a:cs typeface="Times New Roman" pitchFamily="18" charset="0"/>
              </a:rPr>
              <a:t>Significance of DO</a:t>
            </a:r>
          </a:p>
          <a:p>
            <a:pPr>
              <a:buFont typeface="Wingdings" pitchFamily="2" charset="2"/>
              <a:buChar char="q"/>
            </a:pPr>
            <a:r>
              <a:rPr lang="en-US" sz="2200" dirty="0" smtClean="0">
                <a:solidFill>
                  <a:srgbClr val="FF0066"/>
                </a:solidFill>
                <a:latin typeface="Times New Roman" pitchFamily="18" charset="0"/>
                <a:cs typeface="Times New Roman" pitchFamily="18" charset="0"/>
              </a:rPr>
              <a:t>  DO is vital for the support of fish and other aquatic life in river water.</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It determines whether the biological changes are brought about by aerobic (or) anaerobic micro-organisms.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DO determinations serve as the means of control of river pollution.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A minimum level of DO (4 mg/lit) must be maintained in rivers so as to support the aquatic life in a healthy condition.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Thus, it is necessary to ensure that the treated water must have </a:t>
            </a:r>
            <a:r>
              <a:rPr lang="en-US" sz="2200" dirty="0" err="1" smtClean="0">
                <a:solidFill>
                  <a:srgbClr val="FF0066"/>
                </a:solidFill>
                <a:latin typeface="Times New Roman" pitchFamily="18" charset="0"/>
                <a:cs typeface="Times New Roman" pitchFamily="18" charset="0"/>
              </a:rPr>
              <a:t>atleast</a:t>
            </a:r>
            <a:r>
              <a:rPr lang="en-US" sz="2200" dirty="0" smtClean="0">
                <a:solidFill>
                  <a:srgbClr val="FF0066"/>
                </a:solidFill>
                <a:latin typeface="Times New Roman" pitchFamily="18" charset="0"/>
                <a:cs typeface="Times New Roman" pitchFamily="18" charset="0"/>
              </a:rPr>
              <a:t> 4 mg/lit of DO before its disposal into river.</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1143000"/>
            <a:ext cx="7239000" cy="4832092"/>
          </a:xfrm>
          <a:prstGeom prst="rect">
            <a:avLst/>
          </a:prstGeom>
        </p:spPr>
        <p:txBody>
          <a:bodyPr wrap="square">
            <a:spAutoFit/>
          </a:bodyPr>
          <a:lstStyle/>
          <a:p>
            <a:r>
              <a:rPr lang="en-US" sz="2200" b="1" dirty="0" smtClean="0">
                <a:latin typeface="Times New Roman" pitchFamily="18" charset="0"/>
                <a:cs typeface="Times New Roman" pitchFamily="18" charset="0"/>
              </a:rPr>
              <a:t> </a:t>
            </a:r>
            <a:r>
              <a:rPr lang="en-US" sz="2200" b="1" dirty="0" smtClean="0">
                <a:solidFill>
                  <a:srgbClr val="FF9900"/>
                </a:solidFill>
                <a:latin typeface="Times New Roman" pitchFamily="18" charset="0"/>
                <a:cs typeface="Times New Roman" pitchFamily="18" charset="0"/>
              </a:rPr>
              <a:t>2. Biochemical </a:t>
            </a:r>
            <a:r>
              <a:rPr lang="en-US" sz="2200" b="1" dirty="0" err="1" smtClean="0">
                <a:solidFill>
                  <a:srgbClr val="FF9900"/>
                </a:solidFill>
                <a:latin typeface="Times New Roman" pitchFamily="18" charset="0"/>
                <a:cs typeface="Times New Roman" pitchFamily="18" charset="0"/>
              </a:rPr>
              <a:t>Oxtgen</a:t>
            </a:r>
            <a:r>
              <a:rPr lang="en-US" sz="2200" b="1" dirty="0" smtClean="0">
                <a:solidFill>
                  <a:srgbClr val="FF9900"/>
                </a:solidFill>
                <a:latin typeface="Times New Roman" pitchFamily="18" charset="0"/>
                <a:cs typeface="Times New Roman" pitchFamily="18" charset="0"/>
              </a:rPr>
              <a:t> Demand (BOD)</a:t>
            </a:r>
          </a:p>
          <a:p>
            <a:pPr>
              <a:buFont typeface="Wingdings" pitchFamily="2" charset="2"/>
              <a:buChar char="v"/>
            </a:pPr>
            <a:r>
              <a:rPr lang="en-US" sz="2200" dirty="0" smtClean="0">
                <a:solidFill>
                  <a:srgbClr val="FF0066"/>
                </a:solidFill>
                <a:latin typeface="Times New Roman" pitchFamily="18" charset="0"/>
                <a:cs typeface="Times New Roman" pitchFamily="18" charset="0"/>
              </a:rPr>
              <a:t>  BOD is the amount of oxygen required for the biological decomposition of organic matter present in the water.</a:t>
            </a:r>
          </a:p>
          <a:p>
            <a:endParaRPr lang="en-US" sz="2200" dirty="0" smtClean="0">
              <a:solidFill>
                <a:srgbClr val="663300"/>
              </a:solidFill>
              <a:latin typeface="Times New Roman" pitchFamily="18" charset="0"/>
              <a:cs typeface="Times New Roman" pitchFamily="18" charset="0"/>
            </a:endParaRPr>
          </a:p>
          <a:p>
            <a:r>
              <a:rPr lang="en-US" sz="2200" b="1" dirty="0" smtClean="0">
                <a:solidFill>
                  <a:srgbClr val="663300"/>
                </a:solidFill>
                <a:latin typeface="Times New Roman" pitchFamily="18" charset="0"/>
                <a:cs typeface="Times New Roman" pitchFamily="18" charset="0"/>
              </a:rPr>
              <a:t>Significance of BOD</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It is an important indication of the amount of organic matter present in the river water.</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Since complete oxidation occurs in indefinite period, the reaction period is taken as 5 days at 20°C. For all practical purposes, it is written as BOD   .</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The rate of oxidation and demand depends on the amount and type of organic matter present in river water.</a:t>
            </a:r>
            <a:endParaRPr lang="en-US" sz="2200" dirty="0">
              <a:solidFill>
                <a:srgbClr val="FF0066"/>
              </a:solidFill>
              <a:latin typeface="Times New Roman" pitchFamily="18" charset="0"/>
              <a:cs typeface="Times New Roman" pitchFamily="18" charset="0"/>
            </a:endParaRPr>
          </a:p>
        </p:txBody>
      </p:sp>
      <p:sp>
        <p:nvSpPr>
          <p:cNvPr id="3" name="Rectangle 2"/>
          <p:cNvSpPr/>
          <p:nvPr/>
        </p:nvSpPr>
        <p:spPr>
          <a:xfrm>
            <a:off x="4191000" y="4800600"/>
            <a:ext cx="2286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5</a:t>
            </a:r>
            <a:endParaRPr lang="en-US" sz="20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838200"/>
            <a:ext cx="7772400" cy="5847755"/>
          </a:xfrm>
          <a:prstGeom prst="rect">
            <a:avLst/>
          </a:prstGeom>
        </p:spPr>
        <p:txBody>
          <a:bodyPr wrap="square">
            <a:spAutoFit/>
          </a:bodyPr>
          <a:lstStyle/>
          <a:p>
            <a:r>
              <a:rPr lang="en-US" sz="2200" b="1" dirty="0" smtClean="0">
                <a:latin typeface="Times New Roman" pitchFamily="18" charset="0"/>
                <a:cs typeface="Times New Roman" pitchFamily="18" charset="0"/>
              </a:rPr>
              <a:t> </a:t>
            </a:r>
            <a:r>
              <a:rPr lang="en-US" sz="2200" b="1" dirty="0" smtClean="0">
                <a:solidFill>
                  <a:srgbClr val="FF9900"/>
                </a:solidFill>
                <a:latin typeface="Times New Roman" pitchFamily="18" charset="0"/>
                <a:cs typeface="Times New Roman" pitchFamily="18" charset="0"/>
              </a:rPr>
              <a:t>3. Chemical Oxygen Demand (COD)</a:t>
            </a:r>
          </a:p>
          <a:p>
            <a:pPr>
              <a:buFont typeface="Wingdings" pitchFamily="2" charset="2"/>
              <a:buChar char="q"/>
            </a:pPr>
            <a:r>
              <a:rPr lang="en-US" sz="2200" dirty="0" smtClean="0">
                <a:solidFill>
                  <a:srgbClr val="FF0066"/>
                </a:solidFill>
                <a:latin typeface="Times New Roman" pitchFamily="18" charset="0"/>
                <a:cs typeface="Times New Roman" pitchFamily="18" charset="0"/>
              </a:rPr>
              <a:t>  COD is the amount of oxygen required for chemical oxidation of organic matter using some </a:t>
            </a:r>
            <a:r>
              <a:rPr lang="en-US" sz="2200" dirty="0" err="1" smtClean="0">
                <a:solidFill>
                  <a:srgbClr val="FF0066"/>
                </a:solidFill>
                <a:latin typeface="Times New Roman" pitchFamily="18" charset="0"/>
                <a:cs typeface="Times New Roman" pitchFamily="18" charset="0"/>
              </a:rPr>
              <a:t>oxidising</a:t>
            </a:r>
            <a:r>
              <a:rPr lang="en-US" sz="2200" dirty="0" smtClean="0">
                <a:solidFill>
                  <a:srgbClr val="FF0066"/>
                </a:solidFill>
                <a:latin typeface="Times New Roman" pitchFamily="18" charset="0"/>
                <a:cs typeface="Times New Roman" pitchFamily="18" charset="0"/>
              </a:rPr>
              <a:t> agent like K  Cr   O    and     </a:t>
            </a:r>
            <a:r>
              <a:rPr lang="en-US" sz="2200" dirty="0" err="1" smtClean="0">
                <a:solidFill>
                  <a:srgbClr val="FF0066"/>
                </a:solidFill>
                <a:latin typeface="Times New Roman" pitchFamily="18" charset="0"/>
                <a:cs typeface="Times New Roman" pitchFamily="18" charset="0"/>
              </a:rPr>
              <a:t>KMnO</a:t>
            </a:r>
            <a:r>
              <a:rPr lang="en-US" sz="2200" dirty="0" smtClean="0">
                <a:solidFill>
                  <a:srgbClr val="FF0066"/>
                </a:solidFill>
                <a:latin typeface="Times New Roman" pitchFamily="18" charset="0"/>
                <a:cs typeface="Times New Roman" pitchFamily="18" charset="0"/>
              </a:rPr>
              <a:t>    .</a:t>
            </a:r>
          </a:p>
          <a:p>
            <a:endParaRPr lang="en-US" sz="2200" dirty="0" smtClean="0">
              <a:solidFill>
                <a:srgbClr val="663300"/>
              </a:solidFill>
              <a:latin typeface="Times New Roman" pitchFamily="18" charset="0"/>
              <a:cs typeface="Times New Roman" pitchFamily="18" charset="0"/>
            </a:endParaRPr>
          </a:p>
          <a:p>
            <a:r>
              <a:rPr lang="en-US" sz="2200" b="1" dirty="0" smtClean="0">
                <a:solidFill>
                  <a:srgbClr val="663300"/>
                </a:solidFill>
                <a:latin typeface="Times New Roman" pitchFamily="18" charset="0"/>
                <a:cs typeface="Times New Roman" pitchFamily="18" charset="0"/>
              </a:rPr>
              <a:t>Significance of COD</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It is carried out to determine the </a:t>
            </a:r>
            <a:r>
              <a:rPr lang="en-US" sz="2200" dirty="0" err="1" smtClean="0">
                <a:solidFill>
                  <a:srgbClr val="FF0066"/>
                </a:solidFill>
                <a:latin typeface="Times New Roman" pitchFamily="18" charset="0"/>
                <a:cs typeface="Times New Roman" pitchFamily="18" charset="0"/>
              </a:rPr>
              <a:t>pollutional</a:t>
            </a:r>
            <a:r>
              <a:rPr lang="en-US" sz="2200" dirty="0" smtClean="0">
                <a:solidFill>
                  <a:srgbClr val="FF0066"/>
                </a:solidFill>
                <a:latin typeface="Times New Roman" pitchFamily="18" charset="0"/>
                <a:cs typeface="Times New Roman" pitchFamily="18" charset="0"/>
              </a:rPr>
              <a:t> strength of river water.</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It is rapid process and takes only 3 hours.</a:t>
            </a:r>
          </a:p>
          <a:p>
            <a:endParaRPr lang="en-US" sz="2200" dirty="0" smtClean="0">
              <a:latin typeface="Times New Roman" pitchFamily="18" charset="0"/>
              <a:cs typeface="Times New Roman" pitchFamily="18" charset="0"/>
            </a:endParaRPr>
          </a:p>
          <a:p>
            <a:r>
              <a:rPr lang="en-US" sz="2200" b="1" i="1" dirty="0" smtClean="0">
                <a:solidFill>
                  <a:srgbClr val="0000CC"/>
                </a:solidFill>
                <a:latin typeface="Times New Roman" pitchFamily="18" charset="0"/>
                <a:cs typeface="Times New Roman" pitchFamily="18" charset="0"/>
              </a:rPr>
              <a:t>2.3.3 Control (or) Preventive measures (methods) of water pollution</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 administration of water pollution control should be in the hands of State (or) Central Government.</a:t>
            </a:r>
          </a:p>
          <a:p>
            <a:pPr>
              <a:buFont typeface="Wingdings" pitchFamily="2" charset="2"/>
              <a:buChar char="v"/>
            </a:pPr>
            <a:r>
              <a:rPr lang="en-US" sz="2200" dirty="0" smtClean="0">
                <a:solidFill>
                  <a:srgbClr val="FF0066"/>
                </a:solidFill>
                <a:latin typeface="Times New Roman" pitchFamily="18" charset="0"/>
                <a:cs typeface="Times New Roman" pitchFamily="18" charset="0"/>
              </a:rPr>
              <a:t>  Scientific techniques are necessary to be adopted for the environmental control of catchment areas of rivers, ponds (or) streams.</a:t>
            </a:r>
            <a:endParaRPr lang="en-US" sz="2200" dirty="0">
              <a:solidFill>
                <a:srgbClr val="FF0066"/>
              </a:solidFill>
              <a:latin typeface="Times New Roman" pitchFamily="18" charset="0"/>
              <a:cs typeface="Times New Roman" pitchFamily="18" charset="0"/>
            </a:endParaRPr>
          </a:p>
        </p:txBody>
      </p:sp>
      <p:sp>
        <p:nvSpPr>
          <p:cNvPr id="3" name="Rectangle 2"/>
          <p:cNvSpPr/>
          <p:nvPr/>
        </p:nvSpPr>
        <p:spPr>
          <a:xfrm>
            <a:off x="6400800" y="1828800"/>
            <a:ext cx="2286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2</a:t>
            </a:r>
            <a:endParaRPr lang="en-US" sz="2000" dirty="0">
              <a:solidFill>
                <a:srgbClr val="FF0066"/>
              </a:solidFill>
              <a:latin typeface="Times New Roman" pitchFamily="18" charset="0"/>
              <a:cs typeface="Times New Roman" pitchFamily="18" charset="0"/>
            </a:endParaRPr>
          </a:p>
        </p:txBody>
      </p:sp>
      <p:sp>
        <p:nvSpPr>
          <p:cNvPr id="4" name="Rectangle 3"/>
          <p:cNvSpPr/>
          <p:nvPr/>
        </p:nvSpPr>
        <p:spPr>
          <a:xfrm>
            <a:off x="6934200" y="1828800"/>
            <a:ext cx="1524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2</a:t>
            </a:r>
            <a:endParaRPr lang="en-US" sz="2000" dirty="0">
              <a:solidFill>
                <a:srgbClr val="FF0066"/>
              </a:solidFill>
              <a:latin typeface="Times New Roman" pitchFamily="18" charset="0"/>
              <a:cs typeface="Times New Roman" pitchFamily="18" charset="0"/>
            </a:endParaRPr>
          </a:p>
        </p:txBody>
      </p:sp>
      <p:sp>
        <p:nvSpPr>
          <p:cNvPr id="5" name="Rectangle 4"/>
          <p:cNvSpPr/>
          <p:nvPr/>
        </p:nvSpPr>
        <p:spPr>
          <a:xfrm>
            <a:off x="7315200" y="1828800"/>
            <a:ext cx="1524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7</a:t>
            </a:r>
            <a:endParaRPr lang="en-US" sz="2000" dirty="0">
              <a:solidFill>
                <a:srgbClr val="FF0066"/>
              </a:solidFill>
              <a:latin typeface="Times New Roman" pitchFamily="18" charset="0"/>
              <a:cs typeface="Times New Roman" pitchFamily="18" charset="0"/>
            </a:endParaRPr>
          </a:p>
        </p:txBody>
      </p:sp>
      <p:sp>
        <p:nvSpPr>
          <p:cNvPr id="6" name="Rectangle 5"/>
          <p:cNvSpPr/>
          <p:nvPr/>
        </p:nvSpPr>
        <p:spPr>
          <a:xfrm>
            <a:off x="1447800" y="2133600"/>
            <a:ext cx="2286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4</a:t>
            </a:r>
            <a:endParaRPr lang="en-US" sz="20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8229600" cy="5170646"/>
          </a:xfrm>
          <a:prstGeom prst="rect">
            <a:avLst/>
          </a:prstGeom>
        </p:spPr>
        <p:txBody>
          <a:bodyPr wrap="square">
            <a:spAutoFit/>
          </a:bodyPr>
          <a:lstStyle/>
          <a:p>
            <a:pPr>
              <a:buFont typeface="Wingdings" pitchFamily="2" charset="2"/>
              <a:buChar char="v"/>
            </a:pPr>
            <a:r>
              <a:rPr lang="en-US" sz="2200" dirty="0" smtClean="0">
                <a:solidFill>
                  <a:srgbClr val="FF0066"/>
                </a:solidFill>
                <a:latin typeface="Times New Roman" pitchFamily="18" charset="0"/>
                <a:cs typeface="Times New Roman" pitchFamily="18" charset="0"/>
              </a:rPr>
              <a:t>  The industrial plants should be based on recycling operations, because it will not only stop the discharge of industrial wastes into natural water sources but by products can be extracted from the wastes.</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Plants, trees and forests control pollution and they acts as natural air conditioners.</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Forests in and around big cities and industrial establishments are capable of reducing the </a:t>
            </a:r>
            <a:r>
              <a:rPr lang="en-US" sz="2200" dirty="0" err="1" smtClean="0">
                <a:solidFill>
                  <a:srgbClr val="FF0066"/>
                </a:solidFill>
                <a:latin typeface="Times New Roman" pitchFamily="18" charset="0"/>
                <a:cs typeface="Times New Roman" pitchFamily="18" charset="0"/>
              </a:rPr>
              <a:t>sulphur</a:t>
            </a:r>
            <a:r>
              <a:rPr lang="en-US" sz="2200" dirty="0" smtClean="0">
                <a:solidFill>
                  <a:srgbClr val="FF0066"/>
                </a:solidFill>
                <a:latin typeface="Times New Roman" pitchFamily="18" charset="0"/>
                <a:cs typeface="Times New Roman" pitchFamily="18" charset="0"/>
              </a:rPr>
              <a:t> dioxide and nitric oxide pollutants to a greater extent from the atmosphere. Hence the national goal should be “Conservation of Forests” and campaign should be “Plant more trees”. </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The global destruction of forests should be discouraged (or) </a:t>
            </a:r>
            <a:r>
              <a:rPr lang="en-US" sz="2200" dirty="0" err="1" smtClean="0">
                <a:solidFill>
                  <a:srgbClr val="FF0066"/>
                </a:solidFill>
                <a:latin typeface="Times New Roman" pitchFamily="18" charset="0"/>
                <a:cs typeface="Times New Roman" pitchFamily="18" charset="0"/>
              </a:rPr>
              <a:t>atleast</a:t>
            </a:r>
            <a:r>
              <a:rPr lang="en-US" sz="2200" dirty="0" smtClean="0">
                <a:solidFill>
                  <a:srgbClr val="FF0066"/>
                </a:solidFill>
                <a:latin typeface="Times New Roman" pitchFamily="18" charset="0"/>
                <a:cs typeface="Times New Roman" pitchFamily="18" charset="0"/>
              </a:rPr>
              <a:t> minimized and </a:t>
            </a:r>
            <a:r>
              <a:rPr lang="en-US" sz="2200" dirty="0" err="1" smtClean="0">
                <a:solidFill>
                  <a:srgbClr val="FF0066"/>
                </a:solidFill>
                <a:latin typeface="Times New Roman" pitchFamily="18" charset="0"/>
                <a:cs typeface="Times New Roman" pitchFamily="18" charset="0"/>
              </a:rPr>
              <a:t>afforestation</a:t>
            </a:r>
            <a:r>
              <a:rPr lang="en-US" sz="2200" dirty="0" smtClean="0">
                <a:solidFill>
                  <a:srgbClr val="FF0066"/>
                </a:solidFill>
                <a:latin typeface="Times New Roman" pitchFamily="18" charset="0"/>
                <a:cs typeface="Times New Roman" pitchFamily="18" charset="0"/>
              </a:rPr>
              <a:t> should be encouraged because no one on this earth will escape from the adverse effects of a balding earth.</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10245"/>
            <a:ext cx="8077200" cy="5847755"/>
          </a:xfrm>
          <a:prstGeom prst="rect">
            <a:avLst/>
          </a:prstGeom>
        </p:spPr>
        <p:txBody>
          <a:bodyPr wrap="square">
            <a:spAutoFit/>
          </a:bodyPr>
          <a:lstStyle/>
          <a:p>
            <a:pPr>
              <a:buFont typeface="Wingdings" pitchFamily="2" charset="2"/>
              <a:buChar char="v"/>
            </a:pPr>
            <a:r>
              <a:rPr lang="en-US" sz="2200" dirty="0" smtClean="0">
                <a:solidFill>
                  <a:srgbClr val="FF0066"/>
                </a:solidFill>
                <a:latin typeface="Times New Roman" pitchFamily="18" charset="0"/>
                <a:cs typeface="Times New Roman" pitchFamily="18" charset="0"/>
              </a:rPr>
              <a:t>  It is not advisable to discharge any type of waste, either treated, partially treated (or) untreated, into streams, rivers, lakes, ponds and reservoirs. The industries are expected to develop close-loop water supply schemes and domestic sewage may be used for irrigation.</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Highly qualified and experienced persons should be consulted from time to time for effective control of water pollution.</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Public awareness regarding adverse effects of water pollution is a must. So there should be propaganda for water pollution control on radios, TVs etc.,</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Suitable laws, standards and practices should be framed to regulate the discharge of undesirable flow of water in water bodies and such regulations should be modified from time to time in order to accommodate the changing requirements and technological advancements.</a:t>
            </a:r>
          </a:p>
        </p:txBody>
      </p:sp>
    </p:spTree>
  </p:cSld>
  <p:clrMapOvr>
    <a:masterClrMapping/>
  </p:clrMapOvr>
  <p:transition spd="slow">
    <p:push/>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143000"/>
            <a:ext cx="7848600" cy="5170646"/>
          </a:xfrm>
          <a:prstGeom prst="rect">
            <a:avLst/>
          </a:prstGeom>
        </p:spPr>
        <p:txBody>
          <a:bodyPr wrap="square">
            <a:spAutoFit/>
          </a:bodyPr>
          <a:lstStyle/>
          <a:p>
            <a:pPr>
              <a:buFont typeface="Wingdings" pitchFamily="2" charset="2"/>
              <a:buChar char="v"/>
            </a:pPr>
            <a:r>
              <a:rPr lang="en-US" sz="2200" dirty="0" smtClean="0">
                <a:solidFill>
                  <a:srgbClr val="FF0066"/>
                </a:solidFill>
                <a:latin typeface="Times New Roman" pitchFamily="18" charset="0"/>
                <a:cs typeface="Times New Roman" pitchFamily="18" charset="0"/>
              </a:rPr>
              <a:t>  Basic and applied research in public health engineering should be encouraged.</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 possible reuse (or) recycle of treated sewage effluents and industrial wastes should be emphasized and encouraged.</a:t>
            </a:r>
          </a:p>
          <a:p>
            <a:endParaRPr lang="en-US" sz="2200" dirty="0" smtClean="0">
              <a:latin typeface="Times New Roman" pitchFamily="18" charset="0"/>
              <a:cs typeface="Times New Roman" pitchFamily="18" charset="0"/>
            </a:endParaRPr>
          </a:p>
          <a:p>
            <a:r>
              <a:rPr lang="en-US" sz="2200" b="1" i="1" dirty="0" smtClean="0">
                <a:solidFill>
                  <a:srgbClr val="0000CC"/>
                </a:solidFill>
                <a:latin typeface="Times New Roman" pitchFamily="18" charset="0"/>
                <a:cs typeface="Times New Roman" pitchFamily="18" charset="0"/>
              </a:rPr>
              <a:t>2.3.4 Waste Water (or) Sewage Treatment </a:t>
            </a:r>
            <a:r>
              <a:rPr lang="en-US" sz="2200" b="1" dirty="0" smtClean="0">
                <a:solidFill>
                  <a:srgbClr val="0000CC"/>
                </a:solidFill>
                <a:latin typeface="Times New Roman" pitchFamily="18" charset="0"/>
                <a:cs typeface="Times New Roman" pitchFamily="18" charset="0"/>
              </a:rPr>
              <a:t>Objectives of waste water treatment</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main objectives of waste water treatment are</a:t>
            </a: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to convert harmful compounds into harmless compounds.</a:t>
            </a: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to eliminate the offensive smell.</a:t>
            </a: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to remove the solid content of the sewage.</a:t>
            </a: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to destroy the disease producing microorganisms.</a:t>
            </a:r>
          </a:p>
          <a:p>
            <a:r>
              <a:rPr lang="en-US" sz="2200" b="1" dirty="0" smtClean="0">
                <a:solidFill>
                  <a:srgbClr val="663300"/>
                </a:solidFill>
                <a:latin typeface="Times New Roman" pitchFamily="18" charset="0"/>
                <a:cs typeface="Times New Roman" pitchFamily="18" charset="0"/>
              </a:rPr>
              <a:t>Treatment Process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sewage (or) waste water treatment process involves the following steps.</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09600" y="914400"/>
            <a:ext cx="7772400" cy="5170646"/>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1. </a:t>
            </a:r>
            <a:r>
              <a:rPr lang="en-US" sz="2200" b="1" dirty="0" err="1" smtClean="0">
                <a:solidFill>
                  <a:srgbClr val="FF9900"/>
                </a:solidFill>
                <a:latin typeface="Times New Roman" pitchFamily="18" charset="0"/>
                <a:cs typeface="Times New Roman" pitchFamily="18" charset="0"/>
              </a:rPr>
              <a:t>Pleliminary</a:t>
            </a:r>
            <a:r>
              <a:rPr lang="en-US" sz="2200" b="1" dirty="0" smtClean="0">
                <a:solidFill>
                  <a:srgbClr val="FF9900"/>
                </a:solidFill>
                <a:latin typeface="Times New Roman" pitchFamily="18" charset="0"/>
                <a:cs typeface="Times New Roman" pitchFamily="18" charset="0"/>
              </a:rPr>
              <a:t> Treatment</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In this treatment, coarse solids and suspended impurities are removed by passing the waste water through bar and mesh screens.</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II Primary Treatment (or) Settling Process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In this treatment, greater proportion of the suspended inorganic and organic solids are removed from the liquid sewage by settling.</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In order to facilitate quick settling coagulants like alum, ferrous </a:t>
            </a:r>
            <a:r>
              <a:rPr lang="en-US" sz="2200" dirty="0" err="1" smtClean="0">
                <a:solidFill>
                  <a:srgbClr val="FF0066"/>
                </a:solidFill>
                <a:latin typeface="Times New Roman" pitchFamily="18" charset="0"/>
                <a:cs typeface="Times New Roman" pitchFamily="18" charset="0"/>
              </a:rPr>
              <a:t>sulphate</a:t>
            </a:r>
            <a:r>
              <a:rPr lang="en-US" sz="2200" dirty="0" smtClean="0">
                <a:solidFill>
                  <a:srgbClr val="FF0066"/>
                </a:solidFill>
                <a:latin typeface="Times New Roman" pitchFamily="18" charset="0"/>
                <a:cs typeface="Times New Roman" pitchFamily="18" charset="0"/>
              </a:rPr>
              <a:t> are added.</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These produce large gelatinous precipitates, which entrap finely divided organic matter and settle rapidly.</a:t>
            </a:r>
          </a:p>
          <a:p>
            <a:endParaRPr lang="en-US" sz="2200" dirty="0" smtClean="0">
              <a:latin typeface="Times New Roman" pitchFamily="18" charset="0"/>
              <a:cs typeface="Times New Roman" pitchFamily="18" charset="0"/>
            </a:endParaRPr>
          </a:p>
          <a:p>
            <a:r>
              <a:rPr lang="en-US" sz="2200" b="1" dirty="0" smtClean="0">
                <a:latin typeface="Times New Roman" pitchFamily="18" charset="0"/>
                <a:cs typeface="Times New Roman" pitchFamily="18" charset="0"/>
              </a:rPr>
              <a:t>      Al    ( SO   )    + 6H  O −−−−−&gt; 2Al(OH)   ↓ + 3H   SO   .</a:t>
            </a:r>
            <a:endParaRPr lang="en-US" sz="2200" b="1" dirty="0">
              <a:latin typeface="Times New Roman" pitchFamily="18" charset="0"/>
              <a:cs typeface="Times New Roman" pitchFamily="18" charset="0"/>
            </a:endParaRPr>
          </a:p>
        </p:txBody>
      </p:sp>
      <p:sp>
        <p:nvSpPr>
          <p:cNvPr id="4" name="Rectangle 3"/>
          <p:cNvSpPr/>
          <p:nvPr/>
        </p:nvSpPr>
        <p:spPr>
          <a:xfrm>
            <a:off x="1371600" y="5943600"/>
            <a:ext cx="2286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latin typeface="Times New Roman" pitchFamily="18" charset="0"/>
                <a:cs typeface="Times New Roman" pitchFamily="18" charset="0"/>
              </a:rPr>
              <a:t>2</a:t>
            </a:r>
            <a:endParaRPr lang="en-US" sz="2000" b="1" dirty="0">
              <a:solidFill>
                <a:schemeClr val="tx1"/>
              </a:solidFill>
              <a:latin typeface="Times New Roman" pitchFamily="18" charset="0"/>
              <a:cs typeface="Times New Roman" pitchFamily="18" charset="0"/>
            </a:endParaRPr>
          </a:p>
        </p:txBody>
      </p:sp>
      <p:sp>
        <p:nvSpPr>
          <p:cNvPr id="5" name="Rectangle 4"/>
          <p:cNvSpPr/>
          <p:nvPr/>
        </p:nvSpPr>
        <p:spPr>
          <a:xfrm>
            <a:off x="2133600" y="5943600"/>
            <a:ext cx="1524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latin typeface="Times New Roman" pitchFamily="18" charset="0"/>
                <a:cs typeface="Times New Roman" pitchFamily="18" charset="0"/>
              </a:rPr>
              <a:t>4</a:t>
            </a:r>
            <a:endParaRPr lang="en-US" sz="2000" b="1" dirty="0">
              <a:solidFill>
                <a:schemeClr val="tx1"/>
              </a:solidFill>
              <a:latin typeface="Times New Roman" pitchFamily="18" charset="0"/>
              <a:cs typeface="Times New Roman" pitchFamily="18" charset="0"/>
            </a:endParaRPr>
          </a:p>
        </p:txBody>
      </p:sp>
      <p:sp>
        <p:nvSpPr>
          <p:cNvPr id="6" name="Rectangle 5"/>
          <p:cNvSpPr/>
          <p:nvPr/>
        </p:nvSpPr>
        <p:spPr>
          <a:xfrm>
            <a:off x="2514600" y="5943600"/>
            <a:ext cx="1524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latin typeface="Times New Roman" pitchFamily="18" charset="0"/>
                <a:cs typeface="Times New Roman" pitchFamily="18" charset="0"/>
              </a:rPr>
              <a:t>3</a:t>
            </a:r>
            <a:endParaRPr lang="en-US" sz="2000" b="1" dirty="0">
              <a:solidFill>
                <a:schemeClr val="tx1"/>
              </a:solidFill>
              <a:latin typeface="Times New Roman" pitchFamily="18" charset="0"/>
              <a:cs typeface="Times New Roman" pitchFamily="18" charset="0"/>
            </a:endParaRPr>
          </a:p>
        </p:txBody>
      </p:sp>
      <p:sp>
        <p:nvSpPr>
          <p:cNvPr id="7" name="Rectangle 6"/>
          <p:cNvSpPr/>
          <p:nvPr/>
        </p:nvSpPr>
        <p:spPr>
          <a:xfrm>
            <a:off x="3276600" y="5943600"/>
            <a:ext cx="2286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latin typeface="Times New Roman" pitchFamily="18" charset="0"/>
                <a:cs typeface="Times New Roman" pitchFamily="18" charset="0"/>
              </a:rPr>
              <a:t>2</a:t>
            </a:r>
            <a:endParaRPr lang="en-US" sz="2000" b="1" dirty="0">
              <a:solidFill>
                <a:schemeClr val="tx1"/>
              </a:solidFill>
              <a:latin typeface="Times New Roman" pitchFamily="18" charset="0"/>
              <a:cs typeface="Times New Roman" pitchFamily="18" charset="0"/>
            </a:endParaRPr>
          </a:p>
        </p:txBody>
      </p:sp>
      <p:sp>
        <p:nvSpPr>
          <p:cNvPr id="8" name="Rectangle 7"/>
          <p:cNvSpPr/>
          <p:nvPr/>
        </p:nvSpPr>
        <p:spPr>
          <a:xfrm>
            <a:off x="5867400" y="5943600"/>
            <a:ext cx="1524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latin typeface="Times New Roman" pitchFamily="18" charset="0"/>
                <a:cs typeface="Times New Roman" pitchFamily="18" charset="0"/>
              </a:rPr>
              <a:t>3</a:t>
            </a:r>
          </a:p>
        </p:txBody>
      </p:sp>
      <p:sp>
        <p:nvSpPr>
          <p:cNvPr id="9" name="Rectangle 8"/>
          <p:cNvSpPr/>
          <p:nvPr/>
        </p:nvSpPr>
        <p:spPr>
          <a:xfrm>
            <a:off x="6858000" y="5943600"/>
            <a:ext cx="2286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latin typeface="Times New Roman" pitchFamily="18" charset="0"/>
                <a:cs typeface="Times New Roman" pitchFamily="18" charset="0"/>
              </a:rPr>
              <a:t>2</a:t>
            </a:r>
            <a:endParaRPr lang="en-US" sz="2000" b="1" dirty="0">
              <a:solidFill>
                <a:schemeClr val="tx1"/>
              </a:solidFill>
              <a:latin typeface="Times New Roman" pitchFamily="18" charset="0"/>
              <a:cs typeface="Times New Roman" pitchFamily="18" charset="0"/>
            </a:endParaRPr>
          </a:p>
        </p:txBody>
      </p:sp>
      <p:sp>
        <p:nvSpPr>
          <p:cNvPr id="10" name="Rectangle 9"/>
          <p:cNvSpPr/>
          <p:nvPr/>
        </p:nvSpPr>
        <p:spPr>
          <a:xfrm>
            <a:off x="7391400" y="5943600"/>
            <a:ext cx="2286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latin typeface="Times New Roman" pitchFamily="18" charset="0"/>
                <a:cs typeface="Times New Roman" pitchFamily="18" charset="0"/>
              </a:rPr>
              <a:t>4</a:t>
            </a:r>
            <a:endParaRPr lang="en-US" sz="2000" b="1" dirty="0">
              <a:solidFill>
                <a:schemeClr val="tx1"/>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66800"/>
            <a:ext cx="8153400" cy="5509200"/>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III Secondary (or) Biological Treatment</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In this treatment, biodegradable organic impurities are removed by aerobic bacteria.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It removes </a:t>
            </a:r>
            <a:r>
              <a:rPr lang="en-US" sz="2200" dirty="0" err="1" smtClean="0">
                <a:solidFill>
                  <a:srgbClr val="FF0066"/>
                </a:solidFill>
                <a:latin typeface="Times New Roman" pitchFamily="18" charset="0"/>
                <a:cs typeface="Times New Roman" pitchFamily="18" charset="0"/>
              </a:rPr>
              <a:t>upto</a:t>
            </a:r>
            <a:r>
              <a:rPr lang="en-US" sz="2200" dirty="0" smtClean="0">
                <a:solidFill>
                  <a:srgbClr val="FF0066"/>
                </a:solidFill>
                <a:latin typeface="Times New Roman" pitchFamily="18" charset="0"/>
                <a:cs typeface="Times New Roman" pitchFamily="18" charset="0"/>
              </a:rPr>
              <a:t> 90% of the oxygen demanding wastes.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This is done by trickling filter (or) activated sludge process.</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(a) Trickling filter process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It is a circular tank and is filled with either coarse (or) crushed rock. Sewage is sprayed over this bed by means of slowly rotating arms (Fig. 2.2).</a:t>
            </a:r>
          </a:p>
          <a:p>
            <a:pPr>
              <a:buFont typeface="Wingdings" pitchFamily="2" charset="2"/>
              <a:buChar char="v"/>
            </a:pPr>
            <a:r>
              <a:rPr lang="en-US" sz="2200" dirty="0" smtClean="0">
                <a:solidFill>
                  <a:srgbClr val="FF0066"/>
                </a:solidFill>
                <a:latin typeface="Times New Roman" pitchFamily="18" charset="0"/>
                <a:cs typeface="Times New Roman" pitchFamily="18" charset="0"/>
              </a:rPr>
              <a:t>  When sewage starts percolating downwards, microorganisms present in the sewage grow on the surface of filtering media using organic material of the sewage as food. </a:t>
            </a:r>
          </a:p>
          <a:p>
            <a:pPr>
              <a:buFont typeface="Wingdings" pitchFamily="2" charset="2"/>
              <a:buChar char="v"/>
            </a:pPr>
            <a:r>
              <a:rPr lang="en-US" sz="2200" dirty="0" smtClean="0">
                <a:solidFill>
                  <a:srgbClr val="FF0066"/>
                </a:solidFill>
                <a:latin typeface="Times New Roman" pitchFamily="18" charset="0"/>
                <a:cs typeface="Times New Roman" pitchFamily="18" charset="0"/>
              </a:rPr>
              <a:t>  After completion of aerobic oxidation the treated sewage is taken to the settling tank and the sludge is removed. </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This process removes about 80-85% of BOD.</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2" descr="C:\Users\User\AppData\Local\Temp\ksohtml\wps2B07.tmp.png"/>
          <p:cNvPicPr>
            <a:picLocks noChangeAspect="1" noChangeArrowheads="1"/>
          </p:cNvPicPr>
          <p:nvPr/>
        </p:nvPicPr>
        <p:blipFill>
          <a:blip r:embed="rId2">
            <a:duotone>
              <a:prstClr val="black"/>
              <a:schemeClr val="accent2">
                <a:tint val="45000"/>
                <a:satMod val="400000"/>
              </a:schemeClr>
            </a:duotone>
          </a:blip>
          <a:srcRect/>
          <a:stretch>
            <a:fillRect/>
          </a:stretch>
        </p:blipFill>
        <p:spPr bwMode="auto">
          <a:xfrm>
            <a:off x="609600" y="1143000"/>
            <a:ext cx="6781800" cy="4267200"/>
          </a:xfrm>
          <a:prstGeom prst="rect">
            <a:avLst/>
          </a:prstGeom>
          <a:noFill/>
        </p:spPr>
      </p:pic>
      <p:sp>
        <p:nvSpPr>
          <p:cNvPr id="98307" name="Rectangle 3"/>
          <p:cNvSpPr>
            <a:spLocks noChangeArrowheads="1"/>
          </p:cNvSpPr>
          <p:nvPr/>
        </p:nvSpPr>
        <p:spPr bwMode="auto">
          <a:xfrm>
            <a:off x="1143000" y="5791200"/>
            <a:ext cx="6705600" cy="43088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smtClean="0">
                <a:ln>
                  <a:noFill/>
                </a:ln>
                <a:solidFill>
                  <a:srgbClr val="F40AE3"/>
                </a:solidFill>
                <a:effectLst/>
                <a:latin typeface="Times New Roman" pitchFamily="18" charset="0"/>
                <a:cs typeface="Times New Roman" pitchFamily="18" charset="0"/>
              </a:rPr>
              <a:t>Fig. 2.2 Trickling filter</a:t>
            </a:r>
            <a:endParaRPr kumimoji="0" lang="en-US" sz="2200" b="0" i="0" u="none" strike="noStrike" cap="none" normalizeH="0" baseline="0" dirty="0" smtClean="0">
              <a:ln>
                <a:noFill/>
              </a:ln>
              <a:solidFill>
                <a:srgbClr val="F40AE3"/>
              </a:solidFill>
              <a:effectLst/>
              <a:latin typeface="Arial" pitchFamily="34" charset="0"/>
              <a:cs typeface="Arial" pitchFamily="34" charset="0"/>
            </a:endParaRPr>
          </a:p>
        </p:txBody>
      </p:sp>
    </p:spTree>
  </p:cSld>
  <p:clrMapOvr>
    <a:masterClrMapping/>
  </p:clrMapOvr>
  <p:transition spd="slow">
    <p:push/>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305342"/>
            <a:ext cx="8077200" cy="4493538"/>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(b) Activated sludge process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Activated sludge is biologically active sewage and it has a large number of aerobic </a:t>
            </a:r>
            <a:r>
              <a:rPr lang="en-US" sz="2200" dirty="0" err="1" smtClean="0">
                <a:solidFill>
                  <a:srgbClr val="FF0066"/>
                </a:solidFill>
                <a:latin typeface="Times New Roman" pitchFamily="18" charset="0"/>
                <a:cs typeface="Times New Roman" pitchFamily="18" charset="0"/>
              </a:rPr>
              <a:t>bacterias</a:t>
            </a:r>
            <a:r>
              <a:rPr lang="en-US" sz="2200" dirty="0" smtClean="0">
                <a:solidFill>
                  <a:srgbClr val="FF0066"/>
                </a:solidFill>
                <a:latin typeface="Times New Roman" pitchFamily="18" charset="0"/>
                <a:cs typeface="Times New Roman" pitchFamily="18" charset="0"/>
              </a:rPr>
              <a:t>, which can easily </a:t>
            </a:r>
            <a:r>
              <a:rPr lang="en-US" sz="2200" dirty="0" err="1" smtClean="0">
                <a:solidFill>
                  <a:srgbClr val="FF0066"/>
                </a:solidFill>
                <a:latin typeface="Times New Roman" pitchFamily="18" charset="0"/>
                <a:cs typeface="Times New Roman" pitchFamily="18" charset="0"/>
              </a:rPr>
              <a:t>oxidise</a:t>
            </a:r>
            <a:r>
              <a:rPr lang="en-US" sz="2200" dirty="0" smtClean="0">
                <a:solidFill>
                  <a:srgbClr val="FF0066"/>
                </a:solidFill>
                <a:latin typeface="Times New Roman" pitchFamily="18" charset="0"/>
                <a:cs typeface="Times New Roman" pitchFamily="18" charset="0"/>
              </a:rPr>
              <a:t> the organic impurities.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sewage effluent from primary treatment is mixed with the required amount of activated sludge.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Then the mixture is aerated in the aeration tank (Fig. 2.3).</a:t>
            </a:r>
          </a:p>
          <a:p>
            <a:pPr>
              <a:buFont typeface="Wingdings" pitchFamily="2" charset="2"/>
              <a:buChar char="q"/>
            </a:pPr>
            <a:r>
              <a:rPr lang="en-US" sz="2200" dirty="0" smtClean="0">
                <a:solidFill>
                  <a:srgbClr val="FF0066"/>
                </a:solidFill>
                <a:latin typeface="Times New Roman" pitchFamily="18" charset="0"/>
                <a:cs typeface="Times New Roman" pitchFamily="18" charset="0"/>
              </a:rPr>
              <a:t>  Under these condition, organic impurities of the sewage get </a:t>
            </a:r>
            <a:r>
              <a:rPr lang="en-US" sz="2200" dirty="0" err="1" smtClean="0">
                <a:solidFill>
                  <a:srgbClr val="FF0066"/>
                </a:solidFill>
                <a:latin typeface="Times New Roman" pitchFamily="18" charset="0"/>
                <a:cs typeface="Times New Roman" pitchFamily="18" charset="0"/>
              </a:rPr>
              <a:t>oxidised</a:t>
            </a:r>
            <a:r>
              <a:rPr lang="en-US" sz="2200" dirty="0" smtClean="0">
                <a:solidFill>
                  <a:srgbClr val="FF0066"/>
                </a:solidFill>
                <a:latin typeface="Times New Roman" pitchFamily="18" charset="0"/>
                <a:cs typeface="Times New Roman" pitchFamily="18" charset="0"/>
              </a:rPr>
              <a:t> rapidly by the microorganisms.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After aeration, the sewage is taken to the sedimentation tank.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a:t>
            </a:r>
            <a:r>
              <a:rPr lang="en-US" sz="2200" dirty="0" err="1" smtClean="0">
                <a:solidFill>
                  <a:srgbClr val="FF0066"/>
                </a:solidFill>
                <a:latin typeface="Times New Roman" pitchFamily="18" charset="0"/>
                <a:cs typeface="Times New Roman" pitchFamily="18" charset="0"/>
              </a:rPr>
              <a:t>Sludges</a:t>
            </a:r>
            <a:r>
              <a:rPr lang="en-US" sz="2200" dirty="0" smtClean="0">
                <a:solidFill>
                  <a:srgbClr val="FF0066"/>
                </a:solidFill>
                <a:latin typeface="Times New Roman" pitchFamily="18" charset="0"/>
                <a:cs typeface="Times New Roman" pitchFamily="18" charset="0"/>
              </a:rPr>
              <a:t> settle down in this tank, called activated sludge, a portion of which is used for seeding fresh batch of the sewage.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This process removes about 90-95% of BOD.</a:t>
            </a:r>
          </a:p>
        </p:txBody>
      </p:sp>
    </p:spTree>
  </p:cSld>
  <p:clrMapOvr>
    <a:masterClrMapping/>
  </p:clrMapOvr>
  <p:transition spd="slow">
    <p:push/>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2" descr="C:\Users\User\AppData\Local\Temp\ksohtml\wps5331.tmp.png"/>
          <p:cNvPicPr>
            <a:picLocks noChangeAspect="1" noChangeArrowheads="1"/>
          </p:cNvPicPr>
          <p:nvPr/>
        </p:nvPicPr>
        <p:blipFill>
          <a:blip r:embed="rId2">
            <a:duotone>
              <a:prstClr val="black"/>
              <a:schemeClr val="accent1">
                <a:tint val="45000"/>
                <a:satMod val="400000"/>
              </a:schemeClr>
            </a:duotone>
          </a:blip>
          <a:srcRect/>
          <a:stretch>
            <a:fillRect/>
          </a:stretch>
        </p:blipFill>
        <p:spPr bwMode="auto">
          <a:xfrm>
            <a:off x="838200" y="990600"/>
            <a:ext cx="6858000" cy="3505200"/>
          </a:xfrm>
          <a:prstGeom prst="rect">
            <a:avLst/>
          </a:prstGeom>
          <a:noFill/>
        </p:spPr>
      </p:pic>
      <p:sp>
        <p:nvSpPr>
          <p:cNvPr id="96259" name="Rectangle 3"/>
          <p:cNvSpPr>
            <a:spLocks noChangeArrowheads="1"/>
          </p:cNvSpPr>
          <p:nvPr/>
        </p:nvSpPr>
        <p:spPr bwMode="auto">
          <a:xfrm>
            <a:off x="1143000" y="5257800"/>
            <a:ext cx="6629400" cy="110799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smtClean="0">
                <a:ln>
                  <a:noFill/>
                </a:ln>
                <a:solidFill>
                  <a:srgbClr val="F40AE3"/>
                </a:solidFill>
                <a:effectLst/>
                <a:latin typeface="Times New Roman" pitchFamily="18" charset="0"/>
                <a:cs typeface="Times New Roman" pitchFamily="18" charset="0"/>
              </a:rPr>
              <a:t>Fig. 2.3 Activated Sludge Process</a:t>
            </a:r>
            <a:endParaRPr kumimoji="0" lang="en-US" sz="2200" b="0" i="0" u="none" strike="noStrike" cap="none" normalizeH="0" baseline="0" dirty="0" smtClean="0">
              <a:ln>
                <a:noFill/>
              </a:ln>
              <a:solidFill>
                <a:srgbClr val="F40AE3"/>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200" b="0" i="0" u="none" strike="noStrike" cap="none" normalizeH="0" baseline="0" dirty="0" smtClean="0">
                <a:ln>
                  <a:noFill/>
                </a:ln>
                <a:solidFill>
                  <a:srgbClr val="F40AE3"/>
                </a:solidFill>
                <a:effectLst/>
                <a:latin typeface="Times New Roman" pitchFamily="18" charset="0"/>
                <a:cs typeface="Times New Roman" pitchFamily="18" charset="0"/>
              </a:rPr>
              <a:t/>
            </a:r>
            <a:br>
              <a:rPr kumimoji="0" lang="en-US" sz="2200" b="0" i="0" u="none" strike="noStrike" cap="none" normalizeH="0" baseline="0" dirty="0" smtClean="0">
                <a:ln>
                  <a:noFill/>
                </a:ln>
                <a:solidFill>
                  <a:srgbClr val="F40AE3"/>
                </a:solidFill>
                <a:effectLst/>
                <a:latin typeface="Times New Roman" pitchFamily="18" charset="0"/>
                <a:cs typeface="Times New Roman" pitchFamily="18" charset="0"/>
              </a:rPr>
            </a:br>
            <a:endParaRPr kumimoji="0" lang="en-US" sz="2200" b="0" i="0" u="none" strike="noStrike" cap="none" normalizeH="0" baseline="0" dirty="0" smtClean="0">
              <a:ln>
                <a:noFill/>
              </a:ln>
              <a:solidFill>
                <a:srgbClr val="F40AE3"/>
              </a:solidFill>
              <a:effectLst/>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371600"/>
            <a:ext cx="8229600" cy="5170646"/>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IV Tertiary treatment</a:t>
            </a:r>
          </a:p>
          <a:p>
            <a:pPr>
              <a:buFont typeface="Wingdings" pitchFamily="2" charset="2"/>
              <a:buChar char="q"/>
            </a:pPr>
            <a:r>
              <a:rPr lang="en-US" sz="2200" dirty="0" smtClean="0">
                <a:solidFill>
                  <a:srgbClr val="FF0066"/>
                </a:solidFill>
                <a:latin typeface="Times New Roman" pitchFamily="18" charset="0"/>
                <a:cs typeface="Times New Roman" pitchFamily="18" charset="0"/>
              </a:rPr>
              <a:t>  After the secondary treatment, the sewage effluent has a lower BOD (25 </a:t>
            </a:r>
            <a:r>
              <a:rPr lang="en-US" sz="2200" dirty="0" err="1" smtClean="0">
                <a:solidFill>
                  <a:srgbClr val="FF0066"/>
                </a:solidFill>
                <a:latin typeface="Times New Roman" pitchFamily="18" charset="0"/>
                <a:cs typeface="Times New Roman" pitchFamily="18" charset="0"/>
              </a:rPr>
              <a:t>ppm</a:t>
            </a:r>
            <a:r>
              <a:rPr lang="en-US" sz="2200" dirty="0" smtClean="0">
                <a:solidFill>
                  <a:srgbClr val="FF0066"/>
                </a:solidFill>
                <a:latin typeface="Times New Roman" pitchFamily="18" charset="0"/>
                <a:cs typeface="Times New Roman" pitchFamily="18" charset="0"/>
              </a:rPr>
              <a:t>), which can be removed by the tertiary treatment process.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In the tertiary treatment, the effluent is introduced into a flocculation tank, where lime is added to remove phosphates.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From the flocculation tank the effluent is led to ammonia stripping tower, where pH is maintained to 11 and the  NH     is converted to gaseous  NH    .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Then the effluent is allowed to pass through activated charcoal column, where minute organic wastes are adsorbed by charcoal.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Finally the effluent water is treated with disinfectant (chlorine).</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V Disposal of sludge</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This is the last stage in the sewage treatment. </a:t>
            </a:r>
          </a:p>
          <a:p>
            <a:pPr>
              <a:buFont typeface="Wingdings" pitchFamily="2" charset="2"/>
              <a:buChar char="v"/>
            </a:pPr>
            <a:r>
              <a:rPr lang="en-US" sz="2200" dirty="0" smtClean="0">
                <a:solidFill>
                  <a:srgbClr val="FF0066"/>
                </a:solidFill>
                <a:latin typeface="Times New Roman" pitchFamily="18" charset="0"/>
                <a:cs typeface="Times New Roman" pitchFamily="18" charset="0"/>
              </a:rPr>
              <a:t>  Sludge formed from different steps can be disposed by</a:t>
            </a:r>
            <a:endParaRPr lang="en-US" sz="2200" dirty="0">
              <a:solidFill>
                <a:srgbClr val="FF0066"/>
              </a:solidFill>
              <a:latin typeface="Times New Roman" pitchFamily="18" charset="0"/>
              <a:cs typeface="Times New Roman" pitchFamily="18" charset="0"/>
            </a:endParaRPr>
          </a:p>
        </p:txBody>
      </p:sp>
      <p:sp>
        <p:nvSpPr>
          <p:cNvPr id="3" name="Rectangle 2"/>
          <p:cNvSpPr/>
          <p:nvPr/>
        </p:nvSpPr>
        <p:spPr>
          <a:xfrm>
            <a:off x="6096000" y="3657600"/>
            <a:ext cx="1524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4</a:t>
            </a:r>
            <a:endParaRPr lang="en-US" sz="2000" dirty="0">
              <a:solidFill>
                <a:srgbClr val="FF0066"/>
              </a:solidFill>
              <a:latin typeface="Times New Roman" pitchFamily="18" charset="0"/>
              <a:cs typeface="Times New Roman" pitchFamily="18" charset="0"/>
            </a:endParaRPr>
          </a:p>
        </p:txBody>
      </p:sp>
      <p:sp>
        <p:nvSpPr>
          <p:cNvPr id="4" name="Rectangle 3"/>
          <p:cNvSpPr/>
          <p:nvPr/>
        </p:nvSpPr>
        <p:spPr>
          <a:xfrm>
            <a:off x="1981200" y="4038600"/>
            <a:ext cx="228600" cy="762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FF0066"/>
                </a:solidFill>
                <a:latin typeface="Times New Roman" pitchFamily="18" charset="0"/>
                <a:cs typeface="Times New Roman" pitchFamily="18" charset="0"/>
              </a:rPr>
              <a:t>3</a:t>
            </a:r>
            <a:endParaRPr lang="en-US" sz="2000" dirty="0">
              <a:solidFill>
                <a:srgbClr val="FF0066"/>
              </a:solidFill>
              <a:latin typeface="Times New Roman" pitchFamily="18" charset="0"/>
              <a:cs typeface="Times New Roman" pitchFamily="18" charset="0"/>
            </a:endParaRPr>
          </a:p>
        </p:txBody>
      </p:sp>
      <p:sp>
        <p:nvSpPr>
          <p:cNvPr id="5" name="Rectangle 4"/>
          <p:cNvSpPr/>
          <p:nvPr/>
        </p:nvSpPr>
        <p:spPr>
          <a:xfrm>
            <a:off x="6019800" y="3352800"/>
            <a:ext cx="304800" cy="152400"/>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smtClean="0">
                <a:solidFill>
                  <a:srgbClr val="FF0066"/>
                </a:solidFill>
              </a:rPr>
              <a:t>⊕</a:t>
            </a:r>
          </a:p>
        </p:txBody>
      </p:sp>
    </p:spTree>
  </p:cSld>
  <p:clrMapOvr>
    <a:masterClrMapping/>
  </p:clrMapOvr>
  <p:transition spd="slow">
    <p:push/>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66800"/>
            <a:ext cx="8077200" cy="1785104"/>
          </a:xfrm>
          <a:prstGeom prst="rect">
            <a:avLst/>
          </a:prstGeom>
        </p:spPr>
        <p:txBody>
          <a:bodyPr wrap="square">
            <a:spAutoFit/>
          </a:bodyPr>
          <a:lstStyle/>
          <a:p>
            <a:pPr lvl="2">
              <a:buFont typeface="Wingdings" pitchFamily="2" charset="2"/>
              <a:buChar char="ü"/>
            </a:pPr>
            <a:r>
              <a:rPr lang="en-US" sz="2200" dirty="0" smtClean="0">
                <a:solidFill>
                  <a:srgbClr val="00B0F0"/>
                </a:solidFill>
                <a:latin typeface="Times New Roman" pitchFamily="18" charset="0"/>
                <a:cs typeface="Times New Roman" pitchFamily="18" charset="0"/>
              </a:rPr>
              <a:t>  dumping into low-lying areas.</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burning of sludge (incineration),</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dumping into the sea,</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using it as low grade fertilizers.</a:t>
            </a:r>
          </a:p>
          <a:p>
            <a:r>
              <a:rPr lang="en-US" sz="2200" dirty="0" smtClean="0">
                <a:solidFill>
                  <a:srgbClr val="00B0F0"/>
                </a:solidFill>
                <a:latin typeface="Times New Roman" pitchFamily="18" charset="0"/>
                <a:cs typeface="Times New Roman" pitchFamily="18" charset="0"/>
              </a:rPr>
              <a:t>                  The flow sheet diagram of sewage treatment</a:t>
            </a:r>
            <a:endParaRPr lang="en-US" sz="2200" dirty="0">
              <a:solidFill>
                <a:srgbClr val="00B0F0"/>
              </a:solidFill>
              <a:latin typeface="Times New Roman" pitchFamily="18" charset="0"/>
              <a:cs typeface="Times New Roman" pitchFamily="18" charset="0"/>
            </a:endParaRPr>
          </a:p>
        </p:txBody>
      </p:sp>
      <p:pic>
        <p:nvPicPr>
          <p:cNvPr id="94210" name="Picture 2" descr="C:\Users\User\AppData\Local\Temp\ksohtml\wps3FD1.tmp.png"/>
          <p:cNvPicPr>
            <a:picLocks noChangeAspect="1" noChangeArrowheads="1"/>
          </p:cNvPicPr>
          <p:nvPr/>
        </p:nvPicPr>
        <p:blipFill>
          <a:blip r:embed="rId2">
            <a:duotone>
              <a:prstClr val="black"/>
              <a:schemeClr val="accent2">
                <a:tint val="45000"/>
                <a:satMod val="400000"/>
              </a:schemeClr>
            </a:duotone>
          </a:blip>
          <a:srcRect/>
          <a:stretch>
            <a:fillRect/>
          </a:stretch>
        </p:blipFill>
        <p:spPr bwMode="auto">
          <a:xfrm>
            <a:off x="762000" y="3581400"/>
            <a:ext cx="7010400" cy="3048000"/>
          </a:xfrm>
          <a:prstGeom prst="rect">
            <a:avLst/>
          </a:prstGeom>
          <a:noFill/>
        </p:spPr>
      </p:pic>
      <p:sp>
        <p:nvSpPr>
          <p:cNvPr id="4" name="Rectangle 3"/>
          <p:cNvSpPr/>
          <p:nvPr/>
        </p:nvSpPr>
        <p:spPr>
          <a:xfrm>
            <a:off x="609600" y="2971800"/>
            <a:ext cx="1574470" cy="400110"/>
          </a:xfrm>
          <a:prstGeom prst="rect">
            <a:avLst/>
          </a:prstGeom>
        </p:spPr>
        <p:txBody>
          <a:bodyPr wrap="none">
            <a:spAutoFit/>
          </a:bodyPr>
          <a:lstStyle/>
          <a:p>
            <a:r>
              <a:rPr lang="en-US" sz="2000" b="1" dirty="0" smtClean="0">
                <a:solidFill>
                  <a:srgbClr val="663300"/>
                </a:solidFill>
                <a:latin typeface="Times New Roman" pitchFamily="18" charset="0"/>
                <a:cs typeface="Times New Roman" pitchFamily="18" charset="0"/>
              </a:rPr>
              <a:t>Flow Chart  </a:t>
            </a:r>
            <a:endParaRPr lang="en-US" sz="2000" dirty="0">
              <a:solidFill>
                <a:srgbClr val="663300"/>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066800"/>
            <a:ext cx="8001000" cy="5509200"/>
          </a:xfrm>
          <a:prstGeom prst="rect">
            <a:avLst/>
          </a:prstGeom>
        </p:spPr>
        <p:txBody>
          <a:bodyPr wrap="square">
            <a:spAutoFit/>
          </a:bodyPr>
          <a:lstStyle/>
          <a:p>
            <a:r>
              <a:rPr lang="en-US" sz="2200" b="1" i="1" dirty="0" smtClean="0">
                <a:solidFill>
                  <a:srgbClr val="0000CC"/>
                </a:solidFill>
                <a:latin typeface="Times New Roman" pitchFamily="18" charset="0"/>
                <a:cs typeface="Times New Roman" pitchFamily="18" charset="0"/>
              </a:rPr>
              <a:t>2.3.5 Specifications for Drinking Water</a:t>
            </a:r>
          </a:p>
          <a:p>
            <a:endParaRPr lang="en-US" sz="2200" b="1" i="1" dirty="0" smtClean="0">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The common specifications recommended by the U.S Public Health for Drinking Water are given below.</a:t>
            </a:r>
          </a:p>
          <a:p>
            <a:endParaRPr lang="en-US" sz="2200" dirty="0" smtClean="0">
              <a:latin typeface="Times New Roman" pitchFamily="18" charset="0"/>
              <a:cs typeface="Times New Roman" pitchFamily="18" charset="0"/>
            </a:endParaRPr>
          </a:p>
          <a:p>
            <a:pPr marL="971550" lvl="1" indent="-514350">
              <a:buFont typeface="Wingdings" pitchFamily="2" charset="2"/>
              <a:buChar char="ü"/>
            </a:pPr>
            <a:r>
              <a:rPr lang="en-US" sz="2200" dirty="0" smtClean="0">
                <a:solidFill>
                  <a:srgbClr val="00B0F0"/>
                </a:solidFill>
                <a:latin typeface="Times New Roman" pitchFamily="18" charset="0"/>
                <a:cs typeface="Times New Roman" pitchFamily="18" charset="0"/>
              </a:rPr>
              <a:t>Water should be clear and </a:t>
            </a:r>
            <a:r>
              <a:rPr lang="en-US" sz="2200" dirty="0" err="1" smtClean="0">
                <a:solidFill>
                  <a:srgbClr val="00B0F0"/>
                </a:solidFill>
                <a:latin typeface="Times New Roman" pitchFamily="18" charset="0"/>
                <a:cs typeface="Times New Roman" pitchFamily="18" charset="0"/>
              </a:rPr>
              <a:t>odourless</a:t>
            </a:r>
            <a:r>
              <a:rPr lang="en-US" sz="2200" dirty="0" smtClean="0">
                <a:solidFill>
                  <a:srgbClr val="00B0F0"/>
                </a:solidFill>
                <a:latin typeface="Times New Roman" pitchFamily="18" charset="0"/>
                <a:cs typeface="Times New Roman" pitchFamily="18" charset="0"/>
              </a:rPr>
              <a:t>.</a:t>
            </a:r>
          </a:p>
          <a:p>
            <a:pPr marL="971550" lvl="1" indent="-514350">
              <a:buFont typeface="Wingdings" pitchFamily="2" charset="2"/>
              <a:buChar char="ü"/>
            </a:pPr>
            <a:endParaRPr lang="en-US" sz="2200" dirty="0" smtClean="0">
              <a:solidFill>
                <a:srgbClr val="00B0F0"/>
              </a:solidFill>
              <a:latin typeface="Times New Roman" pitchFamily="18" charset="0"/>
              <a:cs typeface="Times New Roman" pitchFamily="18" charset="0"/>
            </a:endParaRP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It should be cool.</a:t>
            </a:r>
          </a:p>
          <a:p>
            <a:pPr lvl="1">
              <a:buFont typeface="Wingdings" pitchFamily="2" charset="2"/>
              <a:buChar char="ü"/>
            </a:pPr>
            <a:endParaRPr lang="en-US" sz="2200" dirty="0" smtClean="0">
              <a:solidFill>
                <a:srgbClr val="00B0F0"/>
              </a:solidFill>
              <a:latin typeface="Times New Roman" pitchFamily="18" charset="0"/>
              <a:cs typeface="Times New Roman" pitchFamily="18" charset="0"/>
            </a:endParaRP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It should be pleasant to taste.</a:t>
            </a:r>
          </a:p>
          <a:p>
            <a:pPr lvl="1">
              <a:buFont typeface="Wingdings" pitchFamily="2" charset="2"/>
              <a:buChar char="ü"/>
            </a:pPr>
            <a:endParaRPr lang="en-US" sz="2200" dirty="0" smtClean="0">
              <a:solidFill>
                <a:srgbClr val="00B0F0"/>
              </a:solidFill>
              <a:latin typeface="Times New Roman" pitchFamily="18" charset="0"/>
              <a:cs typeface="Times New Roman" pitchFamily="18" charset="0"/>
            </a:endParaRP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Turbidity of the water should not exceed 10 </a:t>
            </a:r>
            <a:r>
              <a:rPr lang="en-US" sz="2200" dirty="0" err="1" smtClean="0">
                <a:solidFill>
                  <a:srgbClr val="00B0F0"/>
                </a:solidFill>
                <a:latin typeface="Times New Roman" pitchFamily="18" charset="0"/>
                <a:cs typeface="Times New Roman" pitchFamily="18" charset="0"/>
              </a:rPr>
              <a:t>ppm</a:t>
            </a:r>
            <a:r>
              <a:rPr lang="en-US" sz="2200" dirty="0" smtClean="0">
                <a:solidFill>
                  <a:srgbClr val="00B0F0"/>
                </a:solidFill>
                <a:latin typeface="Times New Roman" pitchFamily="18" charset="0"/>
                <a:cs typeface="Times New Roman" pitchFamily="18" charset="0"/>
              </a:rPr>
              <a:t>.</a:t>
            </a:r>
          </a:p>
          <a:p>
            <a:pPr lvl="1">
              <a:buFont typeface="Wingdings" pitchFamily="2" charset="2"/>
              <a:buChar char="ü"/>
            </a:pPr>
            <a:endParaRPr lang="en-US" sz="2200" dirty="0" smtClean="0">
              <a:solidFill>
                <a:srgbClr val="00B0F0"/>
              </a:solidFill>
              <a:latin typeface="Times New Roman" pitchFamily="18" charset="0"/>
              <a:cs typeface="Times New Roman" pitchFamily="18" charset="0"/>
            </a:endParaRP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pH of the water should be in the range of 7.0 - 8.5.</a:t>
            </a:r>
          </a:p>
          <a:p>
            <a:pPr lvl="1">
              <a:buFont typeface="Wingdings" pitchFamily="2" charset="2"/>
              <a:buChar char="ü"/>
            </a:pPr>
            <a:endParaRPr lang="en-US" sz="2200" dirty="0" smtClean="0">
              <a:solidFill>
                <a:srgbClr val="00B0F0"/>
              </a:solidFill>
              <a:latin typeface="Times New Roman" pitchFamily="18" charset="0"/>
              <a:cs typeface="Times New Roman" pitchFamily="18" charset="0"/>
            </a:endParaRP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Chloride and </a:t>
            </a:r>
            <a:r>
              <a:rPr lang="en-US" sz="2200" dirty="0" err="1" smtClean="0">
                <a:solidFill>
                  <a:srgbClr val="00B0F0"/>
                </a:solidFill>
                <a:latin typeface="Times New Roman" pitchFamily="18" charset="0"/>
                <a:cs typeface="Times New Roman" pitchFamily="18" charset="0"/>
              </a:rPr>
              <a:t>sulphate</a:t>
            </a:r>
            <a:r>
              <a:rPr lang="en-US" sz="2200" dirty="0" smtClean="0">
                <a:solidFill>
                  <a:srgbClr val="00B0F0"/>
                </a:solidFill>
                <a:latin typeface="Times New Roman" pitchFamily="18" charset="0"/>
                <a:cs typeface="Times New Roman" pitchFamily="18" charset="0"/>
              </a:rPr>
              <a:t> contents should be less than 250 </a:t>
            </a:r>
            <a:r>
              <a:rPr lang="en-US" sz="2200" dirty="0" err="1" smtClean="0">
                <a:solidFill>
                  <a:srgbClr val="00B0F0"/>
                </a:solidFill>
                <a:latin typeface="Times New Roman" pitchFamily="18" charset="0"/>
                <a:cs typeface="Times New Roman" pitchFamily="18" charset="0"/>
              </a:rPr>
              <a:t>ppm</a:t>
            </a:r>
            <a:r>
              <a:rPr lang="en-US" sz="2200" dirty="0" smtClean="0">
                <a:solidFill>
                  <a:srgbClr val="00B0F0"/>
                </a:solidFill>
                <a:latin typeface="Times New Roman" pitchFamily="18" charset="0"/>
                <a:cs typeface="Times New Roman" pitchFamily="18" charset="0"/>
              </a:rPr>
              <a:t>.</a:t>
            </a:r>
          </a:p>
        </p:txBody>
      </p:sp>
    </p:spTree>
  </p:cSld>
  <p:clrMapOvr>
    <a:masterClrMapping/>
  </p:clrMapOvr>
  <p:transition spd="slow">
    <p:push/>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219200"/>
            <a:ext cx="7924800" cy="4493538"/>
          </a:xfrm>
          <a:prstGeom prst="rect">
            <a:avLst/>
          </a:prstGeom>
        </p:spPr>
        <p:txBody>
          <a:bodyPr wrap="square">
            <a:spAutoFit/>
          </a:bodyPr>
          <a:lstStyle/>
          <a:p>
            <a:pPr lvl="1">
              <a:buFont typeface="Wingdings" pitchFamily="2" charset="2"/>
              <a:buChar char="ü"/>
            </a:pPr>
            <a:r>
              <a:rPr lang="en-US" sz="2200" dirty="0" smtClean="0">
                <a:solidFill>
                  <a:srgbClr val="00B0F0"/>
                </a:solidFill>
                <a:latin typeface="Times New Roman" pitchFamily="18" charset="0"/>
                <a:cs typeface="Times New Roman" pitchFamily="18" charset="0"/>
              </a:rPr>
              <a:t>  Total hardness of the water should be less than 500 </a:t>
            </a:r>
            <a:r>
              <a:rPr lang="en-US" sz="2200" dirty="0" err="1" smtClean="0">
                <a:solidFill>
                  <a:srgbClr val="00B0F0"/>
                </a:solidFill>
                <a:latin typeface="Times New Roman" pitchFamily="18" charset="0"/>
                <a:cs typeface="Times New Roman" pitchFamily="18" charset="0"/>
              </a:rPr>
              <a:t>ppm</a:t>
            </a:r>
            <a:r>
              <a:rPr lang="en-US" sz="2200" dirty="0" smtClean="0">
                <a:solidFill>
                  <a:srgbClr val="00B0F0"/>
                </a:solidFill>
                <a:latin typeface="Times New Roman" pitchFamily="18" charset="0"/>
                <a:cs typeface="Times New Roman" pitchFamily="18" charset="0"/>
              </a:rPr>
              <a:t>.</a:t>
            </a:r>
          </a:p>
          <a:p>
            <a:pPr lvl="1">
              <a:buFont typeface="Wingdings" pitchFamily="2" charset="2"/>
              <a:buChar char="ü"/>
            </a:pPr>
            <a:endParaRPr lang="en-US" sz="2200" dirty="0" smtClean="0">
              <a:solidFill>
                <a:srgbClr val="00B0F0"/>
              </a:solidFill>
              <a:latin typeface="Times New Roman" pitchFamily="18" charset="0"/>
              <a:cs typeface="Times New Roman" pitchFamily="18" charset="0"/>
            </a:endParaRP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Total dissolved solids should be less than 500 </a:t>
            </a:r>
            <a:r>
              <a:rPr lang="en-US" sz="2200" dirty="0" err="1" smtClean="0">
                <a:solidFill>
                  <a:srgbClr val="00B0F0"/>
                </a:solidFill>
                <a:latin typeface="Times New Roman" pitchFamily="18" charset="0"/>
                <a:cs typeface="Times New Roman" pitchFamily="18" charset="0"/>
              </a:rPr>
              <a:t>ppm</a:t>
            </a:r>
            <a:r>
              <a:rPr lang="en-US" sz="2200" dirty="0" smtClean="0">
                <a:solidFill>
                  <a:srgbClr val="00B0F0"/>
                </a:solidFill>
                <a:latin typeface="Times New Roman" pitchFamily="18" charset="0"/>
                <a:cs typeface="Times New Roman" pitchFamily="18" charset="0"/>
              </a:rPr>
              <a:t>.</a:t>
            </a:r>
          </a:p>
          <a:p>
            <a:pPr lvl="1">
              <a:buFont typeface="Wingdings" pitchFamily="2" charset="2"/>
              <a:buChar char="ü"/>
            </a:pPr>
            <a:endParaRPr lang="en-US" sz="2200" dirty="0" smtClean="0">
              <a:solidFill>
                <a:srgbClr val="00B0F0"/>
              </a:solidFill>
              <a:latin typeface="Times New Roman" pitchFamily="18" charset="0"/>
              <a:cs typeface="Times New Roman" pitchFamily="18" charset="0"/>
            </a:endParaRP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Fluoride content of the water should be less than 1.5 </a:t>
            </a:r>
            <a:r>
              <a:rPr lang="en-US" sz="2200" dirty="0" err="1" smtClean="0">
                <a:solidFill>
                  <a:srgbClr val="00B0F0"/>
                </a:solidFill>
                <a:latin typeface="Times New Roman" pitchFamily="18" charset="0"/>
                <a:cs typeface="Times New Roman" pitchFamily="18" charset="0"/>
              </a:rPr>
              <a:t>ppm</a:t>
            </a:r>
            <a:r>
              <a:rPr lang="en-US" sz="2200" dirty="0" smtClean="0">
                <a:solidFill>
                  <a:srgbClr val="00B0F0"/>
                </a:solidFill>
                <a:latin typeface="Times New Roman" pitchFamily="18" charset="0"/>
                <a:cs typeface="Times New Roman" pitchFamily="18" charset="0"/>
              </a:rPr>
              <a:t>.</a:t>
            </a:r>
          </a:p>
          <a:p>
            <a:pPr lvl="1">
              <a:buFont typeface="Wingdings" pitchFamily="2" charset="2"/>
              <a:buChar char="ü"/>
            </a:pPr>
            <a:endParaRPr lang="en-US" sz="2200" dirty="0" smtClean="0">
              <a:solidFill>
                <a:srgbClr val="00B0F0"/>
              </a:solidFill>
              <a:latin typeface="Times New Roman" pitchFamily="18" charset="0"/>
              <a:cs typeface="Times New Roman" pitchFamily="18" charset="0"/>
            </a:endParaRP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The water must be free from disease-producing bacteria.</a:t>
            </a:r>
          </a:p>
          <a:p>
            <a:pPr lvl="1">
              <a:buFont typeface="Wingdings" pitchFamily="2" charset="2"/>
              <a:buChar char="ü"/>
            </a:pPr>
            <a:endParaRPr lang="en-US" sz="2200" dirty="0" smtClean="0">
              <a:solidFill>
                <a:srgbClr val="00B0F0"/>
              </a:solidFill>
              <a:latin typeface="Times New Roman" pitchFamily="18" charset="0"/>
              <a:cs typeface="Times New Roman" pitchFamily="18" charset="0"/>
            </a:endParaRP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Water should be free from objectionable dissolved gases like H2S.</a:t>
            </a:r>
          </a:p>
          <a:p>
            <a:pPr lvl="1">
              <a:buFont typeface="Wingdings" pitchFamily="2" charset="2"/>
              <a:buChar char="ü"/>
            </a:pPr>
            <a:endParaRPr lang="en-US" sz="2200" dirty="0" smtClean="0">
              <a:solidFill>
                <a:srgbClr val="00B0F0"/>
              </a:solidFill>
              <a:latin typeface="Times New Roman" pitchFamily="18" charset="0"/>
              <a:cs typeface="Times New Roman" pitchFamily="18" charset="0"/>
            </a:endParaRP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Water should be free from objectionable minerals such as lead, chromium, manganese and arsenic salts.</a:t>
            </a:r>
            <a:endParaRPr lang="en-US" sz="2200" dirty="0">
              <a:solidFill>
                <a:srgbClr val="00B0F0"/>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90600"/>
            <a:ext cx="7924800" cy="1446550"/>
          </a:xfrm>
          <a:prstGeom prst="rect">
            <a:avLst/>
          </a:prstGeom>
        </p:spPr>
        <p:txBody>
          <a:bodyPr wrap="square">
            <a:spAutoFit/>
          </a:bodyPr>
          <a:lstStyle/>
          <a:p>
            <a:r>
              <a:rPr lang="en-US" sz="2200" b="1" i="1" dirty="0" smtClean="0">
                <a:solidFill>
                  <a:srgbClr val="0000CC"/>
                </a:solidFill>
                <a:latin typeface="Times New Roman" pitchFamily="18" charset="0"/>
                <a:cs typeface="Times New Roman" pitchFamily="18" charset="0"/>
              </a:rPr>
              <a:t>2.3.6 Water Quality Standards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Water used for drinking should have certain quality.</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following table 2.2 </a:t>
            </a:r>
            <a:r>
              <a:rPr lang="en-US" sz="2200" dirty="0" err="1" smtClean="0">
                <a:solidFill>
                  <a:srgbClr val="FF0066"/>
                </a:solidFill>
                <a:latin typeface="Times New Roman" pitchFamily="18" charset="0"/>
                <a:cs typeface="Times New Roman" pitchFamily="18" charset="0"/>
              </a:rPr>
              <a:t>summarises</a:t>
            </a:r>
            <a:r>
              <a:rPr lang="en-US" sz="2200" dirty="0" smtClean="0">
                <a:solidFill>
                  <a:srgbClr val="FF0066"/>
                </a:solidFill>
                <a:latin typeface="Times New Roman" pitchFamily="18" charset="0"/>
                <a:cs typeface="Times New Roman" pitchFamily="18" charset="0"/>
              </a:rPr>
              <a:t> several quality criteria and their standards for drinking water.</a:t>
            </a:r>
          </a:p>
        </p:txBody>
      </p:sp>
      <p:graphicFrame>
        <p:nvGraphicFramePr>
          <p:cNvPr id="3" name="Table 2"/>
          <p:cNvGraphicFramePr>
            <a:graphicFrameLocks noGrp="1"/>
          </p:cNvGraphicFramePr>
          <p:nvPr/>
        </p:nvGraphicFramePr>
        <p:xfrm>
          <a:off x="533400" y="2621536"/>
          <a:ext cx="8000999" cy="3762756"/>
        </p:xfrm>
        <a:graphic>
          <a:graphicData uri="http://schemas.openxmlformats.org/drawingml/2006/table">
            <a:tbl>
              <a:tblPr>
                <a:tableStyleId>{616DA210-FB5B-4158-B5E0-FEB733F419BA}</a:tableStyleId>
              </a:tblPr>
              <a:tblGrid>
                <a:gridCol w="841730"/>
                <a:gridCol w="2125598"/>
                <a:gridCol w="2693842"/>
                <a:gridCol w="2339829"/>
              </a:tblGrid>
              <a:tr h="1066800">
                <a:tc gridSpan="2">
                  <a:txBody>
                    <a:bodyPr/>
                    <a:lstStyle/>
                    <a:p>
                      <a:pPr marL="78740" marR="121920" indent="45720" algn="l" defTabSz="914400" rtl="0" eaLnBrk="1" fontAlgn="auto" latinLnBrk="0" hangingPunct="1">
                        <a:lnSpc>
                          <a:spcPct val="100000"/>
                        </a:lnSpc>
                        <a:spcBef>
                          <a:spcPts val="520"/>
                        </a:spcBef>
                        <a:spcAft>
                          <a:spcPts val="0"/>
                        </a:spcAft>
                        <a:buClrTx/>
                        <a:buSzTx/>
                        <a:buFontTx/>
                        <a:buAutoNum type="alphaUcPeriod" startAt="19"/>
                        <a:tabLst/>
                        <a:defRPr/>
                      </a:pPr>
                      <a:endParaRPr lang="en-US" sz="2000" spc="-5" dirty="0" smtClean="0">
                        <a:solidFill>
                          <a:srgbClr val="FF0000"/>
                        </a:solidFill>
                        <a:latin typeface="Times New Roman" pitchFamily="18" charset="0"/>
                        <a:cs typeface="Times New Roman" pitchFamily="18" charset="0"/>
                      </a:endParaRPr>
                    </a:p>
                    <a:p>
                      <a:pPr marL="78740" marR="121920" indent="45720" algn="l" defTabSz="914400" rtl="0" eaLnBrk="1" fontAlgn="auto" latinLnBrk="0" hangingPunct="1">
                        <a:lnSpc>
                          <a:spcPct val="100000"/>
                        </a:lnSpc>
                        <a:spcBef>
                          <a:spcPts val="520"/>
                        </a:spcBef>
                        <a:spcAft>
                          <a:spcPts val="0"/>
                        </a:spcAft>
                        <a:buClrTx/>
                        <a:buSzTx/>
                        <a:buFontTx/>
                        <a:buAutoNum type="alphaUcPeriod" startAt="19"/>
                        <a:tabLst/>
                        <a:defRPr/>
                      </a:pPr>
                      <a:r>
                        <a:rPr lang="en-US" sz="2000" spc="-5" dirty="0" smtClean="0">
                          <a:solidFill>
                            <a:srgbClr val="FF0000"/>
                          </a:solidFill>
                          <a:latin typeface="Times New Roman" pitchFamily="18" charset="0"/>
                          <a:cs typeface="Times New Roman" pitchFamily="18" charset="0"/>
                        </a:rPr>
                        <a:t> </a:t>
                      </a:r>
                      <a:r>
                        <a:rPr lang="en-US" sz="2000" dirty="0" smtClean="0">
                          <a:solidFill>
                            <a:srgbClr val="FF0000"/>
                          </a:solidFill>
                          <a:latin typeface="Times New Roman" pitchFamily="18" charset="0"/>
                          <a:cs typeface="Times New Roman" pitchFamily="18" charset="0"/>
                        </a:rPr>
                        <a:t>No.        </a:t>
                      </a:r>
                      <a:r>
                        <a:rPr lang="en-US" sz="2000" spc="-5" dirty="0" smtClean="0">
                          <a:solidFill>
                            <a:srgbClr val="FF0000"/>
                          </a:solidFill>
                          <a:latin typeface="Times New Roman" pitchFamily="18" charset="0"/>
                          <a:cs typeface="Times New Roman" pitchFamily="18" charset="0"/>
                        </a:rPr>
                        <a:t>Parameter</a:t>
                      </a:r>
                      <a:r>
                        <a:rPr lang="en-US" sz="2000" spc="-260" dirty="0" smtClean="0">
                          <a:solidFill>
                            <a:srgbClr val="FF0000"/>
                          </a:solidFill>
                          <a:latin typeface="Times New Roman" pitchFamily="18" charset="0"/>
                          <a:cs typeface="Times New Roman" pitchFamily="18" charset="0"/>
                        </a:rPr>
                        <a:t> </a:t>
                      </a:r>
                      <a:endParaRPr lang="en-US" sz="2000" dirty="0" smtClean="0">
                        <a:solidFill>
                          <a:srgbClr val="FF0000"/>
                        </a:solidFill>
                        <a:latin typeface="Times New Roman" pitchFamily="18" charset="0"/>
                        <a:cs typeface="Times New Roman" pitchFamily="18" charset="0"/>
                      </a:endParaRPr>
                    </a:p>
                    <a:p>
                      <a:pPr marL="78740" marR="121920" indent="45720" algn="l">
                        <a:spcBef>
                          <a:spcPts val="520"/>
                        </a:spcBef>
                        <a:spcAft>
                          <a:spcPts val="0"/>
                        </a:spcAft>
                        <a:buNone/>
                      </a:pPr>
                      <a:r>
                        <a:rPr lang="en-US" sz="2000" spc="-5" dirty="0" smtClean="0">
                          <a:solidFill>
                            <a:srgbClr val="FF0000"/>
                          </a:solidFill>
                          <a:latin typeface="Times New Roman" pitchFamily="18" charset="0"/>
                          <a:cs typeface="Times New Roman" pitchFamily="18" charset="0"/>
                        </a:rPr>
                        <a:t>            </a:t>
                      </a:r>
                    </a:p>
                    <a:p>
                      <a:pPr marL="78740" marR="121920" indent="45720" algn="l">
                        <a:spcBef>
                          <a:spcPts val="520"/>
                        </a:spcBef>
                        <a:spcAft>
                          <a:spcPts val="0"/>
                        </a:spcAft>
                        <a:buNone/>
                      </a:pPr>
                      <a:r>
                        <a:rPr lang="en-US" sz="2000" spc="-5" baseline="0" dirty="0" smtClean="0">
                          <a:solidFill>
                            <a:srgbClr val="FF0000"/>
                          </a:solidFill>
                          <a:latin typeface="Times New Roman" pitchFamily="18" charset="0"/>
                          <a:cs typeface="Times New Roman" pitchFamily="18" charset="0"/>
                        </a:rPr>
                        <a:t>                 </a:t>
                      </a:r>
                      <a:endParaRPr lang="en-US" sz="2000" b="1" spc="-260" dirty="0" smtClean="0">
                        <a:solidFill>
                          <a:srgbClr val="FF0000"/>
                        </a:solidFill>
                        <a:latin typeface="Times New Roman" pitchFamily="18" charset="0"/>
                        <a:cs typeface="Times New Roman" pitchFamily="18" charset="0"/>
                      </a:endParaRPr>
                    </a:p>
                  </a:txBody>
                  <a:tcPr/>
                </a:tc>
                <a:tc hMerge="1">
                  <a:txBody>
                    <a:bodyPr/>
                    <a:lstStyle/>
                    <a:p>
                      <a:endParaRPr lang="en-US"/>
                    </a:p>
                  </a:txBody>
                  <a:tcPr/>
                </a:tc>
                <a:tc>
                  <a:txBody>
                    <a:bodyPr/>
                    <a:lstStyle/>
                    <a:p>
                      <a:pPr marL="212090" marR="78740" indent="-123825" algn="l">
                        <a:lnSpc>
                          <a:spcPct val="101000"/>
                        </a:lnSpc>
                        <a:spcBef>
                          <a:spcPts val="20"/>
                        </a:spcBef>
                        <a:spcAft>
                          <a:spcPts val="0"/>
                        </a:spcAft>
                      </a:pPr>
                      <a:endParaRPr lang="en-US" sz="2000" dirty="0" smtClean="0">
                        <a:solidFill>
                          <a:srgbClr val="FF0000"/>
                        </a:solidFill>
                        <a:latin typeface="Times New Roman" pitchFamily="18" charset="0"/>
                        <a:cs typeface="Times New Roman" pitchFamily="18" charset="0"/>
                      </a:endParaRPr>
                    </a:p>
                    <a:p>
                      <a:pPr marL="212090" marR="78740" indent="-123825" algn="l">
                        <a:lnSpc>
                          <a:spcPct val="101000"/>
                        </a:lnSpc>
                        <a:spcBef>
                          <a:spcPts val="20"/>
                        </a:spcBef>
                        <a:spcAft>
                          <a:spcPts val="0"/>
                        </a:spcAft>
                      </a:pPr>
                      <a:r>
                        <a:rPr lang="en-US" sz="2000" dirty="0" smtClean="0">
                          <a:solidFill>
                            <a:srgbClr val="FF0000"/>
                          </a:solidFill>
                          <a:latin typeface="Times New Roman" pitchFamily="18" charset="0"/>
                          <a:cs typeface="Times New Roman" pitchFamily="18" charset="0"/>
                        </a:rPr>
                        <a:t>WHO</a:t>
                      </a:r>
                      <a:r>
                        <a:rPr lang="en-US" sz="2000" spc="145" dirty="0">
                          <a:solidFill>
                            <a:srgbClr val="FF0000"/>
                          </a:solidFill>
                          <a:latin typeface="Times New Roman" pitchFamily="18" charset="0"/>
                          <a:cs typeface="Times New Roman" pitchFamily="18" charset="0"/>
                        </a:rPr>
                        <a:t> </a:t>
                      </a:r>
                      <a:r>
                        <a:rPr lang="en-US" sz="2000" dirty="0">
                          <a:solidFill>
                            <a:srgbClr val="FF0000"/>
                          </a:solidFill>
                          <a:latin typeface="Times New Roman" pitchFamily="18" charset="0"/>
                          <a:cs typeface="Times New Roman" pitchFamily="18" charset="0"/>
                        </a:rPr>
                        <a:t>standard</a:t>
                      </a:r>
                      <a:r>
                        <a:rPr lang="en-US" sz="2000" spc="-260" dirty="0">
                          <a:solidFill>
                            <a:srgbClr val="FF0000"/>
                          </a:solidFill>
                          <a:latin typeface="Times New Roman" pitchFamily="18" charset="0"/>
                          <a:cs typeface="Times New Roman" pitchFamily="18" charset="0"/>
                        </a:rPr>
                        <a:t> </a:t>
                      </a:r>
                      <a:r>
                        <a:rPr lang="en-US" sz="2000" dirty="0">
                          <a:solidFill>
                            <a:srgbClr val="FF0000"/>
                          </a:solidFill>
                          <a:latin typeface="Times New Roman" pitchFamily="18" charset="0"/>
                          <a:cs typeface="Times New Roman" pitchFamily="18" charset="0"/>
                        </a:rPr>
                        <a:t>in</a:t>
                      </a:r>
                      <a:r>
                        <a:rPr lang="en-US" sz="2000" spc="220" dirty="0">
                          <a:solidFill>
                            <a:srgbClr val="FF0000"/>
                          </a:solidFill>
                          <a:latin typeface="Times New Roman" pitchFamily="18" charset="0"/>
                          <a:cs typeface="Times New Roman" pitchFamily="18" charset="0"/>
                        </a:rPr>
                        <a:t> </a:t>
                      </a:r>
                      <a:r>
                        <a:rPr lang="en-US" sz="2000" dirty="0">
                          <a:solidFill>
                            <a:srgbClr val="FF0000"/>
                          </a:solidFill>
                          <a:latin typeface="Times New Roman" pitchFamily="18" charset="0"/>
                          <a:cs typeface="Times New Roman" pitchFamily="18" charset="0"/>
                        </a:rPr>
                        <a:t>mgs/</a:t>
                      </a:r>
                      <a:r>
                        <a:rPr lang="en-US" sz="2000" dirty="0" err="1">
                          <a:solidFill>
                            <a:srgbClr val="FF0000"/>
                          </a:solidFill>
                          <a:latin typeface="Times New Roman" pitchFamily="18" charset="0"/>
                          <a:cs typeface="Times New Roman" pitchFamily="18" charset="0"/>
                        </a:rPr>
                        <a:t>litre</a:t>
                      </a:r>
                      <a:endParaRPr lang="en-US" sz="2000" b="1" dirty="0">
                        <a:solidFill>
                          <a:srgbClr val="FF0000"/>
                        </a:solidFill>
                        <a:latin typeface="Times New Roman" pitchFamily="18" charset="0"/>
                        <a:cs typeface="Times New Roman" pitchFamily="18" charset="0"/>
                      </a:endParaRPr>
                    </a:p>
                  </a:txBody>
                  <a:tcPr/>
                </a:tc>
                <a:tc>
                  <a:txBody>
                    <a:bodyPr/>
                    <a:lstStyle/>
                    <a:p>
                      <a:pPr marL="109855" marR="97155" indent="-21590" algn="l">
                        <a:lnSpc>
                          <a:spcPct val="101000"/>
                        </a:lnSpc>
                        <a:spcBef>
                          <a:spcPts val="20"/>
                        </a:spcBef>
                        <a:spcAft>
                          <a:spcPts val="0"/>
                        </a:spcAft>
                      </a:pPr>
                      <a:endParaRPr lang="en-US" sz="2000" dirty="0" smtClean="0">
                        <a:solidFill>
                          <a:srgbClr val="FF0000"/>
                        </a:solidFill>
                        <a:latin typeface="Times New Roman" pitchFamily="18" charset="0"/>
                        <a:cs typeface="Times New Roman" pitchFamily="18" charset="0"/>
                      </a:endParaRPr>
                    </a:p>
                    <a:p>
                      <a:pPr marL="109855" marR="97155" indent="-21590" algn="l">
                        <a:lnSpc>
                          <a:spcPct val="101000"/>
                        </a:lnSpc>
                        <a:spcBef>
                          <a:spcPts val="20"/>
                        </a:spcBef>
                        <a:spcAft>
                          <a:spcPts val="0"/>
                        </a:spcAft>
                      </a:pPr>
                      <a:r>
                        <a:rPr lang="en-US" sz="2000" dirty="0" smtClean="0">
                          <a:solidFill>
                            <a:srgbClr val="FF0000"/>
                          </a:solidFill>
                          <a:latin typeface="Times New Roman" pitchFamily="18" charset="0"/>
                          <a:cs typeface="Times New Roman" pitchFamily="18" charset="0"/>
                        </a:rPr>
                        <a:t>ISI</a:t>
                      </a:r>
                      <a:r>
                        <a:rPr lang="en-US" sz="2000" spc="175" dirty="0">
                          <a:solidFill>
                            <a:srgbClr val="FF0000"/>
                          </a:solidFill>
                          <a:latin typeface="Times New Roman" pitchFamily="18" charset="0"/>
                          <a:cs typeface="Times New Roman" pitchFamily="18" charset="0"/>
                        </a:rPr>
                        <a:t> </a:t>
                      </a:r>
                      <a:r>
                        <a:rPr lang="en-US" sz="2000" dirty="0">
                          <a:solidFill>
                            <a:srgbClr val="FF0000"/>
                          </a:solidFill>
                          <a:latin typeface="Times New Roman" pitchFamily="18" charset="0"/>
                          <a:cs typeface="Times New Roman" pitchFamily="18" charset="0"/>
                        </a:rPr>
                        <a:t>standard</a:t>
                      </a:r>
                      <a:r>
                        <a:rPr lang="en-US" sz="2000" spc="-260" dirty="0">
                          <a:solidFill>
                            <a:srgbClr val="FF0000"/>
                          </a:solidFill>
                          <a:latin typeface="Times New Roman" pitchFamily="18" charset="0"/>
                          <a:cs typeface="Times New Roman" pitchFamily="18" charset="0"/>
                        </a:rPr>
                        <a:t> </a:t>
                      </a:r>
                      <a:r>
                        <a:rPr lang="en-US" sz="2000" dirty="0">
                          <a:solidFill>
                            <a:srgbClr val="FF0000"/>
                          </a:solidFill>
                          <a:latin typeface="Times New Roman" pitchFamily="18" charset="0"/>
                          <a:cs typeface="Times New Roman" pitchFamily="18" charset="0"/>
                        </a:rPr>
                        <a:t>in</a:t>
                      </a:r>
                      <a:r>
                        <a:rPr lang="en-US" sz="2000" spc="205" dirty="0">
                          <a:solidFill>
                            <a:srgbClr val="FF0000"/>
                          </a:solidFill>
                          <a:latin typeface="Times New Roman" pitchFamily="18" charset="0"/>
                          <a:cs typeface="Times New Roman" pitchFamily="18" charset="0"/>
                        </a:rPr>
                        <a:t> </a:t>
                      </a:r>
                      <a:r>
                        <a:rPr lang="en-US" sz="2000" dirty="0">
                          <a:solidFill>
                            <a:srgbClr val="FF0000"/>
                          </a:solidFill>
                          <a:latin typeface="Times New Roman" pitchFamily="18" charset="0"/>
                          <a:cs typeface="Times New Roman" pitchFamily="18" charset="0"/>
                        </a:rPr>
                        <a:t>mgs/</a:t>
                      </a:r>
                      <a:r>
                        <a:rPr lang="en-US" sz="2000" dirty="0" err="1">
                          <a:solidFill>
                            <a:srgbClr val="FF0000"/>
                          </a:solidFill>
                          <a:latin typeface="Times New Roman" pitchFamily="18" charset="0"/>
                          <a:cs typeface="Times New Roman" pitchFamily="18" charset="0"/>
                        </a:rPr>
                        <a:t>litre</a:t>
                      </a:r>
                      <a:r>
                        <a:rPr lang="en-US" sz="2000" dirty="0">
                          <a:solidFill>
                            <a:srgbClr val="FF0000"/>
                          </a:solidFill>
                          <a:latin typeface="Times New Roman" pitchFamily="18" charset="0"/>
                          <a:cs typeface="Times New Roman" pitchFamily="18" charset="0"/>
                        </a:rPr>
                        <a:t>.</a:t>
                      </a:r>
                      <a:endParaRPr lang="en-US" sz="2000" b="1" dirty="0">
                        <a:solidFill>
                          <a:srgbClr val="FF0000"/>
                        </a:solidFill>
                        <a:latin typeface="Times New Roman" pitchFamily="18" charset="0"/>
                        <a:cs typeface="Times New Roman" pitchFamily="18" charset="0"/>
                      </a:endParaRPr>
                    </a:p>
                  </a:txBody>
                  <a:tcPr/>
                </a:tc>
              </a:tr>
              <a:tr h="1016485">
                <a:tc>
                  <a:txBody>
                    <a:bodyPr/>
                    <a:lstStyle/>
                    <a:p>
                      <a:pPr marL="76200" marR="64135" algn="ctr">
                        <a:lnSpc>
                          <a:spcPts val="1175"/>
                        </a:lnSpc>
                        <a:spcBef>
                          <a:spcPts val="0"/>
                        </a:spcBef>
                        <a:spcAft>
                          <a:spcPts val="0"/>
                        </a:spcAft>
                      </a:pPr>
                      <a:endParaRPr lang="en-US" sz="2000" dirty="0" smtClean="0">
                        <a:solidFill>
                          <a:srgbClr val="FF0000"/>
                        </a:solidFill>
                        <a:latin typeface="Times New Roman" pitchFamily="18" charset="0"/>
                        <a:cs typeface="Times New Roman" pitchFamily="18" charset="0"/>
                      </a:endParaRPr>
                    </a:p>
                    <a:p>
                      <a:pPr marL="76200" marR="64135" algn="ctr">
                        <a:lnSpc>
                          <a:spcPts val="1175"/>
                        </a:lnSpc>
                        <a:spcBef>
                          <a:spcPts val="0"/>
                        </a:spcBef>
                        <a:spcAft>
                          <a:spcPts val="0"/>
                        </a:spcAft>
                      </a:pPr>
                      <a:endParaRPr lang="en-US" sz="2000" dirty="0" smtClean="0">
                        <a:solidFill>
                          <a:srgbClr val="FF0000"/>
                        </a:solidFill>
                        <a:latin typeface="Times New Roman" pitchFamily="18" charset="0"/>
                        <a:cs typeface="Times New Roman" pitchFamily="18" charset="0"/>
                      </a:endParaRPr>
                    </a:p>
                    <a:p>
                      <a:pPr marL="76200" marR="64135" algn="ctr">
                        <a:lnSpc>
                          <a:spcPts val="1175"/>
                        </a:lnSpc>
                        <a:spcBef>
                          <a:spcPts val="0"/>
                        </a:spcBef>
                        <a:spcAft>
                          <a:spcPts val="0"/>
                        </a:spcAft>
                      </a:pPr>
                      <a:r>
                        <a:rPr lang="en-US" sz="2000" dirty="0" smtClean="0">
                          <a:solidFill>
                            <a:srgbClr val="FF0000"/>
                          </a:solidFill>
                          <a:latin typeface="Times New Roman" pitchFamily="18" charset="0"/>
                          <a:cs typeface="Times New Roman" pitchFamily="18" charset="0"/>
                        </a:rPr>
                        <a:t>1</a:t>
                      </a:r>
                      <a:r>
                        <a:rPr lang="en-US" sz="2000" dirty="0">
                          <a:solidFill>
                            <a:srgbClr val="FF0000"/>
                          </a:solidFill>
                          <a:latin typeface="Times New Roman" pitchFamily="18" charset="0"/>
                          <a:cs typeface="Times New Roman" pitchFamily="18" charset="0"/>
                        </a:rPr>
                        <a:t>.</a:t>
                      </a:r>
                    </a:p>
                  </a:txBody>
                  <a:tcPr/>
                </a:tc>
                <a:tc>
                  <a:txBody>
                    <a:bodyPr/>
                    <a:lstStyle/>
                    <a:p>
                      <a:pPr marL="36195" algn="l">
                        <a:lnSpc>
                          <a:spcPts val="1175"/>
                        </a:lnSpc>
                        <a:spcBef>
                          <a:spcPts val="0"/>
                        </a:spcBef>
                        <a:spcAft>
                          <a:spcPts val="0"/>
                        </a:spcAft>
                      </a:pPr>
                      <a:endParaRPr lang="en-US" sz="2000" dirty="0" smtClean="0">
                        <a:solidFill>
                          <a:srgbClr val="FF0000"/>
                        </a:solidFill>
                        <a:latin typeface="Times New Roman" pitchFamily="18" charset="0"/>
                        <a:cs typeface="Times New Roman" pitchFamily="18" charset="0"/>
                      </a:endParaRPr>
                    </a:p>
                    <a:p>
                      <a:pPr marL="36195" algn="l">
                        <a:lnSpc>
                          <a:spcPts val="1175"/>
                        </a:lnSpc>
                        <a:spcBef>
                          <a:spcPts val="0"/>
                        </a:spcBef>
                        <a:spcAft>
                          <a:spcPts val="0"/>
                        </a:spcAft>
                      </a:pPr>
                      <a:endParaRPr lang="en-US" sz="2000" dirty="0" smtClean="0">
                        <a:solidFill>
                          <a:srgbClr val="FF0000"/>
                        </a:solidFill>
                        <a:latin typeface="Times New Roman" pitchFamily="18" charset="0"/>
                        <a:cs typeface="Times New Roman" pitchFamily="18" charset="0"/>
                      </a:endParaRPr>
                    </a:p>
                    <a:p>
                      <a:pPr marL="36195" algn="l">
                        <a:lnSpc>
                          <a:spcPts val="1175"/>
                        </a:lnSpc>
                        <a:spcBef>
                          <a:spcPts val="0"/>
                        </a:spcBef>
                        <a:spcAft>
                          <a:spcPts val="0"/>
                        </a:spcAft>
                      </a:pPr>
                      <a:r>
                        <a:rPr lang="en-US" sz="2000" dirty="0" err="1" smtClean="0">
                          <a:solidFill>
                            <a:srgbClr val="FF0000"/>
                          </a:solidFill>
                          <a:latin typeface="Times New Roman" pitchFamily="18" charset="0"/>
                          <a:cs typeface="Times New Roman" pitchFamily="18" charset="0"/>
                        </a:rPr>
                        <a:t>Colour</a:t>
                      </a:r>
                      <a:r>
                        <a:rPr lang="en-US" sz="2000" dirty="0">
                          <a:solidFill>
                            <a:srgbClr val="FF0000"/>
                          </a:solidFill>
                          <a:latin typeface="Times New Roman" pitchFamily="18" charset="0"/>
                          <a:cs typeface="Times New Roman" pitchFamily="18" charset="0"/>
                        </a:rPr>
                        <a:t>,</a:t>
                      </a:r>
                    </a:p>
                    <a:p>
                      <a:pPr marL="36195" marR="248920" algn="l">
                        <a:lnSpc>
                          <a:spcPct val="101000"/>
                        </a:lnSpc>
                        <a:spcBef>
                          <a:spcPts val="40"/>
                        </a:spcBef>
                        <a:spcAft>
                          <a:spcPts val="0"/>
                        </a:spcAft>
                      </a:pPr>
                      <a:r>
                        <a:rPr lang="en-US" sz="2000" dirty="0" err="1">
                          <a:solidFill>
                            <a:srgbClr val="FF0000"/>
                          </a:solidFill>
                          <a:latin typeface="Times New Roman" pitchFamily="18" charset="0"/>
                          <a:cs typeface="Times New Roman" pitchFamily="18" charset="0"/>
                        </a:rPr>
                        <a:t>odour</a:t>
                      </a:r>
                      <a:r>
                        <a:rPr lang="en-US" sz="2000" spc="145" dirty="0">
                          <a:solidFill>
                            <a:srgbClr val="FF0000"/>
                          </a:solidFill>
                          <a:latin typeface="Times New Roman" pitchFamily="18" charset="0"/>
                          <a:cs typeface="Times New Roman" pitchFamily="18" charset="0"/>
                        </a:rPr>
                        <a:t> </a:t>
                      </a:r>
                      <a:r>
                        <a:rPr lang="en-US" sz="2000" dirty="0">
                          <a:solidFill>
                            <a:srgbClr val="FF0000"/>
                          </a:solidFill>
                          <a:latin typeface="Times New Roman" pitchFamily="18" charset="0"/>
                          <a:cs typeface="Times New Roman" pitchFamily="18" charset="0"/>
                        </a:rPr>
                        <a:t>and</a:t>
                      </a:r>
                      <a:r>
                        <a:rPr lang="en-US" sz="2000" spc="-260" dirty="0">
                          <a:solidFill>
                            <a:srgbClr val="FF0000"/>
                          </a:solidFill>
                          <a:latin typeface="Times New Roman" pitchFamily="18" charset="0"/>
                          <a:cs typeface="Times New Roman" pitchFamily="18" charset="0"/>
                        </a:rPr>
                        <a:t> </a:t>
                      </a:r>
                      <a:r>
                        <a:rPr lang="en-US" sz="2000" dirty="0">
                          <a:solidFill>
                            <a:srgbClr val="FF0000"/>
                          </a:solidFill>
                          <a:latin typeface="Times New Roman" pitchFamily="18" charset="0"/>
                          <a:cs typeface="Times New Roman" pitchFamily="18" charset="0"/>
                        </a:rPr>
                        <a:t>taste.</a:t>
                      </a:r>
                    </a:p>
                  </a:txBody>
                  <a:tcPr/>
                </a:tc>
                <a:tc>
                  <a:txBody>
                    <a:bodyPr/>
                    <a:lstStyle/>
                    <a:p>
                      <a:pPr marL="161290" marR="153035" algn="ctr">
                        <a:lnSpc>
                          <a:spcPts val="1175"/>
                        </a:lnSpc>
                        <a:spcBef>
                          <a:spcPts val="0"/>
                        </a:spcBef>
                        <a:spcAft>
                          <a:spcPts val="0"/>
                        </a:spcAft>
                      </a:pPr>
                      <a:endParaRPr lang="en-US" sz="2000" dirty="0" smtClean="0">
                        <a:solidFill>
                          <a:srgbClr val="FF0000"/>
                        </a:solidFill>
                        <a:latin typeface="Times New Roman" pitchFamily="18" charset="0"/>
                        <a:cs typeface="Times New Roman" pitchFamily="18" charset="0"/>
                      </a:endParaRPr>
                    </a:p>
                    <a:p>
                      <a:pPr marL="161290" marR="153035" algn="ctr">
                        <a:lnSpc>
                          <a:spcPts val="1175"/>
                        </a:lnSpc>
                        <a:spcBef>
                          <a:spcPts val="0"/>
                        </a:spcBef>
                        <a:spcAft>
                          <a:spcPts val="0"/>
                        </a:spcAft>
                      </a:pPr>
                      <a:endParaRPr lang="en-US" sz="2000" dirty="0" smtClean="0">
                        <a:solidFill>
                          <a:srgbClr val="FF0000"/>
                        </a:solidFill>
                        <a:latin typeface="Times New Roman" pitchFamily="18" charset="0"/>
                        <a:cs typeface="Times New Roman" pitchFamily="18" charset="0"/>
                      </a:endParaRPr>
                    </a:p>
                    <a:p>
                      <a:pPr marL="161290" marR="153035" algn="ctr">
                        <a:lnSpc>
                          <a:spcPts val="1175"/>
                        </a:lnSpc>
                        <a:spcBef>
                          <a:spcPts val="0"/>
                        </a:spcBef>
                        <a:spcAft>
                          <a:spcPts val="0"/>
                        </a:spcAft>
                      </a:pPr>
                      <a:r>
                        <a:rPr lang="en-US" sz="2000" dirty="0" err="1" smtClean="0">
                          <a:solidFill>
                            <a:srgbClr val="FF0000"/>
                          </a:solidFill>
                          <a:latin typeface="Times New Roman" pitchFamily="18" charset="0"/>
                          <a:cs typeface="Times New Roman" pitchFamily="18" charset="0"/>
                        </a:rPr>
                        <a:t>Colourless</a:t>
                      </a:r>
                      <a:r>
                        <a:rPr lang="en-US" sz="2000" dirty="0">
                          <a:solidFill>
                            <a:srgbClr val="FF0000"/>
                          </a:solidFill>
                          <a:latin typeface="Times New Roman" pitchFamily="18" charset="0"/>
                          <a:cs typeface="Times New Roman" pitchFamily="18" charset="0"/>
                        </a:rPr>
                        <a:t>,</a:t>
                      </a:r>
                    </a:p>
                    <a:p>
                      <a:pPr marL="163195" marR="153035" algn="ctr">
                        <a:lnSpc>
                          <a:spcPct val="101000"/>
                        </a:lnSpc>
                        <a:spcBef>
                          <a:spcPts val="40"/>
                        </a:spcBef>
                        <a:spcAft>
                          <a:spcPts val="0"/>
                        </a:spcAft>
                      </a:pPr>
                      <a:r>
                        <a:rPr lang="en-US" sz="2000" dirty="0" err="1">
                          <a:solidFill>
                            <a:srgbClr val="FF0000"/>
                          </a:solidFill>
                          <a:latin typeface="Times New Roman" pitchFamily="18" charset="0"/>
                          <a:cs typeface="Times New Roman" pitchFamily="18" charset="0"/>
                        </a:rPr>
                        <a:t>odourless</a:t>
                      </a:r>
                      <a:r>
                        <a:rPr lang="en-US" sz="2000" spc="135" dirty="0">
                          <a:solidFill>
                            <a:srgbClr val="FF0000"/>
                          </a:solidFill>
                          <a:latin typeface="Times New Roman" pitchFamily="18" charset="0"/>
                          <a:cs typeface="Times New Roman" pitchFamily="18" charset="0"/>
                        </a:rPr>
                        <a:t> </a:t>
                      </a:r>
                      <a:r>
                        <a:rPr lang="en-US" sz="2000" dirty="0">
                          <a:solidFill>
                            <a:srgbClr val="FF0000"/>
                          </a:solidFill>
                          <a:latin typeface="Times New Roman" pitchFamily="18" charset="0"/>
                          <a:cs typeface="Times New Roman" pitchFamily="18" charset="0"/>
                        </a:rPr>
                        <a:t>and</a:t>
                      </a:r>
                      <a:r>
                        <a:rPr lang="en-US" sz="2000" spc="-260" dirty="0">
                          <a:solidFill>
                            <a:srgbClr val="FF0000"/>
                          </a:solidFill>
                          <a:latin typeface="Times New Roman" pitchFamily="18" charset="0"/>
                          <a:cs typeface="Times New Roman" pitchFamily="18" charset="0"/>
                        </a:rPr>
                        <a:t> </a:t>
                      </a:r>
                      <a:r>
                        <a:rPr lang="en-US" sz="2000" dirty="0" err="1" smtClean="0">
                          <a:solidFill>
                            <a:srgbClr val="FF0000"/>
                          </a:solidFill>
                          <a:latin typeface="Times New Roman" pitchFamily="18" charset="0"/>
                          <a:cs typeface="Times New Roman" pitchFamily="18" charset="0"/>
                        </a:rPr>
                        <a:t>tasteles</a:t>
                      </a:r>
                      <a:endParaRPr lang="en-US" sz="2000" dirty="0">
                        <a:solidFill>
                          <a:srgbClr val="FF0000"/>
                        </a:solidFill>
                        <a:latin typeface="Times New Roman" pitchFamily="18" charset="0"/>
                        <a:cs typeface="Times New Roman" pitchFamily="18" charset="0"/>
                      </a:endParaRPr>
                    </a:p>
                  </a:txBody>
                  <a:tcPr/>
                </a:tc>
                <a:tc>
                  <a:txBody>
                    <a:bodyPr/>
                    <a:lstStyle/>
                    <a:p>
                      <a:pPr marL="76835" marR="67945" algn="ctr">
                        <a:lnSpc>
                          <a:spcPts val="1175"/>
                        </a:lnSpc>
                        <a:spcBef>
                          <a:spcPts val="0"/>
                        </a:spcBef>
                        <a:spcAft>
                          <a:spcPts val="0"/>
                        </a:spcAft>
                      </a:pPr>
                      <a:endParaRPr lang="en-US" sz="2000" dirty="0" smtClean="0">
                        <a:solidFill>
                          <a:srgbClr val="FF0000"/>
                        </a:solidFill>
                        <a:latin typeface="Times New Roman" pitchFamily="18" charset="0"/>
                        <a:cs typeface="Times New Roman" pitchFamily="18" charset="0"/>
                      </a:endParaRPr>
                    </a:p>
                    <a:p>
                      <a:pPr marL="76835" marR="67945" algn="ctr">
                        <a:lnSpc>
                          <a:spcPts val="1175"/>
                        </a:lnSpc>
                        <a:spcBef>
                          <a:spcPts val="0"/>
                        </a:spcBef>
                        <a:spcAft>
                          <a:spcPts val="0"/>
                        </a:spcAft>
                      </a:pPr>
                      <a:endParaRPr lang="en-US" sz="2000" dirty="0" smtClean="0">
                        <a:solidFill>
                          <a:srgbClr val="FF0000"/>
                        </a:solidFill>
                        <a:latin typeface="Times New Roman" pitchFamily="18" charset="0"/>
                        <a:cs typeface="Times New Roman" pitchFamily="18" charset="0"/>
                      </a:endParaRPr>
                    </a:p>
                    <a:p>
                      <a:pPr marL="76835" marR="67945" algn="ctr">
                        <a:lnSpc>
                          <a:spcPts val="1175"/>
                        </a:lnSpc>
                        <a:spcBef>
                          <a:spcPts val="0"/>
                        </a:spcBef>
                        <a:spcAft>
                          <a:spcPts val="0"/>
                        </a:spcAft>
                      </a:pPr>
                      <a:r>
                        <a:rPr lang="en-US" sz="2000" dirty="0" err="1" smtClean="0">
                          <a:solidFill>
                            <a:srgbClr val="FF0000"/>
                          </a:solidFill>
                          <a:latin typeface="Times New Roman" pitchFamily="18" charset="0"/>
                          <a:cs typeface="Times New Roman" pitchFamily="18" charset="0"/>
                        </a:rPr>
                        <a:t>Colourless</a:t>
                      </a:r>
                      <a:r>
                        <a:rPr lang="en-US" sz="2000" dirty="0">
                          <a:solidFill>
                            <a:srgbClr val="FF0000"/>
                          </a:solidFill>
                          <a:latin typeface="Times New Roman" pitchFamily="18" charset="0"/>
                          <a:cs typeface="Times New Roman" pitchFamily="18" charset="0"/>
                        </a:rPr>
                        <a:t>,</a:t>
                      </a:r>
                    </a:p>
                    <a:p>
                      <a:pPr marL="78105" marR="67945" algn="ctr">
                        <a:lnSpc>
                          <a:spcPct val="101000"/>
                        </a:lnSpc>
                        <a:spcBef>
                          <a:spcPts val="40"/>
                        </a:spcBef>
                        <a:spcAft>
                          <a:spcPts val="0"/>
                        </a:spcAft>
                      </a:pPr>
                      <a:r>
                        <a:rPr lang="en-US" sz="2000" dirty="0" err="1">
                          <a:solidFill>
                            <a:srgbClr val="FF0000"/>
                          </a:solidFill>
                          <a:latin typeface="Times New Roman" pitchFamily="18" charset="0"/>
                          <a:cs typeface="Times New Roman" pitchFamily="18" charset="0"/>
                        </a:rPr>
                        <a:t>odourless</a:t>
                      </a:r>
                      <a:r>
                        <a:rPr lang="en-US" sz="2000" spc="135" dirty="0">
                          <a:solidFill>
                            <a:srgbClr val="FF0000"/>
                          </a:solidFill>
                          <a:latin typeface="Times New Roman" pitchFamily="18" charset="0"/>
                          <a:cs typeface="Times New Roman" pitchFamily="18" charset="0"/>
                        </a:rPr>
                        <a:t> </a:t>
                      </a:r>
                      <a:r>
                        <a:rPr lang="en-US" sz="2000" dirty="0">
                          <a:solidFill>
                            <a:srgbClr val="FF0000"/>
                          </a:solidFill>
                          <a:latin typeface="Times New Roman" pitchFamily="18" charset="0"/>
                          <a:cs typeface="Times New Roman" pitchFamily="18" charset="0"/>
                        </a:rPr>
                        <a:t>and</a:t>
                      </a:r>
                      <a:r>
                        <a:rPr lang="en-US" sz="2000" spc="-260" dirty="0">
                          <a:solidFill>
                            <a:srgbClr val="FF0000"/>
                          </a:solidFill>
                          <a:latin typeface="Times New Roman" pitchFamily="18" charset="0"/>
                          <a:cs typeface="Times New Roman" pitchFamily="18" charset="0"/>
                        </a:rPr>
                        <a:t> </a:t>
                      </a:r>
                      <a:r>
                        <a:rPr lang="en-US" sz="2000" dirty="0">
                          <a:solidFill>
                            <a:srgbClr val="FF0000"/>
                          </a:solidFill>
                          <a:latin typeface="Times New Roman" pitchFamily="18" charset="0"/>
                          <a:cs typeface="Times New Roman" pitchFamily="18" charset="0"/>
                        </a:rPr>
                        <a:t>tasteless.</a:t>
                      </a:r>
                    </a:p>
                  </a:txBody>
                  <a:tcPr/>
                </a:tc>
              </a:tr>
              <a:tr h="290810">
                <a:tc>
                  <a:txBody>
                    <a:bodyPr/>
                    <a:lstStyle/>
                    <a:p>
                      <a:pPr marL="76200" marR="64135" algn="ctr">
                        <a:lnSpc>
                          <a:spcPts val="1170"/>
                        </a:lnSpc>
                        <a:spcBef>
                          <a:spcPts val="0"/>
                        </a:spcBef>
                        <a:spcAft>
                          <a:spcPts val="0"/>
                        </a:spcAft>
                      </a:pPr>
                      <a:endParaRPr lang="en-US" sz="2000" dirty="0" smtClean="0">
                        <a:solidFill>
                          <a:srgbClr val="FF0000"/>
                        </a:solidFill>
                        <a:latin typeface="Times New Roman" pitchFamily="18" charset="0"/>
                        <a:cs typeface="Times New Roman" pitchFamily="18" charset="0"/>
                      </a:endParaRPr>
                    </a:p>
                    <a:p>
                      <a:pPr marL="76200" marR="64135" algn="ctr">
                        <a:lnSpc>
                          <a:spcPts val="1170"/>
                        </a:lnSpc>
                        <a:spcBef>
                          <a:spcPts val="0"/>
                        </a:spcBef>
                        <a:spcAft>
                          <a:spcPts val="0"/>
                        </a:spcAft>
                      </a:pPr>
                      <a:r>
                        <a:rPr lang="en-US" sz="2000" dirty="0" smtClean="0">
                          <a:solidFill>
                            <a:srgbClr val="FF0000"/>
                          </a:solidFill>
                          <a:latin typeface="Times New Roman" pitchFamily="18" charset="0"/>
                          <a:cs typeface="Times New Roman" pitchFamily="18" charset="0"/>
                        </a:rPr>
                        <a:t>2</a:t>
                      </a:r>
                      <a:r>
                        <a:rPr lang="en-US" sz="2000" dirty="0">
                          <a:solidFill>
                            <a:srgbClr val="FF0000"/>
                          </a:solidFill>
                          <a:latin typeface="Times New Roman" pitchFamily="18" charset="0"/>
                          <a:cs typeface="Times New Roman" pitchFamily="18" charset="0"/>
                        </a:rPr>
                        <a:t>.</a:t>
                      </a:r>
                    </a:p>
                  </a:txBody>
                  <a:tcPr/>
                </a:tc>
                <a:tc>
                  <a:txBody>
                    <a:bodyPr/>
                    <a:lstStyle/>
                    <a:p>
                      <a:pPr marL="36195" algn="l">
                        <a:lnSpc>
                          <a:spcPts val="1170"/>
                        </a:lnSpc>
                        <a:spcBef>
                          <a:spcPts val="0"/>
                        </a:spcBef>
                        <a:spcAft>
                          <a:spcPts val="0"/>
                        </a:spcAft>
                      </a:pPr>
                      <a:endParaRPr lang="en-US" sz="2000" dirty="0" smtClean="0">
                        <a:solidFill>
                          <a:srgbClr val="FF0000"/>
                        </a:solidFill>
                        <a:latin typeface="Times New Roman" pitchFamily="18" charset="0"/>
                        <a:cs typeface="Times New Roman" pitchFamily="18" charset="0"/>
                      </a:endParaRPr>
                    </a:p>
                    <a:p>
                      <a:pPr marL="36195" algn="l">
                        <a:lnSpc>
                          <a:spcPts val="1170"/>
                        </a:lnSpc>
                        <a:spcBef>
                          <a:spcPts val="0"/>
                        </a:spcBef>
                        <a:spcAft>
                          <a:spcPts val="0"/>
                        </a:spcAft>
                      </a:pPr>
                      <a:r>
                        <a:rPr lang="en-US" sz="2000" dirty="0" smtClean="0">
                          <a:solidFill>
                            <a:srgbClr val="FF0000"/>
                          </a:solidFill>
                          <a:latin typeface="Times New Roman" pitchFamily="18" charset="0"/>
                          <a:cs typeface="Times New Roman" pitchFamily="18" charset="0"/>
                        </a:rPr>
                        <a:t>pH</a:t>
                      </a:r>
                      <a:endParaRPr lang="en-US" sz="2000" dirty="0">
                        <a:solidFill>
                          <a:srgbClr val="FF0000"/>
                        </a:solidFill>
                        <a:latin typeface="Times New Roman" pitchFamily="18" charset="0"/>
                        <a:cs typeface="Times New Roman" pitchFamily="18" charset="0"/>
                      </a:endParaRPr>
                    </a:p>
                  </a:txBody>
                  <a:tcPr/>
                </a:tc>
                <a:tc>
                  <a:txBody>
                    <a:bodyPr/>
                    <a:lstStyle/>
                    <a:p>
                      <a:pPr marL="161290" marR="153035" algn="ctr">
                        <a:lnSpc>
                          <a:spcPts val="1170"/>
                        </a:lnSpc>
                        <a:spcBef>
                          <a:spcPts val="0"/>
                        </a:spcBef>
                        <a:spcAft>
                          <a:spcPts val="0"/>
                        </a:spcAft>
                      </a:pPr>
                      <a:endParaRPr lang="en-US" sz="2000" dirty="0" smtClean="0">
                        <a:solidFill>
                          <a:srgbClr val="FF0000"/>
                        </a:solidFill>
                        <a:latin typeface="Times New Roman" pitchFamily="18" charset="0"/>
                        <a:cs typeface="Times New Roman" pitchFamily="18" charset="0"/>
                      </a:endParaRPr>
                    </a:p>
                    <a:p>
                      <a:pPr marL="161290" marR="153035" algn="ctr">
                        <a:lnSpc>
                          <a:spcPts val="1170"/>
                        </a:lnSpc>
                        <a:spcBef>
                          <a:spcPts val="0"/>
                        </a:spcBef>
                        <a:spcAft>
                          <a:spcPts val="0"/>
                        </a:spcAft>
                      </a:pPr>
                      <a:r>
                        <a:rPr lang="en-US" sz="2000" dirty="0" smtClean="0">
                          <a:solidFill>
                            <a:srgbClr val="FF0000"/>
                          </a:solidFill>
                          <a:latin typeface="Times New Roman" pitchFamily="18" charset="0"/>
                          <a:cs typeface="Times New Roman" pitchFamily="18" charset="0"/>
                        </a:rPr>
                        <a:t>6.9</a:t>
                      </a:r>
                      <a:endParaRPr lang="en-US" sz="2000" dirty="0">
                        <a:solidFill>
                          <a:srgbClr val="FF0000"/>
                        </a:solidFill>
                        <a:latin typeface="Times New Roman" pitchFamily="18" charset="0"/>
                        <a:cs typeface="Times New Roman" pitchFamily="18" charset="0"/>
                      </a:endParaRPr>
                    </a:p>
                  </a:txBody>
                  <a:tcPr/>
                </a:tc>
                <a:tc>
                  <a:txBody>
                    <a:bodyPr/>
                    <a:lstStyle/>
                    <a:p>
                      <a:pPr marL="36195" marR="380365" algn="r">
                        <a:lnSpc>
                          <a:spcPts val="1170"/>
                        </a:lnSpc>
                        <a:spcBef>
                          <a:spcPts val="0"/>
                        </a:spcBef>
                        <a:spcAft>
                          <a:spcPts val="0"/>
                        </a:spcAft>
                      </a:pPr>
                      <a:endParaRPr lang="en-US" sz="2000" dirty="0" smtClean="0">
                        <a:solidFill>
                          <a:srgbClr val="FF0000"/>
                        </a:solidFill>
                        <a:latin typeface="Times New Roman" pitchFamily="18" charset="0"/>
                        <a:cs typeface="Times New Roman" pitchFamily="18" charset="0"/>
                      </a:endParaRPr>
                    </a:p>
                    <a:p>
                      <a:pPr marL="36195" marR="380365" algn="r">
                        <a:lnSpc>
                          <a:spcPts val="1170"/>
                        </a:lnSpc>
                        <a:spcBef>
                          <a:spcPts val="0"/>
                        </a:spcBef>
                        <a:spcAft>
                          <a:spcPts val="0"/>
                        </a:spcAft>
                      </a:pPr>
                      <a:r>
                        <a:rPr lang="en-US" sz="2000" dirty="0" smtClean="0">
                          <a:solidFill>
                            <a:srgbClr val="FF0000"/>
                          </a:solidFill>
                          <a:latin typeface="Times New Roman" pitchFamily="18" charset="0"/>
                          <a:cs typeface="Times New Roman" pitchFamily="18" charset="0"/>
                        </a:rPr>
                        <a:t>6.9</a:t>
                      </a:r>
                      <a:endParaRPr lang="en-US" sz="2000" dirty="0">
                        <a:solidFill>
                          <a:srgbClr val="FF0000"/>
                        </a:solidFill>
                        <a:latin typeface="Times New Roman" pitchFamily="18" charset="0"/>
                        <a:cs typeface="Times New Roman" pitchFamily="18" charset="0"/>
                      </a:endParaRPr>
                    </a:p>
                  </a:txBody>
                  <a:tcPr/>
                </a:tc>
              </a:tr>
              <a:tr h="648820">
                <a:tc>
                  <a:txBody>
                    <a:bodyPr/>
                    <a:lstStyle/>
                    <a:p>
                      <a:pPr marL="76200" marR="64135" algn="ctr">
                        <a:lnSpc>
                          <a:spcPts val="1170"/>
                        </a:lnSpc>
                        <a:spcBef>
                          <a:spcPts val="0"/>
                        </a:spcBef>
                        <a:spcAft>
                          <a:spcPts val="0"/>
                        </a:spcAft>
                      </a:pPr>
                      <a:endParaRPr lang="en-US" sz="2000" dirty="0" smtClean="0">
                        <a:solidFill>
                          <a:srgbClr val="FF0000"/>
                        </a:solidFill>
                        <a:latin typeface="Times New Roman" pitchFamily="18" charset="0"/>
                        <a:cs typeface="Times New Roman" pitchFamily="18" charset="0"/>
                      </a:endParaRPr>
                    </a:p>
                    <a:p>
                      <a:pPr marL="76200" marR="64135" algn="ctr">
                        <a:lnSpc>
                          <a:spcPts val="1170"/>
                        </a:lnSpc>
                        <a:spcBef>
                          <a:spcPts val="0"/>
                        </a:spcBef>
                        <a:spcAft>
                          <a:spcPts val="0"/>
                        </a:spcAft>
                      </a:pPr>
                      <a:r>
                        <a:rPr lang="en-US" sz="2000" dirty="0" smtClean="0">
                          <a:solidFill>
                            <a:srgbClr val="FF0000"/>
                          </a:solidFill>
                          <a:latin typeface="Times New Roman" pitchFamily="18" charset="0"/>
                          <a:cs typeface="Times New Roman" pitchFamily="18" charset="0"/>
                        </a:rPr>
                        <a:t>3</a:t>
                      </a:r>
                      <a:r>
                        <a:rPr lang="en-US" sz="2000" dirty="0">
                          <a:solidFill>
                            <a:srgbClr val="FF0000"/>
                          </a:solidFill>
                          <a:latin typeface="Times New Roman" pitchFamily="18" charset="0"/>
                          <a:cs typeface="Times New Roman" pitchFamily="18" charset="0"/>
                        </a:rPr>
                        <a:t>.</a:t>
                      </a:r>
                    </a:p>
                  </a:txBody>
                  <a:tcPr/>
                </a:tc>
                <a:tc>
                  <a:txBody>
                    <a:bodyPr/>
                    <a:lstStyle/>
                    <a:p>
                      <a:pPr marL="36195" algn="l">
                        <a:lnSpc>
                          <a:spcPts val="1170"/>
                        </a:lnSpc>
                        <a:spcBef>
                          <a:spcPts val="0"/>
                        </a:spcBef>
                        <a:spcAft>
                          <a:spcPts val="0"/>
                        </a:spcAft>
                      </a:pPr>
                      <a:endParaRPr lang="en-US" sz="2000" spc="-20" dirty="0" smtClean="0">
                        <a:solidFill>
                          <a:srgbClr val="FF0000"/>
                        </a:solidFill>
                        <a:latin typeface="Times New Roman" pitchFamily="18" charset="0"/>
                        <a:cs typeface="Times New Roman" pitchFamily="18" charset="0"/>
                      </a:endParaRPr>
                    </a:p>
                    <a:p>
                      <a:pPr marL="36195" algn="l">
                        <a:lnSpc>
                          <a:spcPts val="1170"/>
                        </a:lnSpc>
                        <a:spcBef>
                          <a:spcPts val="0"/>
                        </a:spcBef>
                        <a:spcAft>
                          <a:spcPts val="0"/>
                        </a:spcAft>
                      </a:pPr>
                      <a:r>
                        <a:rPr lang="en-US" sz="2000" spc="-20" dirty="0" smtClean="0">
                          <a:solidFill>
                            <a:srgbClr val="FF0000"/>
                          </a:solidFill>
                          <a:latin typeface="Times New Roman" pitchFamily="18" charset="0"/>
                          <a:cs typeface="Times New Roman" pitchFamily="18" charset="0"/>
                        </a:rPr>
                        <a:t>Total</a:t>
                      </a:r>
                      <a:r>
                        <a:rPr lang="en-US" sz="2000" spc="-50" dirty="0">
                          <a:solidFill>
                            <a:srgbClr val="FF0000"/>
                          </a:solidFill>
                          <a:latin typeface="Times New Roman" pitchFamily="18" charset="0"/>
                          <a:cs typeface="Times New Roman" pitchFamily="18" charset="0"/>
                        </a:rPr>
                        <a:t> </a:t>
                      </a:r>
                      <a:r>
                        <a:rPr lang="en-US" sz="2000" spc="-15" dirty="0">
                          <a:solidFill>
                            <a:srgbClr val="FF0000"/>
                          </a:solidFill>
                          <a:latin typeface="Times New Roman" pitchFamily="18" charset="0"/>
                          <a:cs typeface="Times New Roman" pitchFamily="18" charset="0"/>
                        </a:rPr>
                        <a:t>dissolved</a:t>
                      </a:r>
                      <a:endParaRPr lang="en-US" sz="2000" dirty="0">
                        <a:solidFill>
                          <a:srgbClr val="FF0000"/>
                        </a:solidFill>
                        <a:latin typeface="Times New Roman" pitchFamily="18" charset="0"/>
                        <a:cs typeface="Times New Roman" pitchFamily="18" charset="0"/>
                      </a:endParaRPr>
                    </a:p>
                    <a:p>
                      <a:pPr marL="36195" algn="l">
                        <a:spcBef>
                          <a:spcPts val="40"/>
                        </a:spcBef>
                        <a:spcAft>
                          <a:spcPts val="0"/>
                        </a:spcAft>
                      </a:pPr>
                      <a:r>
                        <a:rPr lang="en-US" sz="2000" dirty="0">
                          <a:solidFill>
                            <a:srgbClr val="FF0000"/>
                          </a:solidFill>
                          <a:latin typeface="Times New Roman" pitchFamily="18" charset="0"/>
                          <a:cs typeface="Times New Roman" pitchFamily="18" charset="0"/>
                        </a:rPr>
                        <a:t>solids</a:t>
                      </a:r>
                    </a:p>
                  </a:txBody>
                  <a:tcPr/>
                </a:tc>
                <a:tc>
                  <a:txBody>
                    <a:bodyPr/>
                    <a:lstStyle/>
                    <a:p>
                      <a:pPr marL="160020" marR="153035" algn="ctr">
                        <a:lnSpc>
                          <a:spcPts val="1170"/>
                        </a:lnSpc>
                        <a:spcBef>
                          <a:spcPts val="0"/>
                        </a:spcBef>
                        <a:spcAft>
                          <a:spcPts val="0"/>
                        </a:spcAft>
                      </a:pPr>
                      <a:endParaRPr lang="en-US" sz="2000" dirty="0" smtClean="0">
                        <a:solidFill>
                          <a:srgbClr val="FF0000"/>
                        </a:solidFill>
                        <a:latin typeface="Times New Roman" pitchFamily="18" charset="0"/>
                        <a:cs typeface="Times New Roman" pitchFamily="18" charset="0"/>
                      </a:endParaRPr>
                    </a:p>
                    <a:p>
                      <a:pPr marL="160020" marR="153035" algn="ctr">
                        <a:lnSpc>
                          <a:spcPts val="1170"/>
                        </a:lnSpc>
                        <a:spcBef>
                          <a:spcPts val="0"/>
                        </a:spcBef>
                        <a:spcAft>
                          <a:spcPts val="0"/>
                        </a:spcAft>
                      </a:pPr>
                      <a:r>
                        <a:rPr lang="en-US" sz="2000" dirty="0" smtClean="0">
                          <a:solidFill>
                            <a:srgbClr val="FF0000"/>
                          </a:solidFill>
                          <a:latin typeface="Times New Roman" pitchFamily="18" charset="0"/>
                          <a:cs typeface="Times New Roman" pitchFamily="18" charset="0"/>
                        </a:rPr>
                        <a:t>1,500</a:t>
                      </a:r>
                      <a:endParaRPr lang="en-US" sz="2000" dirty="0">
                        <a:solidFill>
                          <a:srgbClr val="FF0000"/>
                        </a:solidFill>
                        <a:latin typeface="Times New Roman" pitchFamily="18" charset="0"/>
                        <a:cs typeface="Times New Roman" pitchFamily="18" charset="0"/>
                      </a:endParaRPr>
                    </a:p>
                  </a:txBody>
                  <a:tcPr/>
                </a:tc>
                <a:tc>
                  <a:txBody>
                    <a:bodyPr/>
                    <a:lstStyle/>
                    <a:p>
                      <a:pPr marL="6350" algn="ctr">
                        <a:lnSpc>
                          <a:spcPts val="1170"/>
                        </a:lnSpc>
                        <a:spcBef>
                          <a:spcPts val="0"/>
                        </a:spcBef>
                        <a:spcAft>
                          <a:spcPts val="0"/>
                        </a:spcAft>
                      </a:pPr>
                      <a:endParaRPr lang="en-US" sz="2000" dirty="0" smtClean="0">
                        <a:solidFill>
                          <a:srgbClr val="FF0000"/>
                        </a:solidFill>
                        <a:latin typeface="Times New Roman" pitchFamily="18" charset="0"/>
                        <a:cs typeface="Times New Roman" pitchFamily="18" charset="0"/>
                      </a:endParaRPr>
                    </a:p>
                    <a:p>
                      <a:pPr marL="6350" algn="ctr">
                        <a:lnSpc>
                          <a:spcPts val="1170"/>
                        </a:lnSpc>
                        <a:spcBef>
                          <a:spcPts val="0"/>
                        </a:spcBef>
                        <a:spcAft>
                          <a:spcPts val="0"/>
                        </a:spcAft>
                      </a:pPr>
                      <a:r>
                        <a:rPr lang="en-US" sz="2000" dirty="0" smtClean="0">
                          <a:solidFill>
                            <a:srgbClr val="FF0000"/>
                          </a:solidFill>
                          <a:latin typeface="Times New Roman" pitchFamily="18" charset="0"/>
                          <a:cs typeface="Times New Roman" pitchFamily="18" charset="0"/>
                        </a:rPr>
                        <a:t>-</a:t>
                      </a:r>
                      <a:endParaRPr lang="en-US" sz="2000" dirty="0">
                        <a:solidFill>
                          <a:srgbClr val="FF0000"/>
                        </a:solidFill>
                        <a:latin typeface="Times New Roman" pitchFamily="18" charset="0"/>
                        <a:cs typeface="Times New Roman" pitchFamily="18" charset="0"/>
                      </a:endParaRPr>
                    </a:p>
                  </a:txBody>
                  <a:tcPr/>
                </a:tc>
              </a:tr>
            </a:tbl>
          </a:graphicData>
        </a:graphic>
      </p:graphicFrame>
    </p:spTree>
  </p:cSld>
  <p:clrMapOvr>
    <a:masterClrMapping/>
  </p:clrMapOvr>
  <p:transition spd="slow">
    <p:push/>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762000" y="1409700"/>
          <a:ext cx="7315199" cy="4838698"/>
        </p:xfrm>
        <a:graphic>
          <a:graphicData uri="http://schemas.openxmlformats.org/drawingml/2006/table">
            <a:tbl>
              <a:tblPr>
                <a:tableStyleId>{616DA210-FB5B-4158-B5E0-FEB733F419BA}</a:tableStyleId>
              </a:tblPr>
              <a:tblGrid>
                <a:gridCol w="769582"/>
                <a:gridCol w="1943404"/>
                <a:gridCol w="2462941"/>
                <a:gridCol w="2139272"/>
              </a:tblGrid>
              <a:tr h="995194">
                <a:tc>
                  <a:txBody>
                    <a:bodyPr/>
                    <a:lstStyle/>
                    <a:p>
                      <a:pPr marL="76200" marR="64135" algn="ctr">
                        <a:lnSpc>
                          <a:spcPts val="1170"/>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76200" marR="64135" algn="ctr">
                        <a:lnSpc>
                          <a:spcPts val="1170"/>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76200" marR="64135" algn="ctr">
                        <a:lnSpc>
                          <a:spcPts val="1170"/>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76200" marR="64135" algn="ctr">
                        <a:lnSpc>
                          <a:spcPts val="1170"/>
                        </a:lnSpc>
                        <a:spcBef>
                          <a:spcPts val="0"/>
                        </a:spcBef>
                        <a:spcAft>
                          <a:spcPts val="0"/>
                        </a:spcAft>
                      </a:pPr>
                      <a:r>
                        <a:rPr lang="en-US" sz="2200" dirty="0" smtClean="0">
                          <a:solidFill>
                            <a:srgbClr val="FF0000"/>
                          </a:solidFill>
                          <a:latin typeface="Times New Roman" pitchFamily="18" charset="0"/>
                          <a:cs typeface="Times New Roman" pitchFamily="18" charset="0"/>
                        </a:rPr>
                        <a:t>4.</a:t>
                      </a:r>
                    </a:p>
                  </a:txBody>
                  <a:tcPr/>
                </a:tc>
                <a:tc>
                  <a:txBody>
                    <a:bodyPr/>
                    <a:lstStyle/>
                    <a:p>
                      <a:pPr marL="36195" algn="l">
                        <a:lnSpc>
                          <a:spcPts val="1170"/>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36195" algn="l">
                        <a:lnSpc>
                          <a:spcPts val="1170"/>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36195" algn="l">
                        <a:lnSpc>
                          <a:spcPts val="1170"/>
                        </a:lnSpc>
                        <a:spcBef>
                          <a:spcPts val="0"/>
                        </a:spcBef>
                        <a:spcAft>
                          <a:spcPts val="0"/>
                        </a:spcAft>
                      </a:pPr>
                      <a:r>
                        <a:rPr lang="en-US" sz="2200" dirty="0" smtClean="0">
                          <a:solidFill>
                            <a:srgbClr val="FF0000"/>
                          </a:solidFill>
                          <a:latin typeface="Times New Roman" pitchFamily="18" charset="0"/>
                          <a:cs typeface="Times New Roman" pitchFamily="18" charset="0"/>
                        </a:rPr>
                        <a:t>Dissolved</a:t>
                      </a:r>
                      <a:endParaRPr lang="en-US" sz="2200" dirty="0">
                        <a:solidFill>
                          <a:srgbClr val="FF0000"/>
                        </a:solidFill>
                        <a:latin typeface="Times New Roman" pitchFamily="18" charset="0"/>
                        <a:cs typeface="Times New Roman" pitchFamily="18" charset="0"/>
                      </a:endParaRPr>
                    </a:p>
                    <a:p>
                      <a:pPr marL="36195" algn="l">
                        <a:spcBef>
                          <a:spcPts val="30"/>
                        </a:spcBef>
                        <a:spcAft>
                          <a:spcPts val="0"/>
                        </a:spcAft>
                      </a:pPr>
                      <a:r>
                        <a:rPr lang="en-US" sz="2200" dirty="0" smtClean="0">
                          <a:solidFill>
                            <a:srgbClr val="FF0000"/>
                          </a:solidFill>
                          <a:latin typeface="Times New Roman" pitchFamily="18" charset="0"/>
                          <a:cs typeface="Times New Roman" pitchFamily="18" charset="0"/>
                        </a:rPr>
                        <a:t>Oxygen</a:t>
                      </a:r>
                      <a:endParaRPr lang="en-US" sz="2200" dirty="0">
                        <a:solidFill>
                          <a:srgbClr val="FF0000"/>
                        </a:solidFill>
                        <a:latin typeface="Times New Roman" pitchFamily="18" charset="0"/>
                        <a:cs typeface="Times New Roman" pitchFamily="18" charset="0"/>
                      </a:endParaRPr>
                    </a:p>
                  </a:txBody>
                  <a:tcPr/>
                </a:tc>
                <a:tc>
                  <a:txBody>
                    <a:bodyPr/>
                    <a:lstStyle/>
                    <a:p>
                      <a:pPr marL="6350" algn="ctr">
                        <a:lnSpc>
                          <a:spcPts val="1170"/>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6350" algn="ctr">
                        <a:lnSpc>
                          <a:spcPts val="1170"/>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6350" algn="ctr">
                        <a:lnSpc>
                          <a:spcPts val="1170"/>
                        </a:lnSpc>
                        <a:spcBef>
                          <a:spcPts val="0"/>
                        </a:spcBef>
                        <a:spcAft>
                          <a:spcPts val="0"/>
                        </a:spcAft>
                      </a:pPr>
                      <a:r>
                        <a:rPr lang="en-US" sz="2200" dirty="0" smtClean="0">
                          <a:solidFill>
                            <a:srgbClr val="FF0000"/>
                          </a:solidFill>
                          <a:latin typeface="Times New Roman" pitchFamily="18" charset="0"/>
                          <a:cs typeface="Times New Roman" pitchFamily="18" charset="0"/>
                        </a:rPr>
                        <a:t>-</a:t>
                      </a:r>
                      <a:endParaRPr lang="en-US" sz="2200" dirty="0">
                        <a:solidFill>
                          <a:srgbClr val="FF0000"/>
                        </a:solidFill>
                        <a:latin typeface="Times New Roman" pitchFamily="18" charset="0"/>
                        <a:cs typeface="Times New Roman" pitchFamily="18" charset="0"/>
                      </a:endParaRPr>
                    </a:p>
                  </a:txBody>
                  <a:tcPr/>
                </a:tc>
                <a:tc>
                  <a:txBody>
                    <a:bodyPr/>
                    <a:lstStyle/>
                    <a:p>
                      <a:pPr marL="36195" marR="380365" algn="r">
                        <a:lnSpc>
                          <a:spcPts val="1170"/>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36195" marR="380365" algn="r">
                        <a:lnSpc>
                          <a:spcPts val="1170"/>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36195" marR="380365" algn="r">
                        <a:lnSpc>
                          <a:spcPts val="1170"/>
                        </a:lnSpc>
                        <a:spcBef>
                          <a:spcPts val="0"/>
                        </a:spcBef>
                        <a:spcAft>
                          <a:spcPts val="0"/>
                        </a:spcAft>
                      </a:pPr>
                      <a:r>
                        <a:rPr lang="en-US" sz="2200" dirty="0" smtClean="0">
                          <a:solidFill>
                            <a:srgbClr val="FF0000"/>
                          </a:solidFill>
                          <a:latin typeface="Times New Roman" pitchFamily="18" charset="0"/>
                          <a:cs typeface="Times New Roman" pitchFamily="18" charset="0"/>
                        </a:rPr>
                        <a:t>3.0</a:t>
                      </a:r>
                      <a:endParaRPr lang="en-US" sz="2200" dirty="0">
                        <a:solidFill>
                          <a:srgbClr val="FF0000"/>
                        </a:solidFill>
                        <a:latin typeface="Times New Roman" pitchFamily="18" charset="0"/>
                        <a:cs typeface="Times New Roman" pitchFamily="18" charset="0"/>
                      </a:endParaRPr>
                    </a:p>
                  </a:txBody>
                  <a:tcPr/>
                </a:tc>
              </a:tr>
              <a:tr h="446121">
                <a:tc>
                  <a:txBody>
                    <a:bodyPr/>
                    <a:lstStyle/>
                    <a:p>
                      <a:pPr marL="76200" marR="64135" algn="ctr">
                        <a:lnSpc>
                          <a:spcPts val="1185"/>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76200" marR="64135" algn="ctr">
                        <a:lnSpc>
                          <a:spcPts val="1185"/>
                        </a:lnSpc>
                        <a:spcBef>
                          <a:spcPts val="0"/>
                        </a:spcBef>
                        <a:spcAft>
                          <a:spcPts val="0"/>
                        </a:spcAft>
                      </a:pPr>
                      <a:r>
                        <a:rPr lang="en-US" sz="2200" dirty="0" smtClean="0">
                          <a:solidFill>
                            <a:srgbClr val="FF0000"/>
                          </a:solidFill>
                          <a:latin typeface="Times New Roman" pitchFamily="18" charset="0"/>
                          <a:cs typeface="Times New Roman" pitchFamily="18" charset="0"/>
                        </a:rPr>
                        <a:t>5</a:t>
                      </a:r>
                      <a:r>
                        <a:rPr lang="en-US" sz="2200" dirty="0">
                          <a:solidFill>
                            <a:srgbClr val="FF0000"/>
                          </a:solidFill>
                          <a:latin typeface="Times New Roman" pitchFamily="18" charset="0"/>
                          <a:cs typeface="Times New Roman" pitchFamily="18" charset="0"/>
                        </a:rPr>
                        <a:t>.</a:t>
                      </a:r>
                    </a:p>
                  </a:txBody>
                  <a:tcPr/>
                </a:tc>
                <a:tc>
                  <a:txBody>
                    <a:bodyPr/>
                    <a:lstStyle/>
                    <a:p>
                      <a:pPr marL="36195" algn="l">
                        <a:lnSpc>
                          <a:spcPts val="1185"/>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36195" algn="l">
                        <a:lnSpc>
                          <a:spcPts val="1185"/>
                        </a:lnSpc>
                        <a:spcBef>
                          <a:spcPts val="0"/>
                        </a:spcBef>
                        <a:spcAft>
                          <a:spcPts val="0"/>
                        </a:spcAft>
                      </a:pPr>
                      <a:r>
                        <a:rPr lang="en-US" sz="2200" dirty="0" smtClean="0">
                          <a:solidFill>
                            <a:srgbClr val="FF0000"/>
                          </a:solidFill>
                          <a:latin typeface="Times New Roman" pitchFamily="18" charset="0"/>
                          <a:cs typeface="Times New Roman" pitchFamily="18" charset="0"/>
                        </a:rPr>
                        <a:t>Chloride</a:t>
                      </a:r>
                      <a:endParaRPr lang="en-US" sz="2200" dirty="0">
                        <a:solidFill>
                          <a:srgbClr val="FF0000"/>
                        </a:solidFill>
                        <a:latin typeface="Times New Roman" pitchFamily="18" charset="0"/>
                        <a:cs typeface="Times New Roman" pitchFamily="18" charset="0"/>
                      </a:endParaRPr>
                    </a:p>
                  </a:txBody>
                  <a:tcPr/>
                </a:tc>
                <a:tc>
                  <a:txBody>
                    <a:bodyPr/>
                    <a:lstStyle/>
                    <a:p>
                      <a:pPr marL="160020" marR="153035" algn="ctr">
                        <a:lnSpc>
                          <a:spcPts val="1185"/>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160020" marR="153035" algn="ctr">
                        <a:lnSpc>
                          <a:spcPts val="1185"/>
                        </a:lnSpc>
                        <a:spcBef>
                          <a:spcPts val="0"/>
                        </a:spcBef>
                        <a:spcAft>
                          <a:spcPts val="0"/>
                        </a:spcAft>
                      </a:pPr>
                      <a:r>
                        <a:rPr lang="en-US" sz="2200" dirty="0" smtClean="0">
                          <a:solidFill>
                            <a:srgbClr val="FF0000"/>
                          </a:solidFill>
                          <a:latin typeface="Times New Roman" pitchFamily="18" charset="0"/>
                          <a:cs typeface="Times New Roman" pitchFamily="18" charset="0"/>
                        </a:rPr>
                        <a:t>250</a:t>
                      </a:r>
                      <a:endParaRPr lang="en-US" sz="2200" dirty="0">
                        <a:solidFill>
                          <a:srgbClr val="FF0000"/>
                        </a:solidFill>
                        <a:latin typeface="Times New Roman" pitchFamily="18" charset="0"/>
                        <a:cs typeface="Times New Roman" pitchFamily="18" charset="0"/>
                      </a:endParaRPr>
                    </a:p>
                  </a:txBody>
                  <a:tcPr/>
                </a:tc>
                <a:tc>
                  <a:txBody>
                    <a:bodyPr/>
                    <a:lstStyle/>
                    <a:p>
                      <a:pPr marL="36195" marR="363220" algn="r">
                        <a:lnSpc>
                          <a:spcPts val="1185"/>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36195" marR="363220" algn="r">
                        <a:lnSpc>
                          <a:spcPts val="1185"/>
                        </a:lnSpc>
                        <a:spcBef>
                          <a:spcPts val="0"/>
                        </a:spcBef>
                        <a:spcAft>
                          <a:spcPts val="0"/>
                        </a:spcAft>
                      </a:pPr>
                      <a:r>
                        <a:rPr lang="en-US" sz="2200" dirty="0" smtClean="0">
                          <a:solidFill>
                            <a:srgbClr val="FF0000"/>
                          </a:solidFill>
                          <a:latin typeface="Times New Roman" pitchFamily="18" charset="0"/>
                          <a:cs typeface="Times New Roman" pitchFamily="18" charset="0"/>
                        </a:rPr>
                        <a:t>600</a:t>
                      </a:r>
                      <a:endParaRPr lang="en-US" sz="2200" dirty="0">
                        <a:solidFill>
                          <a:srgbClr val="FF0000"/>
                        </a:solidFill>
                        <a:latin typeface="Times New Roman" pitchFamily="18" charset="0"/>
                        <a:cs typeface="Times New Roman" pitchFamily="18" charset="0"/>
                      </a:endParaRPr>
                    </a:p>
                  </a:txBody>
                  <a:tcPr/>
                </a:tc>
              </a:tr>
              <a:tr h="446121">
                <a:tc>
                  <a:txBody>
                    <a:bodyPr/>
                    <a:lstStyle/>
                    <a:p>
                      <a:pPr marL="76200" marR="63500" algn="ctr">
                        <a:lnSpc>
                          <a:spcPts val="1170"/>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76200" marR="63500" algn="ctr">
                        <a:lnSpc>
                          <a:spcPts val="1170"/>
                        </a:lnSpc>
                        <a:spcBef>
                          <a:spcPts val="0"/>
                        </a:spcBef>
                        <a:spcAft>
                          <a:spcPts val="0"/>
                        </a:spcAft>
                      </a:pPr>
                      <a:r>
                        <a:rPr lang="en-US" sz="2200" dirty="0" smtClean="0">
                          <a:solidFill>
                            <a:srgbClr val="FF0000"/>
                          </a:solidFill>
                          <a:latin typeface="Times New Roman" pitchFamily="18" charset="0"/>
                          <a:cs typeface="Times New Roman" pitchFamily="18" charset="0"/>
                        </a:rPr>
                        <a:t>6</a:t>
                      </a:r>
                      <a:r>
                        <a:rPr lang="en-US" sz="2200" dirty="0">
                          <a:solidFill>
                            <a:srgbClr val="FF0000"/>
                          </a:solidFill>
                          <a:latin typeface="Times New Roman" pitchFamily="18" charset="0"/>
                          <a:cs typeface="Times New Roman" pitchFamily="18" charset="0"/>
                        </a:rPr>
                        <a:t>.</a:t>
                      </a:r>
                    </a:p>
                  </a:txBody>
                  <a:tcPr/>
                </a:tc>
                <a:tc>
                  <a:txBody>
                    <a:bodyPr/>
                    <a:lstStyle/>
                    <a:p>
                      <a:pPr marL="36195" algn="l">
                        <a:lnSpc>
                          <a:spcPts val="1170"/>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36195" algn="l">
                        <a:lnSpc>
                          <a:spcPts val="1170"/>
                        </a:lnSpc>
                        <a:spcBef>
                          <a:spcPts val="0"/>
                        </a:spcBef>
                        <a:spcAft>
                          <a:spcPts val="0"/>
                        </a:spcAft>
                      </a:pPr>
                      <a:r>
                        <a:rPr lang="en-US" sz="2200" dirty="0" err="1" smtClean="0">
                          <a:solidFill>
                            <a:srgbClr val="FF0000"/>
                          </a:solidFill>
                          <a:latin typeface="Times New Roman" pitchFamily="18" charset="0"/>
                          <a:cs typeface="Times New Roman" pitchFamily="18" charset="0"/>
                        </a:rPr>
                        <a:t>Sulphate</a:t>
                      </a:r>
                      <a:endParaRPr lang="en-US" sz="2200" dirty="0">
                        <a:solidFill>
                          <a:srgbClr val="FF0000"/>
                        </a:solidFill>
                        <a:latin typeface="Times New Roman" pitchFamily="18" charset="0"/>
                        <a:cs typeface="Times New Roman" pitchFamily="18" charset="0"/>
                      </a:endParaRPr>
                    </a:p>
                  </a:txBody>
                  <a:tcPr/>
                </a:tc>
                <a:tc>
                  <a:txBody>
                    <a:bodyPr/>
                    <a:lstStyle/>
                    <a:p>
                      <a:pPr marL="160020" marR="153035" algn="ctr">
                        <a:lnSpc>
                          <a:spcPts val="1170"/>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160020" marR="153035" algn="ctr">
                        <a:lnSpc>
                          <a:spcPts val="1170"/>
                        </a:lnSpc>
                        <a:spcBef>
                          <a:spcPts val="0"/>
                        </a:spcBef>
                        <a:spcAft>
                          <a:spcPts val="0"/>
                        </a:spcAft>
                      </a:pPr>
                      <a:r>
                        <a:rPr lang="en-US" sz="2200" dirty="0" smtClean="0">
                          <a:solidFill>
                            <a:srgbClr val="FF0000"/>
                          </a:solidFill>
                          <a:latin typeface="Times New Roman" pitchFamily="18" charset="0"/>
                          <a:cs typeface="Times New Roman" pitchFamily="18" charset="0"/>
                        </a:rPr>
                        <a:t>400</a:t>
                      </a:r>
                      <a:endParaRPr lang="en-US" sz="2200" dirty="0">
                        <a:solidFill>
                          <a:srgbClr val="FF0000"/>
                        </a:solidFill>
                        <a:latin typeface="Times New Roman" pitchFamily="18" charset="0"/>
                        <a:cs typeface="Times New Roman" pitchFamily="18" charset="0"/>
                      </a:endParaRPr>
                    </a:p>
                  </a:txBody>
                  <a:tcPr/>
                </a:tc>
                <a:tc>
                  <a:txBody>
                    <a:bodyPr/>
                    <a:lstStyle/>
                    <a:p>
                      <a:pPr marL="36195" marR="311785" algn="r">
                        <a:lnSpc>
                          <a:spcPts val="1170"/>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36195" marR="311785" algn="r">
                        <a:lnSpc>
                          <a:spcPts val="1170"/>
                        </a:lnSpc>
                        <a:spcBef>
                          <a:spcPts val="0"/>
                        </a:spcBef>
                        <a:spcAft>
                          <a:spcPts val="0"/>
                        </a:spcAft>
                      </a:pPr>
                      <a:r>
                        <a:rPr lang="en-US" sz="2200" dirty="0" smtClean="0">
                          <a:solidFill>
                            <a:srgbClr val="FF0000"/>
                          </a:solidFill>
                          <a:latin typeface="Times New Roman" pitchFamily="18" charset="0"/>
                          <a:cs typeface="Times New Roman" pitchFamily="18" charset="0"/>
                        </a:rPr>
                        <a:t>1,000</a:t>
                      </a:r>
                      <a:endParaRPr lang="en-US" sz="2200" dirty="0">
                        <a:solidFill>
                          <a:srgbClr val="FF0000"/>
                        </a:solidFill>
                        <a:latin typeface="Times New Roman" pitchFamily="18" charset="0"/>
                        <a:cs typeface="Times New Roman" pitchFamily="18" charset="0"/>
                      </a:endParaRPr>
                    </a:p>
                  </a:txBody>
                  <a:tcPr/>
                </a:tc>
              </a:tr>
              <a:tr h="446121">
                <a:tc>
                  <a:txBody>
                    <a:bodyPr/>
                    <a:lstStyle/>
                    <a:p>
                      <a:pPr marL="76200" marR="64135" algn="ctr">
                        <a:lnSpc>
                          <a:spcPts val="1170"/>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76200" marR="64135" algn="ctr">
                        <a:lnSpc>
                          <a:spcPts val="1170"/>
                        </a:lnSpc>
                        <a:spcBef>
                          <a:spcPts val="0"/>
                        </a:spcBef>
                        <a:spcAft>
                          <a:spcPts val="0"/>
                        </a:spcAft>
                      </a:pPr>
                      <a:r>
                        <a:rPr lang="en-US" sz="2200" dirty="0" smtClean="0">
                          <a:solidFill>
                            <a:srgbClr val="FF0000"/>
                          </a:solidFill>
                          <a:latin typeface="Times New Roman" pitchFamily="18" charset="0"/>
                          <a:cs typeface="Times New Roman" pitchFamily="18" charset="0"/>
                        </a:rPr>
                        <a:t>7</a:t>
                      </a:r>
                      <a:r>
                        <a:rPr lang="en-US" sz="2200" dirty="0">
                          <a:solidFill>
                            <a:srgbClr val="FF0000"/>
                          </a:solidFill>
                          <a:latin typeface="Times New Roman" pitchFamily="18" charset="0"/>
                          <a:cs typeface="Times New Roman" pitchFamily="18" charset="0"/>
                        </a:rPr>
                        <a:t>.</a:t>
                      </a:r>
                    </a:p>
                  </a:txBody>
                  <a:tcPr/>
                </a:tc>
                <a:tc>
                  <a:txBody>
                    <a:bodyPr/>
                    <a:lstStyle/>
                    <a:p>
                      <a:pPr marL="36195" algn="l">
                        <a:lnSpc>
                          <a:spcPts val="1170"/>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36195" algn="l">
                        <a:lnSpc>
                          <a:spcPts val="1170"/>
                        </a:lnSpc>
                        <a:spcBef>
                          <a:spcPts val="0"/>
                        </a:spcBef>
                        <a:spcAft>
                          <a:spcPts val="0"/>
                        </a:spcAft>
                      </a:pPr>
                      <a:r>
                        <a:rPr lang="en-US" sz="2200" dirty="0" smtClean="0">
                          <a:solidFill>
                            <a:srgbClr val="FF0000"/>
                          </a:solidFill>
                          <a:latin typeface="Times New Roman" pitchFamily="18" charset="0"/>
                          <a:cs typeface="Times New Roman" pitchFamily="18" charset="0"/>
                        </a:rPr>
                        <a:t>Nitrate</a:t>
                      </a:r>
                      <a:endParaRPr lang="en-US" sz="2200" dirty="0">
                        <a:solidFill>
                          <a:srgbClr val="FF0000"/>
                        </a:solidFill>
                        <a:latin typeface="Times New Roman" pitchFamily="18" charset="0"/>
                        <a:cs typeface="Times New Roman" pitchFamily="18" charset="0"/>
                      </a:endParaRPr>
                    </a:p>
                  </a:txBody>
                  <a:tcPr/>
                </a:tc>
                <a:tc>
                  <a:txBody>
                    <a:bodyPr/>
                    <a:lstStyle/>
                    <a:p>
                      <a:pPr marL="161290" marR="153035" algn="ctr">
                        <a:lnSpc>
                          <a:spcPts val="1170"/>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161290" marR="153035" algn="ctr">
                        <a:lnSpc>
                          <a:spcPts val="1170"/>
                        </a:lnSpc>
                        <a:spcBef>
                          <a:spcPts val="0"/>
                        </a:spcBef>
                        <a:spcAft>
                          <a:spcPts val="0"/>
                        </a:spcAft>
                      </a:pPr>
                      <a:r>
                        <a:rPr lang="en-US" sz="2200" dirty="0" smtClean="0">
                          <a:solidFill>
                            <a:srgbClr val="FF0000"/>
                          </a:solidFill>
                          <a:latin typeface="Times New Roman" pitchFamily="18" charset="0"/>
                          <a:cs typeface="Times New Roman" pitchFamily="18" charset="0"/>
                        </a:rPr>
                        <a:t>45</a:t>
                      </a:r>
                      <a:endParaRPr lang="en-US" sz="2200" dirty="0">
                        <a:solidFill>
                          <a:srgbClr val="FF0000"/>
                        </a:solidFill>
                        <a:latin typeface="Times New Roman" pitchFamily="18" charset="0"/>
                        <a:cs typeface="Times New Roman" pitchFamily="18" charset="0"/>
                      </a:endParaRPr>
                    </a:p>
                  </a:txBody>
                  <a:tcPr/>
                </a:tc>
                <a:tc>
                  <a:txBody>
                    <a:bodyPr/>
                    <a:lstStyle/>
                    <a:p>
                      <a:pPr marL="6985" algn="ctr">
                        <a:lnSpc>
                          <a:spcPts val="1170"/>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6985" algn="ctr">
                        <a:lnSpc>
                          <a:spcPts val="1170"/>
                        </a:lnSpc>
                        <a:spcBef>
                          <a:spcPts val="0"/>
                        </a:spcBef>
                        <a:spcAft>
                          <a:spcPts val="0"/>
                        </a:spcAft>
                      </a:pPr>
                      <a:r>
                        <a:rPr lang="en-US" sz="2200" dirty="0" smtClean="0">
                          <a:solidFill>
                            <a:srgbClr val="FF0000"/>
                          </a:solidFill>
                          <a:latin typeface="Times New Roman" pitchFamily="18" charset="0"/>
                          <a:cs typeface="Times New Roman" pitchFamily="18" charset="0"/>
                        </a:rPr>
                        <a:t>-</a:t>
                      </a:r>
                      <a:endParaRPr lang="en-US" sz="2200" dirty="0">
                        <a:solidFill>
                          <a:srgbClr val="FF0000"/>
                        </a:solidFill>
                        <a:latin typeface="Times New Roman" pitchFamily="18" charset="0"/>
                        <a:cs typeface="Times New Roman" pitchFamily="18" charset="0"/>
                      </a:endParaRPr>
                    </a:p>
                  </a:txBody>
                  <a:tcPr/>
                </a:tc>
              </a:tr>
              <a:tr h="446121">
                <a:tc>
                  <a:txBody>
                    <a:bodyPr/>
                    <a:lstStyle/>
                    <a:p>
                      <a:pPr marL="76200" marR="64135" algn="ctr">
                        <a:lnSpc>
                          <a:spcPts val="1185"/>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76200" marR="64135" algn="ctr">
                        <a:lnSpc>
                          <a:spcPts val="1185"/>
                        </a:lnSpc>
                        <a:spcBef>
                          <a:spcPts val="0"/>
                        </a:spcBef>
                        <a:spcAft>
                          <a:spcPts val="0"/>
                        </a:spcAft>
                      </a:pPr>
                      <a:r>
                        <a:rPr lang="en-US" sz="2200" dirty="0" smtClean="0">
                          <a:solidFill>
                            <a:srgbClr val="FF0000"/>
                          </a:solidFill>
                          <a:latin typeface="Times New Roman" pitchFamily="18" charset="0"/>
                          <a:cs typeface="Times New Roman" pitchFamily="18" charset="0"/>
                        </a:rPr>
                        <a:t>8</a:t>
                      </a:r>
                      <a:r>
                        <a:rPr lang="en-US" sz="2200" dirty="0">
                          <a:solidFill>
                            <a:srgbClr val="FF0000"/>
                          </a:solidFill>
                          <a:latin typeface="Times New Roman" pitchFamily="18" charset="0"/>
                          <a:cs typeface="Times New Roman" pitchFamily="18" charset="0"/>
                        </a:rPr>
                        <a:t>.</a:t>
                      </a:r>
                    </a:p>
                  </a:txBody>
                  <a:tcPr/>
                </a:tc>
                <a:tc>
                  <a:txBody>
                    <a:bodyPr/>
                    <a:lstStyle/>
                    <a:p>
                      <a:pPr marL="36195" algn="l">
                        <a:lnSpc>
                          <a:spcPts val="1185"/>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36195" algn="l">
                        <a:lnSpc>
                          <a:spcPts val="1185"/>
                        </a:lnSpc>
                        <a:spcBef>
                          <a:spcPts val="0"/>
                        </a:spcBef>
                        <a:spcAft>
                          <a:spcPts val="0"/>
                        </a:spcAft>
                      </a:pPr>
                      <a:r>
                        <a:rPr lang="en-US" sz="2200" dirty="0" smtClean="0">
                          <a:solidFill>
                            <a:srgbClr val="FF0000"/>
                          </a:solidFill>
                          <a:latin typeface="Times New Roman" pitchFamily="18" charset="0"/>
                          <a:cs typeface="Times New Roman" pitchFamily="18" charset="0"/>
                        </a:rPr>
                        <a:t>Cyanide</a:t>
                      </a:r>
                      <a:endParaRPr lang="en-US" sz="2200" dirty="0">
                        <a:solidFill>
                          <a:srgbClr val="FF0000"/>
                        </a:solidFill>
                        <a:latin typeface="Times New Roman" pitchFamily="18" charset="0"/>
                        <a:cs typeface="Times New Roman" pitchFamily="18" charset="0"/>
                      </a:endParaRPr>
                    </a:p>
                  </a:txBody>
                  <a:tcPr/>
                </a:tc>
                <a:tc>
                  <a:txBody>
                    <a:bodyPr/>
                    <a:lstStyle/>
                    <a:p>
                      <a:pPr marL="161925" marR="153035" algn="ctr">
                        <a:lnSpc>
                          <a:spcPts val="1185"/>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161925" marR="153035" algn="ctr">
                        <a:lnSpc>
                          <a:spcPts val="1185"/>
                        </a:lnSpc>
                        <a:spcBef>
                          <a:spcPts val="0"/>
                        </a:spcBef>
                        <a:spcAft>
                          <a:spcPts val="0"/>
                        </a:spcAft>
                      </a:pPr>
                      <a:r>
                        <a:rPr lang="en-US" sz="2200" dirty="0" smtClean="0">
                          <a:solidFill>
                            <a:srgbClr val="FF0000"/>
                          </a:solidFill>
                          <a:latin typeface="Times New Roman" pitchFamily="18" charset="0"/>
                          <a:cs typeface="Times New Roman" pitchFamily="18" charset="0"/>
                        </a:rPr>
                        <a:t>0.2</a:t>
                      </a:r>
                      <a:endParaRPr lang="en-US" sz="2200" dirty="0">
                        <a:solidFill>
                          <a:srgbClr val="FF0000"/>
                        </a:solidFill>
                        <a:latin typeface="Times New Roman" pitchFamily="18" charset="0"/>
                        <a:cs typeface="Times New Roman" pitchFamily="18" charset="0"/>
                      </a:endParaRPr>
                    </a:p>
                  </a:txBody>
                  <a:tcPr/>
                </a:tc>
                <a:tc>
                  <a:txBody>
                    <a:bodyPr/>
                    <a:lstStyle/>
                    <a:p>
                      <a:pPr marL="36195" marR="344805" algn="r">
                        <a:lnSpc>
                          <a:spcPts val="1185"/>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36195" marR="344805" algn="r">
                        <a:lnSpc>
                          <a:spcPts val="1185"/>
                        </a:lnSpc>
                        <a:spcBef>
                          <a:spcPts val="0"/>
                        </a:spcBef>
                        <a:spcAft>
                          <a:spcPts val="0"/>
                        </a:spcAft>
                      </a:pPr>
                      <a:r>
                        <a:rPr lang="en-US" sz="2200" dirty="0" smtClean="0">
                          <a:solidFill>
                            <a:srgbClr val="FF0000"/>
                          </a:solidFill>
                          <a:latin typeface="Times New Roman" pitchFamily="18" charset="0"/>
                          <a:cs typeface="Times New Roman" pitchFamily="18" charset="0"/>
                        </a:rPr>
                        <a:t>0.01</a:t>
                      </a:r>
                      <a:endParaRPr lang="en-US" sz="2200" dirty="0">
                        <a:solidFill>
                          <a:srgbClr val="FF0000"/>
                        </a:solidFill>
                        <a:latin typeface="Times New Roman" pitchFamily="18" charset="0"/>
                        <a:cs typeface="Times New Roman" pitchFamily="18" charset="0"/>
                      </a:endParaRPr>
                    </a:p>
                  </a:txBody>
                  <a:tcPr/>
                </a:tc>
              </a:tr>
              <a:tr h="446121">
                <a:tc>
                  <a:txBody>
                    <a:bodyPr/>
                    <a:lstStyle/>
                    <a:p>
                      <a:pPr marL="76200" marR="64135" algn="ctr">
                        <a:lnSpc>
                          <a:spcPts val="1185"/>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76200" marR="64135" algn="ctr">
                        <a:lnSpc>
                          <a:spcPts val="1185"/>
                        </a:lnSpc>
                        <a:spcBef>
                          <a:spcPts val="0"/>
                        </a:spcBef>
                        <a:spcAft>
                          <a:spcPts val="0"/>
                        </a:spcAft>
                      </a:pPr>
                      <a:r>
                        <a:rPr lang="en-US" sz="2200" dirty="0" smtClean="0">
                          <a:solidFill>
                            <a:srgbClr val="FF0000"/>
                          </a:solidFill>
                          <a:latin typeface="Times New Roman" pitchFamily="18" charset="0"/>
                          <a:cs typeface="Times New Roman" pitchFamily="18" charset="0"/>
                        </a:rPr>
                        <a:t>9</a:t>
                      </a:r>
                      <a:r>
                        <a:rPr lang="en-US" sz="2200" dirty="0">
                          <a:solidFill>
                            <a:srgbClr val="FF0000"/>
                          </a:solidFill>
                          <a:latin typeface="Times New Roman" pitchFamily="18" charset="0"/>
                          <a:cs typeface="Times New Roman" pitchFamily="18" charset="0"/>
                        </a:rPr>
                        <a:t>.</a:t>
                      </a:r>
                    </a:p>
                  </a:txBody>
                  <a:tcPr/>
                </a:tc>
                <a:tc>
                  <a:txBody>
                    <a:bodyPr/>
                    <a:lstStyle/>
                    <a:p>
                      <a:pPr marL="36195" algn="l">
                        <a:lnSpc>
                          <a:spcPts val="1185"/>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36195" algn="l">
                        <a:lnSpc>
                          <a:spcPts val="1185"/>
                        </a:lnSpc>
                        <a:spcBef>
                          <a:spcPts val="0"/>
                        </a:spcBef>
                        <a:spcAft>
                          <a:spcPts val="0"/>
                        </a:spcAft>
                      </a:pPr>
                      <a:r>
                        <a:rPr lang="en-US" sz="2200" dirty="0" smtClean="0">
                          <a:solidFill>
                            <a:srgbClr val="FF0000"/>
                          </a:solidFill>
                          <a:latin typeface="Times New Roman" pitchFamily="18" charset="0"/>
                          <a:cs typeface="Times New Roman" pitchFamily="18" charset="0"/>
                        </a:rPr>
                        <a:t>Fluoride</a:t>
                      </a:r>
                      <a:endParaRPr lang="en-US" sz="2200" dirty="0">
                        <a:solidFill>
                          <a:srgbClr val="FF0000"/>
                        </a:solidFill>
                        <a:latin typeface="Times New Roman" pitchFamily="18" charset="0"/>
                        <a:cs typeface="Times New Roman" pitchFamily="18" charset="0"/>
                      </a:endParaRPr>
                    </a:p>
                  </a:txBody>
                  <a:tcPr/>
                </a:tc>
                <a:tc>
                  <a:txBody>
                    <a:bodyPr/>
                    <a:lstStyle/>
                    <a:p>
                      <a:pPr marL="161290" marR="153035" algn="ctr">
                        <a:lnSpc>
                          <a:spcPts val="1185"/>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161290" marR="153035" algn="ctr">
                        <a:lnSpc>
                          <a:spcPts val="1185"/>
                        </a:lnSpc>
                        <a:spcBef>
                          <a:spcPts val="0"/>
                        </a:spcBef>
                        <a:spcAft>
                          <a:spcPts val="0"/>
                        </a:spcAft>
                      </a:pPr>
                      <a:r>
                        <a:rPr lang="en-US" sz="2200" dirty="0" smtClean="0">
                          <a:solidFill>
                            <a:srgbClr val="FF0000"/>
                          </a:solidFill>
                          <a:latin typeface="Times New Roman" pitchFamily="18" charset="0"/>
                          <a:cs typeface="Times New Roman" pitchFamily="18" charset="0"/>
                        </a:rPr>
                        <a:t>1.5</a:t>
                      </a:r>
                      <a:endParaRPr lang="en-US" sz="2200" dirty="0">
                        <a:solidFill>
                          <a:srgbClr val="FF0000"/>
                        </a:solidFill>
                        <a:latin typeface="Times New Roman" pitchFamily="18" charset="0"/>
                        <a:cs typeface="Times New Roman" pitchFamily="18" charset="0"/>
                      </a:endParaRPr>
                    </a:p>
                  </a:txBody>
                  <a:tcPr/>
                </a:tc>
                <a:tc>
                  <a:txBody>
                    <a:bodyPr/>
                    <a:lstStyle/>
                    <a:p>
                      <a:pPr marL="36195" marR="380365" algn="r">
                        <a:lnSpc>
                          <a:spcPts val="1185"/>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36195" marR="380365" algn="r">
                        <a:lnSpc>
                          <a:spcPts val="1185"/>
                        </a:lnSpc>
                        <a:spcBef>
                          <a:spcPts val="0"/>
                        </a:spcBef>
                        <a:spcAft>
                          <a:spcPts val="0"/>
                        </a:spcAft>
                      </a:pPr>
                      <a:r>
                        <a:rPr lang="en-US" sz="2200" dirty="0" smtClean="0">
                          <a:solidFill>
                            <a:srgbClr val="FF0000"/>
                          </a:solidFill>
                          <a:latin typeface="Times New Roman" pitchFamily="18" charset="0"/>
                          <a:cs typeface="Times New Roman" pitchFamily="18" charset="0"/>
                        </a:rPr>
                        <a:t>3.0</a:t>
                      </a:r>
                      <a:endParaRPr lang="en-US" sz="2200" dirty="0">
                        <a:solidFill>
                          <a:srgbClr val="FF0000"/>
                        </a:solidFill>
                        <a:latin typeface="Times New Roman" pitchFamily="18" charset="0"/>
                        <a:cs typeface="Times New Roman" pitchFamily="18" charset="0"/>
                      </a:endParaRPr>
                    </a:p>
                  </a:txBody>
                  <a:tcPr/>
                </a:tc>
              </a:tr>
              <a:tr h="446121">
                <a:tc>
                  <a:txBody>
                    <a:bodyPr/>
                    <a:lstStyle/>
                    <a:p>
                      <a:pPr marL="76200" marR="65405" algn="ctr">
                        <a:lnSpc>
                          <a:spcPts val="1170"/>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76200" marR="65405" algn="ctr">
                        <a:lnSpc>
                          <a:spcPts val="1170"/>
                        </a:lnSpc>
                        <a:spcBef>
                          <a:spcPts val="0"/>
                        </a:spcBef>
                        <a:spcAft>
                          <a:spcPts val="0"/>
                        </a:spcAft>
                      </a:pPr>
                      <a:r>
                        <a:rPr lang="en-US" sz="2200" dirty="0" smtClean="0">
                          <a:solidFill>
                            <a:srgbClr val="FF0000"/>
                          </a:solidFill>
                          <a:latin typeface="Times New Roman" pitchFamily="18" charset="0"/>
                          <a:cs typeface="Times New Roman" pitchFamily="18" charset="0"/>
                        </a:rPr>
                        <a:t>10</a:t>
                      </a:r>
                      <a:r>
                        <a:rPr lang="en-US" sz="2200" dirty="0">
                          <a:solidFill>
                            <a:srgbClr val="FF0000"/>
                          </a:solidFill>
                          <a:latin typeface="Times New Roman" pitchFamily="18" charset="0"/>
                          <a:cs typeface="Times New Roman" pitchFamily="18" charset="0"/>
                        </a:rPr>
                        <a:t>.</a:t>
                      </a:r>
                    </a:p>
                  </a:txBody>
                  <a:tcPr/>
                </a:tc>
                <a:tc>
                  <a:txBody>
                    <a:bodyPr/>
                    <a:lstStyle/>
                    <a:p>
                      <a:pPr marL="36195" algn="l">
                        <a:lnSpc>
                          <a:spcPts val="1170"/>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36195" algn="l">
                        <a:lnSpc>
                          <a:spcPts val="1170"/>
                        </a:lnSpc>
                        <a:spcBef>
                          <a:spcPts val="0"/>
                        </a:spcBef>
                        <a:spcAft>
                          <a:spcPts val="0"/>
                        </a:spcAft>
                      </a:pPr>
                      <a:r>
                        <a:rPr lang="en-US" sz="2200" dirty="0" smtClean="0">
                          <a:solidFill>
                            <a:srgbClr val="FF0000"/>
                          </a:solidFill>
                          <a:latin typeface="Times New Roman" pitchFamily="18" charset="0"/>
                          <a:cs typeface="Times New Roman" pitchFamily="18" charset="0"/>
                        </a:rPr>
                        <a:t>Chromium</a:t>
                      </a:r>
                      <a:endParaRPr lang="en-US" sz="2200" dirty="0">
                        <a:solidFill>
                          <a:srgbClr val="FF0000"/>
                        </a:solidFill>
                        <a:latin typeface="Times New Roman" pitchFamily="18" charset="0"/>
                        <a:cs typeface="Times New Roman" pitchFamily="18" charset="0"/>
                      </a:endParaRPr>
                    </a:p>
                  </a:txBody>
                  <a:tcPr/>
                </a:tc>
                <a:tc>
                  <a:txBody>
                    <a:bodyPr/>
                    <a:lstStyle/>
                    <a:p>
                      <a:pPr marL="160655" marR="153035" algn="ctr">
                        <a:lnSpc>
                          <a:spcPts val="1170"/>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160655" marR="153035" algn="ctr">
                        <a:lnSpc>
                          <a:spcPts val="1170"/>
                        </a:lnSpc>
                        <a:spcBef>
                          <a:spcPts val="0"/>
                        </a:spcBef>
                        <a:spcAft>
                          <a:spcPts val="0"/>
                        </a:spcAft>
                      </a:pPr>
                      <a:r>
                        <a:rPr lang="en-US" sz="2200" dirty="0" smtClean="0">
                          <a:solidFill>
                            <a:srgbClr val="FF0000"/>
                          </a:solidFill>
                          <a:latin typeface="Times New Roman" pitchFamily="18" charset="0"/>
                          <a:cs typeface="Times New Roman" pitchFamily="18" charset="0"/>
                        </a:rPr>
                        <a:t>0.05</a:t>
                      </a:r>
                      <a:endParaRPr lang="en-US" sz="2200" dirty="0">
                        <a:solidFill>
                          <a:srgbClr val="FF0000"/>
                        </a:solidFill>
                        <a:latin typeface="Times New Roman" pitchFamily="18" charset="0"/>
                        <a:cs typeface="Times New Roman" pitchFamily="18" charset="0"/>
                      </a:endParaRPr>
                    </a:p>
                  </a:txBody>
                  <a:tcPr/>
                </a:tc>
                <a:tc>
                  <a:txBody>
                    <a:bodyPr/>
                    <a:lstStyle/>
                    <a:p>
                      <a:pPr marL="36195" marR="345440" algn="r">
                        <a:lnSpc>
                          <a:spcPts val="1170"/>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36195" marR="345440" algn="r">
                        <a:lnSpc>
                          <a:spcPts val="1170"/>
                        </a:lnSpc>
                        <a:spcBef>
                          <a:spcPts val="0"/>
                        </a:spcBef>
                        <a:spcAft>
                          <a:spcPts val="0"/>
                        </a:spcAft>
                      </a:pPr>
                      <a:r>
                        <a:rPr lang="en-US" sz="2200" dirty="0" smtClean="0">
                          <a:solidFill>
                            <a:srgbClr val="FF0000"/>
                          </a:solidFill>
                          <a:latin typeface="Times New Roman" pitchFamily="18" charset="0"/>
                          <a:cs typeface="Times New Roman" pitchFamily="18" charset="0"/>
                        </a:rPr>
                        <a:t>0.05</a:t>
                      </a:r>
                      <a:endParaRPr lang="en-US" sz="2200" dirty="0">
                        <a:solidFill>
                          <a:srgbClr val="FF0000"/>
                        </a:solidFill>
                        <a:latin typeface="Times New Roman" pitchFamily="18" charset="0"/>
                        <a:cs typeface="Times New Roman" pitchFamily="18" charset="0"/>
                      </a:endParaRPr>
                    </a:p>
                  </a:txBody>
                  <a:tcPr/>
                </a:tc>
              </a:tr>
              <a:tr h="446121">
                <a:tc>
                  <a:txBody>
                    <a:bodyPr/>
                    <a:lstStyle/>
                    <a:p>
                      <a:pPr marL="76200" marR="65405" algn="ctr">
                        <a:lnSpc>
                          <a:spcPts val="1185"/>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76200" marR="65405" algn="ctr">
                        <a:lnSpc>
                          <a:spcPts val="1185"/>
                        </a:lnSpc>
                        <a:spcBef>
                          <a:spcPts val="0"/>
                        </a:spcBef>
                        <a:spcAft>
                          <a:spcPts val="0"/>
                        </a:spcAft>
                      </a:pPr>
                      <a:r>
                        <a:rPr lang="en-US" sz="2200" dirty="0" smtClean="0">
                          <a:solidFill>
                            <a:srgbClr val="FF0000"/>
                          </a:solidFill>
                          <a:latin typeface="Times New Roman" pitchFamily="18" charset="0"/>
                          <a:cs typeface="Times New Roman" pitchFamily="18" charset="0"/>
                        </a:rPr>
                        <a:t>11</a:t>
                      </a:r>
                      <a:r>
                        <a:rPr lang="en-US" sz="2200" dirty="0">
                          <a:solidFill>
                            <a:srgbClr val="FF0000"/>
                          </a:solidFill>
                          <a:latin typeface="Times New Roman" pitchFamily="18" charset="0"/>
                          <a:cs typeface="Times New Roman" pitchFamily="18" charset="0"/>
                        </a:rPr>
                        <a:t>.</a:t>
                      </a:r>
                    </a:p>
                  </a:txBody>
                  <a:tcPr/>
                </a:tc>
                <a:tc>
                  <a:txBody>
                    <a:bodyPr/>
                    <a:lstStyle/>
                    <a:p>
                      <a:pPr marL="36195" algn="l">
                        <a:lnSpc>
                          <a:spcPts val="1185"/>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36195" algn="l">
                        <a:lnSpc>
                          <a:spcPts val="1185"/>
                        </a:lnSpc>
                        <a:spcBef>
                          <a:spcPts val="0"/>
                        </a:spcBef>
                        <a:spcAft>
                          <a:spcPts val="0"/>
                        </a:spcAft>
                      </a:pPr>
                      <a:r>
                        <a:rPr lang="en-US" sz="2200" dirty="0" smtClean="0">
                          <a:solidFill>
                            <a:srgbClr val="FF0000"/>
                          </a:solidFill>
                          <a:latin typeface="Times New Roman" pitchFamily="18" charset="0"/>
                          <a:cs typeface="Times New Roman" pitchFamily="18" charset="0"/>
                        </a:rPr>
                        <a:t>Lead</a:t>
                      </a:r>
                      <a:endParaRPr lang="en-US" sz="2200" dirty="0">
                        <a:solidFill>
                          <a:srgbClr val="FF0000"/>
                        </a:solidFill>
                        <a:latin typeface="Times New Roman" pitchFamily="18" charset="0"/>
                        <a:cs typeface="Times New Roman" pitchFamily="18" charset="0"/>
                      </a:endParaRPr>
                    </a:p>
                  </a:txBody>
                  <a:tcPr/>
                </a:tc>
                <a:tc>
                  <a:txBody>
                    <a:bodyPr/>
                    <a:lstStyle/>
                    <a:p>
                      <a:pPr marL="161290" marR="153035" algn="ctr">
                        <a:lnSpc>
                          <a:spcPts val="1185"/>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161290" marR="153035" algn="ctr">
                        <a:lnSpc>
                          <a:spcPts val="1185"/>
                        </a:lnSpc>
                        <a:spcBef>
                          <a:spcPts val="0"/>
                        </a:spcBef>
                        <a:spcAft>
                          <a:spcPts val="0"/>
                        </a:spcAft>
                      </a:pPr>
                      <a:r>
                        <a:rPr lang="en-US" sz="2200" dirty="0" smtClean="0">
                          <a:solidFill>
                            <a:srgbClr val="FF0000"/>
                          </a:solidFill>
                          <a:latin typeface="Times New Roman" pitchFamily="18" charset="0"/>
                          <a:cs typeface="Times New Roman" pitchFamily="18" charset="0"/>
                        </a:rPr>
                        <a:t>0.05</a:t>
                      </a:r>
                      <a:endParaRPr lang="en-US" sz="2200" dirty="0">
                        <a:solidFill>
                          <a:srgbClr val="FF0000"/>
                        </a:solidFill>
                        <a:latin typeface="Times New Roman" pitchFamily="18" charset="0"/>
                        <a:cs typeface="Times New Roman" pitchFamily="18" charset="0"/>
                      </a:endParaRPr>
                    </a:p>
                  </a:txBody>
                  <a:tcPr/>
                </a:tc>
                <a:tc>
                  <a:txBody>
                    <a:bodyPr/>
                    <a:lstStyle/>
                    <a:p>
                      <a:pPr marL="36195" marR="380365" algn="r">
                        <a:lnSpc>
                          <a:spcPts val="1185"/>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36195" marR="380365" algn="r">
                        <a:lnSpc>
                          <a:spcPts val="1185"/>
                        </a:lnSpc>
                        <a:spcBef>
                          <a:spcPts val="0"/>
                        </a:spcBef>
                        <a:spcAft>
                          <a:spcPts val="0"/>
                        </a:spcAft>
                      </a:pPr>
                      <a:r>
                        <a:rPr lang="en-US" sz="2200" dirty="0" smtClean="0">
                          <a:solidFill>
                            <a:srgbClr val="FF0000"/>
                          </a:solidFill>
                          <a:latin typeface="Times New Roman" pitchFamily="18" charset="0"/>
                          <a:cs typeface="Times New Roman" pitchFamily="18" charset="0"/>
                        </a:rPr>
                        <a:t>0.1</a:t>
                      </a:r>
                      <a:endParaRPr lang="en-US" sz="2200" dirty="0">
                        <a:solidFill>
                          <a:srgbClr val="FF0000"/>
                        </a:solidFill>
                        <a:latin typeface="Times New Roman" pitchFamily="18" charset="0"/>
                        <a:cs typeface="Times New Roman" pitchFamily="18" charset="0"/>
                      </a:endParaRPr>
                    </a:p>
                  </a:txBody>
                  <a:tcPr/>
                </a:tc>
              </a:tr>
              <a:tr h="446121">
                <a:tc>
                  <a:txBody>
                    <a:bodyPr/>
                    <a:lstStyle/>
                    <a:p>
                      <a:pPr marL="76200" marR="65405" algn="ctr">
                        <a:lnSpc>
                          <a:spcPts val="1185"/>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76200" marR="65405" algn="ctr">
                        <a:lnSpc>
                          <a:spcPts val="1185"/>
                        </a:lnSpc>
                        <a:spcBef>
                          <a:spcPts val="0"/>
                        </a:spcBef>
                        <a:spcAft>
                          <a:spcPts val="0"/>
                        </a:spcAft>
                      </a:pPr>
                      <a:r>
                        <a:rPr lang="en-US" sz="2200" dirty="0" smtClean="0">
                          <a:solidFill>
                            <a:srgbClr val="FF0000"/>
                          </a:solidFill>
                          <a:latin typeface="Times New Roman" pitchFamily="18" charset="0"/>
                          <a:cs typeface="Times New Roman" pitchFamily="18" charset="0"/>
                        </a:rPr>
                        <a:t>12</a:t>
                      </a:r>
                      <a:r>
                        <a:rPr lang="en-US" sz="2200" dirty="0">
                          <a:solidFill>
                            <a:srgbClr val="FF0000"/>
                          </a:solidFill>
                          <a:latin typeface="Times New Roman" pitchFamily="18" charset="0"/>
                          <a:cs typeface="Times New Roman" pitchFamily="18" charset="0"/>
                        </a:rPr>
                        <a:t>.</a:t>
                      </a:r>
                    </a:p>
                  </a:txBody>
                  <a:tcPr/>
                </a:tc>
                <a:tc>
                  <a:txBody>
                    <a:bodyPr/>
                    <a:lstStyle/>
                    <a:p>
                      <a:pPr marL="36195" algn="l">
                        <a:lnSpc>
                          <a:spcPts val="1185"/>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36195" algn="l">
                        <a:lnSpc>
                          <a:spcPts val="1185"/>
                        </a:lnSpc>
                        <a:spcBef>
                          <a:spcPts val="0"/>
                        </a:spcBef>
                        <a:spcAft>
                          <a:spcPts val="0"/>
                        </a:spcAft>
                      </a:pPr>
                      <a:r>
                        <a:rPr lang="en-US" sz="2200" dirty="0" smtClean="0">
                          <a:solidFill>
                            <a:srgbClr val="FF0000"/>
                          </a:solidFill>
                          <a:latin typeface="Times New Roman" pitchFamily="18" charset="0"/>
                          <a:cs typeface="Times New Roman" pitchFamily="18" charset="0"/>
                        </a:rPr>
                        <a:t>Arsenic</a:t>
                      </a:r>
                      <a:endParaRPr lang="en-US" sz="2200" dirty="0">
                        <a:solidFill>
                          <a:srgbClr val="FF0000"/>
                        </a:solidFill>
                        <a:latin typeface="Times New Roman" pitchFamily="18" charset="0"/>
                        <a:cs typeface="Times New Roman" pitchFamily="18" charset="0"/>
                      </a:endParaRPr>
                    </a:p>
                  </a:txBody>
                  <a:tcPr/>
                </a:tc>
                <a:tc>
                  <a:txBody>
                    <a:bodyPr/>
                    <a:lstStyle/>
                    <a:p>
                      <a:pPr marL="161290" marR="153035" algn="ctr">
                        <a:lnSpc>
                          <a:spcPts val="1185"/>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161290" marR="153035" algn="ctr">
                        <a:lnSpc>
                          <a:spcPts val="1185"/>
                        </a:lnSpc>
                        <a:spcBef>
                          <a:spcPts val="0"/>
                        </a:spcBef>
                        <a:spcAft>
                          <a:spcPts val="0"/>
                        </a:spcAft>
                      </a:pPr>
                      <a:r>
                        <a:rPr lang="en-US" sz="2200" dirty="0" smtClean="0">
                          <a:solidFill>
                            <a:srgbClr val="FF0000"/>
                          </a:solidFill>
                          <a:latin typeface="Times New Roman" pitchFamily="18" charset="0"/>
                          <a:cs typeface="Times New Roman" pitchFamily="18" charset="0"/>
                        </a:rPr>
                        <a:t>0.05</a:t>
                      </a:r>
                      <a:endParaRPr lang="en-US" sz="2200" dirty="0">
                        <a:solidFill>
                          <a:srgbClr val="FF0000"/>
                        </a:solidFill>
                        <a:latin typeface="Times New Roman" pitchFamily="18" charset="0"/>
                        <a:cs typeface="Times New Roman" pitchFamily="18" charset="0"/>
                      </a:endParaRPr>
                    </a:p>
                  </a:txBody>
                  <a:tcPr/>
                </a:tc>
                <a:tc>
                  <a:txBody>
                    <a:bodyPr/>
                    <a:lstStyle/>
                    <a:p>
                      <a:pPr marL="36195" marR="380365" algn="r">
                        <a:lnSpc>
                          <a:spcPts val="1185"/>
                        </a:lnSpc>
                        <a:spcBef>
                          <a:spcPts val="0"/>
                        </a:spcBef>
                        <a:spcAft>
                          <a:spcPts val="0"/>
                        </a:spcAft>
                      </a:pPr>
                      <a:endParaRPr lang="en-US" sz="2200" dirty="0" smtClean="0">
                        <a:solidFill>
                          <a:srgbClr val="FF0000"/>
                        </a:solidFill>
                        <a:latin typeface="Times New Roman" pitchFamily="18" charset="0"/>
                        <a:cs typeface="Times New Roman" pitchFamily="18" charset="0"/>
                      </a:endParaRPr>
                    </a:p>
                    <a:p>
                      <a:pPr marL="36195" marR="380365" algn="r">
                        <a:lnSpc>
                          <a:spcPts val="1185"/>
                        </a:lnSpc>
                        <a:spcBef>
                          <a:spcPts val="0"/>
                        </a:spcBef>
                        <a:spcAft>
                          <a:spcPts val="0"/>
                        </a:spcAft>
                      </a:pPr>
                      <a:r>
                        <a:rPr lang="en-US" sz="2200" dirty="0" smtClean="0">
                          <a:solidFill>
                            <a:srgbClr val="FF0000"/>
                          </a:solidFill>
                          <a:latin typeface="Times New Roman" pitchFamily="18" charset="0"/>
                          <a:cs typeface="Times New Roman" pitchFamily="18" charset="0"/>
                        </a:rPr>
                        <a:t>0.2</a:t>
                      </a:r>
                      <a:endParaRPr lang="en-US" sz="2200" dirty="0">
                        <a:solidFill>
                          <a:srgbClr val="FF0000"/>
                        </a:solidFill>
                        <a:latin typeface="Times New Roman" pitchFamily="18" charset="0"/>
                        <a:cs typeface="Times New Roman" pitchFamily="18" charset="0"/>
                      </a:endParaRPr>
                    </a:p>
                  </a:txBody>
                  <a:tcPr/>
                </a:tc>
              </a:tr>
              <a:tr h="274536">
                <a:tc>
                  <a:txBody>
                    <a:bodyPr/>
                    <a:lstStyle/>
                    <a:p>
                      <a:pPr marL="76200" marR="65405" algn="ctr">
                        <a:lnSpc>
                          <a:spcPts val="1185"/>
                        </a:lnSpc>
                        <a:spcBef>
                          <a:spcPts val="0"/>
                        </a:spcBef>
                        <a:spcAft>
                          <a:spcPts val="0"/>
                        </a:spcAft>
                      </a:pPr>
                      <a:endParaRPr lang="en-US" sz="2200" dirty="0">
                        <a:solidFill>
                          <a:srgbClr val="FF0000"/>
                        </a:solidFill>
                        <a:latin typeface="Times New Roman" pitchFamily="18" charset="0"/>
                        <a:cs typeface="Times New Roman" pitchFamily="18" charset="0"/>
                      </a:endParaRPr>
                    </a:p>
                  </a:txBody>
                  <a:tcPr/>
                </a:tc>
                <a:tc>
                  <a:txBody>
                    <a:bodyPr/>
                    <a:lstStyle/>
                    <a:p>
                      <a:pPr marL="36195" algn="l">
                        <a:lnSpc>
                          <a:spcPts val="1185"/>
                        </a:lnSpc>
                        <a:spcBef>
                          <a:spcPts val="0"/>
                        </a:spcBef>
                        <a:spcAft>
                          <a:spcPts val="0"/>
                        </a:spcAft>
                      </a:pPr>
                      <a:endParaRPr lang="en-US" sz="2200" dirty="0">
                        <a:solidFill>
                          <a:srgbClr val="FF0000"/>
                        </a:solidFill>
                        <a:latin typeface="Times New Roman" pitchFamily="18" charset="0"/>
                        <a:cs typeface="Times New Roman" pitchFamily="18" charset="0"/>
                      </a:endParaRPr>
                    </a:p>
                  </a:txBody>
                  <a:tcPr/>
                </a:tc>
                <a:tc>
                  <a:txBody>
                    <a:bodyPr/>
                    <a:lstStyle/>
                    <a:p>
                      <a:pPr marL="161290" marR="153035" algn="ctr">
                        <a:lnSpc>
                          <a:spcPts val="1185"/>
                        </a:lnSpc>
                        <a:spcBef>
                          <a:spcPts val="0"/>
                        </a:spcBef>
                        <a:spcAft>
                          <a:spcPts val="0"/>
                        </a:spcAft>
                      </a:pPr>
                      <a:endParaRPr lang="en-US" sz="2200" dirty="0">
                        <a:solidFill>
                          <a:srgbClr val="FF0000"/>
                        </a:solidFill>
                        <a:latin typeface="Times New Roman" pitchFamily="18" charset="0"/>
                        <a:cs typeface="Times New Roman" pitchFamily="18" charset="0"/>
                      </a:endParaRPr>
                    </a:p>
                  </a:txBody>
                  <a:tcPr/>
                </a:tc>
                <a:tc>
                  <a:txBody>
                    <a:bodyPr/>
                    <a:lstStyle/>
                    <a:p>
                      <a:pPr marL="36195" marR="380365" algn="r">
                        <a:lnSpc>
                          <a:spcPts val="1185"/>
                        </a:lnSpc>
                        <a:spcBef>
                          <a:spcPts val="0"/>
                        </a:spcBef>
                        <a:spcAft>
                          <a:spcPts val="0"/>
                        </a:spcAft>
                      </a:pPr>
                      <a:endParaRPr lang="en-US" sz="2200" dirty="0">
                        <a:solidFill>
                          <a:srgbClr val="FF0000"/>
                        </a:solidFill>
                        <a:latin typeface="Times New Roman" pitchFamily="18" charset="0"/>
                        <a:cs typeface="Times New Roman" pitchFamily="18" charset="0"/>
                      </a:endParaRPr>
                    </a:p>
                  </a:txBody>
                  <a:tcPr/>
                </a:tc>
              </a:tr>
            </a:tbl>
          </a:graphicData>
        </a:graphic>
      </p:graphicFrame>
    </p:spTree>
  </p:cSld>
  <p:clrMapOvr>
    <a:masterClrMapping/>
  </p:clrMapOvr>
  <p:transition spd="slow">
    <p:push/>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066800"/>
            <a:ext cx="7924800" cy="5509200"/>
          </a:xfrm>
          <a:prstGeom prst="rect">
            <a:avLst/>
          </a:prstGeom>
        </p:spPr>
        <p:txBody>
          <a:bodyPr wrap="square">
            <a:spAutoFit/>
          </a:bodyPr>
          <a:lstStyle/>
          <a:p>
            <a:r>
              <a:rPr lang="en-US" sz="2200" b="1" dirty="0" smtClean="0">
                <a:solidFill>
                  <a:srgbClr val="663300"/>
                </a:solidFill>
                <a:latin typeface="Times New Roman" pitchFamily="18" charset="0"/>
                <a:cs typeface="Times New Roman" pitchFamily="18" charset="0"/>
              </a:rPr>
              <a:t>Significance of the parameters</a:t>
            </a:r>
          </a:p>
          <a:p>
            <a:endParaRPr lang="en-US" sz="2200" b="1" dirty="0" smtClean="0">
              <a:latin typeface="Times New Roman" pitchFamily="18" charset="0"/>
              <a:cs typeface="Times New Roman" pitchFamily="18" charset="0"/>
            </a:endParaRPr>
          </a:p>
          <a:p>
            <a:pPr marL="342900" indent="-342900">
              <a:buAutoNum type="arabicPeriod"/>
            </a:pPr>
            <a:r>
              <a:rPr lang="en-US" sz="2200" b="1" i="1" dirty="0" smtClean="0">
                <a:solidFill>
                  <a:srgbClr val="FF9900"/>
                </a:solidFill>
                <a:latin typeface="Times New Roman" pitchFamily="18" charset="0"/>
                <a:cs typeface="Times New Roman" pitchFamily="18" charset="0"/>
              </a:rPr>
              <a:t>Chlorides: </a:t>
            </a:r>
          </a:p>
          <a:p>
            <a:pPr marL="342900" indent="-342900">
              <a:buFont typeface="Wingdings" pitchFamily="2" charset="2"/>
              <a:buChar char="q"/>
            </a:pPr>
            <a:r>
              <a:rPr lang="en-US" sz="2200" dirty="0" smtClean="0">
                <a:solidFill>
                  <a:srgbClr val="FF0066"/>
                </a:solidFill>
                <a:latin typeface="Times New Roman" pitchFamily="18" charset="0"/>
                <a:cs typeface="Times New Roman" pitchFamily="18" charset="0"/>
              </a:rPr>
              <a:t>Although chlorides are not considered as harmful as such, their concentrations over 250 mg/lit impart peculiar taste to water, which is unacceptable for drinking purposes.</a:t>
            </a:r>
          </a:p>
          <a:p>
            <a:pPr marL="342900" indent="-342900"/>
            <a:endParaRPr lang="en-US" sz="2200" dirty="0" smtClean="0">
              <a:latin typeface="Times New Roman" pitchFamily="18" charset="0"/>
              <a:cs typeface="Times New Roman" pitchFamily="18" charset="0"/>
            </a:endParaRPr>
          </a:p>
          <a:p>
            <a:r>
              <a:rPr lang="en-US" sz="2200" b="1" i="1" dirty="0" smtClean="0">
                <a:solidFill>
                  <a:srgbClr val="FF9900"/>
                </a:solidFill>
                <a:latin typeface="Times New Roman" pitchFamily="18" charset="0"/>
                <a:cs typeface="Times New Roman" pitchFamily="18" charset="0"/>
              </a:rPr>
              <a:t>2. </a:t>
            </a:r>
            <a:r>
              <a:rPr lang="en-US" sz="2200" b="1" i="1" dirty="0" err="1" smtClean="0">
                <a:solidFill>
                  <a:srgbClr val="FF9900"/>
                </a:solidFill>
                <a:latin typeface="Times New Roman" pitchFamily="18" charset="0"/>
                <a:cs typeface="Times New Roman" pitchFamily="18" charset="0"/>
              </a:rPr>
              <a:t>Sulphates</a:t>
            </a:r>
            <a:r>
              <a:rPr lang="en-US" sz="2200" b="1" i="1" dirty="0" smtClean="0">
                <a:solidFill>
                  <a:srgbClr val="FF9900"/>
                </a:solidFill>
                <a:latin typeface="Times New Roman" pitchFamily="18" charset="0"/>
                <a:cs typeface="Times New Roman" pitchFamily="18" charset="0"/>
              </a:rPr>
              <a:t>: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When </a:t>
            </a:r>
            <a:r>
              <a:rPr lang="en-US" sz="2200" dirty="0" err="1" smtClean="0">
                <a:solidFill>
                  <a:srgbClr val="FF0066"/>
                </a:solidFill>
                <a:latin typeface="Times New Roman" pitchFamily="18" charset="0"/>
                <a:cs typeface="Times New Roman" pitchFamily="18" charset="0"/>
              </a:rPr>
              <a:t>sulphates</a:t>
            </a:r>
            <a:r>
              <a:rPr lang="en-US" sz="2200" dirty="0" smtClean="0">
                <a:solidFill>
                  <a:srgbClr val="FF0066"/>
                </a:solidFill>
                <a:latin typeface="Times New Roman" pitchFamily="18" charset="0"/>
                <a:cs typeface="Times New Roman" pitchFamily="18" charset="0"/>
              </a:rPr>
              <a:t> are present in excess amount in drinking water, they may produce a cathartic effect on the people consuming such water.</a:t>
            </a:r>
          </a:p>
          <a:p>
            <a:endParaRPr lang="en-US" sz="2200" dirty="0" smtClean="0">
              <a:latin typeface="Times New Roman" pitchFamily="18" charset="0"/>
              <a:cs typeface="Times New Roman" pitchFamily="18" charset="0"/>
            </a:endParaRPr>
          </a:p>
          <a:p>
            <a:r>
              <a:rPr lang="en-US" sz="2200" b="1" i="1" dirty="0" smtClean="0">
                <a:solidFill>
                  <a:srgbClr val="FF9900"/>
                </a:solidFill>
                <a:latin typeface="Times New Roman" pitchFamily="18" charset="0"/>
                <a:cs typeface="Times New Roman" pitchFamily="18" charset="0"/>
              </a:rPr>
              <a:t>3. Nitrates: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Excessive concentrations of nitrates are undesirable especially for infants.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maximum contaminant level for nitrate is 10 mg/lit.</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143000"/>
            <a:ext cx="8001000" cy="5509200"/>
          </a:xfrm>
          <a:prstGeom prst="rect">
            <a:avLst/>
          </a:prstGeom>
        </p:spPr>
        <p:txBody>
          <a:bodyPr wrap="square">
            <a:spAutoFit/>
          </a:bodyPr>
          <a:lstStyle/>
          <a:p>
            <a:r>
              <a:rPr lang="en-US" sz="2200" b="1" i="1" dirty="0" smtClean="0">
                <a:solidFill>
                  <a:srgbClr val="FF9900"/>
                </a:solidFill>
                <a:latin typeface="Times New Roman" pitchFamily="18" charset="0"/>
                <a:cs typeface="Times New Roman" pitchFamily="18" charset="0"/>
              </a:rPr>
              <a:t>4. Fluorides:</a:t>
            </a:r>
          </a:p>
          <a:p>
            <a:endParaRPr lang="en-US" sz="2200" b="1" i="1" dirty="0" smtClean="0">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prescribed in drinking water is in the range of 0.7 to 1.2 mg/lit. Low concentration of fluoride in drinking Optimum fluoride concentrations water causes dental problem in children. </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Excessive concentration causes </a:t>
            </a:r>
            <a:r>
              <a:rPr lang="en-US" sz="2200" dirty="0" err="1" smtClean="0">
                <a:solidFill>
                  <a:srgbClr val="FF0066"/>
                </a:solidFill>
                <a:latin typeface="Times New Roman" pitchFamily="18" charset="0"/>
                <a:cs typeface="Times New Roman" pitchFamily="18" charset="0"/>
              </a:rPr>
              <a:t>fluorosis</a:t>
            </a:r>
            <a:r>
              <a:rPr lang="en-US" sz="2200" dirty="0" smtClean="0">
                <a:solidFill>
                  <a:srgbClr val="FF0066"/>
                </a:solidFill>
                <a:latin typeface="Times New Roman" pitchFamily="18" charset="0"/>
                <a:cs typeface="Times New Roman" pitchFamily="18" charset="0"/>
              </a:rPr>
              <a:t> (discoloration and chipping of teeth).</a:t>
            </a:r>
          </a:p>
          <a:p>
            <a:endParaRPr lang="en-US" sz="2200" dirty="0" smtClean="0">
              <a:latin typeface="Times New Roman" pitchFamily="18" charset="0"/>
              <a:cs typeface="Times New Roman" pitchFamily="18" charset="0"/>
            </a:endParaRPr>
          </a:p>
          <a:p>
            <a:r>
              <a:rPr lang="en-US" sz="2200" b="1" i="1" dirty="0" smtClean="0">
                <a:solidFill>
                  <a:srgbClr val="FF9900"/>
                </a:solidFill>
                <a:latin typeface="Times New Roman" pitchFamily="18" charset="0"/>
                <a:cs typeface="Times New Roman" pitchFamily="18" charset="0"/>
              </a:rPr>
              <a:t>5. Arsenic:</a:t>
            </a:r>
          </a:p>
          <a:p>
            <a:endParaRPr lang="en-US" sz="2200" b="1" i="1" dirty="0" smtClean="0">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Arsenic is a toxic heavy metal even a very small dose can result in severe poisoning.</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Only 0.05 mg/lit has been recommended for arsenic in drinking water.</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219200"/>
            <a:ext cx="8001000" cy="2800767"/>
          </a:xfrm>
          <a:prstGeom prst="rect">
            <a:avLst/>
          </a:prstGeom>
        </p:spPr>
        <p:txBody>
          <a:bodyPr wrap="square">
            <a:spAutoFit/>
          </a:bodyPr>
          <a:lstStyle/>
          <a:p>
            <a:r>
              <a:rPr lang="en-US" sz="2200" b="1" dirty="0" smtClean="0">
                <a:solidFill>
                  <a:srgbClr val="0B8319"/>
                </a:solidFill>
                <a:latin typeface="Times New Roman" pitchFamily="18" charset="0"/>
                <a:cs typeface="Times New Roman" pitchFamily="18" charset="0"/>
              </a:rPr>
              <a:t>2.4 SOIL POLLUTION</a:t>
            </a:r>
          </a:p>
          <a:p>
            <a:endParaRPr lang="en-US" sz="2200" b="1" dirty="0" smtClean="0">
              <a:latin typeface="Times New Roman" pitchFamily="18" charset="0"/>
              <a:cs typeface="Times New Roman" pitchFamily="18" charset="0"/>
            </a:endParaRPr>
          </a:p>
          <a:p>
            <a:r>
              <a:rPr lang="en-US" sz="2200" b="1" dirty="0" smtClean="0">
                <a:solidFill>
                  <a:srgbClr val="663300"/>
                </a:solidFill>
                <a:latin typeface="Times New Roman" pitchFamily="18" charset="0"/>
                <a:cs typeface="Times New Roman" pitchFamily="18" charset="0"/>
              </a:rPr>
              <a:t>Definition</a:t>
            </a:r>
          </a:p>
          <a:p>
            <a:r>
              <a:rPr lang="en-US" sz="2200" i="1" dirty="0" smtClean="0">
                <a:solidFill>
                  <a:srgbClr val="FF0066"/>
                </a:solidFill>
                <a:latin typeface="Times New Roman" pitchFamily="18" charset="0"/>
                <a:cs typeface="Times New Roman" pitchFamily="18" charset="0"/>
              </a:rPr>
              <a:t>Soil pollution is defined as, </a:t>
            </a:r>
            <a:r>
              <a:rPr lang="en-US" sz="2200" b="1" i="1" dirty="0" smtClean="0">
                <a:solidFill>
                  <a:srgbClr val="00B0F0"/>
                </a:solidFill>
                <a:latin typeface="Times New Roman" pitchFamily="18" charset="0"/>
                <a:cs typeface="Times New Roman" pitchFamily="18" charset="0"/>
              </a:rPr>
              <a:t>“the contamination of soil by human and natural activities which may cause harmful effects on living beings.”</a:t>
            </a:r>
          </a:p>
          <a:p>
            <a:endParaRPr lang="en-US" sz="2200" b="1" i="1" dirty="0" smtClean="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p:txBody>
      </p:sp>
      <p:sp>
        <p:nvSpPr>
          <p:cNvPr id="87041" name="Rectangle 1"/>
          <p:cNvSpPr>
            <a:spLocks noChangeArrowheads="1"/>
          </p:cNvSpPr>
          <p:nvPr/>
        </p:nvSpPr>
        <p:spPr bwMode="auto">
          <a:xfrm>
            <a:off x="1676400" y="3505200"/>
            <a:ext cx="3662926" cy="769441"/>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smtClean="0">
                <a:ln>
                  <a:noFill/>
                </a:ln>
                <a:solidFill>
                  <a:srgbClr val="FF0000"/>
                </a:solidFill>
                <a:effectLst/>
                <a:latin typeface="Times New Roman" pitchFamily="18" charset="0"/>
                <a:cs typeface="Times New Roman" pitchFamily="18" charset="0"/>
              </a:rPr>
              <a:t>Table 2.3 Composition of soil</a:t>
            </a:r>
            <a:endParaRPr kumimoji="0" lang="en-US" sz="2200" b="0" i="0" u="none" strike="noStrike" cap="none" normalizeH="0" baseline="0" dirty="0" smtClean="0">
              <a:ln>
                <a:noFill/>
              </a:ln>
              <a:solidFill>
                <a:srgbClr val="FF0000"/>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smtClean="0">
              <a:ln>
                <a:noFill/>
              </a:ln>
              <a:solidFill>
                <a:srgbClr val="FF0000"/>
              </a:solidFill>
              <a:effectLst/>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1143000" y="4114800"/>
          <a:ext cx="5486400" cy="2133600"/>
        </p:xfrm>
        <a:graphic>
          <a:graphicData uri="http://schemas.openxmlformats.org/drawingml/2006/table">
            <a:tbl>
              <a:tblPr>
                <a:tableStyleId>{BC89EF96-8CEA-46FF-86C4-4CE0E7609802}</a:tableStyleId>
              </a:tblPr>
              <a:tblGrid>
                <a:gridCol w="3635719"/>
                <a:gridCol w="1850681"/>
              </a:tblGrid>
              <a:tr h="212725">
                <a:tc>
                  <a:txBody>
                    <a:bodyPr/>
                    <a:lstStyle/>
                    <a:p>
                      <a:pPr marL="543560" algn="l">
                        <a:spcBef>
                          <a:spcPts val="115"/>
                        </a:spcBef>
                        <a:spcAft>
                          <a:spcPts val="0"/>
                        </a:spcAft>
                      </a:pPr>
                      <a:r>
                        <a:rPr lang="en-US" sz="2200" dirty="0" smtClean="0">
                          <a:solidFill>
                            <a:srgbClr val="008000"/>
                          </a:solidFill>
                          <a:latin typeface="Times New Roman" pitchFamily="18" charset="0"/>
                          <a:cs typeface="Times New Roman" pitchFamily="18" charset="0"/>
                        </a:rPr>
                        <a:t>Components</a:t>
                      </a:r>
                      <a:endParaRPr lang="en-US" sz="2200" dirty="0">
                        <a:solidFill>
                          <a:srgbClr val="008000"/>
                        </a:solidFill>
                        <a:latin typeface="Times New Roman" pitchFamily="18" charset="0"/>
                        <a:cs typeface="Times New Roman" pitchFamily="18" charset="0"/>
                      </a:endParaRPr>
                    </a:p>
                  </a:txBody>
                  <a:tcPr/>
                </a:tc>
                <a:tc>
                  <a:txBody>
                    <a:bodyPr/>
                    <a:lstStyle/>
                    <a:p>
                      <a:pPr marL="383540" algn="l">
                        <a:spcBef>
                          <a:spcPts val="115"/>
                        </a:spcBef>
                        <a:spcAft>
                          <a:spcPts val="0"/>
                        </a:spcAft>
                      </a:pPr>
                      <a:r>
                        <a:rPr lang="en-US" sz="2200">
                          <a:solidFill>
                            <a:srgbClr val="008000"/>
                          </a:solidFill>
                          <a:latin typeface="Times New Roman" pitchFamily="18" charset="0"/>
                          <a:cs typeface="Times New Roman" pitchFamily="18" charset="0"/>
                        </a:rPr>
                        <a:t>%</a:t>
                      </a:r>
                    </a:p>
                  </a:txBody>
                  <a:tcPr/>
                </a:tc>
              </a:tr>
              <a:tr h="191770">
                <a:tc>
                  <a:txBody>
                    <a:bodyPr/>
                    <a:lstStyle/>
                    <a:p>
                      <a:pPr marL="39370" algn="l">
                        <a:spcBef>
                          <a:spcPts val="15"/>
                        </a:spcBef>
                        <a:spcAft>
                          <a:spcPts val="0"/>
                        </a:spcAft>
                      </a:pPr>
                      <a:r>
                        <a:rPr lang="en-US" sz="2200" dirty="0">
                          <a:solidFill>
                            <a:srgbClr val="008000"/>
                          </a:solidFill>
                          <a:latin typeface="Times New Roman" pitchFamily="18" charset="0"/>
                          <a:cs typeface="Times New Roman" pitchFamily="18" charset="0"/>
                        </a:rPr>
                        <a:t>Mineral</a:t>
                      </a:r>
                      <a:r>
                        <a:rPr lang="en-US" sz="2200" spc="205" dirty="0">
                          <a:solidFill>
                            <a:srgbClr val="008000"/>
                          </a:solidFill>
                          <a:latin typeface="Times New Roman" pitchFamily="18" charset="0"/>
                          <a:cs typeface="Times New Roman" pitchFamily="18" charset="0"/>
                        </a:rPr>
                        <a:t> </a:t>
                      </a:r>
                      <a:r>
                        <a:rPr lang="en-US" sz="2200" dirty="0">
                          <a:solidFill>
                            <a:srgbClr val="008000"/>
                          </a:solidFill>
                          <a:latin typeface="Times New Roman" pitchFamily="18" charset="0"/>
                          <a:cs typeface="Times New Roman" pitchFamily="18" charset="0"/>
                        </a:rPr>
                        <a:t>matter</a:t>
                      </a:r>
                      <a:r>
                        <a:rPr lang="en-US" sz="2200" spc="225" dirty="0">
                          <a:solidFill>
                            <a:srgbClr val="008000"/>
                          </a:solidFill>
                          <a:latin typeface="Times New Roman" pitchFamily="18" charset="0"/>
                          <a:cs typeface="Times New Roman" pitchFamily="18" charset="0"/>
                        </a:rPr>
                        <a:t> </a:t>
                      </a:r>
                      <a:r>
                        <a:rPr lang="en-US" sz="2200" dirty="0">
                          <a:solidFill>
                            <a:srgbClr val="008000"/>
                          </a:solidFill>
                          <a:latin typeface="Times New Roman" pitchFamily="18" charset="0"/>
                          <a:cs typeface="Times New Roman" pitchFamily="18" charset="0"/>
                        </a:rPr>
                        <a:t>(inorganic)</a:t>
                      </a:r>
                    </a:p>
                  </a:txBody>
                  <a:tcPr/>
                </a:tc>
                <a:tc>
                  <a:txBody>
                    <a:bodyPr/>
                    <a:lstStyle/>
                    <a:p>
                      <a:pPr marL="379095" algn="l">
                        <a:spcBef>
                          <a:spcPts val="15"/>
                        </a:spcBef>
                        <a:spcAft>
                          <a:spcPts val="0"/>
                        </a:spcAft>
                      </a:pPr>
                      <a:r>
                        <a:rPr lang="en-US" sz="2200">
                          <a:solidFill>
                            <a:srgbClr val="008000"/>
                          </a:solidFill>
                          <a:latin typeface="Times New Roman" pitchFamily="18" charset="0"/>
                          <a:cs typeface="Times New Roman" pitchFamily="18" charset="0"/>
                        </a:rPr>
                        <a:t>45</a:t>
                      </a:r>
                    </a:p>
                  </a:txBody>
                  <a:tcPr/>
                </a:tc>
              </a:tr>
              <a:tr h="191135">
                <a:tc>
                  <a:txBody>
                    <a:bodyPr/>
                    <a:lstStyle/>
                    <a:p>
                      <a:pPr marL="39370" algn="l">
                        <a:spcBef>
                          <a:spcPts val="15"/>
                        </a:spcBef>
                        <a:spcAft>
                          <a:spcPts val="0"/>
                        </a:spcAft>
                      </a:pPr>
                      <a:r>
                        <a:rPr lang="en-US" sz="2200">
                          <a:solidFill>
                            <a:srgbClr val="008000"/>
                          </a:solidFill>
                          <a:latin typeface="Times New Roman" pitchFamily="18" charset="0"/>
                          <a:cs typeface="Times New Roman" pitchFamily="18" charset="0"/>
                        </a:rPr>
                        <a:t>Organic</a:t>
                      </a:r>
                      <a:r>
                        <a:rPr lang="en-US" sz="2200" spc="205">
                          <a:solidFill>
                            <a:srgbClr val="008000"/>
                          </a:solidFill>
                          <a:latin typeface="Times New Roman" pitchFamily="18" charset="0"/>
                          <a:cs typeface="Times New Roman" pitchFamily="18" charset="0"/>
                        </a:rPr>
                        <a:t> </a:t>
                      </a:r>
                      <a:r>
                        <a:rPr lang="en-US" sz="2200">
                          <a:solidFill>
                            <a:srgbClr val="008000"/>
                          </a:solidFill>
                          <a:latin typeface="Times New Roman" pitchFamily="18" charset="0"/>
                          <a:cs typeface="Times New Roman" pitchFamily="18" charset="0"/>
                        </a:rPr>
                        <a:t>matter</a:t>
                      </a:r>
                    </a:p>
                  </a:txBody>
                  <a:tcPr/>
                </a:tc>
                <a:tc>
                  <a:txBody>
                    <a:bodyPr/>
                    <a:lstStyle/>
                    <a:p>
                      <a:pPr marL="414020" algn="l">
                        <a:spcBef>
                          <a:spcPts val="15"/>
                        </a:spcBef>
                        <a:spcAft>
                          <a:spcPts val="0"/>
                        </a:spcAft>
                      </a:pPr>
                      <a:r>
                        <a:rPr lang="en-US" sz="2200" dirty="0">
                          <a:solidFill>
                            <a:srgbClr val="008000"/>
                          </a:solidFill>
                          <a:latin typeface="Times New Roman" pitchFamily="18" charset="0"/>
                          <a:cs typeface="Times New Roman" pitchFamily="18" charset="0"/>
                        </a:rPr>
                        <a:t>5</a:t>
                      </a:r>
                    </a:p>
                  </a:txBody>
                  <a:tcPr/>
                </a:tc>
              </a:tr>
              <a:tr h="191135">
                <a:tc>
                  <a:txBody>
                    <a:bodyPr/>
                    <a:lstStyle/>
                    <a:p>
                      <a:pPr marL="39370" algn="l">
                        <a:spcBef>
                          <a:spcPts val="15"/>
                        </a:spcBef>
                        <a:spcAft>
                          <a:spcPts val="0"/>
                        </a:spcAft>
                      </a:pPr>
                      <a:r>
                        <a:rPr lang="en-US" sz="2200">
                          <a:solidFill>
                            <a:srgbClr val="008000"/>
                          </a:solidFill>
                          <a:latin typeface="Times New Roman" pitchFamily="18" charset="0"/>
                          <a:cs typeface="Times New Roman" pitchFamily="18" charset="0"/>
                        </a:rPr>
                        <a:t>Soil</a:t>
                      </a:r>
                      <a:r>
                        <a:rPr lang="en-US" sz="2200" spc="230">
                          <a:solidFill>
                            <a:srgbClr val="008000"/>
                          </a:solidFill>
                          <a:latin typeface="Times New Roman" pitchFamily="18" charset="0"/>
                          <a:cs typeface="Times New Roman" pitchFamily="18" charset="0"/>
                        </a:rPr>
                        <a:t> </a:t>
                      </a:r>
                      <a:r>
                        <a:rPr lang="en-US" sz="2200">
                          <a:solidFill>
                            <a:srgbClr val="008000"/>
                          </a:solidFill>
                          <a:latin typeface="Times New Roman" pitchFamily="18" charset="0"/>
                          <a:cs typeface="Times New Roman" pitchFamily="18" charset="0"/>
                        </a:rPr>
                        <a:t>water</a:t>
                      </a:r>
                    </a:p>
                  </a:txBody>
                  <a:tcPr/>
                </a:tc>
                <a:tc>
                  <a:txBody>
                    <a:bodyPr/>
                    <a:lstStyle/>
                    <a:p>
                      <a:pPr marL="378460" algn="l">
                        <a:spcBef>
                          <a:spcPts val="15"/>
                        </a:spcBef>
                        <a:spcAft>
                          <a:spcPts val="0"/>
                        </a:spcAft>
                      </a:pPr>
                      <a:r>
                        <a:rPr lang="en-US" sz="2200">
                          <a:solidFill>
                            <a:srgbClr val="008000"/>
                          </a:solidFill>
                          <a:latin typeface="Times New Roman" pitchFamily="18" charset="0"/>
                          <a:cs typeface="Times New Roman" pitchFamily="18" charset="0"/>
                        </a:rPr>
                        <a:t>25</a:t>
                      </a:r>
                    </a:p>
                  </a:txBody>
                  <a:tcPr/>
                </a:tc>
              </a:tr>
              <a:tr h="189865">
                <a:tc>
                  <a:txBody>
                    <a:bodyPr/>
                    <a:lstStyle/>
                    <a:p>
                      <a:pPr marL="39370" algn="l">
                        <a:spcBef>
                          <a:spcPts val="15"/>
                        </a:spcBef>
                        <a:spcAft>
                          <a:spcPts val="0"/>
                        </a:spcAft>
                      </a:pPr>
                      <a:r>
                        <a:rPr lang="en-US" sz="2200">
                          <a:solidFill>
                            <a:srgbClr val="008000"/>
                          </a:solidFill>
                          <a:latin typeface="Times New Roman" pitchFamily="18" charset="0"/>
                          <a:cs typeface="Times New Roman" pitchFamily="18" charset="0"/>
                        </a:rPr>
                        <a:t>Soil</a:t>
                      </a:r>
                      <a:r>
                        <a:rPr lang="en-US" sz="2200" spc="235">
                          <a:solidFill>
                            <a:srgbClr val="008000"/>
                          </a:solidFill>
                          <a:latin typeface="Times New Roman" pitchFamily="18" charset="0"/>
                          <a:cs typeface="Times New Roman" pitchFamily="18" charset="0"/>
                        </a:rPr>
                        <a:t> </a:t>
                      </a:r>
                      <a:r>
                        <a:rPr lang="en-US" sz="2200">
                          <a:solidFill>
                            <a:srgbClr val="008000"/>
                          </a:solidFill>
                          <a:latin typeface="Times New Roman" pitchFamily="18" charset="0"/>
                          <a:cs typeface="Times New Roman" pitchFamily="18" charset="0"/>
                        </a:rPr>
                        <a:t>air</a:t>
                      </a:r>
                    </a:p>
                  </a:txBody>
                  <a:tcPr/>
                </a:tc>
                <a:tc>
                  <a:txBody>
                    <a:bodyPr/>
                    <a:lstStyle/>
                    <a:p>
                      <a:pPr marL="378460" algn="l">
                        <a:spcBef>
                          <a:spcPts val="15"/>
                        </a:spcBef>
                        <a:spcAft>
                          <a:spcPts val="0"/>
                        </a:spcAft>
                      </a:pPr>
                      <a:r>
                        <a:rPr lang="en-US" sz="2200" dirty="0">
                          <a:solidFill>
                            <a:srgbClr val="008000"/>
                          </a:solidFill>
                          <a:latin typeface="Times New Roman" pitchFamily="18" charset="0"/>
                          <a:cs typeface="Times New Roman" pitchFamily="18" charset="0"/>
                        </a:rPr>
                        <a:t>25</a:t>
                      </a:r>
                    </a:p>
                  </a:txBody>
                  <a:tcPr/>
                </a:tc>
              </a:tr>
            </a:tbl>
          </a:graphicData>
        </a:graphic>
      </p:graphicFrame>
    </p:spTree>
  </p:cSld>
  <p:clrMapOvr>
    <a:masterClrMapping/>
  </p:clrMapOvr>
  <p:transition spd="slow">
    <p:push/>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838200"/>
            <a:ext cx="8229600" cy="5509200"/>
          </a:xfrm>
          <a:prstGeom prst="rect">
            <a:avLst/>
          </a:prstGeom>
        </p:spPr>
        <p:txBody>
          <a:bodyPr wrap="square">
            <a:spAutoFit/>
          </a:bodyPr>
          <a:lstStyle/>
          <a:p>
            <a:r>
              <a:rPr lang="en-US" sz="2200" b="1" i="1" dirty="0" smtClean="0">
                <a:solidFill>
                  <a:srgbClr val="0000CC"/>
                </a:solidFill>
                <a:latin typeface="Times New Roman" pitchFamily="18" charset="0"/>
                <a:cs typeface="Times New Roman" pitchFamily="18" charset="0"/>
              </a:rPr>
              <a:t>2.4.1 Types, effects and sources (causes) of soil pollution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Soil pollution mainly results from the following sources</a:t>
            </a:r>
          </a:p>
          <a:p>
            <a:pPr lvl="3">
              <a:buFont typeface="Wingdings" pitchFamily="2" charset="2"/>
              <a:buChar char="ü"/>
            </a:pPr>
            <a:r>
              <a:rPr lang="en-US" sz="2200" dirty="0" smtClean="0">
                <a:solidFill>
                  <a:srgbClr val="00B0F0"/>
                </a:solidFill>
                <a:latin typeface="Times New Roman" pitchFamily="18" charset="0"/>
                <a:cs typeface="Times New Roman" pitchFamily="18" charset="0"/>
              </a:rPr>
              <a:t>  Industrial wastes.</a:t>
            </a:r>
          </a:p>
          <a:p>
            <a:pPr lvl="3">
              <a:buFont typeface="Wingdings" pitchFamily="2" charset="2"/>
              <a:buChar char="ü"/>
            </a:pPr>
            <a:r>
              <a:rPr lang="en-US" sz="2200" dirty="0" smtClean="0">
                <a:solidFill>
                  <a:srgbClr val="00B0F0"/>
                </a:solidFill>
                <a:latin typeface="Times New Roman" pitchFamily="18" charset="0"/>
                <a:cs typeface="Times New Roman" pitchFamily="18" charset="0"/>
              </a:rPr>
              <a:t>  Urban wastes.</a:t>
            </a:r>
          </a:p>
          <a:p>
            <a:pPr lvl="3">
              <a:buFont typeface="Wingdings" pitchFamily="2" charset="2"/>
              <a:buChar char="ü"/>
            </a:pPr>
            <a:r>
              <a:rPr lang="en-US" sz="2200" dirty="0" smtClean="0">
                <a:solidFill>
                  <a:srgbClr val="00B0F0"/>
                </a:solidFill>
                <a:latin typeface="Times New Roman" pitchFamily="18" charset="0"/>
                <a:cs typeface="Times New Roman" pitchFamily="18" charset="0"/>
              </a:rPr>
              <a:t>  Agricultural practices.</a:t>
            </a:r>
          </a:p>
          <a:p>
            <a:pPr lvl="3">
              <a:buFont typeface="Wingdings" pitchFamily="2" charset="2"/>
              <a:buChar char="ü"/>
            </a:pPr>
            <a:r>
              <a:rPr lang="en-US" sz="2200" dirty="0" smtClean="0">
                <a:solidFill>
                  <a:srgbClr val="00B0F0"/>
                </a:solidFill>
                <a:latin typeface="Times New Roman" pitchFamily="18" charset="0"/>
                <a:cs typeface="Times New Roman" pitchFamily="18" charset="0"/>
              </a:rPr>
              <a:t>  Radioactive pollutants.</a:t>
            </a:r>
          </a:p>
          <a:p>
            <a:pPr lvl="3">
              <a:buFont typeface="Wingdings" pitchFamily="2" charset="2"/>
              <a:buChar char="ü"/>
            </a:pPr>
            <a:r>
              <a:rPr lang="en-US" sz="2200" dirty="0" smtClean="0">
                <a:solidFill>
                  <a:srgbClr val="00B0F0"/>
                </a:solidFill>
                <a:latin typeface="Times New Roman" pitchFamily="18" charset="0"/>
                <a:cs typeface="Times New Roman" pitchFamily="18" charset="0"/>
              </a:rPr>
              <a:t>  Biological agents.</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1. Industrial wastes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Disposal of industrial wastes is the major problem for soil pollution.</a:t>
            </a:r>
          </a:p>
          <a:p>
            <a:r>
              <a:rPr lang="en-US" sz="2200" b="1" i="1" dirty="0" smtClean="0">
                <a:solidFill>
                  <a:srgbClr val="663300"/>
                </a:solidFill>
                <a:latin typeface="Times New Roman" pitchFamily="18" charset="0"/>
                <a:cs typeface="Times New Roman" pitchFamily="18" charset="0"/>
              </a:rPr>
              <a:t>Sources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The industrial pollutants are mainly discharged from the various origins such as pulp and paper mills, chemical industries, oil refineries, sugar factories, tanneries, textiles, steel, distilleries, fertilizers, pesticides, coal and mineral mining industries, drugs, glass, cement, petroleum and engineering industries etc.,</a:t>
            </a:r>
          </a:p>
        </p:txBody>
      </p:sp>
    </p:spTree>
  </p:cSld>
  <p:clrMapOvr>
    <a:masterClrMapping/>
  </p:clrMapOvr>
  <p:transition spd="slow">
    <p:push/>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8229600" cy="5509200"/>
          </a:xfrm>
          <a:prstGeom prst="rect">
            <a:avLst/>
          </a:prstGeom>
        </p:spPr>
        <p:txBody>
          <a:bodyPr wrap="square">
            <a:spAutoFit/>
          </a:bodyPr>
          <a:lstStyle/>
          <a:p>
            <a:r>
              <a:rPr lang="en-US" sz="2200" b="1" i="1" dirty="0" smtClean="0">
                <a:solidFill>
                  <a:srgbClr val="663300"/>
                </a:solidFill>
                <a:latin typeface="Times New Roman" pitchFamily="18" charset="0"/>
                <a:cs typeface="Times New Roman" pitchFamily="18" charset="0"/>
              </a:rPr>
              <a:t>Effect</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These pollutants affect and alter the chemical and biological properties of soil.</a:t>
            </a:r>
          </a:p>
          <a:p>
            <a:pPr>
              <a:buFont typeface="Wingdings" pitchFamily="2" charset="2"/>
              <a:buChar char="v"/>
            </a:pPr>
            <a:r>
              <a:rPr lang="en-US" sz="2200" dirty="0" smtClean="0">
                <a:solidFill>
                  <a:srgbClr val="FF0066"/>
                </a:solidFill>
                <a:latin typeface="Times New Roman" pitchFamily="18" charset="0"/>
                <a:cs typeface="Times New Roman" pitchFamily="18" charset="0"/>
              </a:rPr>
              <a:t>  As a result, hazardous chemicals can enter into human food chain from the soil (or) water and disturb the biochemical process and finally lead to serious effects on living organisms.</a:t>
            </a:r>
          </a:p>
          <a:p>
            <a:r>
              <a:rPr lang="en-US" sz="2200" b="1" dirty="0" smtClean="0">
                <a:solidFill>
                  <a:srgbClr val="FF9900"/>
                </a:solidFill>
                <a:latin typeface="Times New Roman" pitchFamily="18" charset="0"/>
                <a:cs typeface="Times New Roman" pitchFamily="18" charset="0"/>
              </a:rPr>
              <a:t>2. Urban wastes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Urban wastes comprises both commercial and domestic wastes consisting of dried sludge of sewage.</a:t>
            </a:r>
          </a:p>
          <a:p>
            <a:pPr>
              <a:buFont typeface="Wingdings" pitchFamily="2" charset="2"/>
              <a:buChar char="v"/>
            </a:pPr>
            <a:r>
              <a:rPr lang="en-US" sz="2200" dirty="0" smtClean="0">
                <a:solidFill>
                  <a:srgbClr val="FF0066"/>
                </a:solidFill>
                <a:latin typeface="Times New Roman" pitchFamily="18" charset="0"/>
                <a:cs typeface="Times New Roman" pitchFamily="18" charset="0"/>
              </a:rPr>
              <a:t>  All the urban solid wastes are commonly referred to as refuse.</a:t>
            </a:r>
          </a:p>
          <a:p>
            <a:endParaRPr lang="en-US" sz="2200" dirty="0" smtClean="0">
              <a:solidFill>
                <a:srgbClr val="663300"/>
              </a:solidFill>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Constituents of urban refuse</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This refuse contains garbage and rubbish materials like plastics, glasses, metallic cans, </a:t>
            </a:r>
            <a:r>
              <a:rPr lang="en-US" sz="2200" dirty="0" err="1" smtClean="0">
                <a:solidFill>
                  <a:srgbClr val="FF0066"/>
                </a:solidFill>
                <a:latin typeface="Times New Roman" pitchFamily="18" charset="0"/>
                <a:cs typeface="Times New Roman" pitchFamily="18" charset="0"/>
              </a:rPr>
              <a:t>fibres</a:t>
            </a:r>
            <a:r>
              <a:rPr lang="en-US" sz="2200" dirty="0" smtClean="0">
                <a:solidFill>
                  <a:srgbClr val="FF0066"/>
                </a:solidFill>
                <a:latin typeface="Times New Roman" pitchFamily="18" charset="0"/>
                <a:cs typeface="Times New Roman" pitchFamily="18" charset="0"/>
              </a:rPr>
              <a:t>, paper, rubbers, street sweepings, fuel residues, leaves, containers, abandoned vehicles and other discarded manufactured products.</a:t>
            </a:r>
          </a:p>
        </p:txBody>
      </p:sp>
    </p:spTree>
  </p:cSld>
  <p:clrMapOvr>
    <a:masterClrMapping/>
  </p:clrMapOvr>
  <p:transition spd="slow">
    <p:push/>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71691"/>
            <a:ext cx="8001000" cy="6186309"/>
          </a:xfrm>
          <a:prstGeom prst="rect">
            <a:avLst/>
          </a:prstGeom>
        </p:spPr>
        <p:txBody>
          <a:bodyPr wrap="square">
            <a:spAutoFit/>
          </a:bodyPr>
          <a:lstStyle/>
          <a:p>
            <a:pPr>
              <a:buFont typeface="Wingdings" pitchFamily="2" charset="2"/>
              <a:buChar char="v"/>
            </a:pPr>
            <a:r>
              <a:rPr lang="en-US" sz="2200" dirty="0" smtClean="0">
                <a:solidFill>
                  <a:srgbClr val="FF0066"/>
                </a:solidFill>
                <a:latin typeface="Times New Roman" pitchFamily="18" charset="0"/>
                <a:cs typeface="Times New Roman" pitchFamily="18" charset="0"/>
              </a:rPr>
              <a:t>  Urban domestic wastes though disposed off separately from the industrial wastes, can still be dangerous.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This is so because they cannot be easily degraded.</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3. Agricultural practices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Modern agricultural practices pollute the soil to a large extent.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Today with the advancing agro-technology, huge quantities of fertilizers, pesticides, herbicides, </a:t>
            </a:r>
            <a:r>
              <a:rPr lang="en-US" sz="2200" dirty="0" err="1" smtClean="0">
                <a:solidFill>
                  <a:srgbClr val="FF0066"/>
                </a:solidFill>
                <a:latin typeface="Times New Roman" pitchFamily="18" charset="0"/>
                <a:cs typeface="Times New Roman" pitchFamily="18" charset="0"/>
              </a:rPr>
              <a:t>weedicides</a:t>
            </a:r>
            <a:r>
              <a:rPr lang="en-US" sz="2200" dirty="0" smtClean="0">
                <a:solidFill>
                  <a:srgbClr val="FF0066"/>
                </a:solidFill>
                <a:latin typeface="Times New Roman" pitchFamily="18" charset="0"/>
                <a:cs typeface="Times New Roman" pitchFamily="18" charset="0"/>
              </a:rPr>
              <a:t> are added to increase the crop yield.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Apart from these farm wastes, manure, slurry, debris, soil erosion containing mostly inorganic chemicals are reported to cause soil pollution.</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4. Radioactive pollutants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Radioactive substances resulting from explosions of nuclear dust and radioactive wastes (produced by nuclear testing laboratories and industries) penetrate the soil and accumulate there by creating land pollution.</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990600"/>
            <a:ext cx="7391400" cy="4832092"/>
          </a:xfrm>
          <a:prstGeom prst="rect">
            <a:avLst/>
          </a:prstGeom>
        </p:spPr>
        <p:txBody>
          <a:bodyPr wrap="square">
            <a:spAutoFit/>
          </a:bodyPr>
          <a:lstStyle/>
          <a:p>
            <a:r>
              <a:rPr lang="en-US" sz="2200" b="1" dirty="0" smtClean="0">
                <a:latin typeface="Times New Roman" pitchFamily="18" charset="0"/>
                <a:cs typeface="Times New Roman" pitchFamily="18" charset="0"/>
              </a:rPr>
              <a:t>Examples</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Radio nuclides of radium, thorium, uranium, isotopes of potassium (K-40) and carbon (C-14) are very common in soil, rock, water and air.</a:t>
            </a:r>
          </a:p>
          <a:p>
            <a:pPr>
              <a:buFont typeface="Wingdings" pitchFamily="2" charset="2"/>
              <a:buChar char="Ø"/>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Ø"/>
            </a:pPr>
            <a:r>
              <a:rPr lang="en-US" sz="2200" dirty="0" smtClean="0">
                <a:solidFill>
                  <a:srgbClr val="FF0066"/>
                </a:solidFill>
                <a:latin typeface="Times New Roman" pitchFamily="18" charset="0"/>
                <a:cs typeface="Times New Roman" pitchFamily="18" charset="0"/>
              </a:rPr>
              <a:t>  Explosion of hydrogen weapons and cosmic radiations induce neutron, proton reactions by which nitrogen (N-15) produces C-14. This C     participates in the carbon metabolism of plants which is then introduced into animals and man.</a:t>
            </a:r>
          </a:p>
          <a:p>
            <a:pPr>
              <a:buFont typeface="Wingdings" pitchFamily="2" charset="2"/>
              <a:buChar char="Ø"/>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Ø"/>
            </a:pPr>
            <a:r>
              <a:rPr lang="en-US" sz="2200" dirty="0" smtClean="0">
                <a:solidFill>
                  <a:srgbClr val="FF0066"/>
                </a:solidFill>
                <a:latin typeface="Times New Roman" pitchFamily="18" charset="0"/>
                <a:cs typeface="Times New Roman" pitchFamily="18" charset="0"/>
              </a:rPr>
              <a:t>  Radioactive waste contains several radio nuclides such as Strontium-90, Iodine-129, Cesium-137 and isotopes of iron which are most injurious. Sr-90 gets deposited in bones and tissues instead of calcium.</a:t>
            </a:r>
          </a:p>
        </p:txBody>
      </p:sp>
      <p:sp>
        <p:nvSpPr>
          <p:cNvPr id="3" name="Rectangle 2"/>
          <p:cNvSpPr/>
          <p:nvPr/>
        </p:nvSpPr>
        <p:spPr>
          <a:xfrm>
            <a:off x="3276600" y="3352800"/>
            <a:ext cx="457200" cy="45719"/>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FF0066"/>
                </a:solidFill>
                <a:latin typeface="Times New Roman" pitchFamily="18" charset="0"/>
                <a:cs typeface="Times New Roman" pitchFamily="18" charset="0"/>
              </a:rPr>
              <a:t>14</a:t>
            </a:r>
            <a:endParaRPr lang="en-US"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914400"/>
            <a:ext cx="7924800" cy="5509200"/>
          </a:xfrm>
          <a:prstGeom prst="rect">
            <a:avLst/>
          </a:prstGeom>
        </p:spPr>
        <p:txBody>
          <a:bodyPr wrap="square">
            <a:spAutoFit/>
          </a:bodyPr>
          <a:lstStyle/>
          <a:p>
            <a:pPr>
              <a:buFont typeface="Wingdings" pitchFamily="2" charset="2"/>
              <a:buChar char="Ø"/>
            </a:pPr>
            <a:r>
              <a:rPr lang="en-US" sz="2200" dirty="0" smtClean="0">
                <a:solidFill>
                  <a:srgbClr val="FF0066"/>
                </a:solidFill>
                <a:latin typeface="Times New Roman" pitchFamily="18" charset="0"/>
                <a:cs typeface="Times New Roman" pitchFamily="18" charset="0"/>
              </a:rPr>
              <a:t>  Nuclear reactor produces waste containing Ruthenium-106, Iodine-131, Barium-140 and Lanthanum-140, Cesium-144 along with the primary nuclides Sr-90 and Cs-137 has a half life of 30 years while Sr-90 has 28 years. Rain water carries Sr-90 and Cs-137 to be deposited on the soil where they are held firmly with the soil particles by electrostatic forces. All these radio nuclides deposited on the soil emit gamma radiations.</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5. Biological agents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Soil gets large quantities of human, animal and bird’s excreta which constitute the major source of land pollution by biological agents.</a:t>
            </a:r>
          </a:p>
          <a:p>
            <a:r>
              <a:rPr lang="en-US" sz="2200" b="1" dirty="0" smtClean="0">
                <a:latin typeface="Times New Roman" pitchFamily="18" charset="0"/>
                <a:cs typeface="Times New Roman" pitchFamily="18" charset="0"/>
              </a:rPr>
              <a:t>Examples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Heavy application of manures and digested </a:t>
            </a:r>
            <a:r>
              <a:rPr lang="en-US" sz="2200" dirty="0" err="1" smtClean="0">
                <a:solidFill>
                  <a:srgbClr val="FF0066"/>
                </a:solidFill>
                <a:latin typeface="Times New Roman" pitchFamily="18" charset="0"/>
                <a:cs typeface="Times New Roman" pitchFamily="18" charset="0"/>
              </a:rPr>
              <a:t>sludges</a:t>
            </a:r>
            <a:r>
              <a:rPr lang="en-US" sz="2200" dirty="0" smtClean="0">
                <a:solidFill>
                  <a:srgbClr val="FF0066"/>
                </a:solidFill>
                <a:latin typeface="Times New Roman" pitchFamily="18" charset="0"/>
                <a:cs typeface="Times New Roman" pitchFamily="18" charset="0"/>
              </a:rPr>
              <a:t> could cause serious damage to plants within a few years. Because the </a:t>
            </a:r>
            <a:r>
              <a:rPr lang="en-US" sz="2200" dirty="0" err="1" smtClean="0">
                <a:solidFill>
                  <a:srgbClr val="FF0066"/>
                </a:solidFill>
                <a:latin typeface="Times New Roman" pitchFamily="18" charset="0"/>
                <a:cs typeface="Times New Roman" pitchFamily="18" charset="0"/>
              </a:rPr>
              <a:t>sludges</a:t>
            </a:r>
            <a:r>
              <a:rPr lang="en-US" sz="2200" dirty="0" smtClean="0">
                <a:solidFill>
                  <a:srgbClr val="FF0066"/>
                </a:solidFill>
                <a:latin typeface="Times New Roman" pitchFamily="18" charset="0"/>
                <a:cs typeface="Times New Roman" pitchFamily="18" charset="0"/>
              </a:rPr>
              <a:t> are containing more live viruses and viable intestinal worms.</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14400"/>
            <a:ext cx="7848600" cy="1107996"/>
          </a:xfrm>
          <a:prstGeom prst="rect">
            <a:avLst/>
          </a:prstGeom>
        </p:spPr>
        <p:txBody>
          <a:bodyPr wrap="square">
            <a:spAutoFit/>
          </a:bodyPr>
          <a:lstStyle/>
          <a:p>
            <a:pPr>
              <a:buFont typeface="Wingdings" pitchFamily="2" charset="2"/>
              <a:buChar char="q"/>
            </a:pPr>
            <a:r>
              <a:rPr lang="en-US" sz="2200" dirty="0" smtClean="0">
                <a:solidFill>
                  <a:srgbClr val="FF0066"/>
                </a:solidFill>
                <a:latin typeface="Times New Roman" pitchFamily="18" charset="0"/>
                <a:cs typeface="Times New Roman" pitchFamily="18" charset="0"/>
              </a:rPr>
              <a:t>  In addition to these excreta, faulty sanitation, municipal garbage, waste water and wrong methods of agricultural practices also induce heavy soil pollution.</a:t>
            </a:r>
            <a:endParaRPr lang="en-US" sz="2200" dirty="0">
              <a:solidFill>
                <a:srgbClr val="FF0066"/>
              </a:solidFill>
              <a:latin typeface="Times New Roman" pitchFamily="18" charset="0"/>
              <a:cs typeface="Times New Roman" pitchFamily="18" charset="0"/>
            </a:endParaRPr>
          </a:p>
        </p:txBody>
      </p:sp>
      <p:sp>
        <p:nvSpPr>
          <p:cNvPr id="3" name="Rectangle 2"/>
          <p:cNvSpPr/>
          <p:nvPr/>
        </p:nvSpPr>
        <p:spPr>
          <a:xfrm>
            <a:off x="457200" y="2209800"/>
            <a:ext cx="8077200" cy="707886"/>
          </a:xfrm>
          <a:prstGeom prst="rect">
            <a:avLst/>
          </a:prstGeom>
        </p:spPr>
        <p:txBody>
          <a:bodyPr wrap="square">
            <a:spAutoFit/>
          </a:bodyPr>
          <a:lstStyle/>
          <a:p>
            <a:r>
              <a:rPr lang="en-US" sz="2000" b="1" dirty="0" smtClean="0">
                <a:solidFill>
                  <a:srgbClr val="FF0000"/>
                </a:solidFill>
                <a:latin typeface="Times New Roman" pitchFamily="18" charset="0"/>
                <a:cs typeface="Times New Roman" pitchFamily="18" charset="0"/>
              </a:rPr>
              <a:t>Table 2.4 Major </a:t>
            </a:r>
            <a:r>
              <a:rPr lang="en-US" sz="2000" b="1" dirty="0" err="1" smtClean="0">
                <a:solidFill>
                  <a:srgbClr val="FF0000"/>
                </a:solidFill>
                <a:latin typeface="Times New Roman" pitchFamily="18" charset="0"/>
                <a:cs typeface="Times New Roman" pitchFamily="18" charset="0"/>
              </a:rPr>
              <a:t>physico</a:t>
            </a:r>
            <a:r>
              <a:rPr lang="en-US" sz="2000" b="1" dirty="0" smtClean="0">
                <a:solidFill>
                  <a:srgbClr val="FF0000"/>
                </a:solidFill>
                <a:latin typeface="Times New Roman" pitchFamily="18" charset="0"/>
                <a:cs typeface="Times New Roman" pitchFamily="18" charset="0"/>
              </a:rPr>
              <a:t>-chemical characteristics of untreated wastes of Organic chemical industries in Soil</a:t>
            </a:r>
            <a:endParaRPr lang="en-US" sz="2000" dirty="0">
              <a:solidFill>
                <a:srgbClr val="FF0000"/>
              </a:solidFill>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914400" y="3200400"/>
          <a:ext cx="7086601" cy="3291840"/>
        </p:xfrm>
        <a:graphic>
          <a:graphicData uri="http://schemas.openxmlformats.org/drawingml/2006/table">
            <a:tbl>
              <a:tblPr firstRow="1" bandRow="1">
                <a:tableStyleId>{5C22544A-7EE6-4342-B048-85BDC9FD1C3A}</a:tableStyleId>
              </a:tblPr>
              <a:tblGrid>
                <a:gridCol w="1328738"/>
                <a:gridCol w="2391728"/>
                <a:gridCol w="3366135"/>
              </a:tblGrid>
              <a:tr h="370840">
                <a:tc>
                  <a:txBody>
                    <a:bodyPr/>
                    <a:lstStyle/>
                    <a:p>
                      <a:r>
                        <a:rPr kumimoji="0" lang="en-US" sz="2200" b="1" kern="1200" baseline="0" dirty="0" smtClean="0">
                          <a:solidFill>
                            <a:srgbClr val="0000CC"/>
                          </a:solidFill>
                          <a:latin typeface="Times New Roman" pitchFamily="18" charset="0"/>
                          <a:ea typeface="+mn-ea"/>
                          <a:cs typeface="Times New Roman" pitchFamily="18" charset="0"/>
                        </a:rPr>
                        <a:t>S.</a:t>
                      </a:r>
                    </a:p>
                    <a:p>
                      <a:r>
                        <a:rPr kumimoji="0" lang="en-US" sz="2200" b="1" kern="1200" baseline="0" dirty="0" smtClean="0">
                          <a:solidFill>
                            <a:srgbClr val="0000CC"/>
                          </a:solidFill>
                          <a:latin typeface="Times New Roman" pitchFamily="18" charset="0"/>
                          <a:ea typeface="+mn-ea"/>
                          <a:cs typeface="Times New Roman" pitchFamily="18" charset="0"/>
                        </a:rPr>
                        <a:t>No.</a:t>
                      </a:r>
                      <a:endParaRPr lang="en-US" sz="2200" dirty="0">
                        <a:solidFill>
                          <a:srgbClr val="0000CC"/>
                        </a:solidFill>
                        <a:latin typeface="Times New Roman" pitchFamily="18" charset="0"/>
                        <a:cs typeface="Times New Roman" pitchFamily="18" charset="0"/>
                      </a:endParaRPr>
                    </a:p>
                  </a:txBody>
                  <a:tcPr/>
                </a:tc>
                <a:tc>
                  <a:txBody>
                    <a:bodyPr/>
                    <a:lstStyle/>
                    <a:p>
                      <a:r>
                        <a:rPr kumimoji="0" lang="en-US" sz="2200" b="1" kern="1200" baseline="0" dirty="0" smtClean="0">
                          <a:solidFill>
                            <a:srgbClr val="0000CC"/>
                          </a:solidFill>
                          <a:latin typeface="Times New Roman" pitchFamily="18" charset="0"/>
                          <a:ea typeface="+mn-ea"/>
                          <a:cs typeface="Times New Roman" pitchFamily="18" charset="0"/>
                        </a:rPr>
                        <a:t>Industry</a:t>
                      </a:r>
                      <a:endParaRPr lang="en-US" sz="2200" dirty="0">
                        <a:solidFill>
                          <a:srgbClr val="0000CC"/>
                        </a:solidFill>
                        <a:latin typeface="Times New Roman" pitchFamily="18" charset="0"/>
                        <a:cs typeface="Times New Roman" pitchFamily="18" charset="0"/>
                      </a:endParaRPr>
                    </a:p>
                  </a:txBody>
                  <a:tcPr/>
                </a:tc>
                <a:tc>
                  <a:txBody>
                    <a:bodyPr/>
                    <a:lstStyle/>
                    <a:p>
                      <a:r>
                        <a:rPr kumimoji="0" lang="en-US" sz="2200" b="1" kern="1200" baseline="0" dirty="0" err="1" smtClean="0">
                          <a:solidFill>
                            <a:srgbClr val="0000CC"/>
                          </a:solidFill>
                          <a:latin typeface="Times New Roman" pitchFamily="18" charset="0"/>
                          <a:ea typeface="+mn-ea"/>
                          <a:cs typeface="Times New Roman" pitchFamily="18" charset="0"/>
                        </a:rPr>
                        <a:t>Physico</a:t>
                      </a:r>
                      <a:r>
                        <a:rPr kumimoji="0" lang="en-US" sz="2200" b="1" kern="1200" baseline="0" dirty="0" smtClean="0">
                          <a:solidFill>
                            <a:srgbClr val="0000CC"/>
                          </a:solidFill>
                          <a:latin typeface="Times New Roman" pitchFamily="18" charset="0"/>
                          <a:ea typeface="+mn-ea"/>
                          <a:cs typeface="Times New Roman" pitchFamily="18" charset="0"/>
                        </a:rPr>
                        <a:t>-chemical characteristics</a:t>
                      </a:r>
                      <a:endParaRPr lang="en-US" sz="2200" b="0" dirty="0">
                        <a:solidFill>
                          <a:srgbClr val="0000CC"/>
                        </a:solidFill>
                        <a:latin typeface="Times New Roman" pitchFamily="18" charset="0"/>
                        <a:cs typeface="Times New Roman" pitchFamily="18" charset="0"/>
                      </a:endParaRPr>
                    </a:p>
                  </a:txBody>
                  <a:tcPr/>
                </a:tc>
              </a:tr>
              <a:tr h="370840">
                <a:tc>
                  <a:txBody>
                    <a:bodyPr/>
                    <a:lstStyle/>
                    <a:p>
                      <a:r>
                        <a:rPr lang="en-US" sz="2200" dirty="0" smtClean="0">
                          <a:solidFill>
                            <a:srgbClr val="0000CC"/>
                          </a:solidFill>
                          <a:latin typeface="Times New Roman" pitchFamily="18" charset="0"/>
                          <a:cs typeface="Times New Roman" pitchFamily="18" charset="0"/>
                        </a:rPr>
                        <a:t>1.</a:t>
                      </a:r>
                      <a:endParaRPr lang="en-US" sz="2200" dirty="0">
                        <a:solidFill>
                          <a:srgbClr val="0000CC"/>
                        </a:solidFill>
                        <a:latin typeface="Times New Roman" pitchFamily="18" charset="0"/>
                        <a:cs typeface="Times New Roman" pitchFamily="18" charset="0"/>
                      </a:endParaRPr>
                    </a:p>
                  </a:txBody>
                  <a:tcPr/>
                </a:tc>
                <a:tc>
                  <a:txBody>
                    <a:bodyPr/>
                    <a:lstStyle/>
                    <a:p>
                      <a:r>
                        <a:rPr kumimoji="0" lang="en-US" sz="2200" kern="1200" baseline="0" dirty="0" smtClean="0">
                          <a:solidFill>
                            <a:srgbClr val="0000CC"/>
                          </a:solidFill>
                          <a:latin typeface="Times New Roman" pitchFamily="18" charset="0"/>
                          <a:ea typeface="+mn-ea"/>
                          <a:cs typeface="Times New Roman" pitchFamily="18" charset="0"/>
                        </a:rPr>
                        <a:t>Pulp and Paper</a:t>
                      </a:r>
                      <a:endParaRPr lang="en-US" sz="2200" dirty="0">
                        <a:solidFill>
                          <a:srgbClr val="0000CC"/>
                        </a:solidFill>
                        <a:latin typeface="Times New Roman" pitchFamily="18" charset="0"/>
                        <a:cs typeface="Times New Roman" pitchFamily="18" charset="0"/>
                      </a:endParaRPr>
                    </a:p>
                  </a:txBody>
                  <a:tcPr/>
                </a:tc>
                <a:tc>
                  <a:txBody>
                    <a:bodyPr/>
                    <a:lstStyle/>
                    <a:p>
                      <a:r>
                        <a:rPr kumimoji="0" lang="en-US" sz="2200" kern="1200" baseline="0" dirty="0" smtClean="0">
                          <a:solidFill>
                            <a:srgbClr val="0000CC"/>
                          </a:solidFill>
                          <a:latin typeface="Times New Roman" pitchFamily="18" charset="0"/>
                          <a:ea typeface="+mn-ea"/>
                          <a:cs typeface="Times New Roman" pitchFamily="18" charset="0"/>
                        </a:rPr>
                        <a:t>Suspended solids, high (or) low pH, </a:t>
                      </a:r>
                      <a:r>
                        <a:rPr kumimoji="0" lang="en-US" sz="2200" kern="1200" baseline="0" dirty="0" err="1" smtClean="0">
                          <a:solidFill>
                            <a:srgbClr val="0000CC"/>
                          </a:solidFill>
                          <a:latin typeface="Times New Roman" pitchFamily="18" charset="0"/>
                          <a:ea typeface="+mn-ea"/>
                          <a:cs typeface="Times New Roman" pitchFamily="18" charset="0"/>
                        </a:rPr>
                        <a:t>colour</a:t>
                      </a:r>
                      <a:r>
                        <a:rPr kumimoji="0" lang="en-US" sz="2200" kern="1200" baseline="0" dirty="0" smtClean="0">
                          <a:solidFill>
                            <a:srgbClr val="0000CC"/>
                          </a:solidFill>
                          <a:latin typeface="Times New Roman" pitchFamily="18" charset="0"/>
                          <a:ea typeface="+mn-ea"/>
                          <a:cs typeface="Times New Roman" pitchFamily="18" charset="0"/>
                        </a:rPr>
                        <a:t>, </a:t>
                      </a:r>
                      <a:r>
                        <a:rPr kumimoji="0" lang="en-US" sz="2200" kern="1200" baseline="0" dirty="0" err="1" smtClean="0">
                          <a:solidFill>
                            <a:srgbClr val="0000CC"/>
                          </a:solidFill>
                          <a:latin typeface="Times New Roman" pitchFamily="18" charset="0"/>
                          <a:ea typeface="+mn-ea"/>
                          <a:cs typeface="Times New Roman" pitchFamily="18" charset="0"/>
                        </a:rPr>
                        <a:t>fibres</a:t>
                      </a:r>
                      <a:r>
                        <a:rPr kumimoji="0" lang="en-US" sz="2200" kern="1200" baseline="0" dirty="0" smtClean="0">
                          <a:solidFill>
                            <a:srgbClr val="0000CC"/>
                          </a:solidFill>
                          <a:latin typeface="Times New Roman" pitchFamily="18" charset="0"/>
                          <a:ea typeface="+mn-ea"/>
                          <a:cs typeface="Times New Roman" pitchFamily="18" charset="0"/>
                        </a:rPr>
                        <a:t>, BOD, COD, high temperature, </a:t>
                      </a:r>
                      <a:r>
                        <a:rPr kumimoji="0" lang="en-US" sz="2200" kern="1200" baseline="0" dirty="0" err="1" smtClean="0">
                          <a:solidFill>
                            <a:srgbClr val="0000CC"/>
                          </a:solidFill>
                          <a:latin typeface="Times New Roman" pitchFamily="18" charset="0"/>
                          <a:ea typeface="+mn-ea"/>
                          <a:cs typeface="Times New Roman" pitchFamily="18" charset="0"/>
                        </a:rPr>
                        <a:t>fibres</a:t>
                      </a:r>
                      <a:r>
                        <a:rPr kumimoji="0" lang="en-US" sz="2200" kern="1200" baseline="0" dirty="0" smtClean="0">
                          <a:solidFill>
                            <a:srgbClr val="0000CC"/>
                          </a:solidFill>
                          <a:latin typeface="Times New Roman" pitchFamily="18" charset="0"/>
                          <a:ea typeface="+mn-ea"/>
                          <a:cs typeface="Times New Roman" pitchFamily="18" charset="0"/>
                        </a:rPr>
                        <a:t>.</a:t>
                      </a:r>
                      <a:endParaRPr lang="en-US" sz="2200" dirty="0">
                        <a:solidFill>
                          <a:srgbClr val="0000CC"/>
                        </a:solidFill>
                        <a:latin typeface="Times New Roman" pitchFamily="18" charset="0"/>
                        <a:cs typeface="Times New Roman" pitchFamily="18" charset="0"/>
                      </a:endParaRPr>
                    </a:p>
                  </a:txBody>
                  <a:tcPr/>
                </a:tc>
              </a:tr>
              <a:tr h="370840">
                <a:tc>
                  <a:txBody>
                    <a:bodyPr/>
                    <a:lstStyle/>
                    <a:p>
                      <a:r>
                        <a:rPr lang="en-US" sz="2200" dirty="0" smtClean="0">
                          <a:solidFill>
                            <a:srgbClr val="0000CC"/>
                          </a:solidFill>
                          <a:latin typeface="Times New Roman" pitchFamily="18" charset="0"/>
                          <a:cs typeface="Times New Roman" pitchFamily="18" charset="0"/>
                        </a:rPr>
                        <a:t>2.</a:t>
                      </a:r>
                      <a:endParaRPr lang="en-US" sz="2200" dirty="0">
                        <a:solidFill>
                          <a:srgbClr val="0000CC"/>
                        </a:solidFill>
                        <a:latin typeface="Times New Roman" pitchFamily="18" charset="0"/>
                        <a:cs typeface="Times New Roman" pitchFamily="18" charset="0"/>
                      </a:endParaRPr>
                    </a:p>
                  </a:txBody>
                  <a:tcPr/>
                </a:tc>
                <a:tc>
                  <a:txBody>
                    <a:bodyPr/>
                    <a:lstStyle/>
                    <a:p>
                      <a:r>
                        <a:rPr kumimoji="0" lang="en-US" sz="2200" kern="1200" baseline="0" dirty="0" smtClean="0">
                          <a:solidFill>
                            <a:srgbClr val="0000CC"/>
                          </a:solidFill>
                          <a:latin typeface="Times New Roman" pitchFamily="18" charset="0"/>
                          <a:ea typeface="+mn-ea"/>
                          <a:cs typeface="Times New Roman" pitchFamily="18" charset="0"/>
                        </a:rPr>
                        <a:t>Rubber</a:t>
                      </a:r>
                    </a:p>
                    <a:p>
                      <a:r>
                        <a:rPr kumimoji="0" lang="en-US" sz="2200" kern="1200" baseline="0" dirty="0" smtClean="0">
                          <a:solidFill>
                            <a:srgbClr val="0000CC"/>
                          </a:solidFill>
                          <a:latin typeface="Times New Roman" pitchFamily="18" charset="0"/>
                          <a:ea typeface="+mn-ea"/>
                          <a:cs typeface="Times New Roman" pitchFamily="18" charset="0"/>
                        </a:rPr>
                        <a:t>Industry</a:t>
                      </a:r>
                      <a:endParaRPr lang="en-US" sz="2200" dirty="0">
                        <a:solidFill>
                          <a:srgbClr val="0000CC"/>
                        </a:solidFill>
                        <a:latin typeface="Times New Roman" pitchFamily="18" charset="0"/>
                        <a:cs typeface="Times New Roman" pitchFamily="18" charset="0"/>
                      </a:endParaRPr>
                    </a:p>
                  </a:txBody>
                  <a:tcPr/>
                </a:tc>
                <a:tc>
                  <a:txBody>
                    <a:bodyPr/>
                    <a:lstStyle/>
                    <a:p>
                      <a:r>
                        <a:rPr kumimoji="0" lang="en-US" sz="2200" kern="1200" baseline="0" dirty="0" smtClean="0">
                          <a:solidFill>
                            <a:srgbClr val="0000CC"/>
                          </a:solidFill>
                          <a:latin typeface="Times New Roman" pitchFamily="18" charset="0"/>
                          <a:ea typeface="+mn-ea"/>
                          <a:cs typeface="Times New Roman" pitchFamily="18" charset="0"/>
                        </a:rPr>
                        <a:t>Chlorides, suspended and dissolved solids, variable pH and high BOD.</a:t>
                      </a:r>
                      <a:endParaRPr lang="en-US" sz="2200" dirty="0">
                        <a:solidFill>
                          <a:srgbClr val="0000CC"/>
                        </a:solidFill>
                        <a:latin typeface="Times New Roman" pitchFamily="18" charset="0"/>
                        <a:cs typeface="Times New Roman" pitchFamily="18" charset="0"/>
                      </a:endParaRPr>
                    </a:p>
                  </a:txBody>
                  <a:tcPr/>
                </a:tc>
              </a:tr>
            </a:tbl>
          </a:graphicData>
        </a:graphic>
      </p:graphicFrame>
    </p:spTree>
  </p:cSld>
  <p:clrMapOvr>
    <a:masterClrMapping/>
  </p:clrMapOvr>
  <p:transition spd="slow">
    <p:push/>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609600" y="1295400"/>
          <a:ext cx="7924800" cy="4320159"/>
        </p:xfrm>
        <a:graphic>
          <a:graphicData uri="http://schemas.openxmlformats.org/drawingml/2006/table">
            <a:tbl>
              <a:tblPr>
                <a:tableStyleId>{3C2FFA5D-87B4-456A-9821-1D502468CF0F}</a:tableStyleId>
              </a:tblPr>
              <a:tblGrid>
                <a:gridCol w="732659"/>
                <a:gridCol w="2022742"/>
                <a:gridCol w="5169399"/>
              </a:tblGrid>
              <a:tr h="432435">
                <a:tc>
                  <a:txBody>
                    <a:bodyPr/>
                    <a:lstStyle/>
                    <a:p>
                      <a:pPr marL="88900" marR="77470" algn="ctr">
                        <a:spcBef>
                          <a:spcPts val="315"/>
                        </a:spcBef>
                        <a:spcAft>
                          <a:spcPts val="0"/>
                        </a:spcAft>
                      </a:pPr>
                      <a:r>
                        <a:rPr lang="en-US" sz="2200" dirty="0">
                          <a:solidFill>
                            <a:srgbClr val="0000CC"/>
                          </a:solidFill>
                          <a:latin typeface="Times New Roman" pitchFamily="18" charset="0"/>
                          <a:cs typeface="Times New Roman" pitchFamily="18" charset="0"/>
                        </a:rPr>
                        <a:t>3.</a:t>
                      </a:r>
                    </a:p>
                  </a:txBody>
                  <a:tcPr/>
                </a:tc>
                <a:tc>
                  <a:txBody>
                    <a:bodyPr/>
                    <a:lstStyle/>
                    <a:p>
                      <a:pPr marL="36195" algn="l">
                        <a:spcBef>
                          <a:spcPts val="315"/>
                        </a:spcBef>
                        <a:spcAft>
                          <a:spcPts val="0"/>
                        </a:spcAft>
                      </a:pPr>
                      <a:r>
                        <a:rPr lang="en-US" sz="2200">
                          <a:solidFill>
                            <a:srgbClr val="0000CC"/>
                          </a:solidFill>
                          <a:latin typeface="Times New Roman" pitchFamily="18" charset="0"/>
                          <a:cs typeface="Times New Roman" pitchFamily="18" charset="0"/>
                        </a:rPr>
                        <a:t>Oil</a:t>
                      </a:r>
                      <a:r>
                        <a:rPr lang="en-US" sz="2200" spc="210">
                          <a:solidFill>
                            <a:srgbClr val="0000CC"/>
                          </a:solidFill>
                          <a:latin typeface="Times New Roman" pitchFamily="18" charset="0"/>
                          <a:cs typeface="Times New Roman" pitchFamily="18" charset="0"/>
                        </a:rPr>
                        <a:t> </a:t>
                      </a:r>
                      <a:r>
                        <a:rPr lang="en-US" sz="2200">
                          <a:solidFill>
                            <a:srgbClr val="0000CC"/>
                          </a:solidFill>
                          <a:latin typeface="Times New Roman" pitchFamily="18" charset="0"/>
                          <a:cs typeface="Times New Roman" pitchFamily="18" charset="0"/>
                        </a:rPr>
                        <a:t>refineries</a:t>
                      </a:r>
                    </a:p>
                  </a:txBody>
                  <a:tcPr/>
                </a:tc>
                <a:tc>
                  <a:txBody>
                    <a:bodyPr/>
                    <a:lstStyle/>
                    <a:p>
                      <a:pPr marL="36195" marR="26035" indent="-635" algn="l">
                        <a:lnSpc>
                          <a:spcPct val="101000"/>
                        </a:lnSpc>
                        <a:spcBef>
                          <a:spcPts val="315"/>
                        </a:spcBef>
                        <a:spcAft>
                          <a:spcPts val="0"/>
                        </a:spcAft>
                      </a:pPr>
                      <a:r>
                        <a:rPr lang="en-US" sz="2200" dirty="0" smtClean="0">
                          <a:solidFill>
                            <a:srgbClr val="0000CC"/>
                          </a:solidFill>
                          <a:latin typeface="Times New Roman" pitchFamily="18" charset="0"/>
                          <a:cs typeface="Times New Roman" pitchFamily="18" charset="0"/>
                        </a:rPr>
                        <a:t>Acids, alkalis, phenols, </a:t>
                      </a:r>
                      <a:r>
                        <a:rPr lang="en-US" sz="2200" spc="-5" dirty="0" smtClean="0">
                          <a:solidFill>
                            <a:srgbClr val="0000CC"/>
                          </a:solidFill>
                          <a:latin typeface="Times New Roman" pitchFamily="18" charset="0"/>
                          <a:cs typeface="Times New Roman" pitchFamily="18" charset="0"/>
                        </a:rPr>
                        <a:t>resinous</a:t>
                      </a:r>
                      <a:r>
                        <a:rPr lang="en-US" sz="2200" spc="-260" dirty="0">
                          <a:solidFill>
                            <a:srgbClr val="0000CC"/>
                          </a:solidFill>
                          <a:latin typeface="Times New Roman" pitchFamily="18" charset="0"/>
                          <a:cs typeface="Times New Roman" pitchFamily="18" charset="0"/>
                        </a:rPr>
                        <a:t> </a:t>
                      </a:r>
                      <a:r>
                        <a:rPr lang="en-US" sz="2200" spc="-260" dirty="0" smtClean="0">
                          <a:solidFill>
                            <a:srgbClr val="0000CC"/>
                          </a:solidFill>
                          <a:latin typeface="Times New Roman" pitchFamily="18" charset="0"/>
                          <a:cs typeface="Times New Roman" pitchFamily="18" charset="0"/>
                        </a:rPr>
                        <a:t> </a:t>
                      </a:r>
                      <a:r>
                        <a:rPr lang="en-US" sz="2200" dirty="0" smtClean="0">
                          <a:solidFill>
                            <a:srgbClr val="0000CC"/>
                          </a:solidFill>
                          <a:latin typeface="Times New Roman" pitchFamily="18" charset="0"/>
                          <a:cs typeface="Times New Roman" pitchFamily="18" charset="0"/>
                        </a:rPr>
                        <a:t>materials</a:t>
                      </a:r>
                      <a:r>
                        <a:rPr lang="en-US" sz="2200" spc="230" dirty="0">
                          <a:solidFill>
                            <a:srgbClr val="0000CC"/>
                          </a:solidFill>
                          <a:latin typeface="Times New Roman" pitchFamily="18" charset="0"/>
                          <a:cs typeface="Times New Roman" pitchFamily="18" charset="0"/>
                        </a:rPr>
                        <a:t> </a:t>
                      </a:r>
                      <a:endParaRPr lang="en-US" sz="2200" spc="230" dirty="0" smtClean="0">
                        <a:solidFill>
                          <a:srgbClr val="0000CC"/>
                        </a:solidFill>
                        <a:latin typeface="Times New Roman" pitchFamily="18" charset="0"/>
                        <a:cs typeface="Times New Roman" pitchFamily="18" charset="0"/>
                      </a:endParaRPr>
                    </a:p>
                    <a:p>
                      <a:pPr marL="36195" marR="26035" indent="-635" algn="l">
                        <a:lnSpc>
                          <a:spcPct val="101000"/>
                        </a:lnSpc>
                        <a:spcBef>
                          <a:spcPts val="315"/>
                        </a:spcBef>
                        <a:spcAft>
                          <a:spcPts val="0"/>
                        </a:spcAft>
                      </a:pPr>
                      <a:r>
                        <a:rPr lang="en-US" sz="2200" dirty="0" smtClean="0">
                          <a:solidFill>
                            <a:srgbClr val="0000CC"/>
                          </a:solidFill>
                          <a:latin typeface="Times New Roman" pitchFamily="18" charset="0"/>
                          <a:cs typeface="Times New Roman" pitchFamily="18" charset="0"/>
                        </a:rPr>
                        <a:t>and</a:t>
                      </a:r>
                      <a:r>
                        <a:rPr lang="en-US" sz="2200" spc="215" dirty="0">
                          <a:solidFill>
                            <a:srgbClr val="0000CC"/>
                          </a:solidFill>
                          <a:latin typeface="Times New Roman" pitchFamily="18" charset="0"/>
                          <a:cs typeface="Times New Roman" pitchFamily="18" charset="0"/>
                        </a:rPr>
                        <a:t> </a:t>
                      </a:r>
                      <a:r>
                        <a:rPr lang="en-US" sz="2200" dirty="0">
                          <a:solidFill>
                            <a:srgbClr val="0000CC"/>
                          </a:solidFill>
                          <a:latin typeface="Times New Roman" pitchFamily="18" charset="0"/>
                          <a:cs typeface="Times New Roman" pitchFamily="18" charset="0"/>
                        </a:rPr>
                        <a:t>petroleum</a:t>
                      </a:r>
                      <a:r>
                        <a:rPr lang="en-US" sz="2200" spc="220" dirty="0">
                          <a:solidFill>
                            <a:srgbClr val="0000CC"/>
                          </a:solidFill>
                          <a:latin typeface="Times New Roman" pitchFamily="18" charset="0"/>
                          <a:cs typeface="Times New Roman" pitchFamily="18" charset="0"/>
                        </a:rPr>
                        <a:t> </a:t>
                      </a:r>
                      <a:r>
                        <a:rPr lang="en-US" sz="2200" dirty="0" smtClean="0">
                          <a:solidFill>
                            <a:srgbClr val="0000CC"/>
                          </a:solidFill>
                          <a:latin typeface="Times New Roman" pitchFamily="18" charset="0"/>
                          <a:cs typeface="Times New Roman" pitchFamily="18" charset="0"/>
                        </a:rPr>
                        <a:t>oils</a:t>
                      </a:r>
                      <a:r>
                        <a:rPr lang="en-US" sz="2200" dirty="0">
                          <a:solidFill>
                            <a:srgbClr val="0000CC"/>
                          </a:solidFill>
                          <a:latin typeface="Times New Roman" pitchFamily="18" charset="0"/>
                          <a:cs typeface="Times New Roman" pitchFamily="18" charset="0"/>
                        </a:rPr>
                        <a:t>.</a:t>
                      </a:r>
                    </a:p>
                  </a:txBody>
                  <a:tcPr/>
                </a:tc>
              </a:tr>
              <a:tr h="433705">
                <a:tc>
                  <a:txBody>
                    <a:bodyPr/>
                    <a:lstStyle/>
                    <a:p>
                      <a:pPr marL="88900" marR="78105" algn="ctr">
                        <a:spcBef>
                          <a:spcPts val="315"/>
                        </a:spcBef>
                        <a:spcAft>
                          <a:spcPts val="0"/>
                        </a:spcAft>
                      </a:pPr>
                      <a:r>
                        <a:rPr lang="en-US" sz="2200">
                          <a:solidFill>
                            <a:srgbClr val="0000CC"/>
                          </a:solidFill>
                          <a:latin typeface="Times New Roman" pitchFamily="18" charset="0"/>
                          <a:cs typeface="Times New Roman" pitchFamily="18" charset="0"/>
                        </a:rPr>
                        <a:t>4.</a:t>
                      </a:r>
                    </a:p>
                  </a:txBody>
                  <a:tcPr/>
                </a:tc>
                <a:tc>
                  <a:txBody>
                    <a:bodyPr/>
                    <a:lstStyle/>
                    <a:p>
                      <a:pPr marL="36195" algn="l">
                        <a:spcBef>
                          <a:spcPts val="315"/>
                        </a:spcBef>
                        <a:spcAft>
                          <a:spcPts val="0"/>
                        </a:spcAft>
                      </a:pPr>
                      <a:r>
                        <a:rPr lang="en-US" sz="2200">
                          <a:solidFill>
                            <a:srgbClr val="0000CC"/>
                          </a:solidFill>
                          <a:latin typeface="Times New Roman" pitchFamily="18" charset="0"/>
                          <a:cs typeface="Times New Roman" pitchFamily="18" charset="0"/>
                        </a:rPr>
                        <a:t>Antibiotics</a:t>
                      </a:r>
                    </a:p>
                  </a:txBody>
                  <a:tcPr/>
                </a:tc>
                <a:tc>
                  <a:txBody>
                    <a:bodyPr/>
                    <a:lstStyle/>
                    <a:p>
                      <a:pPr marL="36195" marR="26035" algn="l">
                        <a:lnSpc>
                          <a:spcPct val="102000"/>
                        </a:lnSpc>
                        <a:spcBef>
                          <a:spcPts val="315"/>
                        </a:spcBef>
                        <a:spcAft>
                          <a:spcPts val="0"/>
                        </a:spcAft>
                      </a:pPr>
                      <a:r>
                        <a:rPr lang="en-US" sz="2200" dirty="0">
                          <a:solidFill>
                            <a:srgbClr val="0000CC"/>
                          </a:solidFill>
                          <a:latin typeface="Times New Roman" pitchFamily="18" charset="0"/>
                          <a:cs typeface="Times New Roman" pitchFamily="18" charset="0"/>
                        </a:rPr>
                        <a:t>Toxic</a:t>
                      </a:r>
                      <a:r>
                        <a:rPr lang="en-US" sz="2200" spc="85" dirty="0">
                          <a:solidFill>
                            <a:srgbClr val="0000CC"/>
                          </a:solidFill>
                          <a:latin typeface="Times New Roman" pitchFamily="18" charset="0"/>
                          <a:cs typeface="Times New Roman" pitchFamily="18" charset="0"/>
                        </a:rPr>
                        <a:t> </a:t>
                      </a:r>
                      <a:r>
                        <a:rPr lang="en-US" sz="2200" dirty="0">
                          <a:solidFill>
                            <a:srgbClr val="0000CC"/>
                          </a:solidFill>
                          <a:latin typeface="Times New Roman" pitchFamily="18" charset="0"/>
                          <a:cs typeface="Times New Roman" pitchFamily="18" charset="0"/>
                        </a:rPr>
                        <a:t>organics</a:t>
                      </a:r>
                      <a:r>
                        <a:rPr lang="en-US" sz="2200" spc="85" dirty="0">
                          <a:solidFill>
                            <a:srgbClr val="0000CC"/>
                          </a:solidFill>
                          <a:latin typeface="Times New Roman" pitchFamily="18" charset="0"/>
                          <a:cs typeface="Times New Roman" pitchFamily="18" charset="0"/>
                        </a:rPr>
                        <a:t> </a:t>
                      </a:r>
                      <a:r>
                        <a:rPr lang="en-US" sz="2200" dirty="0">
                          <a:solidFill>
                            <a:srgbClr val="0000CC"/>
                          </a:solidFill>
                          <a:latin typeface="Times New Roman" pitchFamily="18" charset="0"/>
                          <a:cs typeface="Times New Roman" pitchFamily="18" charset="0"/>
                        </a:rPr>
                        <a:t>and</a:t>
                      </a:r>
                      <a:r>
                        <a:rPr lang="en-US" sz="2200" spc="90" dirty="0">
                          <a:solidFill>
                            <a:srgbClr val="0000CC"/>
                          </a:solidFill>
                          <a:latin typeface="Times New Roman" pitchFamily="18" charset="0"/>
                          <a:cs typeface="Times New Roman" pitchFamily="18" charset="0"/>
                        </a:rPr>
                        <a:t> </a:t>
                      </a:r>
                      <a:r>
                        <a:rPr lang="en-US" sz="2200" dirty="0">
                          <a:solidFill>
                            <a:srgbClr val="0000CC"/>
                          </a:solidFill>
                          <a:latin typeface="Times New Roman" pitchFamily="18" charset="0"/>
                          <a:cs typeface="Times New Roman" pitchFamily="18" charset="0"/>
                        </a:rPr>
                        <a:t>high</a:t>
                      </a:r>
                      <a:r>
                        <a:rPr lang="en-US" sz="2200" spc="80" dirty="0">
                          <a:solidFill>
                            <a:srgbClr val="0000CC"/>
                          </a:solidFill>
                          <a:latin typeface="Times New Roman" pitchFamily="18" charset="0"/>
                          <a:cs typeface="Times New Roman" pitchFamily="18" charset="0"/>
                        </a:rPr>
                        <a:t> </a:t>
                      </a:r>
                      <a:r>
                        <a:rPr lang="en-US" sz="2200" dirty="0">
                          <a:solidFill>
                            <a:srgbClr val="0000CC"/>
                          </a:solidFill>
                          <a:latin typeface="Times New Roman" pitchFamily="18" charset="0"/>
                          <a:cs typeface="Times New Roman" pitchFamily="18" charset="0"/>
                        </a:rPr>
                        <a:t>acidity</a:t>
                      </a:r>
                      <a:r>
                        <a:rPr lang="en-US" sz="2200" spc="75" dirty="0">
                          <a:solidFill>
                            <a:srgbClr val="0000CC"/>
                          </a:solidFill>
                          <a:latin typeface="Times New Roman" pitchFamily="18" charset="0"/>
                          <a:cs typeface="Times New Roman" pitchFamily="18" charset="0"/>
                        </a:rPr>
                        <a:t> </a:t>
                      </a:r>
                      <a:r>
                        <a:rPr lang="en-US" sz="2200" dirty="0">
                          <a:solidFill>
                            <a:srgbClr val="0000CC"/>
                          </a:solidFill>
                          <a:latin typeface="Times New Roman" pitchFamily="18" charset="0"/>
                          <a:cs typeface="Times New Roman" pitchFamily="18" charset="0"/>
                        </a:rPr>
                        <a:t>(or)</a:t>
                      </a:r>
                      <a:r>
                        <a:rPr lang="en-US" sz="2200" spc="-260" dirty="0">
                          <a:solidFill>
                            <a:srgbClr val="0000CC"/>
                          </a:solidFill>
                          <a:latin typeface="Times New Roman" pitchFamily="18" charset="0"/>
                          <a:cs typeface="Times New Roman" pitchFamily="18" charset="0"/>
                        </a:rPr>
                        <a:t> </a:t>
                      </a:r>
                      <a:endParaRPr lang="en-US" sz="2200" spc="-260" dirty="0" smtClean="0">
                        <a:solidFill>
                          <a:srgbClr val="0000CC"/>
                        </a:solidFill>
                        <a:latin typeface="Times New Roman" pitchFamily="18" charset="0"/>
                        <a:cs typeface="Times New Roman" pitchFamily="18" charset="0"/>
                      </a:endParaRPr>
                    </a:p>
                    <a:p>
                      <a:pPr marL="36195" marR="26035" algn="l">
                        <a:lnSpc>
                          <a:spcPct val="102000"/>
                        </a:lnSpc>
                        <a:spcBef>
                          <a:spcPts val="315"/>
                        </a:spcBef>
                        <a:spcAft>
                          <a:spcPts val="0"/>
                        </a:spcAft>
                      </a:pPr>
                      <a:r>
                        <a:rPr lang="en-US" sz="2200" spc="-260" dirty="0" smtClean="0">
                          <a:solidFill>
                            <a:srgbClr val="0000CC"/>
                          </a:solidFill>
                          <a:latin typeface="Times New Roman" pitchFamily="18" charset="0"/>
                          <a:cs typeface="Times New Roman" pitchFamily="18" charset="0"/>
                        </a:rPr>
                        <a:t> </a:t>
                      </a:r>
                      <a:r>
                        <a:rPr lang="en-US" sz="2200" dirty="0" smtClean="0">
                          <a:solidFill>
                            <a:srgbClr val="0000CC"/>
                          </a:solidFill>
                          <a:latin typeface="Times New Roman" pitchFamily="18" charset="0"/>
                          <a:cs typeface="Times New Roman" pitchFamily="18" charset="0"/>
                        </a:rPr>
                        <a:t>alkalinity</a:t>
                      </a:r>
                      <a:r>
                        <a:rPr lang="en-US" sz="2200" dirty="0">
                          <a:solidFill>
                            <a:srgbClr val="0000CC"/>
                          </a:solidFill>
                          <a:latin typeface="Times New Roman" pitchFamily="18" charset="0"/>
                          <a:cs typeface="Times New Roman" pitchFamily="18" charset="0"/>
                        </a:rPr>
                        <a:t>.</a:t>
                      </a:r>
                    </a:p>
                  </a:txBody>
                  <a:tcPr/>
                </a:tc>
              </a:tr>
              <a:tr h="431800">
                <a:tc>
                  <a:txBody>
                    <a:bodyPr/>
                    <a:lstStyle/>
                    <a:p>
                      <a:pPr marL="88900" marR="78105" algn="ctr">
                        <a:spcBef>
                          <a:spcPts val="300"/>
                        </a:spcBef>
                        <a:spcAft>
                          <a:spcPts val="0"/>
                        </a:spcAft>
                      </a:pPr>
                      <a:r>
                        <a:rPr lang="en-US" sz="2200" dirty="0">
                          <a:solidFill>
                            <a:srgbClr val="0000CC"/>
                          </a:solidFill>
                          <a:latin typeface="Times New Roman" pitchFamily="18" charset="0"/>
                          <a:cs typeface="Times New Roman" pitchFamily="18" charset="0"/>
                        </a:rPr>
                        <a:t>5.</a:t>
                      </a:r>
                    </a:p>
                  </a:txBody>
                  <a:tcPr/>
                </a:tc>
                <a:tc>
                  <a:txBody>
                    <a:bodyPr/>
                    <a:lstStyle/>
                    <a:p>
                      <a:pPr marL="36195" marR="269240" algn="l">
                        <a:lnSpc>
                          <a:spcPct val="102000"/>
                        </a:lnSpc>
                        <a:spcBef>
                          <a:spcPts val="300"/>
                        </a:spcBef>
                        <a:spcAft>
                          <a:spcPts val="0"/>
                        </a:spcAft>
                      </a:pPr>
                      <a:r>
                        <a:rPr lang="en-US" sz="2200" spc="-5">
                          <a:solidFill>
                            <a:srgbClr val="0000CC"/>
                          </a:solidFill>
                          <a:latin typeface="Times New Roman" pitchFamily="18" charset="0"/>
                          <a:cs typeface="Times New Roman" pitchFamily="18" charset="0"/>
                        </a:rPr>
                        <a:t>Synthetic</a:t>
                      </a:r>
                      <a:r>
                        <a:rPr lang="en-US" sz="2200" spc="-260">
                          <a:solidFill>
                            <a:srgbClr val="0000CC"/>
                          </a:solidFill>
                          <a:latin typeface="Times New Roman" pitchFamily="18" charset="0"/>
                          <a:cs typeface="Times New Roman" pitchFamily="18" charset="0"/>
                        </a:rPr>
                        <a:t> </a:t>
                      </a:r>
                      <a:r>
                        <a:rPr lang="en-US" sz="2200">
                          <a:solidFill>
                            <a:srgbClr val="0000CC"/>
                          </a:solidFill>
                          <a:latin typeface="Times New Roman" pitchFamily="18" charset="0"/>
                          <a:cs typeface="Times New Roman" pitchFamily="18" charset="0"/>
                        </a:rPr>
                        <a:t>drugs</a:t>
                      </a:r>
                    </a:p>
                  </a:txBody>
                  <a:tcPr/>
                </a:tc>
                <a:tc>
                  <a:txBody>
                    <a:bodyPr/>
                    <a:lstStyle/>
                    <a:p>
                      <a:pPr marL="36195" marR="26035" algn="l">
                        <a:lnSpc>
                          <a:spcPct val="102000"/>
                        </a:lnSpc>
                        <a:spcBef>
                          <a:spcPts val="300"/>
                        </a:spcBef>
                        <a:spcAft>
                          <a:spcPts val="0"/>
                        </a:spcAft>
                      </a:pPr>
                      <a:r>
                        <a:rPr lang="en-US" sz="2200" dirty="0" smtClean="0">
                          <a:solidFill>
                            <a:srgbClr val="0000CC"/>
                          </a:solidFill>
                          <a:latin typeface="Times New Roman" pitchFamily="18" charset="0"/>
                          <a:cs typeface="Times New Roman" pitchFamily="18" charset="0"/>
                        </a:rPr>
                        <a:t>High suspended and </a:t>
                      </a:r>
                      <a:r>
                        <a:rPr lang="en-US" sz="2200" spc="-5" dirty="0" smtClean="0">
                          <a:solidFill>
                            <a:srgbClr val="0000CC"/>
                          </a:solidFill>
                          <a:latin typeface="Times New Roman" pitchFamily="18" charset="0"/>
                          <a:cs typeface="Times New Roman" pitchFamily="18" charset="0"/>
                        </a:rPr>
                        <a:t>dissolved</a:t>
                      </a:r>
                      <a:r>
                        <a:rPr lang="en-US" sz="2200" spc="-260" dirty="0">
                          <a:solidFill>
                            <a:srgbClr val="0000CC"/>
                          </a:solidFill>
                          <a:latin typeface="Times New Roman" pitchFamily="18" charset="0"/>
                          <a:cs typeface="Times New Roman" pitchFamily="18" charset="0"/>
                        </a:rPr>
                        <a:t> </a:t>
                      </a:r>
                      <a:endParaRPr lang="en-US" sz="2200" spc="-260" dirty="0" smtClean="0">
                        <a:solidFill>
                          <a:srgbClr val="0000CC"/>
                        </a:solidFill>
                        <a:latin typeface="Times New Roman" pitchFamily="18" charset="0"/>
                        <a:cs typeface="Times New Roman" pitchFamily="18" charset="0"/>
                      </a:endParaRPr>
                    </a:p>
                    <a:p>
                      <a:pPr marL="36195" marR="26035" algn="l">
                        <a:lnSpc>
                          <a:spcPct val="102000"/>
                        </a:lnSpc>
                        <a:spcBef>
                          <a:spcPts val="300"/>
                        </a:spcBef>
                        <a:spcAft>
                          <a:spcPts val="0"/>
                        </a:spcAft>
                      </a:pPr>
                      <a:r>
                        <a:rPr lang="en-US" sz="2200" dirty="0" smtClean="0">
                          <a:solidFill>
                            <a:srgbClr val="0000CC"/>
                          </a:solidFill>
                          <a:latin typeface="Times New Roman" pitchFamily="18" charset="0"/>
                          <a:cs typeface="Times New Roman" pitchFamily="18" charset="0"/>
                        </a:rPr>
                        <a:t>organic</a:t>
                      </a:r>
                      <a:r>
                        <a:rPr lang="en-US" sz="2200" spc="210" dirty="0" smtClean="0">
                          <a:solidFill>
                            <a:srgbClr val="0000CC"/>
                          </a:solidFill>
                          <a:latin typeface="Times New Roman" pitchFamily="18" charset="0"/>
                          <a:cs typeface="Times New Roman" pitchFamily="18" charset="0"/>
                        </a:rPr>
                        <a:t> </a:t>
                      </a:r>
                      <a:r>
                        <a:rPr lang="en-US" sz="2200" dirty="0" smtClean="0">
                          <a:solidFill>
                            <a:srgbClr val="0000CC"/>
                          </a:solidFill>
                          <a:latin typeface="Times New Roman" pitchFamily="18" charset="0"/>
                          <a:cs typeface="Times New Roman" pitchFamily="18" charset="0"/>
                        </a:rPr>
                        <a:t>matter</a:t>
                      </a:r>
                      <a:r>
                        <a:rPr lang="en-US" sz="2200" spc="230" dirty="0" smtClean="0">
                          <a:solidFill>
                            <a:srgbClr val="0000CC"/>
                          </a:solidFill>
                          <a:latin typeface="Times New Roman" pitchFamily="18" charset="0"/>
                          <a:cs typeface="Times New Roman" pitchFamily="18" charset="0"/>
                        </a:rPr>
                        <a:t> </a:t>
                      </a:r>
                      <a:r>
                        <a:rPr lang="en-US" sz="2200" dirty="0" smtClean="0">
                          <a:solidFill>
                            <a:srgbClr val="0000CC"/>
                          </a:solidFill>
                          <a:latin typeface="Times New Roman" pitchFamily="18" charset="0"/>
                          <a:cs typeface="Times New Roman" pitchFamily="18" charset="0"/>
                        </a:rPr>
                        <a:t>including</a:t>
                      </a:r>
                      <a:r>
                        <a:rPr lang="en-US" sz="2200" spc="215" dirty="0" smtClean="0">
                          <a:solidFill>
                            <a:srgbClr val="0000CC"/>
                          </a:solidFill>
                          <a:latin typeface="Times New Roman" pitchFamily="18" charset="0"/>
                          <a:cs typeface="Times New Roman" pitchFamily="18" charset="0"/>
                        </a:rPr>
                        <a:t> </a:t>
                      </a:r>
                      <a:r>
                        <a:rPr lang="en-US" sz="2200" dirty="0" smtClean="0">
                          <a:solidFill>
                            <a:srgbClr val="0000CC"/>
                          </a:solidFill>
                          <a:latin typeface="Times New Roman" pitchFamily="18" charset="0"/>
                          <a:cs typeface="Times New Roman" pitchFamily="18" charset="0"/>
                        </a:rPr>
                        <a:t>vitamins.</a:t>
                      </a:r>
                      <a:endParaRPr lang="en-US" sz="2200" dirty="0">
                        <a:solidFill>
                          <a:srgbClr val="0000CC"/>
                        </a:solidFill>
                        <a:latin typeface="Times New Roman" pitchFamily="18" charset="0"/>
                        <a:cs typeface="Times New Roman" pitchFamily="18" charset="0"/>
                      </a:endParaRPr>
                    </a:p>
                  </a:txBody>
                  <a:tcPr/>
                </a:tc>
              </a:tr>
              <a:tr h="762635">
                <a:tc>
                  <a:txBody>
                    <a:bodyPr/>
                    <a:lstStyle/>
                    <a:p>
                      <a:pPr marL="88900" marR="77470" algn="ctr">
                        <a:spcBef>
                          <a:spcPts val="315"/>
                        </a:spcBef>
                        <a:spcAft>
                          <a:spcPts val="0"/>
                        </a:spcAft>
                      </a:pPr>
                      <a:r>
                        <a:rPr lang="en-US" sz="2200">
                          <a:solidFill>
                            <a:srgbClr val="0000CC"/>
                          </a:solidFill>
                          <a:latin typeface="Times New Roman" pitchFamily="18" charset="0"/>
                          <a:cs typeface="Times New Roman" pitchFamily="18" charset="0"/>
                        </a:rPr>
                        <a:t>6.</a:t>
                      </a:r>
                    </a:p>
                  </a:txBody>
                  <a:tcPr/>
                </a:tc>
                <a:tc>
                  <a:txBody>
                    <a:bodyPr/>
                    <a:lstStyle/>
                    <a:p>
                      <a:pPr marL="36195" algn="l">
                        <a:spcBef>
                          <a:spcPts val="315"/>
                        </a:spcBef>
                        <a:spcAft>
                          <a:spcPts val="0"/>
                        </a:spcAft>
                      </a:pPr>
                      <a:r>
                        <a:rPr lang="en-US" sz="2200" dirty="0">
                          <a:solidFill>
                            <a:srgbClr val="0000CC"/>
                          </a:solidFill>
                          <a:latin typeface="Times New Roman" pitchFamily="18" charset="0"/>
                          <a:cs typeface="Times New Roman" pitchFamily="18" charset="0"/>
                        </a:rPr>
                        <a:t>Distillery</a:t>
                      </a:r>
                    </a:p>
                  </a:txBody>
                  <a:tcPr/>
                </a:tc>
                <a:tc>
                  <a:txBody>
                    <a:bodyPr/>
                    <a:lstStyle/>
                    <a:p>
                      <a:pPr marL="36195" marR="26035" indent="-635" algn="just">
                        <a:lnSpc>
                          <a:spcPct val="102000"/>
                        </a:lnSpc>
                        <a:spcBef>
                          <a:spcPts val="315"/>
                        </a:spcBef>
                        <a:spcAft>
                          <a:spcPts val="0"/>
                        </a:spcAft>
                      </a:pPr>
                      <a:r>
                        <a:rPr lang="en-US" sz="2200">
                          <a:solidFill>
                            <a:srgbClr val="0000CC"/>
                          </a:solidFill>
                          <a:latin typeface="Times New Roman" pitchFamily="18" charset="0"/>
                          <a:cs typeface="Times New Roman" pitchFamily="18" charset="0"/>
                        </a:rPr>
                        <a:t>Very</a:t>
                      </a:r>
                      <a:r>
                        <a:rPr lang="en-US" sz="2200" spc="5">
                          <a:solidFill>
                            <a:srgbClr val="0000CC"/>
                          </a:solidFill>
                          <a:latin typeface="Times New Roman" pitchFamily="18" charset="0"/>
                          <a:cs typeface="Times New Roman" pitchFamily="18" charset="0"/>
                        </a:rPr>
                        <a:t> </a:t>
                      </a:r>
                      <a:r>
                        <a:rPr lang="en-US" sz="2200">
                          <a:solidFill>
                            <a:srgbClr val="0000CC"/>
                          </a:solidFill>
                          <a:latin typeface="Times New Roman" pitchFamily="18" charset="0"/>
                          <a:cs typeface="Times New Roman" pitchFamily="18" charset="0"/>
                        </a:rPr>
                        <a:t>high</a:t>
                      </a:r>
                      <a:r>
                        <a:rPr lang="en-US" sz="2200" spc="5">
                          <a:solidFill>
                            <a:srgbClr val="0000CC"/>
                          </a:solidFill>
                          <a:latin typeface="Times New Roman" pitchFamily="18" charset="0"/>
                          <a:cs typeface="Times New Roman" pitchFamily="18" charset="0"/>
                        </a:rPr>
                        <a:t> </a:t>
                      </a:r>
                      <a:r>
                        <a:rPr lang="en-US" sz="2200">
                          <a:solidFill>
                            <a:srgbClr val="0000CC"/>
                          </a:solidFill>
                          <a:latin typeface="Times New Roman" pitchFamily="18" charset="0"/>
                          <a:cs typeface="Times New Roman" pitchFamily="18" charset="0"/>
                        </a:rPr>
                        <a:t>COD,</a:t>
                      </a:r>
                      <a:r>
                        <a:rPr lang="en-US" sz="2200" spc="5">
                          <a:solidFill>
                            <a:srgbClr val="0000CC"/>
                          </a:solidFill>
                          <a:latin typeface="Times New Roman" pitchFamily="18" charset="0"/>
                          <a:cs typeface="Times New Roman" pitchFamily="18" charset="0"/>
                        </a:rPr>
                        <a:t> </a:t>
                      </a:r>
                      <a:r>
                        <a:rPr lang="en-US" sz="2200">
                          <a:solidFill>
                            <a:srgbClr val="0000CC"/>
                          </a:solidFill>
                          <a:latin typeface="Times New Roman" pitchFamily="18" charset="0"/>
                          <a:cs typeface="Times New Roman" pitchFamily="18" charset="0"/>
                        </a:rPr>
                        <a:t>low</a:t>
                      </a:r>
                      <a:r>
                        <a:rPr lang="en-US" sz="2200" spc="5">
                          <a:solidFill>
                            <a:srgbClr val="0000CC"/>
                          </a:solidFill>
                          <a:latin typeface="Times New Roman" pitchFamily="18" charset="0"/>
                          <a:cs typeface="Times New Roman" pitchFamily="18" charset="0"/>
                        </a:rPr>
                        <a:t> </a:t>
                      </a:r>
                      <a:r>
                        <a:rPr lang="en-US" sz="2200">
                          <a:solidFill>
                            <a:srgbClr val="0000CC"/>
                          </a:solidFill>
                          <a:latin typeface="Times New Roman" pitchFamily="18" charset="0"/>
                          <a:cs typeface="Times New Roman" pitchFamily="18" charset="0"/>
                        </a:rPr>
                        <a:t>pH,</a:t>
                      </a:r>
                      <a:r>
                        <a:rPr lang="en-US" sz="2200" spc="5">
                          <a:solidFill>
                            <a:srgbClr val="0000CC"/>
                          </a:solidFill>
                          <a:latin typeface="Times New Roman" pitchFamily="18" charset="0"/>
                          <a:cs typeface="Times New Roman" pitchFamily="18" charset="0"/>
                        </a:rPr>
                        <a:t> </a:t>
                      </a:r>
                      <a:r>
                        <a:rPr lang="en-US" sz="2200">
                          <a:solidFill>
                            <a:srgbClr val="0000CC"/>
                          </a:solidFill>
                          <a:latin typeface="Times New Roman" pitchFamily="18" charset="0"/>
                          <a:cs typeface="Times New Roman" pitchFamily="18" charset="0"/>
                        </a:rPr>
                        <a:t>high</a:t>
                      </a:r>
                      <a:r>
                        <a:rPr lang="en-US" sz="2200" spc="-260">
                          <a:solidFill>
                            <a:srgbClr val="0000CC"/>
                          </a:solidFill>
                          <a:latin typeface="Times New Roman" pitchFamily="18" charset="0"/>
                          <a:cs typeface="Times New Roman" pitchFamily="18" charset="0"/>
                        </a:rPr>
                        <a:t> </a:t>
                      </a:r>
                      <a:r>
                        <a:rPr lang="en-US" sz="2200">
                          <a:solidFill>
                            <a:srgbClr val="0000CC"/>
                          </a:solidFill>
                          <a:latin typeface="Times New Roman" pitchFamily="18" charset="0"/>
                          <a:cs typeface="Times New Roman" pitchFamily="18" charset="0"/>
                        </a:rPr>
                        <a:t>organic matter, high suspended and</a:t>
                      </a:r>
                      <a:r>
                        <a:rPr lang="en-US" sz="2200" spc="5">
                          <a:solidFill>
                            <a:srgbClr val="0000CC"/>
                          </a:solidFill>
                          <a:latin typeface="Times New Roman" pitchFamily="18" charset="0"/>
                          <a:cs typeface="Times New Roman" pitchFamily="18" charset="0"/>
                        </a:rPr>
                        <a:t> </a:t>
                      </a:r>
                      <a:r>
                        <a:rPr lang="en-US" sz="2200">
                          <a:solidFill>
                            <a:srgbClr val="0000CC"/>
                          </a:solidFill>
                          <a:latin typeface="Times New Roman" pitchFamily="18" charset="0"/>
                          <a:cs typeface="Times New Roman" pitchFamily="18" charset="0"/>
                        </a:rPr>
                        <a:t>dissolved solids containing nitrogen,</a:t>
                      </a:r>
                      <a:r>
                        <a:rPr lang="en-US" sz="2200" spc="-260">
                          <a:solidFill>
                            <a:srgbClr val="0000CC"/>
                          </a:solidFill>
                          <a:latin typeface="Times New Roman" pitchFamily="18" charset="0"/>
                          <a:cs typeface="Times New Roman" pitchFamily="18" charset="0"/>
                        </a:rPr>
                        <a:t> </a:t>
                      </a:r>
                      <a:r>
                        <a:rPr lang="en-US" sz="2200">
                          <a:solidFill>
                            <a:srgbClr val="0000CC"/>
                          </a:solidFill>
                          <a:latin typeface="Times New Roman" pitchFamily="18" charset="0"/>
                          <a:cs typeface="Times New Roman" pitchFamily="18" charset="0"/>
                        </a:rPr>
                        <a:t>high</a:t>
                      </a:r>
                      <a:r>
                        <a:rPr lang="en-US" sz="2200" spc="235">
                          <a:solidFill>
                            <a:srgbClr val="0000CC"/>
                          </a:solidFill>
                          <a:latin typeface="Times New Roman" pitchFamily="18" charset="0"/>
                          <a:cs typeface="Times New Roman" pitchFamily="18" charset="0"/>
                        </a:rPr>
                        <a:t> </a:t>
                      </a:r>
                      <a:r>
                        <a:rPr lang="en-US" sz="2200">
                          <a:solidFill>
                            <a:srgbClr val="0000CC"/>
                          </a:solidFill>
                          <a:latin typeface="Times New Roman" pitchFamily="18" charset="0"/>
                          <a:cs typeface="Times New Roman" pitchFamily="18" charset="0"/>
                        </a:rPr>
                        <a:t>potassium.</a:t>
                      </a:r>
                    </a:p>
                  </a:txBody>
                  <a:tcPr/>
                </a:tc>
              </a:tr>
              <a:tr h="601980">
                <a:tc>
                  <a:txBody>
                    <a:bodyPr/>
                    <a:lstStyle/>
                    <a:p>
                      <a:pPr marL="88265" marR="78105" algn="ctr">
                        <a:spcBef>
                          <a:spcPts val="315"/>
                        </a:spcBef>
                        <a:spcAft>
                          <a:spcPts val="0"/>
                        </a:spcAft>
                      </a:pPr>
                      <a:r>
                        <a:rPr lang="en-US" sz="2200">
                          <a:solidFill>
                            <a:srgbClr val="0000CC"/>
                          </a:solidFill>
                          <a:latin typeface="Times New Roman" pitchFamily="18" charset="0"/>
                          <a:cs typeface="Times New Roman" pitchFamily="18" charset="0"/>
                        </a:rPr>
                        <a:t>7.</a:t>
                      </a:r>
                    </a:p>
                  </a:txBody>
                  <a:tcPr/>
                </a:tc>
                <a:tc>
                  <a:txBody>
                    <a:bodyPr/>
                    <a:lstStyle/>
                    <a:p>
                      <a:pPr marL="36195" marR="292735" algn="l">
                        <a:lnSpc>
                          <a:spcPct val="101000"/>
                        </a:lnSpc>
                        <a:spcBef>
                          <a:spcPts val="315"/>
                        </a:spcBef>
                        <a:spcAft>
                          <a:spcPts val="0"/>
                        </a:spcAft>
                      </a:pPr>
                      <a:r>
                        <a:rPr lang="en-US" sz="2200" dirty="0">
                          <a:solidFill>
                            <a:srgbClr val="0000CC"/>
                          </a:solidFill>
                          <a:latin typeface="Times New Roman" pitchFamily="18" charset="0"/>
                          <a:cs typeface="Times New Roman" pitchFamily="18" charset="0"/>
                        </a:rPr>
                        <a:t>Organic</a:t>
                      </a:r>
                      <a:r>
                        <a:rPr lang="en-US" sz="2200" spc="5" dirty="0">
                          <a:solidFill>
                            <a:srgbClr val="0000CC"/>
                          </a:solidFill>
                          <a:latin typeface="Times New Roman" pitchFamily="18" charset="0"/>
                          <a:cs typeface="Times New Roman" pitchFamily="18" charset="0"/>
                        </a:rPr>
                        <a:t> </a:t>
                      </a:r>
                      <a:r>
                        <a:rPr lang="en-US" sz="2200" spc="-5" dirty="0">
                          <a:solidFill>
                            <a:srgbClr val="0000CC"/>
                          </a:solidFill>
                          <a:latin typeface="Times New Roman" pitchFamily="18" charset="0"/>
                          <a:cs typeface="Times New Roman" pitchFamily="18" charset="0"/>
                        </a:rPr>
                        <a:t>chemical</a:t>
                      </a:r>
                      <a:r>
                        <a:rPr lang="en-US" sz="2200" spc="-260" dirty="0">
                          <a:solidFill>
                            <a:srgbClr val="0000CC"/>
                          </a:solidFill>
                          <a:latin typeface="Times New Roman" pitchFamily="18" charset="0"/>
                          <a:cs typeface="Times New Roman" pitchFamily="18" charset="0"/>
                        </a:rPr>
                        <a:t> </a:t>
                      </a:r>
                      <a:r>
                        <a:rPr lang="en-US" sz="2200" dirty="0" err="1" smtClean="0">
                          <a:solidFill>
                            <a:srgbClr val="0000CC"/>
                          </a:solidFill>
                          <a:latin typeface="Times New Roman" pitchFamily="18" charset="0"/>
                          <a:cs typeface="Times New Roman" pitchFamily="18" charset="0"/>
                        </a:rPr>
                        <a:t>industy</a:t>
                      </a:r>
                      <a:endParaRPr lang="en-US" sz="2200" dirty="0">
                        <a:solidFill>
                          <a:srgbClr val="0000CC"/>
                        </a:solidFill>
                        <a:latin typeface="Times New Roman" pitchFamily="18" charset="0"/>
                        <a:cs typeface="Times New Roman" pitchFamily="18" charset="0"/>
                      </a:endParaRPr>
                    </a:p>
                  </a:txBody>
                  <a:tcPr/>
                </a:tc>
                <a:tc>
                  <a:txBody>
                    <a:bodyPr/>
                    <a:lstStyle/>
                    <a:p>
                      <a:pPr marL="36195" marR="22860" algn="l">
                        <a:lnSpc>
                          <a:spcPct val="101000"/>
                        </a:lnSpc>
                        <a:spcBef>
                          <a:spcPts val="315"/>
                        </a:spcBef>
                        <a:spcAft>
                          <a:spcPts val="0"/>
                        </a:spcAft>
                      </a:pPr>
                      <a:r>
                        <a:rPr lang="en-US" sz="2200" dirty="0">
                          <a:solidFill>
                            <a:srgbClr val="0000CC"/>
                          </a:solidFill>
                          <a:latin typeface="Times New Roman" pitchFamily="18" charset="0"/>
                          <a:cs typeface="Times New Roman" pitchFamily="18" charset="0"/>
                        </a:rPr>
                        <a:t>Toxic</a:t>
                      </a:r>
                      <a:r>
                        <a:rPr lang="en-US" sz="2200" spc="105" dirty="0">
                          <a:solidFill>
                            <a:srgbClr val="0000CC"/>
                          </a:solidFill>
                          <a:latin typeface="Times New Roman" pitchFamily="18" charset="0"/>
                          <a:cs typeface="Times New Roman" pitchFamily="18" charset="0"/>
                        </a:rPr>
                        <a:t> </a:t>
                      </a:r>
                      <a:r>
                        <a:rPr lang="en-US" sz="2200" dirty="0">
                          <a:solidFill>
                            <a:srgbClr val="0000CC"/>
                          </a:solidFill>
                          <a:latin typeface="Times New Roman" pitchFamily="18" charset="0"/>
                          <a:cs typeface="Times New Roman" pitchFamily="18" charset="0"/>
                        </a:rPr>
                        <a:t>compounds,</a:t>
                      </a:r>
                      <a:r>
                        <a:rPr lang="en-US" sz="2200" spc="90" dirty="0">
                          <a:solidFill>
                            <a:srgbClr val="0000CC"/>
                          </a:solidFill>
                          <a:latin typeface="Times New Roman" pitchFamily="18" charset="0"/>
                          <a:cs typeface="Times New Roman" pitchFamily="18" charset="0"/>
                        </a:rPr>
                        <a:t> </a:t>
                      </a:r>
                      <a:r>
                        <a:rPr lang="en-US" sz="2200" dirty="0">
                          <a:solidFill>
                            <a:srgbClr val="0000CC"/>
                          </a:solidFill>
                          <a:latin typeface="Times New Roman" pitchFamily="18" charset="0"/>
                          <a:cs typeface="Times New Roman" pitchFamily="18" charset="0"/>
                        </a:rPr>
                        <a:t>phenols,</a:t>
                      </a:r>
                      <a:r>
                        <a:rPr lang="en-US" sz="2200" spc="90" dirty="0">
                          <a:solidFill>
                            <a:srgbClr val="0000CC"/>
                          </a:solidFill>
                          <a:latin typeface="Times New Roman" pitchFamily="18" charset="0"/>
                          <a:cs typeface="Times New Roman" pitchFamily="18" charset="0"/>
                        </a:rPr>
                        <a:t> </a:t>
                      </a:r>
                      <a:r>
                        <a:rPr lang="en-US" sz="2200" dirty="0">
                          <a:solidFill>
                            <a:srgbClr val="0000CC"/>
                          </a:solidFill>
                          <a:latin typeface="Times New Roman" pitchFamily="18" charset="0"/>
                          <a:cs typeface="Times New Roman" pitchFamily="18" charset="0"/>
                        </a:rPr>
                        <a:t>high</a:t>
                      </a:r>
                      <a:r>
                        <a:rPr lang="en-US" sz="2200" spc="-260" dirty="0">
                          <a:solidFill>
                            <a:srgbClr val="0000CC"/>
                          </a:solidFill>
                          <a:latin typeface="Times New Roman" pitchFamily="18" charset="0"/>
                          <a:cs typeface="Times New Roman" pitchFamily="18" charset="0"/>
                        </a:rPr>
                        <a:t> </a:t>
                      </a:r>
                      <a:r>
                        <a:rPr lang="en-US" sz="2200" dirty="0">
                          <a:solidFill>
                            <a:srgbClr val="0000CC"/>
                          </a:solidFill>
                          <a:latin typeface="Times New Roman" pitchFamily="18" charset="0"/>
                          <a:cs typeface="Times New Roman" pitchFamily="18" charset="0"/>
                        </a:rPr>
                        <a:t>acidity,</a:t>
                      </a:r>
                      <a:r>
                        <a:rPr lang="en-US" sz="2200" spc="235" dirty="0">
                          <a:solidFill>
                            <a:srgbClr val="0000CC"/>
                          </a:solidFill>
                          <a:latin typeface="Times New Roman" pitchFamily="18" charset="0"/>
                          <a:cs typeface="Times New Roman" pitchFamily="18" charset="0"/>
                        </a:rPr>
                        <a:t> </a:t>
                      </a:r>
                      <a:r>
                        <a:rPr lang="en-US" sz="2200" dirty="0">
                          <a:solidFill>
                            <a:srgbClr val="0000CC"/>
                          </a:solidFill>
                          <a:latin typeface="Times New Roman" pitchFamily="18" charset="0"/>
                          <a:cs typeface="Times New Roman" pitchFamily="18" charset="0"/>
                        </a:rPr>
                        <a:t>alkalinity.</a:t>
                      </a:r>
                    </a:p>
                  </a:txBody>
                  <a:tcPr/>
                </a:tc>
              </a:tr>
            </a:tbl>
          </a:graphicData>
        </a:graphic>
      </p:graphicFrame>
    </p:spTree>
  </p:cSld>
  <p:clrMapOvr>
    <a:masterClrMapping/>
  </p:clrMapOvr>
  <p:transition spd="slow">
    <p:push/>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1"/>
          <p:cNvSpPr>
            <a:spLocks noChangeArrowheads="1"/>
          </p:cNvSpPr>
          <p:nvPr/>
        </p:nvSpPr>
        <p:spPr bwMode="auto">
          <a:xfrm>
            <a:off x="304800" y="990600"/>
            <a:ext cx="8305800" cy="76944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smtClean="0">
                <a:ln>
                  <a:noFill/>
                </a:ln>
                <a:solidFill>
                  <a:srgbClr val="FF0000"/>
                </a:solidFill>
                <a:effectLst/>
                <a:latin typeface="Times New Roman" pitchFamily="18" charset="0"/>
                <a:cs typeface="Times New Roman" pitchFamily="18" charset="0"/>
              </a:rPr>
              <a:t>Table 2.5 Major </a:t>
            </a:r>
            <a:r>
              <a:rPr kumimoji="0" lang="en-US" sz="2200" b="1" i="0" u="none" strike="noStrike" cap="none" normalizeH="0" baseline="0" dirty="0" err="1" smtClean="0">
                <a:ln>
                  <a:noFill/>
                </a:ln>
                <a:solidFill>
                  <a:srgbClr val="FF0000"/>
                </a:solidFill>
                <a:effectLst/>
                <a:latin typeface="Times New Roman" pitchFamily="18" charset="0"/>
                <a:cs typeface="Times New Roman" pitchFamily="18" charset="0"/>
              </a:rPr>
              <a:t>physico</a:t>
            </a:r>
            <a:r>
              <a:rPr kumimoji="0" lang="en-US" sz="2200" b="1" i="0" u="none" strike="noStrike" cap="none" normalizeH="0" baseline="0" dirty="0" smtClean="0">
                <a:ln>
                  <a:noFill/>
                </a:ln>
                <a:solidFill>
                  <a:srgbClr val="FF0000"/>
                </a:solidFill>
                <a:effectLst/>
                <a:latin typeface="Times New Roman" pitchFamily="18" charset="0"/>
                <a:cs typeface="Times New Roman" pitchFamily="18" charset="0"/>
              </a:rPr>
              <a:t>-chemical characteristics of untreated wastes of Inorganic chemical industries in Soil</a:t>
            </a:r>
            <a:endParaRPr kumimoji="0" lang="en-US" sz="2200" b="0" i="0" u="none" strike="noStrike" cap="none" normalizeH="0" baseline="0" dirty="0" smtClean="0">
              <a:ln>
                <a:noFill/>
              </a:ln>
              <a:solidFill>
                <a:srgbClr val="FF0000"/>
              </a:solidFill>
              <a:effectLst/>
              <a:latin typeface="Arial" pitchFamily="34" charset="0"/>
              <a:cs typeface="Arial" pitchFamily="34" charset="0"/>
            </a:endParaRPr>
          </a:p>
        </p:txBody>
      </p:sp>
      <p:graphicFrame>
        <p:nvGraphicFramePr>
          <p:cNvPr id="3" name="Table 2"/>
          <p:cNvGraphicFramePr>
            <a:graphicFrameLocks noGrp="1"/>
          </p:cNvGraphicFramePr>
          <p:nvPr/>
        </p:nvGraphicFramePr>
        <p:xfrm>
          <a:off x="838200" y="2057400"/>
          <a:ext cx="7696199" cy="4332034"/>
        </p:xfrm>
        <a:graphic>
          <a:graphicData uri="http://schemas.openxmlformats.org/drawingml/2006/table">
            <a:tbl>
              <a:tblPr/>
              <a:tblGrid>
                <a:gridCol w="707345"/>
                <a:gridCol w="2227040"/>
                <a:gridCol w="4761814"/>
              </a:tblGrid>
              <a:tr h="480060">
                <a:tc gridSpan="3">
                  <a:txBody>
                    <a:bodyPr/>
                    <a:lstStyle/>
                    <a:p>
                      <a:pPr marL="57785" marR="67945" indent="45720" algn="l">
                        <a:spcBef>
                          <a:spcPts val="910"/>
                        </a:spcBef>
                        <a:spcAft>
                          <a:spcPts val="0"/>
                        </a:spcAft>
                      </a:pPr>
                      <a:r>
                        <a:rPr lang="en-US" sz="2200" b="1" dirty="0">
                          <a:solidFill>
                            <a:srgbClr val="002060"/>
                          </a:solidFill>
                          <a:latin typeface="Times New Roman"/>
                        </a:rPr>
                        <a:t>S.	Industry	</a:t>
                      </a:r>
                      <a:r>
                        <a:rPr lang="en-US" sz="2200" b="1" dirty="0" err="1">
                          <a:solidFill>
                            <a:srgbClr val="002060"/>
                          </a:solidFill>
                          <a:latin typeface="Times New Roman"/>
                        </a:rPr>
                        <a:t>Physico</a:t>
                      </a:r>
                      <a:r>
                        <a:rPr lang="en-US" sz="2200" b="1" dirty="0">
                          <a:solidFill>
                            <a:srgbClr val="002060"/>
                          </a:solidFill>
                          <a:latin typeface="Times New Roman"/>
                        </a:rPr>
                        <a:t>-chemical</a:t>
                      </a:r>
                      <a:r>
                        <a:rPr lang="en-US" sz="2200" b="1" spc="145" dirty="0">
                          <a:solidFill>
                            <a:srgbClr val="002060"/>
                          </a:solidFill>
                          <a:latin typeface="Times New Roman"/>
                        </a:rPr>
                        <a:t> </a:t>
                      </a:r>
                      <a:r>
                        <a:rPr lang="en-US" sz="2200" b="1" dirty="0">
                          <a:solidFill>
                            <a:srgbClr val="002060"/>
                          </a:solidFill>
                          <a:latin typeface="Times New Roman"/>
                        </a:rPr>
                        <a:t>characteristics</a:t>
                      </a:r>
                      <a:r>
                        <a:rPr lang="en-US" sz="2200" b="1" spc="-260" dirty="0">
                          <a:solidFill>
                            <a:srgbClr val="002060"/>
                          </a:solidFill>
                          <a:latin typeface="Times New Roman"/>
                        </a:rPr>
                        <a:t> </a:t>
                      </a:r>
                      <a:r>
                        <a:rPr lang="en-US" sz="2200" b="1" dirty="0">
                          <a:solidFill>
                            <a:srgbClr val="002060"/>
                          </a:solidFill>
                          <a:latin typeface="Times New Roman"/>
                        </a:rPr>
                        <a:t>No.</a:t>
                      </a:r>
                      <a:endParaRPr lang="en-US" sz="2200" dirty="0">
                        <a:solidFill>
                          <a:srgbClr val="002060"/>
                        </a:solidFill>
                        <a:latin typeface="Times New Roman"/>
                      </a:endParaRPr>
                    </a:p>
                  </a:txBody>
                  <a:tcPr>
                    <a:lnL>
                      <a:noFill/>
                    </a:lnL>
                    <a:lnR>
                      <a:noFill/>
                    </a:lnR>
                    <a:lnT>
                      <a:noFill/>
                    </a:lnT>
                    <a:lnB>
                      <a:noFill/>
                    </a:lnB>
                    <a:solidFill>
                      <a:srgbClr val="00FFFF"/>
                    </a:solidFill>
                  </a:tcPr>
                </a:tc>
                <a:tc hMerge="1">
                  <a:txBody>
                    <a:bodyPr/>
                    <a:lstStyle/>
                    <a:p>
                      <a:endParaRPr lang="en-US"/>
                    </a:p>
                  </a:txBody>
                  <a:tcPr/>
                </a:tc>
                <a:tc hMerge="1">
                  <a:txBody>
                    <a:bodyPr/>
                    <a:lstStyle/>
                    <a:p>
                      <a:endParaRPr lang="en-US"/>
                    </a:p>
                  </a:txBody>
                  <a:tcPr/>
                </a:tc>
              </a:tr>
              <a:tr h="433705">
                <a:tc>
                  <a:txBody>
                    <a:bodyPr/>
                    <a:lstStyle/>
                    <a:p>
                      <a:pPr marL="88900" marR="78105" algn="ctr">
                        <a:spcBef>
                          <a:spcPts val="315"/>
                        </a:spcBef>
                        <a:spcAft>
                          <a:spcPts val="0"/>
                        </a:spcAft>
                      </a:pPr>
                      <a:r>
                        <a:rPr lang="en-US" sz="2200">
                          <a:solidFill>
                            <a:srgbClr val="002060"/>
                          </a:solidFill>
                          <a:latin typeface="Times New Roman"/>
                        </a:rPr>
                        <a:t>1.</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a:noFill/>
                    </a:lnT>
                    <a:lnB w="9525" cap="flat" cmpd="sng" algn="ctr">
                      <a:solidFill>
                        <a:srgbClr val="00FFFF"/>
                      </a:solidFill>
                      <a:prstDash val="solid"/>
                      <a:round/>
                      <a:headEnd type="none" w="med" len="med"/>
                      <a:tailEnd type="none" w="med" len="med"/>
                    </a:lnB>
                  </a:tcPr>
                </a:tc>
                <a:tc>
                  <a:txBody>
                    <a:bodyPr/>
                    <a:lstStyle/>
                    <a:p>
                      <a:pPr marL="36195" marR="20320" algn="l">
                        <a:lnSpc>
                          <a:spcPct val="102000"/>
                        </a:lnSpc>
                        <a:spcBef>
                          <a:spcPts val="315"/>
                        </a:spcBef>
                        <a:spcAft>
                          <a:spcPts val="0"/>
                        </a:spcAft>
                      </a:pPr>
                      <a:r>
                        <a:rPr lang="en-US" sz="2200" dirty="0">
                          <a:solidFill>
                            <a:srgbClr val="002060"/>
                          </a:solidFill>
                          <a:latin typeface="Times New Roman"/>
                        </a:rPr>
                        <a:t>Thermal</a:t>
                      </a:r>
                      <a:r>
                        <a:rPr lang="en-US" sz="2200" spc="200" dirty="0">
                          <a:solidFill>
                            <a:srgbClr val="002060"/>
                          </a:solidFill>
                          <a:latin typeface="Times New Roman"/>
                        </a:rPr>
                        <a:t> </a:t>
                      </a:r>
                      <a:r>
                        <a:rPr lang="en-US" sz="2200" dirty="0">
                          <a:solidFill>
                            <a:srgbClr val="002060"/>
                          </a:solidFill>
                          <a:latin typeface="Times New Roman"/>
                        </a:rPr>
                        <a:t>Power</a:t>
                      </a:r>
                      <a:r>
                        <a:rPr lang="en-US" sz="2200" spc="-260" dirty="0">
                          <a:solidFill>
                            <a:srgbClr val="002060"/>
                          </a:solidFill>
                          <a:latin typeface="Times New Roman"/>
                        </a:rPr>
                        <a:t> </a:t>
                      </a:r>
                      <a:r>
                        <a:rPr lang="en-US" sz="2200" dirty="0">
                          <a:solidFill>
                            <a:srgbClr val="002060"/>
                          </a:solidFill>
                          <a:latin typeface="Times New Roman"/>
                        </a:rPr>
                        <a:t>Plants</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a:noFill/>
                    </a:lnT>
                    <a:lnB w="9525" cap="flat" cmpd="sng" algn="ctr">
                      <a:solidFill>
                        <a:srgbClr val="00FFFF"/>
                      </a:solidFill>
                      <a:prstDash val="solid"/>
                      <a:round/>
                      <a:headEnd type="none" w="med" len="med"/>
                      <a:tailEnd type="none" w="med" len="med"/>
                    </a:lnB>
                  </a:tcPr>
                </a:tc>
                <a:tc>
                  <a:txBody>
                    <a:bodyPr/>
                    <a:lstStyle/>
                    <a:p>
                      <a:pPr marL="35560" marR="25400" algn="l">
                        <a:lnSpc>
                          <a:spcPct val="102000"/>
                        </a:lnSpc>
                        <a:spcBef>
                          <a:spcPts val="315"/>
                        </a:spcBef>
                        <a:spcAft>
                          <a:spcPts val="0"/>
                        </a:spcAft>
                      </a:pPr>
                      <a:r>
                        <a:rPr lang="en-US" sz="2200" dirty="0" smtClean="0">
                          <a:solidFill>
                            <a:srgbClr val="002060"/>
                          </a:solidFill>
                          <a:latin typeface="Times New Roman"/>
                        </a:rPr>
                        <a:t>Heat, heavy metals, </a:t>
                      </a:r>
                      <a:r>
                        <a:rPr lang="en-US" sz="2200" spc="-5" dirty="0" smtClean="0">
                          <a:solidFill>
                            <a:srgbClr val="002060"/>
                          </a:solidFill>
                          <a:latin typeface="Times New Roman"/>
                        </a:rPr>
                        <a:t>dissolved</a:t>
                      </a:r>
                      <a:r>
                        <a:rPr lang="en-US" sz="2200" spc="-260" dirty="0">
                          <a:solidFill>
                            <a:srgbClr val="002060"/>
                          </a:solidFill>
                          <a:latin typeface="Times New Roman"/>
                        </a:rPr>
                        <a:t> </a:t>
                      </a:r>
                      <a:r>
                        <a:rPr lang="en-US" sz="2200" spc="-260" dirty="0" smtClean="0">
                          <a:solidFill>
                            <a:srgbClr val="002060"/>
                          </a:solidFill>
                          <a:latin typeface="Times New Roman"/>
                        </a:rPr>
                        <a:t> </a:t>
                      </a:r>
                      <a:r>
                        <a:rPr lang="en-US" sz="2200" dirty="0" smtClean="0">
                          <a:solidFill>
                            <a:srgbClr val="002060"/>
                          </a:solidFill>
                          <a:latin typeface="Times New Roman"/>
                        </a:rPr>
                        <a:t>solids</a:t>
                      </a:r>
                      <a:r>
                        <a:rPr lang="en-US" sz="2200" spc="195" dirty="0">
                          <a:solidFill>
                            <a:srgbClr val="002060"/>
                          </a:solidFill>
                          <a:latin typeface="Times New Roman"/>
                        </a:rPr>
                        <a:t> </a:t>
                      </a:r>
                      <a:endParaRPr lang="en-US" sz="2200" spc="195" dirty="0" smtClean="0">
                        <a:solidFill>
                          <a:srgbClr val="002060"/>
                        </a:solidFill>
                        <a:latin typeface="Times New Roman"/>
                      </a:endParaRPr>
                    </a:p>
                    <a:p>
                      <a:pPr marL="35560" marR="25400" algn="l">
                        <a:lnSpc>
                          <a:spcPct val="102000"/>
                        </a:lnSpc>
                        <a:spcBef>
                          <a:spcPts val="315"/>
                        </a:spcBef>
                        <a:spcAft>
                          <a:spcPts val="0"/>
                        </a:spcAft>
                      </a:pPr>
                      <a:r>
                        <a:rPr lang="en-US" sz="2200" dirty="0" smtClean="0">
                          <a:solidFill>
                            <a:srgbClr val="002060"/>
                          </a:solidFill>
                          <a:latin typeface="Times New Roman"/>
                        </a:rPr>
                        <a:t>and</a:t>
                      </a:r>
                      <a:r>
                        <a:rPr lang="en-US" sz="2200" spc="205" dirty="0">
                          <a:solidFill>
                            <a:srgbClr val="002060"/>
                          </a:solidFill>
                          <a:latin typeface="Times New Roman"/>
                        </a:rPr>
                        <a:t> </a:t>
                      </a:r>
                      <a:r>
                        <a:rPr lang="en-US" sz="2200" dirty="0">
                          <a:solidFill>
                            <a:srgbClr val="002060"/>
                          </a:solidFill>
                          <a:latin typeface="Times New Roman"/>
                        </a:rPr>
                        <a:t>inorganic</a:t>
                      </a:r>
                      <a:r>
                        <a:rPr lang="en-US" sz="2200" spc="195" dirty="0">
                          <a:solidFill>
                            <a:srgbClr val="002060"/>
                          </a:solidFill>
                          <a:latin typeface="Times New Roman"/>
                        </a:rPr>
                        <a:t> </a:t>
                      </a:r>
                      <a:r>
                        <a:rPr lang="en-US" sz="2200" dirty="0">
                          <a:solidFill>
                            <a:srgbClr val="002060"/>
                          </a:solidFill>
                          <a:latin typeface="Times New Roman"/>
                        </a:rPr>
                        <a:t>compounds.</a:t>
                      </a:r>
                    </a:p>
                  </a:txBody>
                  <a:tcPr>
                    <a:lnL w="9525" cap="flat" cmpd="sng" algn="ctr">
                      <a:solidFill>
                        <a:srgbClr val="00FFFF"/>
                      </a:solidFill>
                      <a:prstDash val="solid"/>
                      <a:round/>
                      <a:headEnd type="none" w="med" len="med"/>
                      <a:tailEnd type="none" w="med" len="med"/>
                    </a:lnL>
                    <a:lnR w="76200" cap="flat" cmpd="sng" algn="ctr">
                      <a:solidFill>
                        <a:srgbClr val="00FFFF"/>
                      </a:solidFill>
                      <a:prstDash val="solid"/>
                      <a:round/>
                      <a:headEnd type="none" w="med" len="med"/>
                      <a:tailEnd type="none" w="med" len="med"/>
                    </a:lnR>
                    <a:lnT>
                      <a:noFill/>
                    </a:lnT>
                    <a:lnB w="9525" cap="flat" cmpd="sng" algn="ctr">
                      <a:solidFill>
                        <a:srgbClr val="00FFFF"/>
                      </a:solidFill>
                      <a:prstDash val="solid"/>
                      <a:round/>
                      <a:headEnd type="none" w="med" len="med"/>
                      <a:tailEnd type="none" w="med" len="med"/>
                    </a:lnB>
                  </a:tcPr>
                </a:tc>
              </a:tr>
              <a:tr h="762635">
                <a:tc>
                  <a:txBody>
                    <a:bodyPr/>
                    <a:lstStyle/>
                    <a:p>
                      <a:pPr marL="88900" marR="77470" algn="ctr">
                        <a:spcBef>
                          <a:spcPts val="300"/>
                        </a:spcBef>
                        <a:spcAft>
                          <a:spcPts val="0"/>
                        </a:spcAft>
                      </a:pPr>
                      <a:r>
                        <a:rPr lang="en-US" sz="2200">
                          <a:solidFill>
                            <a:srgbClr val="002060"/>
                          </a:solidFill>
                          <a:latin typeface="Times New Roman"/>
                        </a:rPr>
                        <a:t>2.</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c>
                  <a:txBody>
                    <a:bodyPr/>
                    <a:lstStyle/>
                    <a:p>
                      <a:pPr marL="36195" algn="l">
                        <a:spcBef>
                          <a:spcPts val="300"/>
                        </a:spcBef>
                        <a:spcAft>
                          <a:spcPts val="0"/>
                        </a:spcAft>
                      </a:pPr>
                      <a:r>
                        <a:rPr lang="en-US" sz="2200" dirty="0">
                          <a:solidFill>
                            <a:srgbClr val="002060"/>
                          </a:solidFill>
                          <a:latin typeface="Times New Roman"/>
                        </a:rPr>
                        <a:t>Steel</a:t>
                      </a:r>
                      <a:r>
                        <a:rPr lang="en-US" sz="2200" spc="225" dirty="0">
                          <a:solidFill>
                            <a:srgbClr val="002060"/>
                          </a:solidFill>
                          <a:latin typeface="Times New Roman"/>
                        </a:rPr>
                        <a:t> </a:t>
                      </a:r>
                      <a:r>
                        <a:rPr lang="en-US" sz="2200" dirty="0">
                          <a:solidFill>
                            <a:srgbClr val="002060"/>
                          </a:solidFill>
                          <a:latin typeface="Times New Roman"/>
                        </a:rPr>
                        <a:t>Mills</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c>
                  <a:txBody>
                    <a:bodyPr/>
                    <a:lstStyle/>
                    <a:p>
                      <a:pPr marL="35560" marR="25400" indent="-635" algn="just">
                        <a:lnSpc>
                          <a:spcPct val="102000"/>
                        </a:lnSpc>
                        <a:spcBef>
                          <a:spcPts val="300"/>
                        </a:spcBef>
                        <a:spcAft>
                          <a:spcPts val="0"/>
                        </a:spcAft>
                      </a:pPr>
                      <a:r>
                        <a:rPr lang="en-US" sz="2200" dirty="0">
                          <a:solidFill>
                            <a:srgbClr val="002060"/>
                          </a:solidFill>
                          <a:latin typeface="Times New Roman"/>
                        </a:rPr>
                        <a:t>Acids,</a:t>
                      </a:r>
                      <a:r>
                        <a:rPr lang="en-US" sz="2200" spc="5" dirty="0">
                          <a:solidFill>
                            <a:srgbClr val="002060"/>
                          </a:solidFill>
                          <a:latin typeface="Times New Roman"/>
                        </a:rPr>
                        <a:t> </a:t>
                      </a:r>
                      <a:r>
                        <a:rPr lang="en-US" sz="2200" dirty="0">
                          <a:solidFill>
                            <a:srgbClr val="002060"/>
                          </a:solidFill>
                          <a:latin typeface="Times New Roman"/>
                        </a:rPr>
                        <a:t>phenols,</a:t>
                      </a:r>
                      <a:r>
                        <a:rPr lang="en-US" sz="2200" spc="5" dirty="0">
                          <a:solidFill>
                            <a:srgbClr val="002060"/>
                          </a:solidFill>
                          <a:latin typeface="Times New Roman"/>
                        </a:rPr>
                        <a:t> </a:t>
                      </a:r>
                      <a:r>
                        <a:rPr lang="en-US" sz="2200" dirty="0">
                          <a:solidFill>
                            <a:srgbClr val="002060"/>
                          </a:solidFill>
                          <a:latin typeface="Times New Roman"/>
                        </a:rPr>
                        <a:t>low</a:t>
                      </a:r>
                      <a:r>
                        <a:rPr lang="en-US" sz="2200" spc="5" dirty="0">
                          <a:solidFill>
                            <a:srgbClr val="002060"/>
                          </a:solidFill>
                          <a:latin typeface="Times New Roman"/>
                        </a:rPr>
                        <a:t> </a:t>
                      </a:r>
                      <a:r>
                        <a:rPr lang="en-US" sz="2200" dirty="0">
                          <a:solidFill>
                            <a:srgbClr val="002060"/>
                          </a:solidFill>
                          <a:latin typeface="Times New Roman"/>
                        </a:rPr>
                        <a:t>pH,</a:t>
                      </a:r>
                      <a:r>
                        <a:rPr lang="en-US" sz="2200" spc="5" dirty="0">
                          <a:solidFill>
                            <a:srgbClr val="002060"/>
                          </a:solidFill>
                          <a:latin typeface="Times New Roman"/>
                        </a:rPr>
                        <a:t> </a:t>
                      </a:r>
                      <a:r>
                        <a:rPr lang="en-US" sz="2200" dirty="0">
                          <a:solidFill>
                            <a:srgbClr val="002060"/>
                          </a:solidFill>
                          <a:latin typeface="Times New Roman"/>
                        </a:rPr>
                        <a:t>alkali,</a:t>
                      </a:r>
                      <a:r>
                        <a:rPr lang="en-US" sz="2200" spc="5" dirty="0">
                          <a:solidFill>
                            <a:srgbClr val="002060"/>
                          </a:solidFill>
                          <a:latin typeface="Times New Roman"/>
                        </a:rPr>
                        <a:t> </a:t>
                      </a:r>
                      <a:r>
                        <a:rPr lang="en-US" sz="2200" dirty="0">
                          <a:solidFill>
                            <a:srgbClr val="002060"/>
                          </a:solidFill>
                          <a:latin typeface="Times New Roman"/>
                        </a:rPr>
                        <a:t>limestone,</a:t>
                      </a:r>
                      <a:r>
                        <a:rPr lang="en-US" sz="2200" spc="5" dirty="0">
                          <a:solidFill>
                            <a:srgbClr val="002060"/>
                          </a:solidFill>
                          <a:latin typeface="Times New Roman"/>
                        </a:rPr>
                        <a:t> </a:t>
                      </a:r>
                      <a:r>
                        <a:rPr lang="en-US" sz="2200" dirty="0">
                          <a:solidFill>
                            <a:srgbClr val="002060"/>
                          </a:solidFill>
                          <a:latin typeface="Times New Roman"/>
                        </a:rPr>
                        <a:t>oils,</a:t>
                      </a:r>
                      <a:r>
                        <a:rPr lang="en-US" sz="2200" spc="5" dirty="0">
                          <a:solidFill>
                            <a:srgbClr val="002060"/>
                          </a:solidFill>
                          <a:latin typeface="Times New Roman"/>
                        </a:rPr>
                        <a:t> </a:t>
                      </a:r>
                      <a:r>
                        <a:rPr lang="en-US" sz="2200" dirty="0">
                          <a:solidFill>
                            <a:srgbClr val="002060"/>
                          </a:solidFill>
                          <a:latin typeface="Times New Roman"/>
                        </a:rPr>
                        <a:t>fine</a:t>
                      </a:r>
                      <a:r>
                        <a:rPr lang="en-US" sz="2200" spc="5" dirty="0">
                          <a:solidFill>
                            <a:srgbClr val="002060"/>
                          </a:solidFill>
                          <a:latin typeface="Times New Roman"/>
                        </a:rPr>
                        <a:t> </a:t>
                      </a:r>
                      <a:r>
                        <a:rPr lang="en-US" sz="2200" dirty="0">
                          <a:solidFill>
                            <a:srgbClr val="002060"/>
                          </a:solidFill>
                          <a:latin typeface="Times New Roman"/>
                        </a:rPr>
                        <a:t>suspended</a:t>
                      </a:r>
                      <a:r>
                        <a:rPr lang="en-US" sz="2200" spc="5" dirty="0">
                          <a:solidFill>
                            <a:srgbClr val="002060"/>
                          </a:solidFill>
                          <a:latin typeface="Times New Roman"/>
                        </a:rPr>
                        <a:t> </a:t>
                      </a:r>
                      <a:r>
                        <a:rPr lang="en-US" sz="2200" dirty="0">
                          <a:solidFill>
                            <a:srgbClr val="002060"/>
                          </a:solidFill>
                          <a:latin typeface="Times New Roman"/>
                        </a:rPr>
                        <a:t>solids,</a:t>
                      </a:r>
                      <a:r>
                        <a:rPr lang="en-US" sz="2200" spc="5" dirty="0">
                          <a:solidFill>
                            <a:srgbClr val="002060"/>
                          </a:solidFill>
                          <a:latin typeface="Times New Roman"/>
                        </a:rPr>
                        <a:t> </a:t>
                      </a:r>
                      <a:r>
                        <a:rPr lang="en-US" sz="2200" dirty="0">
                          <a:solidFill>
                            <a:srgbClr val="002060"/>
                          </a:solidFill>
                          <a:latin typeface="Times New Roman"/>
                        </a:rPr>
                        <a:t>cyanides,</a:t>
                      </a:r>
                      <a:r>
                        <a:rPr lang="en-US" sz="2200" spc="5" dirty="0">
                          <a:solidFill>
                            <a:srgbClr val="002060"/>
                          </a:solidFill>
                          <a:latin typeface="Times New Roman"/>
                        </a:rPr>
                        <a:t> </a:t>
                      </a:r>
                      <a:r>
                        <a:rPr lang="en-US" sz="2200" dirty="0" err="1">
                          <a:solidFill>
                            <a:srgbClr val="002060"/>
                          </a:solidFill>
                          <a:latin typeface="Times New Roman"/>
                        </a:rPr>
                        <a:t>cyanates</a:t>
                      </a:r>
                      <a:r>
                        <a:rPr lang="en-US" sz="2200" dirty="0">
                          <a:solidFill>
                            <a:srgbClr val="002060"/>
                          </a:solidFill>
                          <a:latin typeface="Times New Roman"/>
                        </a:rPr>
                        <a:t>,</a:t>
                      </a:r>
                      <a:r>
                        <a:rPr lang="en-US" sz="2200" spc="5" dirty="0">
                          <a:solidFill>
                            <a:srgbClr val="002060"/>
                          </a:solidFill>
                          <a:latin typeface="Times New Roman"/>
                        </a:rPr>
                        <a:t> </a:t>
                      </a:r>
                      <a:r>
                        <a:rPr lang="en-US" sz="2200" dirty="0">
                          <a:solidFill>
                            <a:srgbClr val="002060"/>
                          </a:solidFill>
                          <a:latin typeface="Times New Roman"/>
                        </a:rPr>
                        <a:t>iron</a:t>
                      </a:r>
                      <a:r>
                        <a:rPr lang="en-US" sz="2200" spc="-260" dirty="0">
                          <a:solidFill>
                            <a:srgbClr val="002060"/>
                          </a:solidFill>
                          <a:latin typeface="Times New Roman"/>
                        </a:rPr>
                        <a:t> </a:t>
                      </a:r>
                      <a:r>
                        <a:rPr lang="en-US" sz="2200" dirty="0">
                          <a:solidFill>
                            <a:srgbClr val="002060"/>
                          </a:solidFill>
                          <a:latin typeface="Times New Roman"/>
                        </a:rPr>
                        <a:t>salts,</a:t>
                      </a:r>
                      <a:r>
                        <a:rPr lang="en-US" sz="2200" spc="220" dirty="0">
                          <a:solidFill>
                            <a:srgbClr val="002060"/>
                          </a:solidFill>
                          <a:latin typeface="Times New Roman"/>
                        </a:rPr>
                        <a:t> </a:t>
                      </a:r>
                      <a:r>
                        <a:rPr lang="en-US" sz="2200" dirty="0">
                          <a:solidFill>
                            <a:srgbClr val="002060"/>
                          </a:solidFill>
                          <a:latin typeface="Times New Roman"/>
                        </a:rPr>
                        <a:t>ores</a:t>
                      </a:r>
                      <a:r>
                        <a:rPr lang="en-US" sz="2200" spc="225" dirty="0">
                          <a:solidFill>
                            <a:srgbClr val="002060"/>
                          </a:solidFill>
                          <a:latin typeface="Times New Roman"/>
                        </a:rPr>
                        <a:t> </a:t>
                      </a:r>
                      <a:r>
                        <a:rPr lang="en-US" sz="2200" dirty="0">
                          <a:solidFill>
                            <a:srgbClr val="002060"/>
                          </a:solidFill>
                          <a:latin typeface="Times New Roman"/>
                        </a:rPr>
                        <a:t>and</a:t>
                      </a:r>
                      <a:r>
                        <a:rPr lang="en-US" sz="2200" spc="240" dirty="0">
                          <a:solidFill>
                            <a:srgbClr val="002060"/>
                          </a:solidFill>
                          <a:latin typeface="Times New Roman"/>
                        </a:rPr>
                        <a:t> </a:t>
                      </a:r>
                      <a:r>
                        <a:rPr lang="en-US" sz="2200" dirty="0">
                          <a:solidFill>
                            <a:srgbClr val="002060"/>
                          </a:solidFill>
                          <a:latin typeface="Times New Roman"/>
                        </a:rPr>
                        <a:t>coke.</a:t>
                      </a:r>
                    </a:p>
                  </a:txBody>
                  <a:tcPr>
                    <a:lnL w="9525" cap="flat" cmpd="sng" algn="ctr">
                      <a:solidFill>
                        <a:srgbClr val="00FFFF"/>
                      </a:solidFill>
                      <a:prstDash val="solid"/>
                      <a:round/>
                      <a:headEnd type="none" w="med" len="med"/>
                      <a:tailEnd type="none" w="med" len="med"/>
                    </a:lnL>
                    <a:lnR w="76200"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r>
              <a:tr h="432435">
                <a:tc>
                  <a:txBody>
                    <a:bodyPr/>
                    <a:lstStyle/>
                    <a:p>
                      <a:pPr marL="88900" marR="77470" algn="ctr">
                        <a:spcBef>
                          <a:spcPts val="300"/>
                        </a:spcBef>
                        <a:spcAft>
                          <a:spcPts val="0"/>
                        </a:spcAft>
                      </a:pPr>
                      <a:r>
                        <a:rPr lang="en-US" sz="2200">
                          <a:solidFill>
                            <a:srgbClr val="002060"/>
                          </a:solidFill>
                          <a:latin typeface="Times New Roman"/>
                        </a:rPr>
                        <a:t>3.</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c>
                  <a:txBody>
                    <a:bodyPr/>
                    <a:lstStyle/>
                    <a:p>
                      <a:pPr marL="36195" algn="l">
                        <a:spcBef>
                          <a:spcPts val="300"/>
                        </a:spcBef>
                        <a:spcAft>
                          <a:spcPts val="0"/>
                        </a:spcAft>
                      </a:pPr>
                      <a:r>
                        <a:rPr lang="en-US" sz="2200">
                          <a:solidFill>
                            <a:srgbClr val="002060"/>
                          </a:solidFill>
                          <a:latin typeface="Times New Roman"/>
                        </a:rPr>
                        <a:t>Cotton</a:t>
                      </a:r>
                      <a:r>
                        <a:rPr lang="en-US" sz="2200" spc="105">
                          <a:solidFill>
                            <a:srgbClr val="002060"/>
                          </a:solidFill>
                          <a:latin typeface="Times New Roman"/>
                        </a:rPr>
                        <a:t> </a:t>
                      </a:r>
                      <a:r>
                        <a:rPr lang="en-US" sz="2200">
                          <a:solidFill>
                            <a:srgbClr val="002060"/>
                          </a:solidFill>
                          <a:latin typeface="Times New Roman"/>
                        </a:rPr>
                        <a:t>Industry</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c>
                  <a:txBody>
                    <a:bodyPr/>
                    <a:lstStyle/>
                    <a:p>
                      <a:pPr marL="35560" marR="25400" algn="l">
                        <a:lnSpc>
                          <a:spcPct val="102000"/>
                        </a:lnSpc>
                        <a:spcBef>
                          <a:spcPts val="300"/>
                        </a:spcBef>
                        <a:spcAft>
                          <a:spcPts val="0"/>
                        </a:spcAft>
                      </a:pPr>
                      <a:r>
                        <a:rPr lang="en-US" sz="2200">
                          <a:solidFill>
                            <a:srgbClr val="002060"/>
                          </a:solidFill>
                          <a:latin typeface="Times New Roman"/>
                        </a:rPr>
                        <a:t>Sodium,</a:t>
                      </a:r>
                      <a:r>
                        <a:rPr lang="en-US" sz="2200" spc="215">
                          <a:solidFill>
                            <a:srgbClr val="002060"/>
                          </a:solidFill>
                          <a:latin typeface="Times New Roman"/>
                        </a:rPr>
                        <a:t> </a:t>
                      </a:r>
                      <a:r>
                        <a:rPr lang="en-US" sz="2200">
                          <a:solidFill>
                            <a:srgbClr val="002060"/>
                          </a:solidFill>
                          <a:latin typeface="Times New Roman"/>
                        </a:rPr>
                        <a:t>organic</a:t>
                      </a:r>
                      <a:r>
                        <a:rPr lang="en-US" sz="2200" spc="215">
                          <a:solidFill>
                            <a:srgbClr val="002060"/>
                          </a:solidFill>
                          <a:latin typeface="Times New Roman"/>
                        </a:rPr>
                        <a:t> </a:t>
                      </a:r>
                      <a:r>
                        <a:rPr lang="en-US" sz="2200">
                          <a:solidFill>
                            <a:srgbClr val="002060"/>
                          </a:solidFill>
                          <a:latin typeface="Times New Roman"/>
                        </a:rPr>
                        <a:t>matter,</a:t>
                      </a:r>
                      <a:r>
                        <a:rPr lang="en-US" sz="2200" spc="205">
                          <a:solidFill>
                            <a:srgbClr val="002060"/>
                          </a:solidFill>
                          <a:latin typeface="Times New Roman"/>
                        </a:rPr>
                        <a:t> </a:t>
                      </a:r>
                      <a:r>
                        <a:rPr lang="en-US" sz="2200">
                          <a:solidFill>
                            <a:srgbClr val="002060"/>
                          </a:solidFill>
                          <a:latin typeface="Times New Roman"/>
                        </a:rPr>
                        <a:t>colour,</a:t>
                      </a:r>
                      <a:r>
                        <a:rPr lang="en-US" sz="2200" spc="-260">
                          <a:solidFill>
                            <a:srgbClr val="002060"/>
                          </a:solidFill>
                          <a:latin typeface="Times New Roman"/>
                        </a:rPr>
                        <a:t> </a:t>
                      </a:r>
                      <a:r>
                        <a:rPr lang="en-US" sz="2200">
                          <a:solidFill>
                            <a:srgbClr val="002060"/>
                          </a:solidFill>
                          <a:latin typeface="Times New Roman"/>
                        </a:rPr>
                        <a:t>high</a:t>
                      </a:r>
                      <a:r>
                        <a:rPr lang="en-US" sz="2200" spc="220">
                          <a:solidFill>
                            <a:srgbClr val="002060"/>
                          </a:solidFill>
                          <a:latin typeface="Times New Roman"/>
                        </a:rPr>
                        <a:t> </a:t>
                      </a:r>
                      <a:r>
                        <a:rPr lang="en-US" sz="2200">
                          <a:solidFill>
                            <a:srgbClr val="002060"/>
                          </a:solidFill>
                          <a:latin typeface="Times New Roman"/>
                        </a:rPr>
                        <a:t>pH</a:t>
                      </a:r>
                      <a:r>
                        <a:rPr lang="en-US" sz="2200" spc="240">
                          <a:solidFill>
                            <a:srgbClr val="002060"/>
                          </a:solidFill>
                          <a:latin typeface="Times New Roman"/>
                        </a:rPr>
                        <a:t> </a:t>
                      </a:r>
                      <a:r>
                        <a:rPr lang="en-US" sz="2200">
                          <a:solidFill>
                            <a:srgbClr val="002060"/>
                          </a:solidFill>
                          <a:latin typeface="Times New Roman"/>
                        </a:rPr>
                        <a:t>and</a:t>
                      </a:r>
                      <a:r>
                        <a:rPr lang="en-US" sz="2200" spc="225">
                          <a:solidFill>
                            <a:srgbClr val="002060"/>
                          </a:solidFill>
                          <a:latin typeface="Times New Roman"/>
                        </a:rPr>
                        <a:t> </a:t>
                      </a:r>
                      <a:r>
                        <a:rPr lang="en-US" sz="2200">
                          <a:solidFill>
                            <a:srgbClr val="002060"/>
                          </a:solidFill>
                          <a:latin typeface="Times New Roman"/>
                        </a:rPr>
                        <a:t>fibres.</a:t>
                      </a:r>
                    </a:p>
                  </a:txBody>
                  <a:tcPr>
                    <a:lnL w="9525" cap="flat" cmpd="sng" algn="ctr">
                      <a:solidFill>
                        <a:srgbClr val="00FFFF"/>
                      </a:solidFill>
                      <a:prstDash val="solid"/>
                      <a:round/>
                      <a:headEnd type="none" w="med" len="med"/>
                      <a:tailEnd type="none" w="med" len="med"/>
                    </a:lnL>
                    <a:lnR w="76200"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r>
              <a:tr h="596900">
                <a:tc>
                  <a:txBody>
                    <a:bodyPr/>
                    <a:lstStyle/>
                    <a:p>
                      <a:pPr marL="88900" marR="77470" algn="ctr">
                        <a:spcBef>
                          <a:spcPts val="315"/>
                        </a:spcBef>
                        <a:spcAft>
                          <a:spcPts val="0"/>
                        </a:spcAft>
                      </a:pPr>
                      <a:r>
                        <a:rPr lang="en-US" sz="2200">
                          <a:solidFill>
                            <a:srgbClr val="002060"/>
                          </a:solidFill>
                          <a:latin typeface="Times New Roman"/>
                        </a:rPr>
                        <a:t>4.</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c>
                  <a:txBody>
                    <a:bodyPr/>
                    <a:lstStyle/>
                    <a:p>
                      <a:pPr marL="36195" algn="l">
                        <a:spcBef>
                          <a:spcPts val="315"/>
                        </a:spcBef>
                        <a:spcAft>
                          <a:spcPts val="0"/>
                        </a:spcAft>
                      </a:pPr>
                      <a:r>
                        <a:rPr lang="en-US" sz="2200">
                          <a:solidFill>
                            <a:srgbClr val="002060"/>
                          </a:solidFill>
                          <a:latin typeface="Times New Roman"/>
                        </a:rPr>
                        <a:t>Metal</a:t>
                      </a:r>
                      <a:r>
                        <a:rPr lang="en-US" sz="2200" spc="215">
                          <a:solidFill>
                            <a:srgbClr val="002060"/>
                          </a:solidFill>
                          <a:latin typeface="Times New Roman"/>
                        </a:rPr>
                        <a:t> </a:t>
                      </a:r>
                      <a:r>
                        <a:rPr lang="en-US" sz="2200">
                          <a:solidFill>
                            <a:srgbClr val="002060"/>
                          </a:solidFill>
                          <a:latin typeface="Times New Roman"/>
                        </a:rPr>
                        <a:t>Plating</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c>
                  <a:txBody>
                    <a:bodyPr/>
                    <a:lstStyle/>
                    <a:p>
                      <a:pPr marL="35560" marR="25400" algn="just">
                        <a:lnSpc>
                          <a:spcPct val="101000"/>
                        </a:lnSpc>
                        <a:spcBef>
                          <a:spcPts val="315"/>
                        </a:spcBef>
                        <a:spcAft>
                          <a:spcPts val="0"/>
                        </a:spcAft>
                      </a:pPr>
                      <a:r>
                        <a:rPr lang="en-US" sz="2200" dirty="0" err="1">
                          <a:solidFill>
                            <a:srgbClr val="002060"/>
                          </a:solidFill>
                          <a:latin typeface="Times New Roman"/>
                        </a:rPr>
                        <a:t>Metallics</a:t>
                      </a:r>
                      <a:r>
                        <a:rPr lang="en-US" sz="2200" dirty="0">
                          <a:solidFill>
                            <a:srgbClr val="002060"/>
                          </a:solidFill>
                          <a:latin typeface="Times New Roman"/>
                        </a:rPr>
                        <a:t>,</a:t>
                      </a:r>
                      <a:r>
                        <a:rPr lang="en-US" sz="2200" spc="5" dirty="0">
                          <a:solidFill>
                            <a:srgbClr val="002060"/>
                          </a:solidFill>
                          <a:latin typeface="Times New Roman"/>
                        </a:rPr>
                        <a:t> </a:t>
                      </a:r>
                      <a:r>
                        <a:rPr lang="en-US" sz="2200" dirty="0">
                          <a:solidFill>
                            <a:srgbClr val="002060"/>
                          </a:solidFill>
                          <a:latin typeface="Times New Roman"/>
                        </a:rPr>
                        <a:t>toxic</a:t>
                      </a:r>
                      <a:r>
                        <a:rPr lang="en-US" sz="2200" spc="5" dirty="0">
                          <a:solidFill>
                            <a:srgbClr val="002060"/>
                          </a:solidFill>
                          <a:latin typeface="Times New Roman"/>
                        </a:rPr>
                        <a:t> </a:t>
                      </a:r>
                      <a:r>
                        <a:rPr lang="en-US" sz="2200" dirty="0">
                          <a:solidFill>
                            <a:srgbClr val="002060"/>
                          </a:solidFill>
                          <a:latin typeface="Times New Roman"/>
                        </a:rPr>
                        <a:t>cyanides,</a:t>
                      </a:r>
                      <a:r>
                        <a:rPr lang="en-US" sz="2200" spc="5" dirty="0">
                          <a:solidFill>
                            <a:srgbClr val="002060"/>
                          </a:solidFill>
                          <a:latin typeface="Times New Roman"/>
                        </a:rPr>
                        <a:t> </a:t>
                      </a:r>
                      <a:r>
                        <a:rPr lang="en-US" sz="2200" dirty="0">
                          <a:solidFill>
                            <a:srgbClr val="002060"/>
                          </a:solidFill>
                          <a:latin typeface="Times New Roman"/>
                        </a:rPr>
                        <a:t>cadmium,</a:t>
                      </a:r>
                      <a:r>
                        <a:rPr lang="en-US" sz="2200" spc="280" dirty="0">
                          <a:solidFill>
                            <a:srgbClr val="002060"/>
                          </a:solidFill>
                          <a:latin typeface="Times New Roman"/>
                        </a:rPr>
                        <a:t> </a:t>
                      </a:r>
                      <a:r>
                        <a:rPr lang="en-US" sz="2200" dirty="0">
                          <a:solidFill>
                            <a:srgbClr val="002060"/>
                          </a:solidFill>
                          <a:latin typeface="Times New Roman"/>
                        </a:rPr>
                        <a:t>chromium,</a:t>
                      </a:r>
                      <a:r>
                        <a:rPr lang="en-US" sz="2200" spc="280" dirty="0">
                          <a:solidFill>
                            <a:srgbClr val="002060"/>
                          </a:solidFill>
                          <a:latin typeface="Times New Roman"/>
                        </a:rPr>
                        <a:t> </a:t>
                      </a:r>
                      <a:r>
                        <a:rPr lang="en-US" sz="2200" dirty="0">
                          <a:solidFill>
                            <a:srgbClr val="002060"/>
                          </a:solidFill>
                          <a:latin typeface="Times New Roman"/>
                        </a:rPr>
                        <a:t>zinc,</a:t>
                      </a:r>
                      <a:r>
                        <a:rPr lang="en-US" sz="2200" spc="5" dirty="0">
                          <a:solidFill>
                            <a:srgbClr val="002060"/>
                          </a:solidFill>
                          <a:latin typeface="Times New Roman"/>
                        </a:rPr>
                        <a:t> </a:t>
                      </a:r>
                      <a:r>
                        <a:rPr lang="en-US" sz="2200" dirty="0">
                          <a:solidFill>
                            <a:srgbClr val="002060"/>
                          </a:solidFill>
                          <a:latin typeface="Times New Roman"/>
                        </a:rPr>
                        <a:t>copper,</a:t>
                      </a:r>
                      <a:r>
                        <a:rPr lang="en-US" sz="2200" spc="220" dirty="0">
                          <a:solidFill>
                            <a:srgbClr val="002060"/>
                          </a:solidFill>
                          <a:latin typeface="Times New Roman"/>
                        </a:rPr>
                        <a:t> </a:t>
                      </a:r>
                      <a:r>
                        <a:rPr lang="en-US" sz="2200" dirty="0" err="1">
                          <a:solidFill>
                            <a:srgbClr val="002060"/>
                          </a:solidFill>
                          <a:latin typeface="Times New Roman"/>
                        </a:rPr>
                        <a:t>aluminium</a:t>
                      </a:r>
                      <a:r>
                        <a:rPr lang="en-US" sz="2200" spc="210" dirty="0">
                          <a:solidFill>
                            <a:srgbClr val="002060"/>
                          </a:solidFill>
                          <a:latin typeface="Times New Roman"/>
                        </a:rPr>
                        <a:t> </a:t>
                      </a:r>
                      <a:r>
                        <a:rPr lang="en-US" sz="2200" dirty="0">
                          <a:solidFill>
                            <a:srgbClr val="002060"/>
                          </a:solidFill>
                          <a:latin typeface="Times New Roman"/>
                        </a:rPr>
                        <a:t>and</a:t>
                      </a:r>
                      <a:r>
                        <a:rPr lang="en-US" sz="2200" spc="220" dirty="0">
                          <a:solidFill>
                            <a:srgbClr val="002060"/>
                          </a:solidFill>
                          <a:latin typeface="Times New Roman"/>
                        </a:rPr>
                        <a:t> </a:t>
                      </a:r>
                      <a:endParaRPr lang="en-US" sz="2200" spc="220" dirty="0" smtClean="0">
                        <a:solidFill>
                          <a:srgbClr val="002060"/>
                        </a:solidFill>
                        <a:latin typeface="Times New Roman"/>
                      </a:endParaRPr>
                    </a:p>
                    <a:p>
                      <a:pPr marL="35560" marR="25400" algn="just">
                        <a:lnSpc>
                          <a:spcPct val="101000"/>
                        </a:lnSpc>
                        <a:spcBef>
                          <a:spcPts val="315"/>
                        </a:spcBef>
                        <a:spcAft>
                          <a:spcPts val="0"/>
                        </a:spcAft>
                      </a:pPr>
                      <a:r>
                        <a:rPr lang="en-US" sz="2200" dirty="0" smtClean="0">
                          <a:solidFill>
                            <a:srgbClr val="002060"/>
                          </a:solidFill>
                          <a:latin typeface="Times New Roman"/>
                        </a:rPr>
                        <a:t>low</a:t>
                      </a:r>
                      <a:r>
                        <a:rPr lang="en-US" sz="2200" spc="220" dirty="0">
                          <a:solidFill>
                            <a:srgbClr val="002060"/>
                          </a:solidFill>
                          <a:latin typeface="Times New Roman"/>
                        </a:rPr>
                        <a:t> </a:t>
                      </a:r>
                      <a:r>
                        <a:rPr lang="en-US" sz="2200" dirty="0" err="1">
                          <a:solidFill>
                            <a:srgbClr val="002060"/>
                          </a:solidFill>
                          <a:latin typeface="Times New Roman"/>
                        </a:rPr>
                        <a:t>pH.</a:t>
                      </a:r>
                      <a:endParaRPr lang="en-US" sz="2200" dirty="0">
                        <a:solidFill>
                          <a:srgbClr val="002060"/>
                        </a:solidFill>
                        <a:latin typeface="Times New Roman"/>
                      </a:endParaRPr>
                    </a:p>
                  </a:txBody>
                  <a:tcPr>
                    <a:lnL w="9525" cap="flat" cmpd="sng" algn="ctr">
                      <a:solidFill>
                        <a:srgbClr val="00FFFF"/>
                      </a:solidFill>
                      <a:prstDash val="solid"/>
                      <a:round/>
                      <a:headEnd type="none" w="med" len="med"/>
                      <a:tailEnd type="none" w="med" len="med"/>
                    </a:lnL>
                    <a:lnR w="76200"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r>
            </a:tbl>
          </a:graphicData>
        </a:graphic>
      </p:graphicFrame>
    </p:spTree>
  </p:cSld>
  <p:clrMapOvr>
    <a:masterClrMapping/>
  </p:clrMapOvr>
  <p:transition spd="slow">
    <p:push/>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762000" y="1219200"/>
          <a:ext cx="7543800" cy="4816001"/>
        </p:xfrm>
        <a:graphic>
          <a:graphicData uri="http://schemas.openxmlformats.org/drawingml/2006/table">
            <a:tbl>
              <a:tblPr/>
              <a:tblGrid>
                <a:gridCol w="693338"/>
                <a:gridCol w="2182942"/>
                <a:gridCol w="4667520"/>
              </a:tblGrid>
              <a:tr h="958485">
                <a:tc>
                  <a:txBody>
                    <a:bodyPr/>
                    <a:lstStyle/>
                    <a:p>
                      <a:pPr marL="88265" marR="78105" algn="ctr">
                        <a:spcBef>
                          <a:spcPts val="315"/>
                        </a:spcBef>
                        <a:spcAft>
                          <a:spcPts val="0"/>
                        </a:spcAft>
                      </a:pPr>
                      <a:r>
                        <a:rPr lang="en-US" sz="2200" dirty="0" smtClean="0">
                          <a:solidFill>
                            <a:srgbClr val="002060"/>
                          </a:solidFill>
                          <a:latin typeface="Times New Roman"/>
                        </a:rPr>
                        <a:t>5</a:t>
                      </a:r>
                      <a:r>
                        <a:rPr lang="en-US" sz="2200" dirty="0">
                          <a:solidFill>
                            <a:srgbClr val="002060"/>
                          </a:solidFill>
                          <a:latin typeface="Times New Roman"/>
                        </a:rPr>
                        <a:t>.</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c>
                  <a:txBody>
                    <a:bodyPr/>
                    <a:lstStyle/>
                    <a:p>
                      <a:pPr marL="36195" algn="l">
                        <a:spcBef>
                          <a:spcPts val="315"/>
                        </a:spcBef>
                        <a:spcAft>
                          <a:spcPts val="0"/>
                        </a:spcAft>
                      </a:pPr>
                      <a:r>
                        <a:rPr lang="en-US" sz="2200">
                          <a:solidFill>
                            <a:srgbClr val="002060"/>
                          </a:solidFill>
                          <a:latin typeface="Times New Roman"/>
                        </a:rPr>
                        <a:t>Iron</a:t>
                      </a:r>
                      <a:r>
                        <a:rPr lang="en-US" sz="2200" spc="210">
                          <a:solidFill>
                            <a:srgbClr val="002060"/>
                          </a:solidFill>
                          <a:latin typeface="Times New Roman"/>
                        </a:rPr>
                        <a:t> </a:t>
                      </a:r>
                      <a:r>
                        <a:rPr lang="en-US" sz="2200">
                          <a:solidFill>
                            <a:srgbClr val="002060"/>
                          </a:solidFill>
                          <a:latin typeface="Times New Roman"/>
                        </a:rPr>
                        <a:t>Foundry</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c>
                  <a:txBody>
                    <a:bodyPr/>
                    <a:lstStyle/>
                    <a:p>
                      <a:pPr marL="35560" marR="25400" algn="l">
                        <a:lnSpc>
                          <a:spcPct val="101000"/>
                        </a:lnSpc>
                        <a:spcBef>
                          <a:spcPts val="315"/>
                        </a:spcBef>
                        <a:spcAft>
                          <a:spcPts val="0"/>
                        </a:spcAft>
                      </a:pPr>
                      <a:r>
                        <a:rPr lang="en-US" sz="2200" dirty="0">
                          <a:solidFill>
                            <a:srgbClr val="002060"/>
                          </a:solidFill>
                          <a:latin typeface="Times New Roman"/>
                        </a:rPr>
                        <a:t>Coal,</a:t>
                      </a:r>
                      <a:r>
                        <a:rPr lang="en-US" sz="2200" spc="15" dirty="0">
                          <a:solidFill>
                            <a:srgbClr val="002060"/>
                          </a:solidFill>
                          <a:latin typeface="Times New Roman"/>
                        </a:rPr>
                        <a:t> </a:t>
                      </a:r>
                      <a:r>
                        <a:rPr lang="en-US" sz="2200" dirty="0">
                          <a:solidFill>
                            <a:srgbClr val="002060"/>
                          </a:solidFill>
                          <a:latin typeface="Times New Roman"/>
                        </a:rPr>
                        <a:t>clay,</a:t>
                      </a:r>
                      <a:r>
                        <a:rPr lang="en-US" sz="2200" spc="15" dirty="0">
                          <a:solidFill>
                            <a:srgbClr val="002060"/>
                          </a:solidFill>
                          <a:latin typeface="Times New Roman"/>
                        </a:rPr>
                        <a:t> </a:t>
                      </a:r>
                      <a:r>
                        <a:rPr lang="en-US" sz="2200" dirty="0">
                          <a:solidFill>
                            <a:srgbClr val="002060"/>
                          </a:solidFill>
                          <a:latin typeface="Times New Roman"/>
                        </a:rPr>
                        <a:t>suspended</a:t>
                      </a:r>
                      <a:r>
                        <a:rPr lang="en-US" sz="2200" spc="5" dirty="0">
                          <a:solidFill>
                            <a:srgbClr val="002060"/>
                          </a:solidFill>
                          <a:latin typeface="Times New Roman"/>
                        </a:rPr>
                        <a:t> </a:t>
                      </a:r>
                      <a:r>
                        <a:rPr lang="en-US" sz="2200" dirty="0">
                          <a:solidFill>
                            <a:srgbClr val="002060"/>
                          </a:solidFill>
                          <a:latin typeface="Times New Roman"/>
                        </a:rPr>
                        <a:t>solids</a:t>
                      </a:r>
                      <a:r>
                        <a:rPr lang="en-US" sz="2200" spc="5" dirty="0">
                          <a:solidFill>
                            <a:srgbClr val="002060"/>
                          </a:solidFill>
                          <a:latin typeface="Times New Roman"/>
                        </a:rPr>
                        <a:t> </a:t>
                      </a:r>
                      <a:r>
                        <a:rPr lang="en-US" sz="2200" dirty="0">
                          <a:solidFill>
                            <a:srgbClr val="002060"/>
                          </a:solidFill>
                          <a:latin typeface="Times New Roman"/>
                        </a:rPr>
                        <a:t>and</a:t>
                      </a:r>
                      <a:r>
                        <a:rPr lang="en-US" sz="2200" spc="-260" dirty="0">
                          <a:solidFill>
                            <a:srgbClr val="002060"/>
                          </a:solidFill>
                          <a:latin typeface="Times New Roman"/>
                        </a:rPr>
                        <a:t> </a:t>
                      </a:r>
                      <a:endParaRPr lang="en-US" sz="2200" spc="-260" dirty="0" smtClean="0">
                        <a:solidFill>
                          <a:srgbClr val="002060"/>
                        </a:solidFill>
                        <a:latin typeface="Times New Roman"/>
                      </a:endParaRPr>
                    </a:p>
                    <a:p>
                      <a:pPr marL="35560" marR="25400" algn="l">
                        <a:lnSpc>
                          <a:spcPct val="101000"/>
                        </a:lnSpc>
                        <a:spcBef>
                          <a:spcPts val="315"/>
                        </a:spcBef>
                        <a:spcAft>
                          <a:spcPts val="0"/>
                        </a:spcAft>
                      </a:pPr>
                      <a:r>
                        <a:rPr lang="en-US" sz="2200" dirty="0" smtClean="0">
                          <a:solidFill>
                            <a:srgbClr val="002060"/>
                          </a:solidFill>
                          <a:latin typeface="Times New Roman"/>
                        </a:rPr>
                        <a:t>iron</a:t>
                      </a:r>
                      <a:r>
                        <a:rPr lang="en-US" sz="2200" dirty="0">
                          <a:solidFill>
                            <a:srgbClr val="002060"/>
                          </a:solidFill>
                          <a:latin typeface="Times New Roman"/>
                        </a:rPr>
                        <a:t>.</a:t>
                      </a:r>
                    </a:p>
                  </a:txBody>
                  <a:tcPr>
                    <a:lnL w="9525" cap="flat" cmpd="sng" algn="ctr">
                      <a:solidFill>
                        <a:srgbClr val="00FFFF"/>
                      </a:solidFill>
                      <a:prstDash val="solid"/>
                      <a:round/>
                      <a:headEnd type="none" w="med" len="med"/>
                      <a:tailEnd type="none" w="med" len="med"/>
                    </a:lnL>
                    <a:lnR w="76200"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r>
              <a:tr h="965007">
                <a:tc>
                  <a:txBody>
                    <a:bodyPr/>
                    <a:lstStyle/>
                    <a:p>
                      <a:pPr marL="88900" marR="78105" algn="ctr">
                        <a:spcBef>
                          <a:spcPts val="300"/>
                        </a:spcBef>
                        <a:spcAft>
                          <a:spcPts val="0"/>
                        </a:spcAft>
                      </a:pPr>
                      <a:r>
                        <a:rPr lang="en-US" sz="2200">
                          <a:solidFill>
                            <a:srgbClr val="002060"/>
                          </a:solidFill>
                          <a:latin typeface="Times New Roman"/>
                        </a:rPr>
                        <a:t>6.</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c>
                  <a:txBody>
                    <a:bodyPr/>
                    <a:lstStyle/>
                    <a:p>
                      <a:pPr marL="36195" algn="l">
                        <a:spcBef>
                          <a:spcPts val="300"/>
                        </a:spcBef>
                        <a:spcAft>
                          <a:spcPts val="0"/>
                        </a:spcAft>
                      </a:pPr>
                      <a:r>
                        <a:rPr lang="en-US" sz="2200">
                          <a:solidFill>
                            <a:srgbClr val="002060"/>
                          </a:solidFill>
                          <a:latin typeface="Times New Roman"/>
                        </a:rPr>
                        <a:t>Pesticides</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c>
                  <a:txBody>
                    <a:bodyPr/>
                    <a:lstStyle/>
                    <a:p>
                      <a:pPr marL="35560" marR="20320" indent="-635" algn="l">
                        <a:lnSpc>
                          <a:spcPct val="102000"/>
                        </a:lnSpc>
                        <a:spcBef>
                          <a:spcPts val="300"/>
                        </a:spcBef>
                        <a:spcAft>
                          <a:spcPts val="0"/>
                        </a:spcAft>
                      </a:pPr>
                      <a:r>
                        <a:rPr lang="en-US" sz="2200">
                          <a:solidFill>
                            <a:srgbClr val="002060"/>
                          </a:solidFill>
                          <a:latin typeface="Times New Roman"/>
                        </a:rPr>
                        <a:t>Aromatic</a:t>
                      </a:r>
                      <a:r>
                        <a:rPr lang="en-US" sz="2200" spc="175">
                          <a:solidFill>
                            <a:srgbClr val="002060"/>
                          </a:solidFill>
                          <a:latin typeface="Times New Roman"/>
                        </a:rPr>
                        <a:t> </a:t>
                      </a:r>
                      <a:r>
                        <a:rPr lang="en-US" sz="2200">
                          <a:solidFill>
                            <a:srgbClr val="002060"/>
                          </a:solidFill>
                          <a:latin typeface="Times New Roman"/>
                        </a:rPr>
                        <a:t>compounds,</a:t>
                      </a:r>
                      <a:r>
                        <a:rPr lang="en-US" sz="2200" spc="190">
                          <a:solidFill>
                            <a:srgbClr val="002060"/>
                          </a:solidFill>
                          <a:latin typeface="Times New Roman"/>
                        </a:rPr>
                        <a:t> </a:t>
                      </a:r>
                      <a:r>
                        <a:rPr lang="en-US" sz="2200">
                          <a:solidFill>
                            <a:srgbClr val="002060"/>
                          </a:solidFill>
                          <a:latin typeface="Times New Roman"/>
                        </a:rPr>
                        <a:t>acidity</a:t>
                      </a:r>
                      <a:r>
                        <a:rPr lang="en-US" sz="2200" spc="180">
                          <a:solidFill>
                            <a:srgbClr val="002060"/>
                          </a:solidFill>
                          <a:latin typeface="Times New Roman"/>
                        </a:rPr>
                        <a:t> </a:t>
                      </a:r>
                      <a:r>
                        <a:rPr lang="en-US" sz="2200">
                          <a:solidFill>
                            <a:srgbClr val="002060"/>
                          </a:solidFill>
                          <a:latin typeface="Times New Roman"/>
                        </a:rPr>
                        <a:t>and</a:t>
                      </a:r>
                      <a:r>
                        <a:rPr lang="en-US" sz="2200" spc="-260">
                          <a:solidFill>
                            <a:srgbClr val="002060"/>
                          </a:solidFill>
                          <a:latin typeface="Times New Roman"/>
                        </a:rPr>
                        <a:t> </a:t>
                      </a:r>
                      <a:r>
                        <a:rPr lang="en-US" sz="2200">
                          <a:solidFill>
                            <a:srgbClr val="002060"/>
                          </a:solidFill>
                          <a:latin typeface="Times New Roman"/>
                        </a:rPr>
                        <a:t>high</a:t>
                      </a:r>
                      <a:r>
                        <a:rPr lang="en-US" sz="2200" spc="220">
                          <a:solidFill>
                            <a:srgbClr val="002060"/>
                          </a:solidFill>
                          <a:latin typeface="Times New Roman"/>
                        </a:rPr>
                        <a:t> </a:t>
                      </a:r>
                      <a:r>
                        <a:rPr lang="en-US" sz="2200">
                          <a:solidFill>
                            <a:srgbClr val="002060"/>
                          </a:solidFill>
                          <a:latin typeface="Times New Roman"/>
                        </a:rPr>
                        <a:t>organic</a:t>
                      </a:r>
                      <a:r>
                        <a:rPr lang="en-US" sz="2200" spc="235">
                          <a:solidFill>
                            <a:srgbClr val="002060"/>
                          </a:solidFill>
                          <a:latin typeface="Times New Roman"/>
                        </a:rPr>
                        <a:t> </a:t>
                      </a:r>
                      <a:r>
                        <a:rPr lang="en-US" sz="2200">
                          <a:solidFill>
                            <a:srgbClr val="002060"/>
                          </a:solidFill>
                          <a:latin typeface="Times New Roman"/>
                        </a:rPr>
                        <a:t>matter.</a:t>
                      </a:r>
                    </a:p>
                  </a:txBody>
                  <a:tcPr>
                    <a:lnL w="9525" cap="flat" cmpd="sng" algn="ctr">
                      <a:solidFill>
                        <a:srgbClr val="00FFFF"/>
                      </a:solidFill>
                      <a:prstDash val="solid"/>
                      <a:round/>
                      <a:headEnd type="none" w="med" len="med"/>
                      <a:tailEnd type="none" w="med" len="med"/>
                    </a:lnL>
                    <a:lnR w="76200"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r>
              <a:tr h="545037">
                <a:tc>
                  <a:txBody>
                    <a:bodyPr/>
                    <a:lstStyle/>
                    <a:p>
                      <a:pPr marL="88265" marR="78105" algn="ctr">
                        <a:spcBef>
                          <a:spcPts val="315"/>
                        </a:spcBef>
                        <a:spcAft>
                          <a:spcPts val="0"/>
                        </a:spcAft>
                      </a:pPr>
                      <a:r>
                        <a:rPr lang="en-US" sz="2200">
                          <a:solidFill>
                            <a:srgbClr val="002060"/>
                          </a:solidFill>
                          <a:latin typeface="Times New Roman"/>
                        </a:rPr>
                        <a:t>7.</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c>
                  <a:txBody>
                    <a:bodyPr/>
                    <a:lstStyle/>
                    <a:p>
                      <a:pPr marL="36195" algn="l">
                        <a:spcBef>
                          <a:spcPts val="315"/>
                        </a:spcBef>
                        <a:spcAft>
                          <a:spcPts val="0"/>
                        </a:spcAft>
                      </a:pPr>
                      <a:r>
                        <a:rPr lang="en-US" sz="2200" dirty="0">
                          <a:solidFill>
                            <a:srgbClr val="002060"/>
                          </a:solidFill>
                          <a:latin typeface="Times New Roman"/>
                        </a:rPr>
                        <a:t>Acids</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c>
                  <a:txBody>
                    <a:bodyPr/>
                    <a:lstStyle/>
                    <a:p>
                      <a:pPr marL="34925" algn="l">
                        <a:spcBef>
                          <a:spcPts val="315"/>
                        </a:spcBef>
                        <a:spcAft>
                          <a:spcPts val="0"/>
                        </a:spcAft>
                      </a:pPr>
                      <a:r>
                        <a:rPr lang="en-US" sz="2200">
                          <a:solidFill>
                            <a:srgbClr val="002060"/>
                          </a:solidFill>
                          <a:latin typeface="Times New Roman"/>
                        </a:rPr>
                        <a:t>Low</a:t>
                      </a:r>
                      <a:r>
                        <a:rPr lang="en-US" sz="2200" spc="220">
                          <a:solidFill>
                            <a:srgbClr val="002060"/>
                          </a:solidFill>
                          <a:latin typeface="Times New Roman"/>
                        </a:rPr>
                        <a:t> </a:t>
                      </a:r>
                      <a:r>
                        <a:rPr lang="en-US" sz="2200">
                          <a:solidFill>
                            <a:srgbClr val="002060"/>
                          </a:solidFill>
                          <a:latin typeface="Times New Roman"/>
                        </a:rPr>
                        <a:t>pH</a:t>
                      </a:r>
                      <a:r>
                        <a:rPr lang="en-US" sz="2200" spc="220">
                          <a:solidFill>
                            <a:srgbClr val="002060"/>
                          </a:solidFill>
                          <a:latin typeface="Times New Roman"/>
                        </a:rPr>
                        <a:t> </a:t>
                      </a:r>
                      <a:r>
                        <a:rPr lang="en-US" sz="2200">
                          <a:solidFill>
                            <a:srgbClr val="002060"/>
                          </a:solidFill>
                          <a:latin typeface="Times New Roman"/>
                        </a:rPr>
                        <a:t>and</a:t>
                      </a:r>
                      <a:r>
                        <a:rPr lang="en-US" sz="2200" spc="225">
                          <a:solidFill>
                            <a:srgbClr val="002060"/>
                          </a:solidFill>
                          <a:latin typeface="Times New Roman"/>
                        </a:rPr>
                        <a:t> </a:t>
                      </a:r>
                      <a:r>
                        <a:rPr lang="en-US" sz="2200">
                          <a:solidFill>
                            <a:srgbClr val="002060"/>
                          </a:solidFill>
                          <a:latin typeface="Times New Roman"/>
                        </a:rPr>
                        <a:t>organic</a:t>
                      </a:r>
                      <a:r>
                        <a:rPr lang="en-US" sz="2200" spc="215">
                          <a:solidFill>
                            <a:srgbClr val="002060"/>
                          </a:solidFill>
                          <a:latin typeface="Times New Roman"/>
                        </a:rPr>
                        <a:t> </a:t>
                      </a:r>
                      <a:r>
                        <a:rPr lang="en-US" sz="2200">
                          <a:solidFill>
                            <a:srgbClr val="002060"/>
                          </a:solidFill>
                          <a:latin typeface="Times New Roman"/>
                        </a:rPr>
                        <a:t>content.</a:t>
                      </a:r>
                    </a:p>
                  </a:txBody>
                  <a:tcPr>
                    <a:lnL w="9525" cap="flat" cmpd="sng" algn="ctr">
                      <a:solidFill>
                        <a:srgbClr val="00FFFF"/>
                      </a:solidFill>
                      <a:prstDash val="solid"/>
                      <a:round/>
                      <a:headEnd type="none" w="med" len="med"/>
                      <a:tailEnd type="none" w="med" len="med"/>
                    </a:lnL>
                    <a:lnR w="76200"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r>
              <a:tr h="1390007">
                <a:tc>
                  <a:txBody>
                    <a:bodyPr/>
                    <a:lstStyle/>
                    <a:p>
                      <a:pPr marL="88900" marR="78105" algn="ctr">
                        <a:spcBef>
                          <a:spcPts val="315"/>
                        </a:spcBef>
                        <a:spcAft>
                          <a:spcPts val="0"/>
                        </a:spcAft>
                      </a:pPr>
                      <a:r>
                        <a:rPr lang="en-US" sz="2200">
                          <a:solidFill>
                            <a:srgbClr val="002060"/>
                          </a:solidFill>
                          <a:latin typeface="Times New Roman"/>
                        </a:rPr>
                        <a:t>8.</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c>
                  <a:txBody>
                    <a:bodyPr/>
                    <a:lstStyle/>
                    <a:p>
                      <a:pPr marL="36195" algn="l">
                        <a:spcBef>
                          <a:spcPts val="315"/>
                        </a:spcBef>
                        <a:spcAft>
                          <a:spcPts val="0"/>
                        </a:spcAft>
                      </a:pPr>
                      <a:r>
                        <a:rPr lang="en-US" sz="2200">
                          <a:solidFill>
                            <a:srgbClr val="002060"/>
                          </a:solidFill>
                          <a:latin typeface="Times New Roman"/>
                        </a:rPr>
                        <a:t>Tanneries</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c>
                  <a:txBody>
                    <a:bodyPr/>
                    <a:lstStyle/>
                    <a:p>
                      <a:pPr marL="35560" marR="25400" algn="just">
                        <a:lnSpc>
                          <a:spcPct val="101000"/>
                        </a:lnSpc>
                        <a:spcBef>
                          <a:spcPts val="315"/>
                        </a:spcBef>
                        <a:spcAft>
                          <a:spcPts val="0"/>
                        </a:spcAft>
                      </a:pPr>
                      <a:r>
                        <a:rPr lang="en-US" sz="2200">
                          <a:solidFill>
                            <a:srgbClr val="002060"/>
                          </a:solidFill>
                          <a:latin typeface="Times New Roman"/>
                        </a:rPr>
                        <a:t>Calcium,</a:t>
                      </a:r>
                      <a:r>
                        <a:rPr lang="en-US" sz="2200" spc="5">
                          <a:solidFill>
                            <a:srgbClr val="002060"/>
                          </a:solidFill>
                          <a:latin typeface="Times New Roman"/>
                        </a:rPr>
                        <a:t> </a:t>
                      </a:r>
                      <a:r>
                        <a:rPr lang="en-US" sz="2200">
                          <a:solidFill>
                            <a:srgbClr val="002060"/>
                          </a:solidFill>
                          <a:latin typeface="Times New Roman"/>
                        </a:rPr>
                        <a:t>chromium,</a:t>
                      </a:r>
                      <a:r>
                        <a:rPr lang="en-US" sz="2200" spc="5">
                          <a:solidFill>
                            <a:srgbClr val="002060"/>
                          </a:solidFill>
                          <a:latin typeface="Times New Roman"/>
                        </a:rPr>
                        <a:t> </a:t>
                      </a:r>
                      <a:r>
                        <a:rPr lang="en-US" sz="2200">
                          <a:solidFill>
                            <a:srgbClr val="002060"/>
                          </a:solidFill>
                          <a:latin typeface="Times New Roman"/>
                        </a:rPr>
                        <a:t>high</a:t>
                      </a:r>
                      <a:r>
                        <a:rPr lang="en-US" sz="2200" spc="5">
                          <a:solidFill>
                            <a:srgbClr val="002060"/>
                          </a:solidFill>
                          <a:latin typeface="Times New Roman"/>
                        </a:rPr>
                        <a:t> </a:t>
                      </a:r>
                      <a:r>
                        <a:rPr lang="en-US" sz="2200">
                          <a:solidFill>
                            <a:srgbClr val="002060"/>
                          </a:solidFill>
                          <a:latin typeface="Times New Roman"/>
                        </a:rPr>
                        <a:t>salt</a:t>
                      </a:r>
                      <a:r>
                        <a:rPr lang="en-US" sz="2200" spc="5">
                          <a:solidFill>
                            <a:srgbClr val="002060"/>
                          </a:solidFill>
                          <a:latin typeface="Times New Roman"/>
                        </a:rPr>
                        <a:t> </a:t>
                      </a:r>
                      <a:r>
                        <a:rPr lang="en-US" sz="2200">
                          <a:solidFill>
                            <a:srgbClr val="002060"/>
                          </a:solidFill>
                          <a:latin typeface="Times New Roman"/>
                        </a:rPr>
                        <a:t>content,</a:t>
                      </a:r>
                      <a:r>
                        <a:rPr lang="en-US" sz="2200" spc="5">
                          <a:solidFill>
                            <a:srgbClr val="002060"/>
                          </a:solidFill>
                          <a:latin typeface="Times New Roman"/>
                        </a:rPr>
                        <a:t> </a:t>
                      </a:r>
                      <a:r>
                        <a:rPr lang="en-US" sz="2200">
                          <a:solidFill>
                            <a:srgbClr val="002060"/>
                          </a:solidFill>
                          <a:latin typeface="Times New Roman"/>
                        </a:rPr>
                        <a:t>colour,</a:t>
                      </a:r>
                      <a:r>
                        <a:rPr lang="en-US" sz="2200" spc="5">
                          <a:solidFill>
                            <a:srgbClr val="002060"/>
                          </a:solidFill>
                          <a:latin typeface="Times New Roman"/>
                        </a:rPr>
                        <a:t> </a:t>
                      </a:r>
                      <a:r>
                        <a:rPr lang="en-US" sz="2200">
                          <a:solidFill>
                            <a:srgbClr val="002060"/>
                          </a:solidFill>
                          <a:latin typeface="Times New Roman"/>
                        </a:rPr>
                        <a:t>dissolved</a:t>
                      </a:r>
                      <a:r>
                        <a:rPr lang="en-US" sz="2200" spc="5">
                          <a:solidFill>
                            <a:srgbClr val="002060"/>
                          </a:solidFill>
                          <a:latin typeface="Times New Roman"/>
                        </a:rPr>
                        <a:t> </a:t>
                      </a:r>
                      <a:r>
                        <a:rPr lang="en-US" sz="2200">
                          <a:solidFill>
                            <a:srgbClr val="002060"/>
                          </a:solidFill>
                          <a:latin typeface="Times New Roman"/>
                        </a:rPr>
                        <a:t>and</a:t>
                      </a:r>
                      <a:r>
                        <a:rPr lang="en-US" sz="2200" spc="5">
                          <a:solidFill>
                            <a:srgbClr val="002060"/>
                          </a:solidFill>
                          <a:latin typeface="Times New Roman"/>
                        </a:rPr>
                        <a:t> </a:t>
                      </a:r>
                      <a:r>
                        <a:rPr lang="en-US" sz="2200">
                          <a:solidFill>
                            <a:srgbClr val="002060"/>
                          </a:solidFill>
                          <a:latin typeface="Times New Roman"/>
                        </a:rPr>
                        <a:t>suspended</a:t>
                      </a:r>
                      <a:r>
                        <a:rPr lang="en-US" sz="2200" spc="235">
                          <a:solidFill>
                            <a:srgbClr val="002060"/>
                          </a:solidFill>
                          <a:latin typeface="Times New Roman"/>
                        </a:rPr>
                        <a:t> </a:t>
                      </a:r>
                      <a:r>
                        <a:rPr lang="en-US" sz="2200">
                          <a:solidFill>
                            <a:srgbClr val="002060"/>
                          </a:solidFill>
                          <a:latin typeface="Times New Roman"/>
                        </a:rPr>
                        <a:t>matter.</a:t>
                      </a:r>
                    </a:p>
                  </a:txBody>
                  <a:tcPr>
                    <a:lnL w="9525" cap="flat" cmpd="sng" algn="ctr">
                      <a:solidFill>
                        <a:srgbClr val="00FFFF"/>
                      </a:solidFill>
                      <a:prstDash val="solid"/>
                      <a:round/>
                      <a:headEnd type="none" w="med" len="med"/>
                      <a:tailEnd type="none" w="med" len="med"/>
                    </a:lnL>
                    <a:lnR w="76200"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r>
              <a:tr h="957465">
                <a:tc>
                  <a:txBody>
                    <a:bodyPr/>
                    <a:lstStyle/>
                    <a:p>
                      <a:pPr marL="88900" marR="77470" algn="ctr">
                        <a:spcBef>
                          <a:spcPts val="315"/>
                        </a:spcBef>
                        <a:spcAft>
                          <a:spcPts val="0"/>
                        </a:spcAft>
                      </a:pPr>
                      <a:r>
                        <a:rPr lang="en-US" sz="2200">
                          <a:solidFill>
                            <a:srgbClr val="002060"/>
                          </a:solidFill>
                          <a:latin typeface="Times New Roman"/>
                        </a:rPr>
                        <a:t>9.</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53975" cap="flat" cmpd="sng" algn="ctr">
                      <a:solidFill>
                        <a:srgbClr val="00FFFF"/>
                      </a:solidFill>
                      <a:prstDash val="solid"/>
                      <a:round/>
                      <a:headEnd type="none" w="med" len="med"/>
                      <a:tailEnd type="none" w="med" len="med"/>
                    </a:lnB>
                  </a:tcPr>
                </a:tc>
                <a:tc>
                  <a:txBody>
                    <a:bodyPr/>
                    <a:lstStyle/>
                    <a:p>
                      <a:pPr marL="36195" algn="l">
                        <a:spcBef>
                          <a:spcPts val="315"/>
                        </a:spcBef>
                        <a:spcAft>
                          <a:spcPts val="0"/>
                        </a:spcAft>
                      </a:pPr>
                      <a:r>
                        <a:rPr lang="en-US" sz="2200">
                          <a:solidFill>
                            <a:srgbClr val="002060"/>
                          </a:solidFill>
                          <a:latin typeface="Times New Roman"/>
                        </a:rPr>
                        <a:t>Explosives</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53975" cap="flat" cmpd="sng" algn="ctr">
                      <a:solidFill>
                        <a:srgbClr val="00FFFF"/>
                      </a:solidFill>
                      <a:prstDash val="solid"/>
                      <a:round/>
                      <a:headEnd type="none" w="med" len="med"/>
                      <a:tailEnd type="none" w="med" len="med"/>
                    </a:lnB>
                  </a:tcPr>
                </a:tc>
                <a:tc>
                  <a:txBody>
                    <a:bodyPr/>
                    <a:lstStyle/>
                    <a:p>
                      <a:pPr marL="35560" marR="22225" indent="635" algn="l">
                        <a:lnSpc>
                          <a:spcPct val="101000"/>
                        </a:lnSpc>
                        <a:spcBef>
                          <a:spcPts val="315"/>
                        </a:spcBef>
                        <a:spcAft>
                          <a:spcPts val="0"/>
                        </a:spcAft>
                      </a:pPr>
                      <a:r>
                        <a:rPr lang="en-US" sz="2200" dirty="0">
                          <a:solidFill>
                            <a:srgbClr val="002060"/>
                          </a:solidFill>
                          <a:latin typeface="Times New Roman"/>
                        </a:rPr>
                        <a:t>Alcohol,</a:t>
                      </a:r>
                      <a:r>
                        <a:rPr lang="en-US" sz="2200" spc="80" dirty="0">
                          <a:solidFill>
                            <a:srgbClr val="002060"/>
                          </a:solidFill>
                          <a:latin typeface="Times New Roman"/>
                        </a:rPr>
                        <a:t> </a:t>
                      </a:r>
                      <a:r>
                        <a:rPr lang="en-US" sz="2200" dirty="0">
                          <a:solidFill>
                            <a:srgbClr val="002060"/>
                          </a:solidFill>
                          <a:latin typeface="Times New Roman"/>
                        </a:rPr>
                        <a:t>metals,</a:t>
                      </a:r>
                      <a:r>
                        <a:rPr lang="en-US" sz="2200" spc="90" dirty="0">
                          <a:solidFill>
                            <a:srgbClr val="002060"/>
                          </a:solidFill>
                          <a:latin typeface="Times New Roman"/>
                        </a:rPr>
                        <a:t> </a:t>
                      </a:r>
                      <a:r>
                        <a:rPr lang="en-US" sz="2200" dirty="0">
                          <a:solidFill>
                            <a:srgbClr val="002060"/>
                          </a:solidFill>
                          <a:latin typeface="Times New Roman"/>
                        </a:rPr>
                        <a:t>TNT</a:t>
                      </a:r>
                      <a:r>
                        <a:rPr lang="en-US" sz="2200" spc="80" dirty="0">
                          <a:solidFill>
                            <a:srgbClr val="002060"/>
                          </a:solidFill>
                          <a:latin typeface="Times New Roman"/>
                        </a:rPr>
                        <a:t> </a:t>
                      </a:r>
                      <a:r>
                        <a:rPr lang="en-US" sz="2200" dirty="0">
                          <a:solidFill>
                            <a:srgbClr val="002060"/>
                          </a:solidFill>
                          <a:latin typeface="Times New Roman"/>
                        </a:rPr>
                        <a:t>and</a:t>
                      </a:r>
                      <a:r>
                        <a:rPr lang="en-US" sz="2200" spc="85" dirty="0">
                          <a:solidFill>
                            <a:srgbClr val="002060"/>
                          </a:solidFill>
                          <a:latin typeface="Times New Roman"/>
                        </a:rPr>
                        <a:t> </a:t>
                      </a:r>
                      <a:r>
                        <a:rPr lang="en-US" sz="2200" dirty="0">
                          <a:solidFill>
                            <a:srgbClr val="002060"/>
                          </a:solidFill>
                          <a:latin typeface="Times New Roman"/>
                        </a:rPr>
                        <a:t>organic</a:t>
                      </a:r>
                      <a:r>
                        <a:rPr lang="en-US" sz="2200" spc="-260" dirty="0">
                          <a:solidFill>
                            <a:srgbClr val="002060"/>
                          </a:solidFill>
                          <a:latin typeface="Times New Roman"/>
                        </a:rPr>
                        <a:t> </a:t>
                      </a:r>
                      <a:r>
                        <a:rPr lang="en-US" sz="2200" dirty="0">
                          <a:solidFill>
                            <a:srgbClr val="002060"/>
                          </a:solidFill>
                          <a:latin typeface="Times New Roman"/>
                        </a:rPr>
                        <a:t>acids.</a:t>
                      </a:r>
                    </a:p>
                  </a:txBody>
                  <a:tcPr>
                    <a:lnL w="9525" cap="flat" cmpd="sng" algn="ctr">
                      <a:solidFill>
                        <a:srgbClr val="00FFFF"/>
                      </a:solidFill>
                      <a:prstDash val="solid"/>
                      <a:round/>
                      <a:headEnd type="none" w="med" len="med"/>
                      <a:tailEnd type="none" w="med" len="med"/>
                    </a:lnL>
                    <a:lnR w="76200"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53975" cap="flat" cmpd="sng" algn="ctr">
                      <a:solidFill>
                        <a:srgbClr val="00FFFF"/>
                      </a:solidFill>
                      <a:prstDash val="solid"/>
                      <a:round/>
                      <a:headEnd type="none" w="med" len="med"/>
                      <a:tailEnd type="none" w="med" len="med"/>
                    </a:lnB>
                  </a:tcPr>
                </a:tc>
              </a:tr>
            </a:tbl>
          </a:graphicData>
        </a:graphic>
      </p:graphicFrame>
    </p:spTree>
  </p:cSld>
  <p:clrMapOvr>
    <a:masterClrMapping/>
  </p:clrMapOvr>
  <p:transition spd="slow">
    <p:push/>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8001000" cy="5170646"/>
          </a:xfrm>
          <a:prstGeom prst="rect">
            <a:avLst/>
          </a:prstGeom>
        </p:spPr>
        <p:txBody>
          <a:bodyPr wrap="square">
            <a:spAutoFit/>
          </a:bodyPr>
          <a:lstStyle/>
          <a:p>
            <a:r>
              <a:rPr lang="en-US" sz="2200" b="1" i="1" dirty="0" smtClean="0">
                <a:solidFill>
                  <a:srgbClr val="0000CC"/>
                </a:solidFill>
                <a:latin typeface="Times New Roman" pitchFamily="18" charset="0"/>
                <a:cs typeface="Times New Roman" pitchFamily="18" charset="0"/>
              </a:rPr>
              <a:t>2.4.2 Control (or) Preventives measures of soil pollution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pressure on intensification of farm activities increases for two reasons.</a:t>
            </a: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Population growth.</a:t>
            </a:r>
          </a:p>
          <a:p>
            <a:pPr lvl="1">
              <a:buFont typeface="Wingdings" pitchFamily="2" charset="2"/>
              <a:buChar char="ü"/>
            </a:pPr>
            <a:r>
              <a:rPr lang="en-US" sz="2200" dirty="0" smtClean="0">
                <a:solidFill>
                  <a:srgbClr val="00B0F0"/>
                </a:solidFill>
                <a:latin typeface="Times New Roman" pitchFamily="18" charset="0"/>
                <a:cs typeface="Times New Roman" pitchFamily="18" charset="0"/>
              </a:rPr>
              <a:t>  Decrease of the available farm land due to urbanization.</a:t>
            </a:r>
          </a:p>
          <a:p>
            <a:pPr lvl="1"/>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1. Control of Soil erosion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Soil erosion can be controlled by a variety of forestry and farm practices.</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r>
              <a:rPr lang="en-US" sz="2200" b="1" i="1" dirty="0" smtClean="0">
                <a:latin typeface="Times New Roman" pitchFamily="18" charset="0"/>
                <a:cs typeface="Times New Roman" pitchFamily="18" charset="0"/>
              </a:rPr>
              <a:t>Example</a:t>
            </a:r>
          </a:p>
          <a:p>
            <a:r>
              <a:rPr lang="en-US" sz="2200" i="1" dirty="0" smtClean="0">
                <a:solidFill>
                  <a:srgbClr val="FF0066"/>
                </a:solidFill>
                <a:latin typeface="Times New Roman" pitchFamily="18" charset="0"/>
                <a:cs typeface="Times New Roman" pitchFamily="18" charset="0"/>
              </a:rPr>
              <a:t>(a) Trees may be planted on barren slopes.</a:t>
            </a:r>
          </a:p>
          <a:p>
            <a:r>
              <a:rPr lang="en-US" sz="2200" i="1" dirty="0" smtClean="0">
                <a:solidFill>
                  <a:srgbClr val="FF0066"/>
                </a:solidFill>
                <a:latin typeface="Times New Roman" pitchFamily="18" charset="0"/>
                <a:cs typeface="Times New Roman" pitchFamily="18" charset="0"/>
              </a:rPr>
              <a:t>(b) Contour cultivation and strip cropping may be practiced instead of shifting cultivation.</a:t>
            </a:r>
          </a:p>
          <a:p>
            <a:r>
              <a:rPr lang="en-US" sz="2200" i="1" dirty="0" smtClean="0">
                <a:solidFill>
                  <a:srgbClr val="FF0066"/>
                </a:solidFill>
                <a:latin typeface="Times New Roman" pitchFamily="18" charset="0"/>
                <a:cs typeface="Times New Roman" pitchFamily="18" charset="0"/>
              </a:rPr>
              <a:t>(c) Terracing and building diversion channels may be undertaken.</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295400"/>
            <a:ext cx="7848600" cy="5509200"/>
          </a:xfrm>
          <a:prstGeom prst="rect">
            <a:avLst/>
          </a:prstGeom>
        </p:spPr>
        <p:txBody>
          <a:bodyPr wrap="square">
            <a:spAutoFit/>
          </a:bodyPr>
          <a:lstStyle/>
          <a:p>
            <a:pPr>
              <a:buFont typeface="Wingdings" pitchFamily="2" charset="2"/>
              <a:buChar char="q"/>
            </a:pPr>
            <a:r>
              <a:rPr lang="en-US" sz="2200" dirty="0" smtClean="0">
                <a:solidFill>
                  <a:srgbClr val="FF0066"/>
                </a:solidFill>
                <a:latin typeface="Times New Roman" pitchFamily="18" charset="0"/>
                <a:cs typeface="Times New Roman" pitchFamily="18" charset="0"/>
              </a:rPr>
              <a:t>  Reducing deforestation and substituting chemical manures by animal wastes would also help to arrest soil erosion in the long term.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Maintaining soil productivity is vital and essential for sustainable agriculture.</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2. Proper dumping of unwanted materials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Excess of waste products by man and animals cause chronic disposal problem. Open dumping is most commonly practiced method.</a:t>
            </a:r>
          </a:p>
          <a:p>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Recently controlled tipping is followed for solid waste disposal. </a:t>
            </a:r>
          </a:p>
          <a:p>
            <a:r>
              <a:rPr lang="en-US" sz="2200" dirty="0" smtClean="0">
                <a:solidFill>
                  <a:srgbClr val="FF0066"/>
                </a:solidFill>
                <a:latin typeface="Times New Roman" pitchFamily="18" charset="0"/>
                <a:cs typeface="Times New Roman" pitchFamily="18" charset="0"/>
              </a:rPr>
              <a:t> </a:t>
            </a:r>
          </a:p>
          <a:p>
            <a:pPr>
              <a:buFont typeface="Wingdings" pitchFamily="2" charset="2"/>
              <a:buChar char="v"/>
            </a:pPr>
            <a:r>
              <a:rPr lang="en-US" sz="2200" dirty="0" smtClean="0">
                <a:solidFill>
                  <a:srgbClr val="FF0066"/>
                </a:solidFill>
                <a:latin typeface="Times New Roman" pitchFamily="18" charset="0"/>
                <a:cs typeface="Times New Roman" pitchFamily="18" charset="0"/>
              </a:rPr>
              <a:t>The surface so obtained then can be used for housing (or) sports field.</a:t>
            </a:r>
          </a:p>
          <a:p>
            <a:endParaRPr lang="en-US" sz="2200" dirty="0" smtClean="0">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7848600" cy="4832092"/>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3. Production of natural fertilizers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Excessive use of chemical fertilizers and insecticides should be avoided. </a:t>
            </a:r>
            <a:r>
              <a:rPr lang="en-US" sz="2200" dirty="0" err="1" smtClean="0">
                <a:solidFill>
                  <a:srgbClr val="FF0066"/>
                </a:solidFill>
                <a:latin typeface="Times New Roman" pitchFamily="18" charset="0"/>
                <a:cs typeface="Times New Roman" pitchFamily="18" charset="0"/>
              </a:rPr>
              <a:t>Biopesticides</a:t>
            </a:r>
            <a:r>
              <a:rPr lang="en-US" sz="2200" dirty="0" smtClean="0">
                <a:solidFill>
                  <a:srgbClr val="FF0066"/>
                </a:solidFill>
                <a:latin typeface="Times New Roman" pitchFamily="18" charset="0"/>
                <a:cs typeface="Times New Roman" pitchFamily="18" charset="0"/>
              </a:rPr>
              <a:t> should be used in place of toxic chemical pesticides.</a:t>
            </a:r>
          </a:p>
          <a:p>
            <a:endParaRPr lang="en-US" sz="2200" dirty="0" smtClean="0">
              <a:latin typeface="Times New Roman" pitchFamily="18" charset="0"/>
              <a:cs typeface="Times New Roman" pitchFamily="18" charset="0"/>
            </a:endParaRPr>
          </a:p>
          <a:p>
            <a:r>
              <a:rPr lang="en-US" sz="2200" b="1" i="1" dirty="0" smtClean="0">
                <a:latin typeface="Times New Roman" pitchFamily="18" charset="0"/>
                <a:cs typeface="Times New Roman" pitchFamily="18" charset="0"/>
              </a:rPr>
              <a:t>Example  </a:t>
            </a:r>
            <a:r>
              <a:rPr lang="en-US" sz="2200" i="1" dirty="0" smtClean="0">
                <a:solidFill>
                  <a:srgbClr val="FF0066"/>
                </a:solidFill>
                <a:latin typeface="Times New Roman" pitchFamily="18" charset="0"/>
                <a:cs typeface="Times New Roman" pitchFamily="18" charset="0"/>
              </a:rPr>
              <a:t>Organic wastes contained in animals dung can be used for preparing compost manure and biogas rather than throwing them wastefully polluting the soil.</a:t>
            </a:r>
          </a:p>
          <a:p>
            <a:endParaRPr lang="en-US" sz="2200" i="1"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4. Proper Hygienic condition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People should be trained regarding the sanitary habits.</a:t>
            </a:r>
          </a:p>
          <a:p>
            <a:endParaRPr lang="en-US" sz="2200" dirty="0" smtClean="0">
              <a:latin typeface="Times New Roman" pitchFamily="18" charset="0"/>
              <a:cs typeface="Times New Roman" pitchFamily="18" charset="0"/>
            </a:endParaRPr>
          </a:p>
          <a:p>
            <a:r>
              <a:rPr lang="en-US" sz="2200" b="1" i="1" dirty="0" smtClean="0">
                <a:latin typeface="Times New Roman" pitchFamily="18" charset="0"/>
                <a:cs typeface="Times New Roman" pitchFamily="18" charset="0"/>
              </a:rPr>
              <a:t>Example  </a:t>
            </a:r>
            <a:r>
              <a:rPr lang="en-US" sz="2200" i="1" dirty="0" smtClean="0">
                <a:solidFill>
                  <a:srgbClr val="FF0066"/>
                </a:solidFill>
                <a:latin typeface="Times New Roman" pitchFamily="18" charset="0"/>
                <a:cs typeface="Times New Roman" pitchFamily="18" charset="0"/>
              </a:rPr>
              <a:t>Lavatories should be equipped with quick and effective disposal methods.</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143000"/>
            <a:ext cx="8153400" cy="5170646"/>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5. Public Awareness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Informal and formal public awareness programs should be imparted to educate people on health hazards by environmental pollution.</a:t>
            </a:r>
          </a:p>
          <a:p>
            <a:endParaRPr lang="en-US" sz="2200" dirty="0" smtClean="0">
              <a:latin typeface="Times New Roman" pitchFamily="18" charset="0"/>
              <a:cs typeface="Times New Roman" pitchFamily="18" charset="0"/>
            </a:endParaRPr>
          </a:p>
          <a:p>
            <a:r>
              <a:rPr lang="en-US" sz="2200" b="1" i="1" dirty="0" smtClean="0">
                <a:latin typeface="Times New Roman" pitchFamily="18" charset="0"/>
                <a:cs typeface="Times New Roman" pitchFamily="18" charset="0"/>
              </a:rPr>
              <a:t>Example </a:t>
            </a:r>
            <a:r>
              <a:rPr lang="en-US" sz="2200" i="1" dirty="0" smtClean="0">
                <a:solidFill>
                  <a:srgbClr val="FF0066"/>
                </a:solidFill>
                <a:latin typeface="Times New Roman" pitchFamily="18" charset="0"/>
                <a:cs typeface="Times New Roman" pitchFamily="18" charset="0"/>
              </a:rPr>
              <a:t>Mass media, educational institutions and voluntary agencies can achieve this.</a:t>
            </a:r>
          </a:p>
          <a:p>
            <a:endParaRPr lang="en-US" sz="2200" i="1"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6. Recycling and Reuse of wastes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To minimize soil pollution, the wastes such as paper, plastics, metals, glasses, organics, petroleum products and industrial effluents etc., should be recycled and reused.</a:t>
            </a:r>
          </a:p>
          <a:p>
            <a:endParaRPr lang="en-US" sz="2200" dirty="0" smtClean="0">
              <a:latin typeface="Times New Roman" pitchFamily="18" charset="0"/>
              <a:cs typeface="Times New Roman" pitchFamily="18" charset="0"/>
            </a:endParaRPr>
          </a:p>
          <a:p>
            <a:r>
              <a:rPr lang="en-US" sz="2200" b="1" i="1" dirty="0" smtClean="0">
                <a:latin typeface="Times New Roman" pitchFamily="18" charset="0"/>
                <a:cs typeface="Times New Roman" pitchFamily="18" charset="0"/>
              </a:rPr>
              <a:t>Example </a:t>
            </a:r>
            <a:r>
              <a:rPr lang="en-US" sz="2200" i="1" dirty="0" smtClean="0">
                <a:solidFill>
                  <a:srgbClr val="FF0066"/>
                </a:solidFill>
                <a:latin typeface="Times New Roman" pitchFamily="18" charset="0"/>
                <a:cs typeface="Times New Roman" pitchFamily="18" charset="0"/>
              </a:rPr>
              <a:t>Industrial wastes should be properly treated at source. Integrated waste treatment method should be adopted.</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143000"/>
            <a:ext cx="8077200" cy="5509200"/>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7. Ban on Toxic Chemicals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Ban should be imposed on chemicals and pesticides like DDT, BHC etc., which are fatal to plants and animals.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Nuclear explosions and the improper disposal of radioactive wastes should be banned.</a:t>
            </a:r>
          </a:p>
          <a:p>
            <a:endParaRPr lang="en-US" sz="2200" dirty="0" smtClean="0">
              <a:latin typeface="Times New Roman" pitchFamily="18" charset="0"/>
              <a:cs typeface="Times New Roman" pitchFamily="18" charset="0"/>
            </a:endParaRPr>
          </a:p>
          <a:p>
            <a:r>
              <a:rPr lang="en-US" sz="2200" b="1" dirty="0" smtClean="0">
                <a:solidFill>
                  <a:srgbClr val="0B8319"/>
                </a:solidFill>
                <a:latin typeface="Times New Roman" pitchFamily="18" charset="0"/>
                <a:cs typeface="Times New Roman" pitchFamily="18" charset="0"/>
              </a:rPr>
              <a:t>2.5 NOISE POLLUTION</a:t>
            </a:r>
          </a:p>
          <a:p>
            <a:endParaRPr lang="en-US" sz="2200" b="1" dirty="0" smtClean="0">
              <a:latin typeface="Times New Roman" pitchFamily="18" charset="0"/>
              <a:cs typeface="Times New Roman" pitchFamily="18" charset="0"/>
            </a:endParaRPr>
          </a:p>
          <a:p>
            <a:r>
              <a:rPr lang="en-US" sz="2200" b="1" dirty="0" smtClean="0">
                <a:solidFill>
                  <a:srgbClr val="663300"/>
                </a:solidFill>
                <a:latin typeface="Times New Roman" pitchFamily="18" charset="0"/>
                <a:cs typeface="Times New Roman" pitchFamily="18" charset="0"/>
              </a:rPr>
              <a:t>Definition</a:t>
            </a:r>
          </a:p>
          <a:p>
            <a:r>
              <a:rPr lang="en-US" sz="2200" i="1" dirty="0" smtClean="0">
                <a:solidFill>
                  <a:srgbClr val="FF0066"/>
                </a:solidFill>
                <a:latin typeface="Times New Roman" pitchFamily="18" charset="0"/>
                <a:cs typeface="Times New Roman" pitchFamily="18" charset="0"/>
              </a:rPr>
              <a:t>Noise pollution is defined as</a:t>
            </a:r>
            <a:r>
              <a:rPr lang="en-US" sz="2200" b="1" i="1" dirty="0" smtClean="0">
                <a:solidFill>
                  <a:srgbClr val="FF0066"/>
                </a:solidFill>
                <a:latin typeface="Times New Roman" pitchFamily="18" charset="0"/>
                <a:cs typeface="Times New Roman" pitchFamily="18" charset="0"/>
              </a:rPr>
              <a:t>, </a:t>
            </a:r>
            <a:r>
              <a:rPr lang="en-US" sz="2200" b="1" i="1" dirty="0" smtClean="0">
                <a:solidFill>
                  <a:srgbClr val="00B0F0"/>
                </a:solidFill>
                <a:latin typeface="Times New Roman" pitchFamily="18" charset="0"/>
                <a:cs typeface="Times New Roman" pitchFamily="18" charset="0"/>
              </a:rPr>
              <a:t>“the unwanted, unpleasant (or) disagreeable sound that causes discomfort for all living beings.”</a:t>
            </a:r>
          </a:p>
          <a:p>
            <a:endParaRPr lang="en-US" sz="2200" b="1" i="1" dirty="0" smtClean="0">
              <a:latin typeface="Times New Roman" pitchFamily="18" charset="0"/>
              <a:cs typeface="Times New Roman" pitchFamily="18" charset="0"/>
            </a:endParaRPr>
          </a:p>
          <a:p>
            <a:r>
              <a:rPr lang="en-US" sz="2200" b="1" dirty="0" smtClean="0">
                <a:solidFill>
                  <a:srgbClr val="663300"/>
                </a:solidFill>
                <a:latin typeface="Times New Roman" pitchFamily="18" charset="0"/>
                <a:cs typeface="Times New Roman" pitchFamily="18" charset="0"/>
              </a:rPr>
              <a:t>Unit of Noise (Decibel)</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sound intensity is measured in decibel (dB), which is one tenth of the longest unit </a:t>
            </a:r>
            <a:r>
              <a:rPr lang="en-US" sz="2200" dirty="0" err="1" smtClean="0">
                <a:solidFill>
                  <a:srgbClr val="FF0066"/>
                </a:solidFill>
                <a:latin typeface="Times New Roman" pitchFamily="18" charset="0"/>
                <a:cs typeface="Times New Roman" pitchFamily="18" charset="0"/>
              </a:rPr>
              <a:t>Bel</a:t>
            </a:r>
            <a:r>
              <a:rPr lang="en-US" sz="2200" dirty="0" smtClean="0">
                <a:solidFill>
                  <a:srgbClr val="FF0066"/>
                </a:solidFill>
                <a:latin typeface="Times New Roman" pitchFamily="18" charset="0"/>
                <a:cs typeface="Times New Roman" pitchFamily="18" charset="0"/>
              </a:rPr>
              <a:t>.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One dB is equal to the faintest sound, a human ear can hear.</a:t>
            </a:r>
          </a:p>
        </p:txBody>
      </p:sp>
    </p:spTree>
  </p:cSld>
  <p:clrMapOvr>
    <a:masterClrMapping/>
  </p:clrMapOvr>
  <p:transition spd="slow">
    <p:push/>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143000"/>
            <a:ext cx="8153400" cy="5170646"/>
          </a:xfrm>
          <a:prstGeom prst="rect">
            <a:avLst/>
          </a:prstGeom>
        </p:spPr>
        <p:txBody>
          <a:bodyPr wrap="square">
            <a:spAutoFit/>
          </a:bodyPr>
          <a:lstStyle/>
          <a:p>
            <a:r>
              <a:rPr lang="en-US" sz="2200" b="1" dirty="0" smtClean="0">
                <a:solidFill>
                  <a:srgbClr val="663300"/>
                </a:solidFill>
                <a:latin typeface="Times New Roman" pitchFamily="18" charset="0"/>
                <a:cs typeface="Times New Roman" pitchFamily="18" charset="0"/>
              </a:rPr>
              <a:t>Noise level</a:t>
            </a:r>
          </a:p>
          <a:p>
            <a:pPr>
              <a:buFont typeface="Wingdings" pitchFamily="2" charset="2"/>
              <a:buChar char="q"/>
            </a:pPr>
            <a:r>
              <a:rPr lang="en-US" sz="2200" dirty="0" smtClean="0">
                <a:solidFill>
                  <a:srgbClr val="FF0066"/>
                </a:solidFill>
                <a:latin typeface="Times New Roman" pitchFamily="18" charset="0"/>
                <a:cs typeface="Times New Roman" pitchFamily="18" charset="0"/>
              </a:rPr>
              <a:t>  Normal conversation sound ranges from 35 dB to 60 dB. </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Impairment of hearing takes place due to exposure to noise of 80 dB (or) more. </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Noise above 140 dB becomes painful.</a:t>
            </a:r>
          </a:p>
          <a:p>
            <a:endParaRPr lang="en-US" sz="2200" dirty="0" smtClean="0">
              <a:latin typeface="Times New Roman" pitchFamily="18" charset="0"/>
              <a:cs typeface="Times New Roman" pitchFamily="18" charset="0"/>
            </a:endParaRPr>
          </a:p>
          <a:p>
            <a:r>
              <a:rPr lang="en-US" sz="2200" b="1" i="1" dirty="0" smtClean="0">
                <a:solidFill>
                  <a:srgbClr val="0000CC"/>
                </a:solidFill>
                <a:latin typeface="Times New Roman" pitchFamily="18" charset="0"/>
                <a:cs typeface="Times New Roman" pitchFamily="18" charset="0"/>
              </a:rPr>
              <a:t>2.5.1 Types and sources (causes) of noise</a:t>
            </a:r>
          </a:p>
          <a:p>
            <a:pPr>
              <a:buFont typeface="Wingdings" pitchFamily="2" charset="2"/>
              <a:buChar char="v"/>
            </a:pPr>
            <a:r>
              <a:rPr lang="en-US" sz="2200" dirty="0" smtClean="0">
                <a:solidFill>
                  <a:srgbClr val="FF0066"/>
                </a:solidFill>
                <a:latin typeface="Times New Roman" pitchFamily="18" charset="0"/>
                <a:cs typeface="Times New Roman" pitchFamily="18" charset="0"/>
              </a:rPr>
              <a:t>  It has been found that environmental noise is doubling every 10 years. Generally noise is described as,</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lvl="3">
              <a:buFont typeface="Wingdings" pitchFamily="2" charset="2"/>
              <a:buChar char="ü"/>
            </a:pPr>
            <a:r>
              <a:rPr lang="en-US" sz="2200" dirty="0" smtClean="0">
                <a:solidFill>
                  <a:srgbClr val="00B0F0"/>
                </a:solidFill>
                <a:latin typeface="Times New Roman" pitchFamily="18" charset="0"/>
                <a:cs typeface="Times New Roman" pitchFamily="18" charset="0"/>
              </a:rPr>
              <a:t>   Industrial noise.</a:t>
            </a:r>
          </a:p>
          <a:p>
            <a:pPr lvl="3">
              <a:buFont typeface="Wingdings" pitchFamily="2" charset="2"/>
              <a:buChar char="ü"/>
            </a:pPr>
            <a:r>
              <a:rPr lang="en-US" sz="2200" dirty="0" smtClean="0">
                <a:solidFill>
                  <a:srgbClr val="00B0F0"/>
                </a:solidFill>
                <a:latin typeface="Times New Roman" pitchFamily="18" charset="0"/>
                <a:cs typeface="Times New Roman" pitchFamily="18" charset="0"/>
              </a:rPr>
              <a:t>  Transport noise.</a:t>
            </a:r>
          </a:p>
          <a:p>
            <a:pPr lvl="3">
              <a:buFont typeface="Wingdings" pitchFamily="2" charset="2"/>
              <a:buChar char="ü"/>
            </a:pPr>
            <a:r>
              <a:rPr lang="en-US" sz="2200" dirty="0" smtClean="0">
                <a:solidFill>
                  <a:srgbClr val="00B0F0"/>
                </a:solidFill>
                <a:latin typeface="Times New Roman" pitchFamily="18" charset="0"/>
                <a:cs typeface="Times New Roman" pitchFamily="18" charset="0"/>
              </a:rPr>
              <a:t>   </a:t>
            </a:r>
            <a:r>
              <a:rPr lang="en-US" sz="2200" dirty="0" err="1" smtClean="0">
                <a:solidFill>
                  <a:srgbClr val="00B0F0"/>
                </a:solidFill>
                <a:latin typeface="Times New Roman" pitchFamily="18" charset="0"/>
                <a:cs typeface="Times New Roman" pitchFamily="18" charset="0"/>
              </a:rPr>
              <a:t>Neighbourhood</a:t>
            </a:r>
            <a:r>
              <a:rPr lang="en-US" sz="2200" dirty="0" smtClean="0">
                <a:solidFill>
                  <a:srgbClr val="00B0F0"/>
                </a:solidFill>
                <a:latin typeface="Times New Roman" pitchFamily="18" charset="0"/>
                <a:cs typeface="Times New Roman" pitchFamily="18" charset="0"/>
              </a:rPr>
              <a:t> noise.</a:t>
            </a:r>
          </a:p>
        </p:txBody>
      </p:sp>
    </p:spTree>
  </p:cSld>
  <p:clrMapOvr>
    <a:masterClrMapping/>
  </p:clrMapOvr>
  <p:transition spd="slow">
    <p:push/>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10245"/>
            <a:ext cx="8077200" cy="5847755"/>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1. Industrial Noise</a:t>
            </a:r>
          </a:p>
          <a:p>
            <a:pPr>
              <a:buFont typeface="Wingdings" pitchFamily="2" charset="2"/>
              <a:buChar char="q"/>
            </a:pPr>
            <a:r>
              <a:rPr lang="en-US" sz="2200" dirty="0" smtClean="0">
                <a:solidFill>
                  <a:srgbClr val="FF0066"/>
                </a:solidFill>
                <a:latin typeface="Times New Roman" pitchFamily="18" charset="0"/>
                <a:cs typeface="Times New Roman" pitchFamily="18" charset="0"/>
              </a:rPr>
              <a:t>  Highly intense sound (or) noise pollution is caused by many machines. </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There exists a long list of sources of noise pollution including different machines of numerous factories, industries and mills.</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Industrial noise, particularly from mechanical saws and pneumatic drill is unbearable and is a nuisance to public. </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Recently, it has been observed by the Institute of </a:t>
            </a:r>
            <a:r>
              <a:rPr lang="en-US" sz="2200" dirty="0" err="1" smtClean="0">
                <a:solidFill>
                  <a:srgbClr val="FF0066"/>
                </a:solidFill>
                <a:latin typeface="Times New Roman" pitchFamily="18" charset="0"/>
                <a:cs typeface="Times New Roman" pitchFamily="18" charset="0"/>
              </a:rPr>
              <a:t>Oto-Rino</a:t>
            </a:r>
            <a:r>
              <a:rPr lang="en-US" sz="2200" dirty="0" smtClean="0">
                <a:solidFill>
                  <a:srgbClr val="FF0066"/>
                </a:solidFill>
                <a:latin typeface="Times New Roman" pitchFamily="18" charset="0"/>
                <a:cs typeface="Times New Roman" pitchFamily="18" charset="0"/>
              </a:rPr>
              <a:t> </a:t>
            </a:r>
            <a:r>
              <a:rPr lang="en-US" sz="2200" dirty="0" err="1" smtClean="0">
                <a:solidFill>
                  <a:srgbClr val="FF0066"/>
                </a:solidFill>
                <a:latin typeface="Times New Roman" pitchFamily="18" charset="0"/>
                <a:cs typeface="Times New Roman" pitchFamily="18" charset="0"/>
              </a:rPr>
              <a:t>Laryngology</a:t>
            </a:r>
            <a:r>
              <a:rPr lang="en-US" sz="2200" dirty="0" smtClean="0">
                <a:solidFill>
                  <a:srgbClr val="FF0066"/>
                </a:solidFill>
                <a:latin typeface="Times New Roman" pitchFamily="18" charset="0"/>
                <a:cs typeface="Times New Roman" pitchFamily="18" charset="0"/>
              </a:rPr>
              <a:t>, Chennai that enormously increasing industrial pollution has damaged the hearing of about 20% workers.</a:t>
            </a:r>
          </a:p>
          <a:p>
            <a:endParaRPr lang="en-US" sz="2200" dirty="0" smtClean="0">
              <a:latin typeface="Times New Roman" pitchFamily="18" charset="0"/>
              <a:cs typeface="Times New Roman" pitchFamily="18" charset="0"/>
            </a:endParaRPr>
          </a:p>
          <a:p>
            <a:r>
              <a:rPr lang="en-US" sz="2200" b="1" i="1" dirty="0" smtClean="0">
                <a:latin typeface="Times New Roman" pitchFamily="18" charset="0"/>
                <a:cs typeface="Times New Roman" pitchFamily="18" charset="0"/>
              </a:rPr>
              <a:t>Example  </a:t>
            </a:r>
            <a:r>
              <a:rPr lang="en-US" sz="2200" i="1" dirty="0" smtClean="0">
                <a:solidFill>
                  <a:srgbClr val="FF0066"/>
                </a:solidFill>
                <a:latin typeface="Times New Roman" pitchFamily="18" charset="0"/>
                <a:cs typeface="Times New Roman" pitchFamily="18" charset="0"/>
              </a:rPr>
              <a:t>In the steel industry, the workers near the heavy industrial blowers are exposed to 112 dB for eight hours and suffer from the occupational pollution.</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8382000" cy="5170646"/>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2. Transport Noise</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main noise, comes from transport. It mainly includes road traffic noise, rail traffic noise and air craft noise.</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number of road vehicles like motors, scooters, cars, motor cycles, buses, trucks and particularly the diesel engine vehicles have increased enormously in recent years.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That is why, this form of pollution is gaining importance, especially in large and over crowded towns and cities.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According to experts, the noise level in most of the residential areas in metropolitan cities is already hovering on the border line because of vehicular noise pollution.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A survey conducted in metropolitan cities has shown that noise level in Delhi, Bombay and Calcutta is as high as 90 dB.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Inhabitants of cities are subjected to this most annoying form of transport noise which gradually deafen them.</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10245"/>
            <a:ext cx="7772400" cy="5509200"/>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3. </a:t>
            </a:r>
            <a:r>
              <a:rPr lang="en-US" sz="2200" b="1" dirty="0" err="1" smtClean="0">
                <a:solidFill>
                  <a:srgbClr val="FF9900"/>
                </a:solidFill>
                <a:latin typeface="Times New Roman" pitchFamily="18" charset="0"/>
                <a:cs typeface="Times New Roman" pitchFamily="18" charset="0"/>
              </a:rPr>
              <a:t>Neighbourhood</a:t>
            </a:r>
            <a:r>
              <a:rPr lang="en-US" sz="2200" b="1" dirty="0" smtClean="0">
                <a:solidFill>
                  <a:srgbClr val="FF9900"/>
                </a:solidFill>
                <a:latin typeface="Times New Roman" pitchFamily="18" charset="0"/>
                <a:cs typeface="Times New Roman" pitchFamily="18" charset="0"/>
              </a:rPr>
              <a:t> Noise</a:t>
            </a:r>
          </a:p>
          <a:p>
            <a:pPr>
              <a:buFont typeface="Wingdings" pitchFamily="2" charset="2"/>
              <a:buChar char="v"/>
            </a:pPr>
            <a:r>
              <a:rPr lang="en-US" sz="2200" dirty="0" smtClean="0">
                <a:solidFill>
                  <a:srgbClr val="FF0066"/>
                </a:solidFill>
                <a:latin typeface="Times New Roman" pitchFamily="18" charset="0"/>
                <a:cs typeface="Times New Roman" pitchFamily="18" charset="0"/>
              </a:rPr>
              <a:t>This type of noise includes disturbance from household gadgets and community.</a:t>
            </a:r>
          </a:p>
          <a:p>
            <a:pPr>
              <a:buFont typeface="Wingdings" pitchFamily="2" charset="2"/>
              <a:buChar char="v"/>
            </a:pPr>
            <a:r>
              <a:rPr lang="en-US" sz="2200" dirty="0" smtClean="0">
                <a:solidFill>
                  <a:srgbClr val="FF0066"/>
                </a:solidFill>
                <a:latin typeface="Times New Roman" pitchFamily="18" charset="0"/>
                <a:cs typeface="Times New Roman" pitchFamily="18" charset="0"/>
              </a:rPr>
              <a:t> Common noise makers are musical instruments, TV, VCR, radios, transistors, telephones, and loudspeakers etc.,</a:t>
            </a:r>
          </a:p>
          <a:p>
            <a:pPr>
              <a:buFont typeface="Wingdings" pitchFamily="2" charset="2"/>
              <a:buChar char="v"/>
            </a:pPr>
            <a:r>
              <a:rPr lang="en-US" sz="2200" dirty="0" smtClean="0">
                <a:solidFill>
                  <a:srgbClr val="FF0066"/>
                </a:solidFill>
                <a:latin typeface="Times New Roman" pitchFamily="18" charset="0"/>
                <a:cs typeface="Times New Roman" pitchFamily="18" charset="0"/>
              </a:rPr>
              <a:t> Ever since the industrial revolution, noise in environment has been doubling every ten years.</a:t>
            </a:r>
          </a:p>
          <a:p>
            <a:endParaRPr lang="en-US" sz="2200" dirty="0" smtClean="0">
              <a:latin typeface="Times New Roman" pitchFamily="18" charset="0"/>
              <a:cs typeface="Times New Roman" pitchFamily="18" charset="0"/>
            </a:endParaRPr>
          </a:p>
          <a:p>
            <a:r>
              <a:rPr lang="en-US" sz="2200" b="1" i="1" dirty="0" smtClean="0">
                <a:solidFill>
                  <a:srgbClr val="0000CC"/>
                </a:solidFill>
                <a:latin typeface="Times New Roman" pitchFamily="18" charset="0"/>
                <a:cs typeface="Times New Roman" pitchFamily="18" charset="0"/>
              </a:rPr>
              <a:t>2.5.2 Effects of Noise Pollution</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Noise Pollution affects human health, comfort and efficiency.</a:t>
            </a:r>
          </a:p>
          <a:p>
            <a:r>
              <a:rPr lang="en-US" sz="2200" dirty="0" smtClean="0">
                <a:solidFill>
                  <a:srgbClr val="FF0066"/>
                </a:solidFill>
                <a:latin typeface="Times New Roman" pitchFamily="18" charset="0"/>
                <a:cs typeface="Times New Roman" pitchFamily="18" charset="0"/>
              </a:rPr>
              <a:t>It causes contraction of blood vessels, makes the skin pale, leads to excessive secretion of  adrenalin hormone into blood stream which is responsible for high blood pressure. Blaring sounds have known to cause mental distress, heart attacks neurological problems, birth defects and abortion.</a:t>
            </a:r>
          </a:p>
          <a:p>
            <a:endParaRPr lang="en-US" sz="2200" dirty="0">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295400"/>
            <a:ext cx="8001000" cy="4832092"/>
          </a:xfrm>
          <a:prstGeom prst="rect">
            <a:avLst/>
          </a:prstGeom>
        </p:spPr>
        <p:txBody>
          <a:bodyPr wrap="square">
            <a:spAutoFit/>
          </a:bodyPr>
          <a:lstStyle/>
          <a:p>
            <a:pPr>
              <a:buFont typeface="Wingdings" pitchFamily="2" charset="2"/>
              <a:buChar char="Ø"/>
            </a:pPr>
            <a:r>
              <a:rPr lang="en-US" sz="2200" dirty="0" smtClean="0">
                <a:solidFill>
                  <a:srgbClr val="FF0066"/>
                </a:solidFill>
                <a:latin typeface="Times New Roman" pitchFamily="18" charset="0"/>
                <a:cs typeface="Times New Roman" pitchFamily="18" charset="0"/>
              </a:rPr>
              <a:t>  It causes muscles to contract leading to nervous breakdown, tension etc.,</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These adverse reactions are coupled with a change in hormone content of blood, which in turn increase the rate of heart beat, contraction of blood vessels, and dilation of pupil of eye.</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It affects health efficiency and </a:t>
            </a:r>
            <a:r>
              <a:rPr lang="en-US" sz="2200" dirty="0" err="1" smtClean="0">
                <a:solidFill>
                  <a:srgbClr val="FF0066"/>
                </a:solidFill>
                <a:latin typeface="Times New Roman" pitchFamily="18" charset="0"/>
                <a:cs typeface="Times New Roman" pitchFamily="18" charset="0"/>
              </a:rPr>
              <a:t>behaviour</a:t>
            </a:r>
            <a:r>
              <a:rPr lang="en-US" sz="2200" dirty="0" smtClean="0">
                <a:solidFill>
                  <a:srgbClr val="FF0066"/>
                </a:solidFill>
                <a:latin typeface="Times New Roman" pitchFamily="18" charset="0"/>
                <a:cs typeface="Times New Roman" pitchFamily="18" charset="0"/>
              </a:rPr>
              <a:t>. It may cause damage to heart, brain, kidneys, liver and may also produce emotional disturbances.</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The most immediate and acute effect of noise is the impairment of hearing which diminishes by the damage of some part of auditory system. </a:t>
            </a:r>
          </a:p>
          <a:p>
            <a:pPr>
              <a:buFont typeface="Wingdings" pitchFamily="2" charset="2"/>
              <a:buChar char="Ø"/>
            </a:pPr>
            <a:r>
              <a:rPr lang="en-US" sz="2200" dirty="0" smtClean="0">
                <a:solidFill>
                  <a:srgbClr val="FF0066"/>
                </a:solidFill>
                <a:latin typeface="Times New Roman" pitchFamily="18" charset="0"/>
                <a:cs typeface="Times New Roman" pitchFamily="18" charset="0"/>
              </a:rPr>
              <a:t>When exposed to very loud and sudden noise acute damage occurs to the ear drum. Prolonged exposure to noise of certain frequency pattern will lead to chronic damage to the hair cells in the inner ear.</a:t>
            </a:r>
          </a:p>
        </p:txBody>
      </p:sp>
    </p:spTree>
  </p:cSld>
  <p:clrMapOvr>
    <a:masterClrMapping/>
  </p:clrMapOvr>
  <p:transition spd="slow">
    <p:push/>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295400"/>
            <a:ext cx="8077200" cy="4493538"/>
          </a:xfrm>
          <a:prstGeom prst="rect">
            <a:avLst/>
          </a:prstGeom>
        </p:spPr>
        <p:txBody>
          <a:bodyPr wrap="square">
            <a:spAutoFit/>
          </a:bodyPr>
          <a:lstStyle/>
          <a:p>
            <a:pPr>
              <a:buFont typeface="Wingdings" pitchFamily="2" charset="2"/>
              <a:buChar char="Ø"/>
            </a:pPr>
            <a:r>
              <a:rPr lang="en-US" sz="2200" dirty="0" smtClean="0">
                <a:solidFill>
                  <a:srgbClr val="FF0066"/>
                </a:solidFill>
                <a:latin typeface="Times New Roman" pitchFamily="18" charset="0"/>
                <a:cs typeface="Times New Roman" pitchFamily="18" charset="0"/>
              </a:rPr>
              <a:t>  In addition to serious loss of hearing due to excessive noise, impulsive noise also causes psychological and pathological disorders.</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Ultrasonic sound can affect the digestive, respiratory, cardio vascular systems and semicircular canals of the internal ear. The rate of heart beat may also be affected. It may decrease (or) increase depending on the type of noise.</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Brain is also adversely affected by loud and sudden noise as that of jet and </a:t>
            </a:r>
            <a:r>
              <a:rPr lang="en-US" sz="2200" dirty="0" err="1" smtClean="0">
                <a:solidFill>
                  <a:srgbClr val="FF0066"/>
                </a:solidFill>
                <a:latin typeface="Times New Roman" pitchFamily="18" charset="0"/>
                <a:cs typeface="Times New Roman" pitchFamily="18" charset="0"/>
              </a:rPr>
              <a:t>aeroplane</a:t>
            </a:r>
            <a:r>
              <a:rPr lang="en-US" sz="2200" dirty="0" smtClean="0">
                <a:solidFill>
                  <a:srgbClr val="FF0066"/>
                </a:solidFill>
                <a:latin typeface="Times New Roman" pitchFamily="18" charset="0"/>
                <a:cs typeface="Times New Roman" pitchFamily="18" charset="0"/>
              </a:rPr>
              <a:t> noise etc. People are subjected to Psychiatric illness.</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Recently it has been reported that blood is also thickened by excessive noises.</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It is quite surprising that our optical system is also a prey for noise pollution. </a:t>
            </a:r>
            <a:r>
              <a:rPr lang="en-US" sz="2200" dirty="0" err="1" smtClean="0">
                <a:solidFill>
                  <a:srgbClr val="FF0066"/>
                </a:solidFill>
                <a:latin typeface="Times New Roman" pitchFamily="18" charset="0"/>
                <a:cs typeface="Times New Roman" pitchFamily="18" charset="0"/>
              </a:rPr>
              <a:t>Pupillary</a:t>
            </a:r>
            <a:r>
              <a:rPr lang="en-US" sz="2200" dirty="0" smtClean="0">
                <a:solidFill>
                  <a:srgbClr val="FF0066"/>
                </a:solidFill>
                <a:latin typeface="Times New Roman" pitchFamily="18" charset="0"/>
                <a:cs typeface="Times New Roman" pitchFamily="18" charset="0"/>
              </a:rPr>
              <a:t> dilation, impairment of night vision and decrease in the rate of </a:t>
            </a:r>
            <a:r>
              <a:rPr lang="en-US" sz="2200" dirty="0" err="1" smtClean="0">
                <a:solidFill>
                  <a:srgbClr val="FF0066"/>
                </a:solidFill>
                <a:latin typeface="Times New Roman" pitchFamily="18" charset="0"/>
                <a:cs typeface="Times New Roman" pitchFamily="18" charset="0"/>
              </a:rPr>
              <a:t>colour</a:t>
            </a:r>
            <a:r>
              <a:rPr lang="en-US" sz="2200" dirty="0" smtClean="0">
                <a:solidFill>
                  <a:srgbClr val="FF0066"/>
                </a:solidFill>
                <a:latin typeface="Times New Roman" pitchFamily="18" charset="0"/>
                <a:cs typeface="Times New Roman" pitchFamily="18" charset="0"/>
              </a:rPr>
              <a:t> perception are some of its severe effects.</a:t>
            </a:r>
            <a:endParaRPr lang="en-US" sz="2200" b="1"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914400"/>
            <a:ext cx="8077200" cy="5509200"/>
          </a:xfrm>
          <a:prstGeom prst="rect">
            <a:avLst/>
          </a:prstGeom>
        </p:spPr>
        <p:txBody>
          <a:bodyPr wrap="square">
            <a:spAutoFit/>
          </a:bodyPr>
          <a:lstStyle/>
          <a:p>
            <a:r>
              <a:rPr lang="en-US" sz="2200" b="1" i="1" dirty="0" smtClean="0">
                <a:solidFill>
                  <a:srgbClr val="0000CC"/>
                </a:solidFill>
                <a:latin typeface="Times New Roman" pitchFamily="18" charset="0"/>
                <a:cs typeface="Times New Roman" pitchFamily="18" charset="0"/>
              </a:rPr>
              <a:t>2.5.3 Control (or) Preventive measures of noise pollution</a:t>
            </a:r>
          </a:p>
          <a:p>
            <a:r>
              <a:rPr lang="en-US" sz="2200" b="1" dirty="0" smtClean="0">
                <a:solidFill>
                  <a:srgbClr val="FF9900"/>
                </a:solidFill>
                <a:latin typeface="Times New Roman" pitchFamily="18" charset="0"/>
                <a:cs typeface="Times New Roman" pitchFamily="18" charset="0"/>
              </a:rPr>
              <a:t>1. Source Control</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This may include source modification such as acoustic treatment to machine surface, design changes, limiting the operational timings and so on.</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2. Transmission Path Intervention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This may include containing the source inside a sound insulating enclosure, construction of a noise barrier (or) provision of sound absorbing materials along the path.</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3. Receptor control</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This includes protection of the receiver by altering the work schedule (or) provision of personal protection devices such as ear plugs for operating noisy machinery.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measure may include dissipation and deflection methods.</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671691"/>
            <a:ext cx="8001000" cy="6186309"/>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4. Oiling</a:t>
            </a:r>
          </a:p>
          <a:p>
            <a:r>
              <a:rPr lang="en-US" sz="2200" dirty="0" smtClean="0">
                <a:solidFill>
                  <a:srgbClr val="FF0066"/>
                </a:solidFill>
                <a:latin typeface="Times New Roman" pitchFamily="18" charset="0"/>
                <a:cs typeface="Times New Roman" pitchFamily="18" charset="0"/>
              </a:rPr>
              <a:t>Proper oiling will reduce the noise from the machines.</a:t>
            </a:r>
          </a:p>
          <a:p>
            <a:endParaRPr lang="en-US" sz="2200" dirty="0" smtClean="0">
              <a:solidFill>
                <a:srgbClr val="FF0066"/>
              </a:solidFill>
              <a:latin typeface="Times New Roman" pitchFamily="18" charset="0"/>
              <a:cs typeface="Times New Roman" pitchFamily="18" charset="0"/>
            </a:endParaRPr>
          </a:p>
          <a:p>
            <a:r>
              <a:rPr lang="en-US" sz="2200" b="1" dirty="0" smtClean="0">
                <a:solidFill>
                  <a:srgbClr val="FF0066"/>
                </a:solidFill>
                <a:latin typeface="Times New Roman" pitchFamily="18" charset="0"/>
                <a:cs typeface="Times New Roman" pitchFamily="18" charset="0"/>
              </a:rPr>
              <a:t>5. </a:t>
            </a:r>
            <a:r>
              <a:rPr lang="en-US" sz="2200" dirty="0" smtClean="0">
                <a:solidFill>
                  <a:srgbClr val="FF0066"/>
                </a:solidFill>
                <a:latin typeface="Times New Roman" pitchFamily="18" charset="0"/>
                <a:cs typeface="Times New Roman" pitchFamily="18" charset="0"/>
              </a:rPr>
              <a:t>Planting trees around houses can also act as effective</a:t>
            </a:r>
            <a:r>
              <a:rPr lang="en-US" sz="2200" b="1" dirty="0" smtClean="0">
                <a:solidFill>
                  <a:srgbClr val="FF0066"/>
                </a:solidFill>
                <a:latin typeface="Times New Roman" pitchFamily="18" charset="0"/>
                <a:cs typeface="Times New Roman" pitchFamily="18" charset="0"/>
              </a:rPr>
              <a:t> </a:t>
            </a:r>
            <a:r>
              <a:rPr lang="en-US" sz="2200" dirty="0" smtClean="0">
                <a:solidFill>
                  <a:srgbClr val="FF0066"/>
                </a:solidFill>
                <a:latin typeface="Times New Roman" pitchFamily="18" charset="0"/>
                <a:cs typeface="Times New Roman" pitchFamily="18" charset="0"/>
              </a:rPr>
              <a:t>noise barriers.</a:t>
            </a:r>
          </a:p>
          <a:p>
            <a:endParaRPr lang="en-US" sz="2200" dirty="0" smtClean="0">
              <a:solidFill>
                <a:srgbClr val="FF0066"/>
              </a:solidFill>
              <a:latin typeface="Times New Roman" pitchFamily="18" charset="0"/>
              <a:cs typeface="Times New Roman" pitchFamily="18" charset="0"/>
            </a:endParaRPr>
          </a:p>
          <a:p>
            <a:r>
              <a:rPr lang="en-US" sz="2200" b="1" dirty="0" smtClean="0">
                <a:solidFill>
                  <a:srgbClr val="FF0066"/>
                </a:solidFill>
                <a:latin typeface="Times New Roman" pitchFamily="18" charset="0"/>
                <a:cs typeface="Times New Roman" pitchFamily="18" charset="0"/>
              </a:rPr>
              <a:t>6. </a:t>
            </a:r>
            <a:r>
              <a:rPr lang="en-US" sz="2200" dirty="0" smtClean="0">
                <a:solidFill>
                  <a:srgbClr val="FF0066"/>
                </a:solidFill>
                <a:latin typeface="Times New Roman" pitchFamily="18" charset="0"/>
                <a:cs typeface="Times New Roman" pitchFamily="18" charset="0"/>
              </a:rPr>
              <a:t>Different types of absorptive materials can be used to</a:t>
            </a:r>
            <a:r>
              <a:rPr lang="en-US" sz="2200" b="1" dirty="0" smtClean="0">
                <a:solidFill>
                  <a:srgbClr val="FF0066"/>
                </a:solidFill>
                <a:latin typeface="Times New Roman" pitchFamily="18" charset="0"/>
                <a:cs typeface="Times New Roman" pitchFamily="18" charset="0"/>
              </a:rPr>
              <a:t> </a:t>
            </a:r>
            <a:r>
              <a:rPr lang="en-US" sz="2200" dirty="0" smtClean="0">
                <a:solidFill>
                  <a:srgbClr val="FF0066"/>
                </a:solidFill>
                <a:latin typeface="Times New Roman" pitchFamily="18" charset="0"/>
                <a:cs typeface="Times New Roman" pitchFamily="18" charset="0"/>
              </a:rPr>
              <a:t>control interior noise.</a:t>
            </a:r>
          </a:p>
          <a:p>
            <a:endParaRPr lang="en-US" sz="2200" dirty="0" smtClean="0">
              <a:latin typeface="Times New Roman" pitchFamily="18" charset="0"/>
              <a:cs typeface="Times New Roman" pitchFamily="18" charset="0"/>
            </a:endParaRPr>
          </a:p>
          <a:p>
            <a:r>
              <a:rPr lang="en-US" sz="2200" b="1" i="1" dirty="0" smtClean="0">
                <a:solidFill>
                  <a:srgbClr val="0000CC"/>
                </a:solidFill>
                <a:latin typeface="Times New Roman" pitchFamily="18" charset="0"/>
                <a:cs typeface="Times New Roman" pitchFamily="18" charset="0"/>
              </a:rPr>
              <a:t>2.5.4 Other Preventive measures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Noise can be reduced by prescribing noise limits for vehicular traffic, ban on honking of horns in certain areas and creation of silent zones near schools and hospitals and redesigning of buildings to make them noise proof. </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Other measures can involve reduction of traffic density in residential areas and giving preferences to mass public transport system.</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0200" y="1143000"/>
            <a:ext cx="4413581" cy="430887"/>
          </a:xfrm>
          <a:prstGeom prst="rect">
            <a:avLst/>
          </a:prstGeom>
        </p:spPr>
        <p:txBody>
          <a:bodyPr wrap="none">
            <a:spAutoFit/>
          </a:bodyPr>
          <a:lstStyle/>
          <a:p>
            <a:r>
              <a:rPr lang="fr-FR" sz="2200" b="1" dirty="0" smtClean="0">
                <a:latin typeface="Times New Roman" pitchFamily="18" charset="0"/>
                <a:cs typeface="Times New Roman" pitchFamily="18" charset="0"/>
              </a:rPr>
              <a:t>Table 2.6: </a:t>
            </a:r>
            <a:r>
              <a:rPr lang="fr-FR" sz="2200" b="1" dirty="0" err="1" smtClean="0">
                <a:latin typeface="Times New Roman" pitchFamily="18" charset="0"/>
                <a:cs typeface="Times New Roman" pitchFamily="18" charset="0"/>
              </a:rPr>
              <a:t>Ambient</a:t>
            </a:r>
            <a:r>
              <a:rPr lang="fr-FR" sz="2200" b="1" dirty="0" smtClean="0">
                <a:latin typeface="Times New Roman" pitchFamily="18" charset="0"/>
                <a:cs typeface="Times New Roman" pitchFamily="18" charset="0"/>
              </a:rPr>
              <a:t> Noise </a:t>
            </a:r>
            <a:r>
              <a:rPr lang="fr-FR" sz="2200" b="1" dirty="0" err="1" smtClean="0">
                <a:latin typeface="Times New Roman" pitchFamily="18" charset="0"/>
                <a:cs typeface="Times New Roman" pitchFamily="18" charset="0"/>
              </a:rPr>
              <a:t>Level</a:t>
            </a:r>
            <a:r>
              <a:rPr lang="fr-FR" sz="2200" b="1" dirty="0" smtClean="0">
                <a:latin typeface="Times New Roman" pitchFamily="18" charset="0"/>
                <a:cs typeface="Times New Roman" pitchFamily="18" charset="0"/>
              </a:rPr>
              <a:t> dB.</a:t>
            </a:r>
            <a:endParaRPr lang="en-US" sz="2200" dirty="0">
              <a:latin typeface="Times New Roman" pitchFamily="18" charset="0"/>
              <a:cs typeface="Times New Roman" pitchFamily="18" charset="0"/>
            </a:endParaRPr>
          </a:p>
        </p:txBody>
      </p:sp>
      <p:graphicFrame>
        <p:nvGraphicFramePr>
          <p:cNvPr id="3" name="Table 2"/>
          <p:cNvGraphicFramePr>
            <a:graphicFrameLocks noGrp="1"/>
          </p:cNvGraphicFramePr>
          <p:nvPr/>
        </p:nvGraphicFramePr>
        <p:xfrm>
          <a:off x="914400" y="2286000"/>
          <a:ext cx="7086600" cy="3429000"/>
        </p:xfrm>
        <a:graphic>
          <a:graphicData uri="http://schemas.openxmlformats.org/drawingml/2006/table">
            <a:tbl>
              <a:tblPr/>
              <a:tblGrid>
                <a:gridCol w="3208269"/>
                <a:gridCol w="1970044"/>
                <a:gridCol w="1908287"/>
              </a:tblGrid>
              <a:tr h="729745">
                <a:tc>
                  <a:txBody>
                    <a:bodyPr/>
                    <a:lstStyle/>
                    <a:p>
                      <a:pPr marL="501650" marR="489585" algn="ctr">
                        <a:spcBef>
                          <a:spcPts val="320"/>
                        </a:spcBef>
                        <a:spcAft>
                          <a:spcPts val="0"/>
                        </a:spcAft>
                      </a:pPr>
                      <a:r>
                        <a:rPr lang="en-US" sz="2200" b="1" dirty="0">
                          <a:solidFill>
                            <a:srgbClr val="CC0066"/>
                          </a:solidFill>
                          <a:latin typeface="Times New Roman"/>
                        </a:rPr>
                        <a:t>Zone</a:t>
                      </a:r>
                      <a:endParaRPr lang="en-US" sz="2200" dirty="0">
                        <a:solidFill>
                          <a:srgbClr val="CC0066"/>
                        </a:solidFill>
                        <a:latin typeface="Times New Roman"/>
                      </a:endParaRPr>
                    </a:p>
                  </a:txBody>
                  <a:tcPr>
                    <a:lnL>
                      <a:noFill/>
                    </a:lnL>
                    <a:lnR>
                      <a:noFill/>
                    </a:lnR>
                    <a:lnT>
                      <a:noFill/>
                    </a:lnT>
                    <a:lnB>
                      <a:noFill/>
                    </a:lnB>
                    <a:solidFill>
                      <a:srgbClr val="00FFFF"/>
                    </a:solidFill>
                  </a:tcPr>
                </a:tc>
                <a:tc>
                  <a:txBody>
                    <a:bodyPr/>
                    <a:lstStyle/>
                    <a:p>
                      <a:pPr marL="120015" marR="113030" algn="ctr">
                        <a:spcBef>
                          <a:spcPts val="320"/>
                        </a:spcBef>
                        <a:spcAft>
                          <a:spcPts val="0"/>
                        </a:spcAft>
                      </a:pPr>
                      <a:r>
                        <a:rPr lang="en-US" sz="2200" b="1">
                          <a:solidFill>
                            <a:srgbClr val="CC0066"/>
                          </a:solidFill>
                          <a:latin typeface="Times New Roman"/>
                        </a:rPr>
                        <a:t>Day-time</a:t>
                      </a:r>
                      <a:endParaRPr lang="en-US" sz="2200">
                        <a:solidFill>
                          <a:srgbClr val="CC0066"/>
                        </a:solidFill>
                        <a:latin typeface="Times New Roman"/>
                      </a:endParaRPr>
                    </a:p>
                  </a:txBody>
                  <a:tcPr>
                    <a:lnL>
                      <a:noFill/>
                    </a:lnL>
                    <a:lnR>
                      <a:noFill/>
                    </a:lnR>
                    <a:lnT>
                      <a:noFill/>
                    </a:lnT>
                    <a:lnB>
                      <a:noFill/>
                    </a:lnB>
                    <a:solidFill>
                      <a:srgbClr val="00FFFF"/>
                    </a:solidFill>
                  </a:tcPr>
                </a:tc>
                <a:tc>
                  <a:txBody>
                    <a:bodyPr/>
                    <a:lstStyle/>
                    <a:p>
                      <a:pPr marL="46990" marR="67945" algn="ctr">
                        <a:spcBef>
                          <a:spcPts val="320"/>
                        </a:spcBef>
                        <a:spcAft>
                          <a:spcPts val="0"/>
                        </a:spcAft>
                      </a:pPr>
                      <a:r>
                        <a:rPr lang="en-US" sz="2200" b="1">
                          <a:solidFill>
                            <a:srgbClr val="CC0066"/>
                          </a:solidFill>
                          <a:latin typeface="Times New Roman"/>
                        </a:rPr>
                        <a:t>Night-time</a:t>
                      </a:r>
                      <a:endParaRPr lang="en-US" sz="2200">
                        <a:solidFill>
                          <a:srgbClr val="CC0066"/>
                        </a:solidFill>
                        <a:latin typeface="Times New Roman"/>
                      </a:endParaRPr>
                    </a:p>
                  </a:txBody>
                  <a:tcPr>
                    <a:lnL>
                      <a:noFill/>
                    </a:lnL>
                    <a:lnR>
                      <a:noFill/>
                    </a:lnR>
                    <a:lnT>
                      <a:noFill/>
                    </a:lnT>
                    <a:lnB>
                      <a:noFill/>
                    </a:lnB>
                    <a:solidFill>
                      <a:srgbClr val="00FFFF"/>
                    </a:solidFill>
                  </a:tcPr>
                </a:tc>
              </a:tr>
              <a:tr h="676818">
                <a:tc>
                  <a:txBody>
                    <a:bodyPr/>
                    <a:lstStyle/>
                    <a:p>
                      <a:pPr marL="39370" algn="l">
                        <a:spcBef>
                          <a:spcPts val="220"/>
                        </a:spcBef>
                        <a:spcAft>
                          <a:spcPts val="0"/>
                        </a:spcAft>
                      </a:pPr>
                      <a:r>
                        <a:rPr lang="en-US" sz="2200">
                          <a:solidFill>
                            <a:srgbClr val="CC0066"/>
                          </a:solidFill>
                          <a:latin typeface="Times New Roman"/>
                        </a:rPr>
                        <a:t>Silent</a:t>
                      </a:r>
                      <a:r>
                        <a:rPr lang="en-US" sz="2200" spc="210">
                          <a:solidFill>
                            <a:srgbClr val="CC0066"/>
                          </a:solidFill>
                          <a:latin typeface="Times New Roman"/>
                        </a:rPr>
                        <a:t> </a:t>
                      </a:r>
                      <a:r>
                        <a:rPr lang="en-US" sz="2200">
                          <a:solidFill>
                            <a:srgbClr val="CC0066"/>
                          </a:solidFill>
                          <a:latin typeface="Times New Roman"/>
                        </a:rPr>
                        <a:t>zone</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a:noFill/>
                    </a:lnT>
                    <a:lnB w="9525" cap="flat" cmpd="sng" algn="ctr">
                      <a:solidFill>
                        <a:srgbClr val="00FFFF"/>
                      </a:solidFill>
                      <a:prstDash val="solid"/>
                      <a:round/>
                      <a:headEnd type="none" w="med" len="med"/>
                      <a:tailEnd type="none" w="med" len="med"/>
                    </a:lnB>
                  </a:tcPr>
                </a:tc>
                <a:tc>
                  <a:txBody>
                    <a:bodyPr/>
                    <a:lstStyle/>
                    <a:p>
                      <a:pPr marL="320675" marR="313690" algn="ctr">
                        <a:spcBef>
                          <a:spcPts val="220"/>
                        </a:spcBef>
                        <a:spcAft>
                          <a:spcPts val="0"/>
                        </a:spcAft>
                      </a:pPr>
                      <a:r>
                        <a:rPr lang="en-US" sz="2200">
                          <a:solidFill>
                            <a:srgbClr val="CC0066"/>
                          </a:solidFill>
                          <a:latin typeface="Times New Roman"/>
                        </a:rPr>
                        <a:t>50</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a:noFill/>
                    </a:lnT>
                    <a:lnB w="9525" cap="flat" cmpd="sng" algn="ctr">
                      <a:solidFill>
                        <a:srgbClr val="00FFFF"/>
                      </a:solidFill>
                      <a:prstDash val="solid"/>
                      <a:round/>
                      <a:headEnd type="none" w="med" len="med"/>
                      <a:tailEnd type="none" w="med" len="med"/>
                    </a:lnB>
                  </a:tcPr>
                </a:tc>
                <a:tc>
                  <a:txBody>
                    <a:bodyPr/>
                    <a:lstStyle/>
                    <a:p>
                      <a:pPr marL="294640" marR="314325" algn="ctr">
                        <a:spcBef>
                          <a:spcPts val="220"/>
                        </a:spcBef>
                        <a:spcAft>
                          <a:spcPts val="0"/>
                        </a:spcAft>
                      </a:pPr>
                      <a:r>
                        <a:rPr lang="en-US" sz="2200">
                          <a:solidFill>
                            <a:srgbClr val="CC0066"/>
                          </a:solidFill>
                          <a:latin typeface="Times New Roman"/>
                        </a:rPr>
                        <a:t>40</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a:noFill/>
                    </a:lnT>
                    <a:lnB w="9525" cap="flat" cmpd="sng" algn="ctr">
                      <a:solidFill>
                        <a:srgbClr val="00FFFF"/>
                      </a:solidFill>
                      <a:prstDash val="solid"/>
                      <a:round/>
                      <a:headEnd type="none" w="med" len="med"/>
                      <a:tailEnd type="none" w="med" len="med"/>
                    </a:lnB>
                  </a:tcPr>
                </a:tc>
              </a:tr>
              <a:tr h="675215">
                <a:tc>
                  <a:txBody>
                    <a:bodyPr/>
                    <a:lstStyle/>
                    <a:p>
                      <a:pPr marL="39370" algn="l">
                        <a:spcBef>
                          <a:spcPts val="220"/>
                        </a:spcBef>
                        <a:spcAft>
                          <a:spcPts val="0"/>
                        </a:spcAft>
                      </a:pPr>
                      <a:r>
                        <a:rPr lang="en-US" sz="2200" dirty="0">
                          <a:solidFill>
                            <a:srgbClr val="CC0066"/>
                          </a:solidFill>
                          <a:latin typeface="Times New Roman"/>
                        </a:rPr>
                        <a:t>Residential</a:t>
                      </a:r>
                      <a:r>
                        <a:rPr lang="en-US" sz="2200" spc="210" dirty="0">
                          <a:solidFill>
                            <a:srgbClr val="CC0066"/>
                          </a:solidFill>
                          <a:latin typeface="Times New Roman"/>
                        </a:rPr>
                        <a:t> </a:t>
                      </a:r>
                      <a:r>
                        <a:rPr lang="en-US" sz="2200" dirty="0">
                          <a:solidFill>
                            <a:srgbClr val="CC0066"/>
                          </a:solidFill>
                          <a:latin typeface="Times New Roman"/>
                        </a:rPr>
                        <a:t>zone</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c>
                  <a:txBody>
                    <a:bodyPr/>
                    <a:lstStyle/>
                    <a:p>
                      <a:pPr marL="320675" marR="313690" algn="ctr">
                        <a:spcBef>
                          <a:spcPts val="220"/>
                        </a:spcBef>
                        <a:spcAft>
                          <a:spcPts val="0"/>
                        </a:spcAft>
                      </a:pPr>
                      <a:r>
                        <a:rPr lang="en-US" sz="2200">
                          <a:solidFill>
                            <a:srgbClr val="CC0066"/>
                          </a:solidFill>
                          <a:latin typeface="Times New Roman"/>
                        </a:rPr>
                        <a:t>55</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c>
                  <a:txBody>
                    <a:bodyPr/>
                    <a:lstStyle/>
                    <a:p>
                      <a:pPr marL="294640" marR="314325" algn="ctr">
                        <a:spcBef>
                          <a:spcPts val="220"/>
                        </a:spcBef>
                        <a:spcAft>
                          <a:spcPts val="0"/>
                        </a:spcAft>
                      </a:pPr>
                      <a:r>
                        <a:rPr lang="en-US" sz="2200">
                          <a:solidFill>
                            <a:srgbClr val="CC0066"/>
                          </a:solidFill>
                          <a:latin typeface="Times New Roman"/>
                        </a:rPr>
                        <a:t>45</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r>
              <a:tr h="675215">
                <a:tc>
                  <a:txBody>
                    <a:bodyPr/>
                    <a:lstStyle/>
                    <a:p>
                      <a:pPr marL="39370" algn="l">
                        <a:spcBef>
                          <a:spcPts val="220"/>
                        </a:spcBef>
                        <a:spcAft>
                          <a:spcPts val="0"/>
                        </a:spcAft>
                      </a:pPr>
                      <a:r>
                        <a:rPr lang="en-US" sz="2200">
                          <a:solidFill>
                            <a:srgbClr val="CC0066"/>
                          </a:solidFill>
                          <a:latin typeface="Times New Roman"/>
                        </a:rPr>
                        <a:t>Commercial</a:t>
                      </a:r>
                      <a:r>
                        <a:rPr lang="en-US" sz="2200" spc="210">
                          <a:solidFill>
                            <a:srgbClr val="CC0066"/>
                          </a:solidFill>
                          <a:latin typeface="Times New Roman"/>
                        </a:rPr>
                        <a:t> </a:t>
                      </a:r>
                      <a:r>
                        <a:rPr lang="en-US" sz="2200">
                          <a:solidFill>
                            <a:srgbClr val="CC0066"/>
                          </a:solidFill>
                          <a:latin typeface="Times New Roman"/>
                        </a:rPr>
                        <a:t>zone</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c>
                  <a:txBody>
                    <a:bodyPr/>
                    <a:lstStyle/>
                    <a:p>
                      <a:pPr marL="321310" marR="313690" algn="ctr">
                        <a:spcBef>
                          <a:spcPts val="220"/>
                        </a:spcBef>
                        <a:spcAft>
                          <a:spcPts val="0"/>
                        </a:spcAft>
                      </a:pPr>
                      <a:r>
                        <a:rPr lang="en-US" sz="2200">
                          <a:solidFill>
                            <a:srgbClr val="CC0066"/>
                          </a:solidFill>
                          <a:latin typeface="Times New Roman"/>
                        </a:rPr>
                        <a:t>65</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c>
                  <a:txBody>
                    <a:bodyPr/>
                    <a:lstStyle/>
                    <a:p>
                      <a:pPr marL="295275" marR="314325" algn="ctr">
                        <a:spcBef>
                          <a:spcPts val="220"/>
                        </a:spcBef>
                        <a:spcAft>
                          <a:spcPts val="0"/>
                        </a:spcAft>
                      </a:pPr>
                      <a:r>
                        <a:rPr lang="en-US" sz="2200">
                          <a:solidFill>
                            <a:srgbClr val="CC0066"/>
                          </a:solidFill>
                          <a:latin typeface="Times New Roman"/>
                        </a:rPr>
                        <a:t>55</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9525" cap="flat" cmpd="sng" algn="ctr">
                      <a:solidFill>
                        <a:srgbClr val="00FFFF"/>
                      </a:solidFill>
                      <a:prstDash val="solid"/>
                      <a:round/>
                      <a:headEnd type="none" w="med" len="med"/>
                      <a:tailEnd type="none" w="med" len="med"/>
                    </a:lnB>
                  </a:tcPr>
                </a:tc>
              </a:tr>
              <a:tr h="672007">
                <a:tc>
                  <a:txBody>
                    <a:bodyPr/>
                    <a:lstStyle/>
                    <a:p>
                      <a:pPr marL="39370" algn="l">
                        <a:spcBef>
                          <a:spcPts val="220"/>
                        </a:spcBef>
                        <a:spcAft>
                          <a:spcPts val="0"/>
                        </a:spcAft>
                      </a:pPr>
                      <a:r>
                        <a:rPr lang="en-US" sz="2200" dirty="0">
                          <a:solidFill>
                            <a:srgbClr val="CC0066"/>
                          </a:solidFill>
                          <a:latin typeface="Times New Roman"/>
                        </a:rPr>
                        <a:t>Industrial</a:t>
                      </a:r>
                      <a:r>
                        <a:rPr lang="en-US" sz="2200" spc="205" dirty="0">
                          <a:solidFill>
                            <a:srgbClr val="CC0066"/>
                          </a:solidFill>
                          <a:latin typeface="Times New Roman"/>
                        </a:rPr>
                        <a:t> </a:t>
                      </a:r>
                      <a:r>
                        <a:rPr lang="en-US" sz="2200" dirty="0">
                          <a:solidFill>
                            <a:srgbClr val="CC0066"/>
                          </a:solidFill>
                          <a:latin typeface="Times New Roman"/>
                        </a:rPr>
                        <a:t>zone</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76200" cap="flat" cmpd="sng" algn="ctr">
                      <a:solidFill>
                        <a:srgbClr val="00FFFF"/>
                      </a:solidFill>
                      <a:prstDash val="solid"/>
                      <a:round/>
                      <a:headEnd type="none" w="med" len="med"/>
                      <a:tailEnd type="none" w="med" len="med"/>
                    </a:lnB>
                  </a:tcPr>
                </a:tc>
                <a:tc>
                  <a:txBody>
                    <a:bodyPr/>
                    <a:lstStyle/>
                    <a:p>
                      <a:pPr marL="321310" marR="313690" algn="ctr">
                        <a:spcBef>
                          <a:spcPts val="220"/>
                        </a:spcBef>
                        <a:spcAft>
                          <a:spcPts val="0"/>
                        </a:spcAft>
                      </a:pPr>
                      <a:r>
                        <a:rPr lang="en-US" sz="2200">
                          <a:solidFill>
                            <a:srgbClr val="CC0066"/>
                          </a:solidFill>
                          <a:latin typeface="Times New Roman"/>
                        </a:rPr>
                        <a:t>70</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76200" cap="flat" cmpd="sng" algn="ctr">
                      <a:solidFill>
                        <a:srgbClr val="00FFFF"/>
                      </a:solidFill>
                      <a:prstDash val="solid"/>
                      <a:round/>
                      <a:headEnd type="none" w="med" len="med"/>
                      <a:tailEnd type="none" w="med" len="med"/>
                    </a:lnB>
                  </a:tcPr>
                </a:tc>
                <a:tc>
                  <a:txBody>
                    <a:bodyPr/>
                    <a:lstStyle/>
                    <a:p>
                      <a:pPr marL="294640" marR="314325" algn="ctr">
                        <a:spcBef>
                          <a:spcPts val="220"/>
                        </a:spcBef>
                        <a:spcAft>
                          <a:spcPts val="0"/>
                        </a:spcAft>
                      </a:pPr>
                      <a:r>
                        <a:rPr lang="en-US" sz="2200" dirty="0">
                          <a:solidFill>
                            <a:srgbClr val="CC0066"/>
                          </a:solidFill>
                          <a:latin typeface="Times New Roman"/>
                        </a:rPr>
                        <a:t>70</a:t>
                      </a:r>
                    </a:p>
                  </a:txBody>
                  <a:tcPr>
                    <a:lnL w="9525" cap="flat" cmpd="sng" algn="ctr">
                      <a:solidFill>
                        <a:srgbClr val="00FFFF"/>
                      </a:solidFill>
                      <a:prstDash val="solid"/>
                      <a:round/>
                      <a:headEnd type="none" w="med" len="med"/>
                      <a:tailEnd type="none" w="med" len="med"/>
                    </a:lnL>
                    <a:lnR w="9525" cap="flat" cmpd="sng" algn="ctr">
                      <a:solidFill>
                        <a:srgbClr val="00FFFF"/>
                      </a:solidFill>
                      <a:prstDash val="solid"/>
                      <a:round/>
                      <a:headEnd type="none" w="med" len="med"/>
                      <a:tailEnd type="none" w="med" len="med"/>
                    </a:lnR>
                    <a:lnT w="9525" cap="flat" cmpd="sng" algn="ctr">
                      <a:solidFill>
                        <a:srgbClr val="00FFFF"/>
                      </a:solidFill>
                      <a:prstDash val="solid"/>
                      <a:round/>
                      <a:headEnd type="none" w="med" len="med"/>
                      <a:tailEnd type="none" w="med" len="med"/>
                    </a:lnT>
                    <a:lnB w="76200" cap="flat" cmpd="sng" algn="ctr">
                      <a:solidFill>
                        <a:srgbClr val="00FFFF"/>
                      </a:solidFill>
                      <a:prstDash val="solid"/>
                      <a:round/>
                      <a:headEnd type="none" w="med" len="med"/>
                      <a:tailEnd type="none" w="med" len="med"/>
                    </a:lnB>
                  </a:tcPr>
                </a:tc>
              </a:tr>
            </a:tbl>
          </a:graphicData>
        </a:graphic>
      </p:graphicFrame>
    </p:spTree>
  </p:cSld>
  <p:clrMapOvr>
    <a:masterClrMapping/>
  </p:clrMapOvr>
  <p:transition spd="slow">
    <p:push/>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914400"/>
            <a:ext cx="8229600" cy="5847755"/>
          </a:xfrm>
          <a:prstGeom prst="rect">
            <a:avLst/>
          </a:prstGeom>
        </p:spPr>
        <p:txBody>
          <a:bodyPr wrap="square">
            <a:spAutoFit/>
          </a:bodyPr>
          <a:lstStyle/>
          <a:p>
            <a:r>
              <a:rPr lang="en-US" sz="2200" b="1" dirty="0" smtClean="0">
                <a:solidFill>
                  <a:srgbClr val="0B8319"/>
                </a:solidFill>
                <a:latin typeface="Times New Roman" pitchFamily="18" charset="0"/>
                <a:cs typeface="Times New Roman" pitchFamily="18" charset="0"/>
              </a:rPr>
              <a:t>2.6 SOLID WASTE MANAGEMENT (OR) WASTE SHED MANAGEMENT</a:t>
            </a:r>
          </a:p>
          <a:p>
            <a:pPr>
              <a:buFont typeface="Wingdings" pitchFamily="2" charset="2"/>
              <a:buChar char="q"/>
            </a:pPr>
            <a:r>
              <a:rPr lang="en-US" sz="2200" dirty="0" smtClean="0">
                <a:solidFill>
                  <a:srgbClr val="FF0066"/>
                </a:solidFill>
                <a:latin typeface="Times New Roman" pitchFamily="18" charset="0"/>
                <a:cs typeface="Times New Roman" pitchFamily="18" charset="0"/>
              </a:rPr>
              <a:t>  Rapid population growth and urbanization in developing countries have led to the generations of enormous quantities of solid wastes and consequential environmental degradation. </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An estimated 7.6 million </a:t>
            </a:r>
            <a:r>
              <a:rPr lang="en-US" sz="2200" dirty="0" err="1" smtClean="0">
                <a:solidFill>
                  <a:srgbClr val="FF0066"/>
                </a:solidFill>
                <a:latin typeface="Times New Roman" pitchFamily="18" charset="0"/>
                <a:cs typeface="Times New Roman" pitchFamily="18" charset="0"/>
              </a:rPr>
              <a:t>tonnes</a:t>
            </a:r>
            <a:r>
              <a:rPr lang="en-US" sz="2200" dirty="0" smtClean="0">
                <a:solidFill>
                  <a:srgbClr val="FF0066"/>
                </a:solidFill>
                <a:latin typeface="Times New Roman" pitchFamily="18" charset="0"/>
                <a:cs typeface="Times New Roman" pitchFamily="18" charset="0"/>
              </a:rPr>
              <a:t> of municipal solid waste is produced per day in developing countries. </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These wastes are disposed in open dumps creating considerable nuisance and environmental problems.</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These are potential risks to health and to the environment from improper management of solid wastes. </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Management of solid waste is therefore, become very important in order to minimize the adverse effects of solid wastes.</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90600"/>
            <a:ext cx="8001000" cy="5509200"/>
          </a:xfrm>
          <a:prstGeom prst="rect">
            <a:avLst/>
          </a:prstGeom>
        </p:spPr>
        <p:txBody>
          <a:bodyPr wrap="square">
            <a:spAutoFit/>
          </a:bodyPr>
          <a:lstStyle/>
          <a:p>
            <a:r>
              <a:rPr lang="en-US" sz="2200" b="1" i="1" dirty="0" smtClean="0">
                <a:solidFill>
                  <a:srgbClr val="663300"/>
                </a:solidFill>
                <a:latin typeface="Times New Roman" pitchFamily="18" charset="0"/>
                <a:cs typeface="Times New Roman" pitchFamily="18" charset="0"/>
              </a:rPr>
              <a:t>Definition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Solid waste management is the process of collecting, treating and disposing of solid waste.</a:t>
            </a:r>
          </a:p>
          <a:p>
            <a:r>
              <a:rPr lang="en-US" sz="2200" b="1" i="1" dirty="0" smtClean="0">
                <a:solidFill>
                  <a:srgbClr val="0000CC"/>
                </a:solidFill>
                <a:latin typeface="Times New Roman" pitchFamily="18" charset="0"/>
                <a:cs typeface="Times New Roman" pitchFamily="18" charset="0"/>
              </a:rPr>
              <a:t>2.6.1 Types and sources of solid wastes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Depending upon the nature, solid wastes can be broadly classified into three types</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Urban (or) Municipal wastes.</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Industrial wastes.</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Hazardous wastes.</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I Source of Urban (Municipal) Wastes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Urban (or) municipal wastes include the following wastes</a:t>
            </a:r>
          </a:p>
          <a:p>
            <a:r>
              <a:rPr lang="en-US" sz="2200" b="1" dirty="0" smtClean="0">
                <a:solidFill>
                  <a:srgbClr val="FF9900"/>
                </a:solidFill>
                <a:latin typeface="Times New Roman" pitchFamily="18" charset="0"/>
                <a:cs typeface="Times New Roman" pitchFamily="18" charset="0"/>
              </a:rPr>
              <a:t>(a) Domestic wastes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It contains a variety of materials thrown out from the homes.</a:t>
            </a:r>
          </a:p>
          <a:p>
            <a:r>
              <a:rPr lang="en-US" sz="2200" b="1" dirty="0" smtClean="0">
                <a:latin typeface="Times New Roman" pitchFamily="18" charset="0"/>
                <a:cs typeface="Times New Roman" pitchFamily="18" charset="0"/>
              </a:rPr>
              <a:t>Examples </a:t>
            </a:r>
            <a:r>
              <a:rPr lang="en-US" sz="2200" i="1" dirty="0" smtClean="0">
                <a:solidFill>
                  <a:srgbClr val="FF0066"/>
                </a:solidFill>
                <a:latin typeface="Times New Roman" pitchFamily="18" charset="0"/>
                <a:cs typeface="Times New Roman" pitchFamily="18" charset="0"/>
              </a:rPr>
              <a:t>Food waste, cloth, waste paper, glass bottles, polythene bags, waste metals, etc.,</a:t>
            </a:r>
            <a:endParaRPr lang="en-US" sz="2200" b="1"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066800"/>
            <a:ext cx="8001000" cy="5509200"/>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(b) Commercial wastes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It includes the wastes coming out from the shops, </a:t>
            </a:r>
            <a:r>
              <a:rPr lang="fr-FR" sz="2200" dirty="0" err="1" smtClean="0">
                <a:solidFill>
                  <a:srgbClr val="FF0066"/>
                </a:solidFill>
                <a:latin typeface="Times New Roman" pitchFamily="18" charset="0"/>
                <a:cs typeface="Times New Roman" pitchFamily="18" charset="0"/>
              </a:rPr>
              <a:t>markets</a:t>
            </a:r>
            <a:r>
              <a:rPr lang="fr-FR" sz="2200" dirty="0" smtClean="0">
                <a:solidFill>
                  <a:srgbClr val="FF0066"/>
                </a:solidFill>
                <a:latin typeface="Times New Roman" pitchFamily="18" charset="0"/>
                <a:cs typeface="Times New Roman" pitchFamily="18" charset="0"/>
              </a:rPr>
              <a:t>, </a:t>
            </a:r>
            <a:r>
              <a:rPr lang="fr-FR" sz="2200" dirty="0" err="1" smtClean="0">
                <a:solidFill>
                  <a:srgbClr val="FF0066"/>
                </a:solidFill>
                <a:latin typeface="Times New Roman" pitchFamily="18" charset="0"/>
                <a:cs typeface="Times New Roman" pitchFamily="18" charset="0"/>
              </a:rPr>
              <a:t>hotels</a:t>
            </a:r>
            <a:r>
              <a:rPr lang="fr-FR" sz="2200" dirty="0" smtClean="0">
                <a:solidFill>
                  <a:srgbClr val="FF0066"/>
                </a:solidFill>
                <a:latin typeface="Times New Roman" pitchFamily="18" charset="0"/>
                <a:cs typeface="Times New Roman" pitchFamily="18" charset="0"/>
              </a:rPr>
              <a:t>, offices, institutions, etc.,</a:t>
            </a:r>
          </a:p>
          <a:p>
            <a:endParaRPr lang="fr-FR" sz="2200" dirty="0" smtClean="0">
              <a:latin typeface="Times New Roman" pitchFamily="18" charset="0"/>
              <a:cs typeface="Times New Roman" pitchFamily="18" charset="0"/>
            </a:endParaRPr>
          </a:p>
          <a:p>
            <a:r>
              <a:rPr lang="en-US" sz="2200" b="1" dirty="0" smtClean="0">
                <a:latin typeface="Times New Roman" pitchFamily="18" charset="0"/>
                <a:cs typeface="Times New Roman" pitchFamily="18" charset="0"/>
              </a:rPr>
              <a:t>Examples </a:t>
            </a:r>
            <a:r>
              <a:rPr lang="en-US" sz="2200" i="1" dirty="0" smtClean="0">
                <a:solidFill>
                  <a:srgbClr val="FF0066"/>
                </a:solidFill>
                <a:latin typeface="Times New Roman" pitchFamily="18" charset="0"/>
                <a:cs typeface="Times New Roman" pitchFamily="18" charset="0"/>
              </a:rPr>
              <a:t>Waste paper, packing material, cans, bottle, polythene bags, etc.,</a:t>
            </a:r>
          </a:p>
          <a:p>
            <a:endParaRPr lang="en-US" sz="2200" i="1"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(c) Construction wastes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It includes the wastes of construction materials.</a:t>
            </a:r>
          </a:p>
          <a:p>
            <a:endParaRPr lang="en-US" sz="2200" dirty="0" smtClean="0">
              <a:latin typeface="Times New Roman" pitchFamily="18" charset="0"/>
              <a:cs typeface="Times New Roman" pitchFamily="18" charset="0"/>
            </a:endParaRPr>
          </a:p>
          <a:p>
            <a:r>
              <a:rPr lang="en-US" sz="2200" b="1" dirty="0" smtClean="0">
                <a:latin typeface="Times New Roman" pitchFamily="18" charset="0"/>
                <a:cs typeface="Times New Roman" pitchFamily="18" charset="0"/>
              </a:rPr>
              <a:t>Examples  </a:t>
            </a:r>
            <a:r>
              <a:rPr lang="en-US" sz="2200" b="1" i="1" dirty="0" smtClean="0">
                <a:solidFill>
                  <a:srgbClr val="FF0066"/>
                </a:solidFill>
                <a:latin typeface="Times New Roman" pitchFamily="18" charset="0"/>
                <a:cs typeface="Times New Roman" pitchFamily="18" charset="0"/>
              </a:rPr>
              <a:t>Wood, concrete, debris etc.,</a:t>
            </a:r>
          </a:p>
          <a:p>
            <a:endParaRPr lang="en-US" sz="2200" b="1" i="1"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(d) Biomedical wastes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It includes mostly the waste organic materials.</a:t>
            </a:r>
          </a:p>
          <a:p>
            <a:endParaRPr lang="en-US" sz="2200" dirty="0" smtClean="0">
              <a:latin typeface="Times New Roman" pitchFamily="18" charset="0"/>
              <a:cs typeface="Times New Roman" pitchFamily="18" charset="0"/>
            </a:endParaRPr>
          </a:p>
          <a:p>
            <a:r>
              <a:rPr lang="en-US" sz="2200" b="1" dirty="0" smtClean="0">
                <a:latin typeface="Times New Roman" pitchFamily="18" charset="0"/>
                <a:cs typeface="Times New Roman" pitchFamily="18" charset="0"/>
              </a:rPr>
              <a:t>Examples </a:t>
            </a:r>
            <a:r>
              <a:rPr lang="en-US" sz="2200" b="1" i="1" dirty="0" smtClean="0">
                <a:solidFill>
                  <a:srgbClr val="FF0066"/>
                </a:solidFill>
                <a:latin typeface="Times New Roman" pitchFamily="18" charset="0"/>
                <a:cs typeface="Times New Roman" pitchFamily="18" charset="0"/>
              </a:rPr>
              <a:t>Anatomical wastes, infectious wastes, etc.,</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219200"/>
            <a:ext cx="7772400" cy="4832092"/>
          </a:xfrm>
          <a:prstGeom prst="rect">
            <a:avLst/>
          </a:prstGeom>
        </p:spPr>
        <p:txBody>
          <a:bodyPr wrap="square">
            <a:spAutoFit/>
          </a:bodyPr>
          <a:lstStyle/>
          <a:p>
            <a:r>
              <a:rPr lang="en-US" sz="2200" b="1" dirty="0" smtClean="0">
                <a:solidFill>
                  <a:srgbClr val="663300"/>
                </a:solidFill>
                <a:latin typeface="Times New Roman" pitchFamily="18" charset="0"/>
                <a:cs typeface="Times New Roman" pitchFamily="18" charset="0"/>
              </a:rPr>
              <a:t>Type and characteristics of Urban (municipal) Wastes</a:t>
            </a:r>
          </a:p>
          <a:p>
            <a:endParaRPr lang="en-US" sz="2200" b="1"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a:t>
            </a:r>
            <a:r>
              <a:rPr lang="en-US" sz="2200" b="1" dirty="0" err="1" smtClean="0">
                <a:solidFill>
                  <a:srgbClr val="FF9900"/>
                </a:solidFill>
                <a:latin typeface="Times New Roman" pitchFamily="18" charset="0"/>
                <a:cs typeface="Times New Roman" pitchFamily="18" charset="0"/>
              </a:rPr>
              <a:t>i</a:t>
            </a:r>
            <a:r>
              <a:rPr lang="en-US" sz="2200" b="1" dirty="0" smtClean="0">
                <a:solidFill>
                  <a:srgbClr val="FF9900"/>
                </a:solidFill>
                <a:latin typeface="Times New Roman" pitchFamily="18" charset="0"/>
                <a:cs typeface="Times New Roman" pitchFamily="18" charset="0"/>
              </a:rPr>
              <a:t>) Bio-degradable wastes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urban solid waste materials, that can be degraded by micro organisms are called biodegradable wastes.</a:t>
            </a:r>
          </a:p>
          <a:p>
            <a:endParaRPr lang="en-US" sz="2200" dirty="0" smtClean="0">
              <a:latin typeface="Times New Roman" pitchFamily="18" charset="0"/>
              <a:cs typeface="Times New Roman" pitchFamily="18" charset="0"/>
            </a:endParaRPr>
          </a:p>
          <a:p>
            <a:r>
              <a:rPr lang="en-US" sz="2200" b="1" dirty="0" smtClean="0">
                <a:latin typeface="Times New Roman" pitchFamily="18" charset="0"/>
                <a:cs typeface="Times New Roman" pitchFamily="18" charset="0"/>
              </a:rPr>
              <a:t>Examples   </a:t>
            </a:r>
            <a:r>
              <a:rPr lang="en-US" sz="2200" i="1" dirty="0" smtClean="0">
                <a:solidFill>
                  <a:srgbClr val="FF0066"/>
                </a:solidFill>
                <a:latin typeface="Times New Roman" pitchFamily="18" charset="0"/>
                <a:cs typeface="Times New Roman" pitchFamily="18" charset="0"/>
              </a:rPr>
              <a:t>Food, vegetables, tea leaves, egg shells, dry leaves, etc.,</a:t>
            </a:r>
          </a:p>
          <a:p>
            <a:endParaRPr lang="en-US" sz="2200" i="1"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(ii) Non - Biodegradable wastes</a:t>
            </a:r>
          </a:p>
          <a:p>
            <a:r>
              <a:rPr lang="en-US" sz="2200" dirty="0" smtClean="0">
                <a:solidFill>
                  <a:srgbClr val="FF0066"/>
                </a:solidFill>
                <a:latin typeface="Times New Roman" pitchFamily="18" charset="0"/>
                <a:cs typeface="Times New Roman" pitchFamily="18" charset="0"/>
              </a:rPr>
              <a:t>The urban solid waste materials that cannot be degraded by micro organisms are called non-biodegradable wastes.</a:t>
            </a:r>
          </a:p>
          <a:p>
            <a:endParaRPr lang="en-US" sz="2200" dirty="0" smtClean="0">
              <a:latin typeface="Times New Roman" pitchFamily="18" charset="0"/>
              <a:cs typeface="Times New Roman" pitchFamily="18" charset="0"/>
            </a:endParaRPr>
          </a:p>
          <a:p>
            <a:r>
              <a:rPr lang="en-US" sz="2200" b="1" dirty="0" smtClean="0">
                <a:latin typeface="Times New Roman" pitchFamily="18" charset="0"/>
                <a:cs typeface="Times New Roman" pitchFamily="18" charset="0"/>
              </a:rPr>
              <a:t>Examples   </a:t>
            </a:r>
            <a:r>
              <a:rPr lang="en-US" sz="2200" dirty="0" smtClean="0">
                <a:solidFill>
                  <a:srgbClr val="FF0066"/>
                </a:solidFill>
                <a:latin typeface="Times New Roman" pitchFamily="18" charset="0"/>
                <a:cs typeface="Times New Roman" pitchFamily="18" charset="0"/>
              </a:rPr>
              <a:t>Polythene bags, scrap metals, glass bottles, etc.,</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66800"/>
            <a:ext cx="8229600" cy="5170646"/>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II Source and characteristics of industrial wastes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main sources of industrial wastes are chemical industries, metal and mineral processing industries.</a:t>
            </a:r>
          </a:p>
          <a:p>
            <a:endParaRPr lang="en-US" sz="2200" dirty="0" smtClean="0">
              <a:latin typeface="Times New Roman" pitchFamily="18" charset="0"/>
              <a:cs typeface="Times New Roman" pitchFamily="18" charset="0"/>
            </a:endParaRPr>
          </a:p>
          <a:p>
            <a:r>
              <a:rPr lang="en-US" sz="2200" b="1" dirty="0" smtClean="0">
                <a:latin typeface="Times New Roman" pitchFamily="18" charset="0"/>
                <a:cs typeface="Times New Roman" pitchFamily="18" charset="0"/>
              </a:rPr>
              <a:t>Examples</a:t>
            </a:r>
          </a:p>
          <a:p>
            <a:r>
              <a:rPr lang="en-US" sz="2200" b="1" dirty="0" smtClean="0">
                <a:solidFill>
                  <a:srgbClr val="FF9900"/>
                </a:solidFill>
                <a:latin typeface="Times New Roman" pitchFamily="18" charset="0"/>
                <a:cs typeface="Times New Roman" pitchFamily="18" charset="0"/>
              </a:rPr>
              <a:t>(</a:t>
            </a:r>
            <a:r>
              <a:rPr lang="en-US" sz="2200" b="1" dirty="0" err="1" smtClean="0">
                <a:solidFill>
                  <a:srgbClr val="FF9900"/>
                </a:solidFill>
                <a:latin typeface="Times New Roman" pitchFamily="18" charset="0"/>
                <a:cs typeface="Times New Roman" pitchFamily="18" charset="0"/>
              </a:rPr>
              <a:t>i</a:t>
            </a:r>
            <a:r>
              <a:rPr lang="en-US" sz="2200" b="1" dirty="0" smtClean="0">
                <a:solidFill>
                  <a:srgbClr val="FF9900"/>
                </a:solidFill>
                <a:latin typeface="Times New Roman" pitchFamily="18" charset="0"/>
                <a:cs typeface="Times New Roman" pitchFamily="18" charset="0"/>
              </a:rPr>
              <a:t>) Nuclear power plants</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It generates radioactive wastes.</a:t>
            </a:r>
          </a:p>
          <a:p>
            <a:r>
              <a:rPr lang="en-US" sz="2200" b="1" dirty="0" smtClean="0">
                <a:solidFill>
                  <a:srgbClr val="FF9900"/>
                </a:solidFill>
                <a:latin typeface="Times New Roman" pitchFamily="18" charset="0"/>
                <a:cs typeface="Times New Roman" pitchFamily="18" charset="0"/>
              </a:rPr>
              <a:t>(ii) Thermal power plants</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It produces fly ash in large quantities.</a:t>
            </a:r>
          </a:p>
          <a:p>
            <a:r>
              <a:rPr lang="en-US" sz="2200" b="1" dirty="0" smtClean="0">
                <a:solidFill>
                  <a:srgbClr val="FF9900"/>
                </a:solidFill>
                <a:latin typeface="Times New Roman" pitchFamily="18" charset="0"/>
                <a:cs typeface="Times New Roman" pitchFamily="18" charset="0"/>
              </a:rPr>
              <a:t>(iii) Chemical industries</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It produces large quantities of hazardous and toxic materials.</a:t>
            </a:r>
          </a:p>
          <a:p>
            <a:r>
              <a:rPr lang="en-US" sz="2200" b="1" dirty="0" smtClean="0">
                <a:solidFill>
                  <a:srgbClr val="FF9900"/>
                </a:solidFill>
                <a:latin typeface="Times New Roman" pitchFamily="18" charset="0"/>
                <a:cs typeface="Times New Roman" pitchFamily="18" charset="0"/>
              </a:rPr>
              <a:t>(iv) Other industries</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Other industries produce, packing materials, rubbish, organic wastes, acids, alkalis, scrap metals, rubber, plastic, paper, glass, wood, oils, paints, dyes, etc.,</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143000"/>
            <a:ext cx="7924800" cy="4832092"/>
          </a:xfrm>
          <a:prstGeom prst="rect">
            <a:avLst/>
          </a:prstGeom>
        </p:spPr>
        <p:txBody>
          <a:bodyPr wrap="square">
            <a:spAutoFit/>
          </a:bodyPr>
          <a:lstStyle/>
          <a:p>
            <a:r>
              <a:rPr lang="en-US" sz="2200" b="1" i="1" dirty="0" smtClean="0">
                <a:solidFill>
                  <a:srgbClr val="0000CC"/>
                </a:solidFill>
                <a:latin typeface="Times New Roman" pitchFamily="18" charset="0"/>
                <a:cs typeface="Times New Roman" pitchFamily="18" charset="0"/>
              </a:rPr>
              <a:t>2.6.2 Effect of Solid Wastes (or) Effect of Improper Solid Waste Management</a:t>
            </a:r>
          </a:p>
          <a:p>
            <a:endParaRPr lang="en-US" sz="2200" b="1" i="1" dirty="0" smtClean="0">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Due to improper disposal of municipal solid wastes on the road side and their immediate surroundings, biodegradable materials undergo decomposition. This produces foul smell and breeds various types of insects, which spoil the land value.</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Industrial solid wastes are the sources of toxic metals and hazardous wastes, which affect the soil characteristics and productivity of soils when they are dumped on the soil.</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Toxic substances may percolate into the ground and contaminate the ground water.</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295400"/>
            <a:ext cx="7848600" cy="4154984"/>
          </a:xfrm>
          <a:prstGeom prst="rect">
            <a:avLst/>
          </a:prstGeom>
        </p:spPr>
        <p:txBody>
          <a:bodyPr wrap="square">
            <a:spAutoFit/>
          </a:bodyPr>
          <a:lstStyle/>
          <a:p>
            <a:pPr>
              <a:buFont typeface="Wingdings" pitchFamily="2" charset="2"/>
              <a:buChar char="q"/>
            </a:pPr>
            <a:r>
              <a:rPr lang="en-US" sz="2200" dirty="0" smtClean="0">
                <a:solidFill>
                  <a:srgbClr val="FF0066"/>
                </a:solidFill>
                <a:latin typeface="Times New Roman" pitchFamily="18" charset="0"/>
                <a:cs typeface="Times New Roman" pitchFamily="18" charset="0"/>
              </a:rPr>
              <a:t>  Burning of some of the industrial wastes (or) domestic wastes (like cans, pesticides, plastics, radioactive materials, batteries) produce furans, dioxins and polychlorinated biphenyls, which are harmful to human beings.</a:t>
            </a:r>
          </a:p>
          <a:p>
            <a:endParaRPr lang="en-US" sz="2200" dirty="0" smtClean="0">
              <a:latin typeface="Times New Roman" pitchFamily="18" charset="0"/>
              <a:cs typeface="Times New Roman" pitchFamily="18" charset="0"/>
            </a:endParaRPr>
          </a:p>
          <a:p>
            <a:r>
              <a:rPr lang="en-US" sz="2200" b="1" i="1" dirty="0" smtClean="0">
                <a:solidFill>
                  <a:srgbClr val="0000CC"/>
                </a:solidFill>
                <a:latin typeface="Times New Roman" pitchFamily="18" charset="0"/>
                <a:cs typeface="Times New Roman" pitchFamily="18" charset="0"/>
              </a:rPr>
              <a:t>2.6.3 Process of Solid Waste Management (or) Process of preventing solid waste generation in urban areas (or) Waste Shed Management</a:t>
            </a:r>
          </a:p>
          <a:p>
            <a:endParaRPr lang="en-US" sz="2200" b="1" i="1" dirty="0" smtClean="0">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Solid waste management includes, the waste generation, mode of collection, transportation, segregation of wastes and disposal techniques.</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2" descr="C:\Users\User\AppData\Local\Temp\ksohtml\wpsB58B.tmp.png"/>
          <p:cNvPicPr>
            <a:picLocks noChangeAspect="1" noChangeArrowheads="1"/>
          </p:cNvPicPr>
          <p:nvPr/>
        </p:nvPicPr>
        <p:blipFill>
          <a:blip r:embed="rId2">
            <a:duotone>
              <a:prstClr val="black"/>
              <a:schemeClr val="accent6">
                <a:tint val="45000"/>
                <a:satMod val="400000"/>
              </a:schemeClr>
            </a:duotone>
          </a:blip>
          <a:srcRect/>
          <a:stretch>
            <a:fillRect/>
          </a:stretch>
        </p:blipFill>
        <p:spPr bwMode="auto">
          <a:xfrm>
            <a:off x="914400" y="1447800"/>
            <a:ext cx="6934200" cy="4572000"/>
          </a:xfrm>
          <a:prstGeom prst="rect">
            <a:avLst/>
          </a:prstGeom>
          <a:noFill/>
        </p:spPr>
      </p:pic>
      <p:pic>
        <p:nvPicPr>
          <p:cNvPr id="55300" name="Picture 4" descr="C:\Users\User\AppData\Local\Temp\ksohtml\wps7957.tmp.png"/>
          <p:cNvPicPr>
            <a:picLocks noChangeAspect="1" noChangeArrowheads="1"/>
          </p:cNvPicPr>
          <p:nvPr/>
        </p:nvPicPr>
        <p:blipFill>
          <a:blip r:embed="rId3">
            <a:duotone>
              <a:prstClr val="black"/>
              <a:schemeClr val="accent6">
                <a:tint val="45000"/>
                <a:satMod val="400000"/>
              </a:schemeClr>
            </a:duotone>
          </a:blip>
          <a:srcRect/>
          <a:stretch>
            <a:fillRect/>
          </a:stretch>
        </p:blipFill>
        <p:spPr bwMode="auto">
          <a:xfrm>
            <a:off x="381000" y="6354232"/>
            <a:ext cx="1219200" cy="237067"/>
          </a:xfrm>
          <a:prstGeom prst="rect">
            <a:avLst/>
          </a:prstGeom>
          <a:noFill/>
        </p:spPr>
      </p:pic>
      <p:pic>
        <p:nvPicPr>
          <p:cNvPr id="55302" name="Picture 6" descr="C:\Users\User\AppData\Local\Temp\ksohtml\wps706.tmp.png"/>
          <p:cNvPicPr>
            <a:picLocks noChangeAspect="1" noChangeArrowheads="1"/>
          </p:cNvPicPr>
          <p:nvPr/>
        </p:nvPicPr>
        <p:blipFill>
          <a:blip r:embed="rId4"/>
          <a:srcRect/>
          <a:stretch>
            <a:fillRect/>
          </a:stretch>
        </p:blipFill>
        <p:spPr bwMode="auto">
          <a:xfrm>
            <a:off x="2209801" y="6348411"/>
            <a:ext cx="1295400" cy="242890"/>
          </a:xfrm>
          <a:prstGeom prst="rect">
            <a:avLst/>
          </a:prstGeom>
          <a:noFill/>
        </p:spPr>
      </p:pic>
      <p:pic>
        <p:nvPicPr>
          <p:cNvPr id="55304" name="Picture 8" descr="C:\Users\User\AppData\Local\Temp\ksohtml\wps8598.tmp.png"/>
          <p:cNvPicPr>
            <a:picLocks noChangeAspect="1" noChangeArrowheads="1"/>
          </p:cNvPicPr>
          <p:nvPr/>
        </p:nvPicPr>
        <p:blipFill>
          <a:blip r:embed="rId5"/>
          <a:srcRect/>
          <a:stretch>
            <a:fillRect/>
          </a:stretch>
        </p:blipFill>
        <p:spPr bwMode="auto">
          <a:xfrm>
            <a:off x="4419599" y="6172200"/>
            <a:ext cx="1466843" cy="266701"/>
          </a:xfrm>
          <a:prstGeom prst="rect">
            <a:avLst/>
          </a:prstGeom>
          <a:noFill/>
        </p:spPr>
      </p:pic>
      <p:sp>
        <p:nvSpPr>
          <p:cNvPr id="6" name="Rectangle 5"/>
          <p:cNvSpPr/>
          <p:nvPr/>
        </p:nvSpPr>
        <p:spPr>
          <a:xfrm>
            <a:off x="685800" y="914400"/>
            <a:ext cx="2209800" cy="430887"/>
          </a:xfrm>
          <a:prstGeom prst="rect">
            <a:avLst/>
          </a:prstGeom>
        </p:spPr>
        <p:txBody>
          <a:bodyPr wrap="square">
            <a:spAutoFit/>
          </a:bodyPr>
          <a:lstStyle/>
          <a:p>
            <a:r>
              <a:rPr lang="en-US" sz="2200" b="1" dirty="0" smtClean="0">
                <a:solidFill>
                  <a:srgbClr val="CC0066"/>
                </a:solidFill>
                <a:latin typeface="Times New Roman" pitchFamily="18" charset="0"/>
                <a:cs typeface="Times New Roman" pitchFamily="18" charset="0"/>
              </a:rPr>
              <a:t>Flow Chart</a:t>
            </a:r>
            <a:endParaRPr lang="en-US" sz="2200" dirty="0">
              <a:solidFill>
                <a:srgbClr val="CC0066"/>
              </a:solidFill>
              <a:latin typeface="Times New Roman" pitchFamily="18" charset="0"/>
              <a:cs typeface="Times New Roman" pitchFamily="18" charset="0"/>
            </a:endParaRPr>
          </a:p>
        </p:txBody>
      </p:sp>
    </p:spTree>
  </p:cSld>
  <p:clrMapOvr>
    <a:masterClrMapping/>
  </p:clrMapOvr>
  <p:transition spd="slow">
    <p:push/>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143000"/>
            <a:ext cx="8153400" cy="5170646"/>
          </a:xfrm>
          <a:prstGeom prst="rect">
            <a:avLst/>
          </a:prstGeom>
        </p:spPr>
        <p:txBody>
          <a:bodyPr wrap="square">
            <a:spAutoFit/>
          </a:bodyPr>
          <a:lstStyle/>
          <a:p>
            <a:r>
              <a:rPr lang="en-US" sz="2200" b="1" dirty="0" smtClean="0">
                <a:solidFill>
                  <a:srgbClr val="663300"/>
                </a:solidFill>
                <a:latin typeface="Times New Roman" pitchFamily="18" charset="0"/>
                <a:cs typeface="Times New Roman" pitchFamily="18" charset="0"/>
              </a:rPr>
              <a:t>Steps involved in Solid waste management (or) Shed waste management</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Two important steps of solid waste (waste shed) management is Reduce, reuse and recycle, before destruction and safe storage of wastes.</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I Reduce, Reuse and Recycle (3R)</a:t>
            </a:r>
          </a:p>
          <a:p>
            <a:r>
              <a:rPr lang="en-US" sz="2200" b="1" i="1" dirty="0" smtClean="0">
                <a:solidFill>
                  <a:srgbClr val="663300"/>
                </a:solidFill>
                <a:latin typeface="Times New Roman" pitchFamily="18" charset="0"/>
                <a:cs typeface="Times New Roman" pitchFamily="18" charset="0"/>
              </a:rPr>
              <a:t>(a) Reduce the usage of raw materials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If the usage of raw materials are reduced, the generation of waste also gets reduced.</a:t>
            </a:r>
          </a:p>
          <a:p>
            <a:r>
              <a:rPr lang="en-US" sz="2200" b="1" i="1" dirty="0" smtClean="0">
                <a:solidFill>
                  <a:srgbClr val="663300"/>
                </a:solidFill>
                <a:latin typeface="Times New Roman" pitchFamily="18" charset="0"/>
                <a:cs typeface="Times New Roman" pitchFamily="18" charset="0"/>
              </a:rPr>
              <a:t>(b) Reuse of waste materials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 refillable containers, which are discarded after use, can be reused.</a:t>
            </a:r>
          </a:p>
          <a:p>
            <a:pPr>
              <a:buFont typeface="Wingdings" pitchFamily="2" charset="2"/>
              <a:buChar char="v"/>
            </a:pPr>
            <a:r>
              <a:rPr lang="en-US" sz="2200" dirty="0" smtClean="0">
                <a:solidFill>
                  <a:srgbClr val="FF0066"/>
                </a:solidFill>
                <a:latin typeface="Times New Roman" pitchFamily="18" charset="0"/>
                <a:cs typeface="Times New Roman" pitchFamily="18" charset="0"/>
              </a:rPr>
              <a:t>  Rubber rings can be made from the discarded cycle tubes, which reduces the waste generation during manufacturing of rubber bands.</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028343"/>
            <a:ext cx="7696200" cy="4832092"/>
          </a:xfrm>
          <a:prstGeom prst="rect">
            <a:avLst/>
          </a:prstGeom>
        </p:spPr>
        <p:txBody>
          <a:bodyPr wrap="square">
            <a:spAutoFit/>
          </a:bodyPr>
          <a:lstStyle/>
          <a:p>
            <a:r>
              <a:rPr lang="en-US" sz="2200" b="1" i="1" dirty="0" smtClean="0">
                <a:solidFill>
                  <a:srgbClr val="663300"/>
                </a:solidFill>
                <a:latin typeface="Times New Roman" pitchFamily="18" charset="0"/>
                <a:cs typeface="Times New Roman" pitchFamily="18" charset="0"/>
              </a:rPr>
              <a:t>(c) Recycling of materials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Recycling is the reprocessing of the discarded materials into new useful products.</a:t>
            </a:r>
          </a:p>
          <a:p>
            <a:endParaRPr lang="en-US" sz="2200" dirty="0" smtClean="0">
              <a:latin typeface="Times New Roman" pitchFamily="18" charset="0"/>
              <a:cs typeface="Times New Roman" pitchFamily="18" charset="0"/>
            </a:endParaRPr>
          </a:p>
          <a:p>
            <a:r>
              <a:rPr lang="en-US" sz="2200" b="1" dirty="0" smtClean="0">
                <a:latin typeface="Times New Roman" pitchFamily="18" charset="0"/>
                <a:cs typeface="Times New Roman" pitchFamily="18" charset="0"/>
              </a:rPr>
              <a:t>Examples</a:t>
            </a:r>
          </a:p>
          <a:p>
            <a:r>
              <a:rPr lang="en-US" sz="2200" i="1" dirty="0" smtClean="0">
                <a:solidFill>
                  <a:srgbClr val="FF0066"/>
                </a:solidFill>
                <a:latin typeface="Times New Roman" pitchFamily="18" charset="0"/>
                <a:cs typeface="Times New Roman" pitchFamily="18" charset="0"/>
              </a:rPr>
              <a:t>(a) Old </a:t>
            </a:r>
            <a:r>
              <a:rPr lang="en-US" sz="2200" i="1" dirty="0" err="1" smtClean="0">
                <a:solidFill>
                  <a:srgbClr val="FF0066"/>
                </a:solidFill>
                <a:latin typeface="Times New Roman" pitchFamily="18" charset="0"/>
                <a:cs typeface="Times New Roman" pitchFamily="18" charset="0"/>
              </a:rPr>
              <a:t>aluminium</a:t>
            </a:r>
            <a:r>
              <a:rPr lang="en-US" sz="2200" i="1" dirty="0" smtClean="0">
                <a:solidFill>
                  <a:srgbClr val="FF0066"/>
                </a:solidFill>
                <a:latin typeface="Times New Roman" pitchFamily="18" charset="0"/>
                <a:cs typeface="Times New Roman" pitchFamily="18" charset="0"/>
              </a:rPr>
              <a:t> cans and glass bottles are melted and recast into new cans and bottles.</a:t>
            </a:r>
          </a:p>
          <a:p>
            <a:r>
              <a:rPr lang="en-US" sz="2200" i="1" dirty="0" smtClean="0">
                <a:solidFill>
                  <a:srgbClr val="FF0066"/>
                </a:solidFill>
                <a:latin typeface="Times New Roman" pitchFamily="18" charset="0"/>
                <a:cs typeface="Times New Roman" pitchFamily="18" charset="0"/>
              </a:rPr>
              <a:t>(b) Preparation of cellulose insulation from paper.</a:t>
            </a:r>
          </a:p>
          <a:p>
            <a:r>
              <a:rPr lang="en-US" sz="2200" i="1" dirty="0" smtClean="0">
                <a:solidFill>
                  <a:srgbClr val="FF0066"/>
                </a:solidFill>
                <a:latin typeface="Times New Roman" pitchFamily="18" charset="0"/>
                <a:cs typeface="Times New Roman" pitchFamily="18" charset="0"/>
              </a:rPr>
              <a:t>(c) Preparation of fuel pellets from kitchen waste.</a:t>
            </a:r>
          </a:p>
          <a:p>
            <a:r>
              <a:rPr lang="en-US" sz="2200" i="1" dirty="0" smtClean="0">
                <a:solidFill>
                  <a:srgbClr val="FF0066"/>
                </a:solidFill>
                <a:latin typeface="Times New Roman" pitchFamily="18" charset="0"/>
                <a:cs typeface="Times New Roman" pitchFamily="18" charset="0"/>
              </a:rPr>
              <a:t>(d) Preparation of automobiles and construction materials from steel cans.</a:t>
            </a:r>
          </a:p>
          <a:p>
            <a:endParaRPr lang="en-US" sz="2200" i="1" dirty="0" smtClean="0">
              <a:latin typeface="Times New Roman" pitchFamily="18" charset="0"/>
              <a:cs typeface="Times New Roman" pitchFamily="18" charset="0"/>
            </a:endParaRPr>
          </a:p>
          <a:p>
            <a:pPr>
              <a:buFont typeface="Wingdings" pitchFamily="2" charset="2"/>
              <a:buChar char="Ø"/>
            </a:pPr>
            <a:r>
              <a:rPr lang="en-US" sz="2200" dirty="0" smtClean="0">
                <a:solidFill>
                  <a:srgbClr val="FF0066"/>
                </a:solidFill>
                <a:latin typeface="Times New Roman" pitchFamily="18" charset="0"/>
                <a:cs typeface="Times New Roman" pitchFamily="18" charset="0"/>
              </a:rPr>
              <a:t>  The above process saves money, energy, raw materials, and reduces pollution.</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66800"/>
            <a:ext cx="8077200" cy="5170646"/>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II Discarding wastes</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For discarding solid wastes the following methods can be adopted.</a:t>
            </a:r>
          </a:p>
          <a:p>
            <a:endParaRPr lang="en-US" sz="2200" dirty="0" smtClean="0">
              <a:latin typeface="Times New Roman" pitchFamily="18" charset="0"/>
              <a:cs typeface="Times New Roman" pitchFamily="18" charset="0"/>
            </a:endParaRPr>
          </a:p>
          <a:p>
            <a:r>
              <a:rPr lang="en-US" sz="2200" b="1" dirty="0" smtClean="0">
                <a:solidFill>
                  <a:srgbClr val="663300"/>
                </a:solidFill>
                <a:latin typeface="Times New Roman" pitchFamily="18" charset="0"/>
                <a:cs typeface="Times New Roman" pitchFamily="18" charset="0"/>
              </a:rPr>
              <a:t>Methods of disposal of solid waste</a:t>
            </a:r>
          </a:p>
          <a:p>
            <a:pPr marL="2171700" lvl="4" indent="-342900">
              <a:buFont typeface="Wingdings" pitchFamily="2" charset="2"/>
              <a:buChar char="ü"/>
            </a:pPr>
            <a:r>
              <a:rPr lang="en-US" sz="2200" dirty="0" smtClean="0">
                <a:solidFill>
                  <a:srgbClr val="00B0F0"/>
                </a:solidFill>
                <a:latin typeface="Times New Roman" pitchFamily="18" charset="0"/>
                <a:cs typeface="Times New Roman" pitchFamily="18" charset="0"/>
              </a:rPr>
              <a:t>Landfill </a:t>
            </a:r>
          </a:p>
          <a:p>
            <a:pPr marL="2171700" lvl="4" indent="-342900">
              <a:buFont typeface="Wingdings" pitchFamily="2" charset="2"/>
              <a:buChar char="ü"/>
            </a:pPr>
            <a:r>
              <a:rPr lang="en-US" sz="2200" dirty="0" smtClean="0">
                <a:solidFill>
                  <a:srgbClr val="00B0F0"/>
                </a:solidFill>
                <a:latin typeface="Times New Roman" pitchFamily="18" charset="0"/>
                <a:cs typeface="Times New Roman" pitchFamily="18" charset="0"/>
              </a:rPr>
              <a:t>Incineration (Thermal)</a:t>
            </a:r>
          </a:p>
          <a:p>
            <a:pPr marL="2171700" lvl="4" indent="-342900">
              <a:buFont typeface="Wingdings" pitchFamily="2" charset="2"/>
              <a:buChar char="ü"/>
            </a:pPr>
            <a:r>
              <a:rPr lang="en-US" sz="2200" dirty="0" smtClean="0">
                <a:solidFill>
                  <a:srgbClr val="00B0F0"/>
                </a:solidFill>
                <a:latin typeface="Times New Roman" pitchFamily="18" charset="0"/>
                <a:cs typeface="Times New Roman" pitchFamily="18" charset="0"/>
              </a:rPr>
              <a:t>Composting</a:t>
            </a:r>
          </a:p>
          <a:p>
            <a:pPr marL="342900" indent="-342900"/>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1. Landfill</a:t>
            </a:r>
          </a:p>
          <a:p>
            <a:pPr>
              <a:buFont typeface="Wingdings" pitchFamily="2" charset="2"/>
              <a:buChar char="v"/>
            </a:pPr>
            <a:r>
              <a:rPr lang="en-US" sz="2200" dirty="0" smtClean="0">
                <a:solidFill>
                  <a:srgbClr val="FF0066"/>
                </a:solidFill>
                <a:latin typeface="Times New Roman" pitchFamily="18" charset="0"/>
                <a:cs typeface="Times New Roman" pitchFamily="18" charset="0"/>
              </a:rPr>
              <a:t>  Solid wastes are placed in sanitary landfill system in alternate layers of 80 cm thick refuse, covered with selected earth fill of 20 cm thickness. </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After two (or) three years, solid waste volume shrinks by 25-30% and the land is used for parks, roads and small buildings.</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143000"/>
            <a:ext cx="7772400" cy="5170646"/>
          </a:xfrm>
          <a:prstGeom prst="rect">
            <a:avLst/>
          </a:prstGeom>
        </p:spPr>
        <p:txBody>
          <a:bodyPr wrap="square">
            <a:spAutoFit/>
          </a:bodyPr>
          <a:lstStyle/>
          <a:p>
            <a:pPr>
              <a:buFont typeface="Wingdings" pitchFamily="2" charset="2"/>
              <a:buChar char="v"/>
            </a:pPr>
            <a:r>
              <a:rPr lang="en-US" sz="2200" dirty="0" smtClean="0">
                <a:solidFill>
                  <a:srgbClr val="FF0066"/>
                </a:solidFill>
                <a:latin typeface="Times New Roman" pitchFamily="18" charset="0"/>
                <a:cs typeface="Times New Roman" pitchFamily="18" charset="0"/>
              </a:rPr>
              <a:t>  The most common and cheapest method of waste disposal is dumping in sanitary land-fills which is invariably employed in Indian cities. </a:t>
            </a:r>
          </a:p>
          <a:p>
            <a:pPr>
              <a:buFont typeface="Wingdings" pitchFamily="2" charset="2"/>
              <a:buChar char="v"/>
            </a:pPr>
            <a:r>
              <a:rPr lang="en-US" sz="2200" dirty="0" smtClean="0">
                <a:solidFill>
                  <a:srgbClr val="FF0066"/>
                </a:solidFill>
                <a:latin typeface="Times New Roman" pitchFamily="18" charset="0"/>
                <a:cs typeface="Times New Roman" pitchFamily="18" charset="0"/>
              </a:rPr>
              <a:t>  Land-fill structure is built either into the ground (or) on the ground into which the waste is dumped.</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 method involves spreading the solid waste on the ground, compacting it and then covering it with soil at suitable intervals.</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Advantages</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It is simple and economical.</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Segregation not required.</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a:t>
            </a:r>
            <a:r>
              <a:rPr lang="en-US" sz="2200" dirty="0" err="1" smtClean="0">
                <a:solidFill>
                  <a:srgbClr val="FF0066"/>
                </a:solidFill>
                <a:latin typeface="Times New Roman" pitchFamily="18" charset="0"/>
                <a:cs typeface="Times New Roman" pitchFamily="18" charset="0"/>
              </a:rPr>
              <a:t>Landfilled</a:t>
            </a:r>
            <a:r>
              <a:rPr lang="en-US" sz="2200" dirty="0" smtClean="0">
                <a:solidFill>
                  <a:srgbClr val="FF0066"/>
                </a:solidFill>
                <a:latin typeface="Times New Roman" pitchFamily="18" charset="0"/>
                <a:cs typeface="Times New Roman" pitchFamily="18" charset="0"/>
              </a:rPr>
              <a:t> areas can be reclaimed and used for other purposes.</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Converts low-lying, marshy waste-land into useful areas.</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Natural resources are returned to soil and recycled.</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914400"/>
            <a:ext cx="7848600" cy="5509200"/>
          </a:xfrm>
          <a:prstGeom prst="rect">
            <a:avLst/>
          </a:prstGeom>
        </p:spPr>
        <p:txBody>
          <a:bodyPr wrap="square">
            <a:spAutoFit/>
          </a:bodyPr>
          <a:lstStyle/>
          <a:p>
            <a:r>
              <a:rPr lang="en-US" sz="2200" b="1" i="1" dirty="0" smtClean="0">
                <a:solidFill>
                  <a:srgbClr val="663300"/>
                </a:solidFill>
                <a:latin typeface="Times New Roman" pitchFamily="18" charset="0"/>
                <a:cs typeface="Times New Roman" pitchFamily="18" charset="0"/>
              </a:rPr>
              <a:t>Disadvantages</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A large area is required.</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Since land is available away from town, transportation cost is heavy.</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Bad </a:t>
            </a:r>
            <a:r>
              <a:rPr lang="en-US" sz="2200" dirty="0" err="1" smtClean="0">
                <a:solidFill>
                  <a:srgbClr val="FF0066"/>
                </a:solidFill>
                <a:latin typeface="Times New Roman" pitchFamily="18" charset="0"/>
                <a:cs typeface="Times New Roman" pitchFamily="18" charset="0"/>
              </a:rPr>
              <a:t>odours</a:t>
            </a:r>
            <a:r>
              <a:rPr lang="en-US" sz="2200" dirty="0" smtClean="0">
                <a:solidFill>
                  <a:srgbClr val="FF0066"/>
                </a:solidFill>
                <a:latin typeface="Times New Roman" pitchFamily="18" charset="0"/>
                <a:cs typeface="Times New Roman" pitchFamily="18" charset="0"/>
              </a:rPr>
              <a:t>, if landfills are not properly managed.</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The land filled areas will be the sources of mosquitoes and flies and hence insecticides and pesticides are to be applied at regular intervals.</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Causes fire hazard due to the formation of methane in wet weather.</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2. Incineration (or) Thermal process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It is a hygienic way of disposing solid waste. </a:t>
            </a:r>
          </a:p>
          <a:p>
            <a:pPr>
              <a:buFont typeface="Wingdings" pitchFamily="2" charset="2"/>
              <a:buChar char="v"/>
            </a:pPr>
            <a:r>
              <a:rPr lang="en-US" sz="2200" dirty="0" smtClean="0">
                <a:solidFill>
                  <a:srgbClr val="FF0066"/>
                </a:solidFill>
                <a:latin typeface="Times New Roman" pitchFamily="18" charset="0"/>
                <a:cs typeface="Times New Roman" pitchFamily="18" charset="0"/>
              </a:rPr>
              <a:t>  It is more suitable if the waste contains more hazardous material and organic content.</a:t>
            </a:r>
          </a:p>
          <a:p>
            <a:endParaRPr lang="en-US" sz="2200" dirty="0">
              <a:latin typeface="Times New Roman" pitchFamily="18" charset="0"/>
              <a:cs typeface="Times New Roman" pitchFamily="18" charset="0"/>
            </a:endParaRPr>
          </a:p>
        </p:txBody>
      </p:sp>
    </p:spTree>
  </p:cSld>
  <p:clrMapOvr>
    <a:masterClrMapping/>
  </p:clrMapOvr>
  <p:transition spd="slow">
    <p:push/>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295400"/>
            <a:ext cx="7772400" cy="4832092"/>
          </a:xfrm>
          <a:prstGeom prst="rect">
            <a:avLst/>
          </a:prstGeom>
        </p:spPr>
        <p:txBody>
          <a:bodyPr wrap="square">
            <a:spAutoFit/>
          </a:bodyPr>
          <a:lstStyle/>
          <a:p>
            <a:pPr>
              <a:buFont typeface="Wingdings" pitchFamily="2" charset="2"/>
              <a:buChar char="v"/>
            </a:pPr>
            <a:r>
              <a:rPr lang="en-US" sz="2200" dirty="0" smtClean="0">
                <a:solidFill>
                  <a:srgbClr val="FF0066"/>
                </a:solidFill>
                <a:latin typeface="Times New Roman" pitchFamily="18" charset="0"/>
                <a:cs typeface="Times New Roman" pitchFamily="18" charset="0"/>
              </a:rPr>
              <a:t>  It is a thermal process and is very effective for detoxification of all combustible pathogens. </a:t>
            </a:r>
          </a:p>
          <a:p>
            <a:pPr>
              <a:buFont typeface="Wingdings" pitchFamily="2" charset="2"/>
              <a:buChar char="v"/>
            </a:pPr>
            <a:r>
              <a:rPr lang="en-US" sz="2200" dirty="0" smtClean="0">
                <a:solidFill>
                  <a:srgbClr val="FF0066"/>
                </a:solidFill>
                <a:latin typeface="Times New Roman" pitchFamily="18" charset="0"/>
                <a:cs typeface="Times New Roman" pitchFamily="18" charset="0"/>
              </a:rPr>
              <a:t> It is an expensive technology compared to land-fill and composting because incinerators are costly.</a:t>
            </a:r>
          </a:p>
          <a:p>
            <a:pPr>
              <a:buFont typeface="Wingdings" pitchFamily="2" charset="2"/>
              <a:buChar char="v"/>
            </a:pPr>
            <a:r>
              <a:rPr lang="en-US" sz="2200" dirty="0" smtClean="0">
                <a:solidFill>
                  <a:srgbClr val="FF0066"/>
                </a:solidFill>
                <a:latin typeface="Times New Roman" pitchFamily="18" charset="0"/>
                <a:cs typeface="Times New Roman" pitchFamily="18" charset="0"/>
              </a:rPr>
              <a:t> In this method the municipal solid wastes are burnt in a furnace called incinerator. </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 combustible substances such as rubbish, garbage, dead organisms and the noncombustible matter such as glass, porcelain, metals are separated before feeding to incinerators.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 noncombustible materials can be left out for recycling and reuse.</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 left out ashes and clinkers from the incinerators may be accounted for only about 10 to 20% which need further disposal either by </a:t>
            </a:r>
            <a:r>
              <a:rPr lang="en-US" sz="2200" dirty="0" err="1" smtClean="0">
                <a:solidFill>
                  <a:srgbClr val="FF0066"/>
                </a:solidFill>
                <a:latin typeface="Times New Roman" pitchFamily="18" charset="0"/>
                <a:cs typeface="Times New Roman" pitchFamily="18" charset="0"/>
              </a:rPr>
              <a:t>sanatory</a:t>
            </a:r>
            <a:r>
              <a:rPr lang="en-US" sz="2200" dirty="0" smtClean="0">
                <a:solidFill>
                  <a:srgbClr val="FF0066"/>
                </a:solidFill>
                <a:latin typeface="Times New Roman" pitchFamily="18" charset="0"/>
                <a:cs typeface="Times New Roman" pitchFamily="18" charset="0"/>
              </a:rPr>
              <a:t> landfill (or) by some other means.</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219200"/>
            <a:ext cx="8077200" cy="4832092"/>
          </a:xfrm>
          <a:prstGeom prst="rect">
            <a:avLst/>
          </a:prstGeom>
        </p:spPr>
        <p:txBody>
          <a:bodyPr wrap="square">
            <a:spAutoFit/>
          </a:bodyPr>
          <a:lstStyle/>
          <a:p>
            <a:pPr>
              <a:buFont typeface="Wingdings" pitchFamily="2" charset="2"/>
              <a:buChar char="v"/>
            </a:pPr>
            <a:r>
              <a:rPr lang="en-US" sz="2200" dirty="0" smtClean="0">
                <a:solidFill>
                  <a:srgbClr val="FF0066"/>
                </a:solidFill>
                <a:latin typeface="Times New Roman" pitchFamily="18" charset="0"/>
                <a:cs typeface="Times New Roman" pitchFamily="18" charset="0"/>
              </a:rPr>
              <a:t> The heat produced in the incinerator during the burning of refuse is used in the form of steam power for generation of electricity throughout turbines. </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The municipal solid waste is generally wet but has a very high calorific value so it has to be dried up first before burning. </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The waste is dried in </a:t>
            </a:r>
            <a:r>
              <a:rPr lang="en-US" sz="2200" dirty="0" err="1" smtClean="0">
                <a:solidFill>
                  <a:srgbClr val="FF0066"/>
                </a:solidFill>
                <a:latin typeface="Times New Roman" pitchFamily="18" charset="0"/>
                <a:cs typeface="Times New Roman" pitchFamily="18" charset="0"/>
              </a:rPr>
              <a:t>preheater</a:t>
            </a:r>
            <a:r>
              <a:rPr lang="en-US" sz="2200" dirty="0" smtClean="0">
                <a:solidFill>
                  <a:srgbClr val="FF0066"/>
                </a:solidFill>
                <a:latin typeface="Times New Roman" pitchFamily="18" charset="0"/>
                <a:cs typeface="Times New Roman" pitchFamily="18" charset="0"/>
              </a:rPr>
              <a:t> from where it is taken into large incinerating furnace called destructors which can incinerate about 100 to 150 </a:t>
            </a:r>
            <a:r>
              <a:rPr lang="en-US" sz="2200" dirty="0" err="1" smtClean="0">
                <a:solidFill>
                  <a:srgbClr val="FF0066"/>
                </a:solidFill>
                <a:latin typeface="Times New Roman" pitchFamily="18" charset="0"/>
                <a:cs typeface="Times New Roman" pitchFamily="18" charset="0"/>
              </a:rPr>
              <a:t>tonnes</a:t>
            </a:r>
            <a:r>
              <a:rPr lang="en-US" sz="2200" dirty="0" smtClean="0">
                <a:solidFill>
                  <a:srgbClr val="FF0066"/>
                </a:solidFill>
                <a:latin typeface="Times New Roman" pitchFamily="18" charset="0"/>
                <a:cs typeface="Times New Roman" pitchFamily="18" charset="0"/>
              </a:rPr>
              <a:t> per hour.</a:t>
            </a:r>
          </a:p>
          <a:p>
            <a:r>
              <a:rPr lang="en-US" sz="2200" dirty="0" smtClean="0">
                <a:solidFill>
                  <a:srgbClr val="FF0066"/>
                </a:solidFill>
                <a:latin typeface="Times New Roman" pitchFamily="18" charset="0"/>
                <a:cs typeface="Times New Roman" pitchFamily="18" charset="0"/>
              </a:rPr>
              <a:t>  </a:t>
            </a:r>
          </a:p>
          <a:p>
            <a:pPr>
              <a:buFont typeface="Wingdings" pitchFamily="2" charset="2"/>
              <a:buChar char="v"/>
            </a:pPr>
            <a:r>
              <a:rPr lang="en-US" sz="2200" dirty="0" smtClean="0">
                <a:solidFill>
                  <a:srgbClr val="FF0066"/>
                </a:solidFill>
                <a:latin typeface="Times New Roman" pitchFamily="18" charset="0"/>
                <a:cs typeface="Times New Roman" pitchFamily="18" charset="0"/>
              </a:rPr>
              <a:t>The temperature normally maintained in a combustion chamber is about 700°C and may be increased to about 1000°C when electricity is to be generated.</a:t>
            </a:r>
          </a:p>
        </p:txBody>
      </p:sp>
    </p:spTree>
  </p:cSld>
  <p:clrMapOvr>
    <a:masterClrMapping/>
  </p:clrMapOvr>
  <p:transition spd="slow">
    <p:push/>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8077200" cy="5170646"/>
          </a:xfrm>
          <a:prstGeom prst="rect">
            <a:avLst/>
          </a:prstGeom>
        </p:spPr>
        <p:txBody>
          <a:bodyPr wrap="square">
            <a:spAutoFit/>
          </a:bodyPr>
          <a:lstStyle/>
          <a:p>
            <a:r>
              <a:rPr lang="en-US" sz="2200" b="1" i="1" dirty="0" smtClean="0">
                <a:solidFill>
                  <a:srgbClr val="663300"/>
                </a:solidFill>
                <a:latin typeface="Times New Roman" pitchFamily="18" charset="0"/>
                <a:cs typeface="Times New Roman" pitchFamily="18" charset="0"/>
              </a:rPr>
              <a:t>Advantages</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The residue is only 20-25% of original weight, the clinker can be used after treatment.</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It requires very little space.</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Cost of transportation is not high as incinerators located within city limits.</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Safest from hygienic point of view.</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An incinerator plant of 300 </a:t>
            </a:r>
            <a:r>
              <a:rPr lang="en-US" sz="2200" dirty="0" err="1" smtClean="0">
                <a:solidFill>
                  <a:srgbClr val="FF0066"/>
                </a:solidFill>
                <a:latin typeface="Times New Roman" pitchFamily="18" charset="0"/>
                <a:cs typeface="Times New Roman" pitchFamily="18" charset="0"/>
              </a:rPr>
              <a:t>tonnes</a:t>
            </a:r>
            <a:r>
              <a:rPr lang="en-US" sz="2200" dirty="0" smtClean="0">
                <a:solidFill>
                  <a:srgbClr val="FF0066"/>
                </a:solidFill>
                <a:latin typeface="Times New Roman" pitchFamily="18" charset="0"/>
                <a:cs typeface="Times New Roman" pitchFamily="18" charset="0"/>
              </a:rPr>
              <a:t> per day capacity can generate 3MW of power.</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Disadvantages</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Its capital and operating cost is high.</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Needs skilled personnel.</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Formation of smoke, dust and ashes needs further disposal, due to which air pollution may be caused.</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10245"/>
            <a:ext cx="8001000" cy="5170646"/>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3. Composting</a:t>
            </a:r>
          </a:p>
          <a:p>
            <a:endParaRPr lang="en-US" sz="2200" b="1" dirty="0" smtClean="0">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It is another popular method practiced in many cities in our country. </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In this method, bulk organic waste is converted into a </a:t>
            </a:r>
            <a:r>
              <a:rPr lang="en-US" sz="2200" dirty="0" err="1" smtClean="0">
                <a:solidFill>
                  <a:srgbClr val="FF0066"/>
                </a:solidFill>
                <a:latin typeface="Times New Roman" pitchFamily="18" charset="0"/>
                <a:cs typeface="Times New Roman" pitchFamily="18" charset="0"/>
              </a:rPr>
              <a:t>fertilising</a:t>
            </a:r>
            <a:r>
              <a:rPr lang="en-US" sz="2200" dirty="0" smtClean="0">
                <a:solidFill>
                  <a:srgbClr val="FF0066"/>
                </a:solidFill>
                <a:latin typeface="Times New Roman" pitchFamily="18" charset="0"/>
                <a:cs typeface="Times New Roman" pitchFamily="18" charset="0"/>
              </a:rPr>
              <a:t> manure by biological action.</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The separated compostable waste is dumped in underground </a:t>
            </a:r>
            <a:r>
              <a:rPr lang="en-US" sz="2200" dirty="0" err="1" smtClean="0">
                <a:solidFill>
                  <a:srgbClr val="FF0066"/>
                </a:solidFill>
                <a:latin typeface="Times New Roman" pitchFamily="18" charset="0"/>
                <a:cs typeface="Times New Roman" pitchFamily="18" charset="0"/>
              </a:rPr>
              <a:t>earthern</a:t>
            </a:r>
            <a:r>
              <a:rPr lang="en-US" sz="2200" dirty="0" smtClean="0">
                <a:solidFill>
                  <a:srgbClr val="FF0066"/>
                </a:solidFill>
                <a:latin typeface="Times New Roman" pitchFamily="18" charset="0"/>
                <a:cs typeface="Times New Roman" pitchFamily="18" charset="0"/>
              </a:rPr>
              <a:t> trenches in layers of 1.5 m and is finally covered with earth of about 20 cm and left over for decomposition.</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Sometimes certain microorganisms such as </a:t>
            </a:r>
            <a:r>
              <a:rPr lang="en-US" sz="2200" dirty="0" err="1" smtClean="0">
                <a:solidFill>
                  <a:srgbClr val="FF0066"/>
                </a:solidFill>
                <a:latin typeface="Times New Roman" pitchFamily="18" charset="0"/>
                <a:cs typeface="Times New Roman" pitchFamily="18" charset="0"/>
              </a:rPr>
              <a:t>actinomycetes</a:t>
            </a:r>
            <a:r>
              <a:rPr lang="en-US" sz="2200" dirty="0" smtClean="0">
                <a:solidFill>
                  <a:srgbClr val="FF0066"/>
                </a:solidFill>
                <a:latin typeface="Times New Roman" pitchFamily="18" charset="0"/>
                <a:cs typeface="Times New Roman" pitchFamily="18" charset="0"/>
              </a:rPr>
              <a:t> are introduced for active decomposition. </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447800"/>
            <a:ext cx="7772400" cy="4493538"/>
          </a:xfrm>
          <a:prstGeom prst="rect">
            <a:avLst/>
          </a:prstGeom>
        </p:spPr>
        <p:txBody>
          <a:bodyPr wrap="square">
            <a:spAutoFit/>
          </a:bodyPr>
          <a:lstStyle/>
          <a:p>
            <a:pPr>
              <a:buFont typeface="Wingdings" pitchFamily="2" charset="2"/>
              <a:buChar char="q"/>
            </a:pPr>
            <a:r>
              <a:rPr lang="en-US" sz="2200" dirty="0" smtClean="0">
                <a:solidFill>
                  <a:srgbClr val="FF0066"/>
                </a:solidFill>
                <a:latin typeface="Times New Roman" pitchFamily="18" charset="0"/>
                <a:cs typeface="Times New Roman" pitchFamily="18" charset="0"/>
              </a:rPr>
              <a:t>  Within 2 to 3 days biological action starts, the organic matters are being destroyed by </a:t>
            </a:r>
            <a:r>
              <a:rPr lang="en-US" sz="2200" dirty="0" err="1" smtClean="0">
                <a:solidFill>
                  <a:srgbClr val="FF0066"/>
                </a:solidFill>
                <a:latin typeface="Times New Roman" pitchFamily="18" charset="0"/>
                <a:cs typeface="Times New Roman" pitchFamily="18" charset="0"/>
              </a:rPr>
              <a:t>actinomycetes</a:t>
            </a:r>
            <a:r>
              <a:rPr lang="en-US" sz="2200" dirty="0" smtClean="0">
                <a:solidFill>
                  <a:srgbClr val="FF0066"/>
                </a:solidFill>
                <a:latin typeface="Times New Roman" pitchFamily="18" charset="0"/>
                <a:cs typeface="Times New Roman" pitchFamily="18" charset="0"/>
              </a:rPr>
              <a:t> and lot of heat is liberated increasing the temperature of the compost by about 75°C and finally the refuse is converted to powdery brown </a:t>
            </a:r>
            <a:r>
              <a:rPr lang="en-US" sz="2200" dirty="0" err="1" smtClean="0">
                <a:solidFill>
                  <a:srgbClr val="FF0066"/>
                </a:solidFill>
                <a:latin typeface="Times New Roman" pitchFamily="18" charset="0"/>
                <a:cs typeface="Times New Roman" pitchFamily="18" charset="0"/>
              </a:rPr>
              <a:t>coloured</a:t>
            </a:r>
            <a:r>
              <a:rPr lang="en-US" sz="2200" dirty="0" smtClean="0">
                <a:solidFill>
                  <a:srgbClr val="FF0066"/>
                </a:solidFill>
                <a:latin typeface="Times New Roman" pitchFamily="18" charset="0"/>
                <a:cs typeface="Times New Roman" pitchFamily="18" charset="0"/>
              </a:rPr>
              <a:t> </a:t>
            </a:r>
            <a:r>
              <a:rPr lang="en-US" sz="2200" dirty="0" err="1" smtClean="0">
                <a:solidFill>
                  <a:srgbClr val="FF0066"/>
                </a:solidFill>
                <a:latin typeface="Times New Roman" pitchFamily="18" charset="0"/>
                <a:cs typeface="Times New Roman" pitchFamily="18" charset="0"/>
              </a:rPr>
              <a:t>odourless</a:t>
            </a:r>
            <a:r>
              <a:rPr lang="en-US" sz="2200" dirty="0" smtClean="0">
                <a:solidFill>
                  <a:srgbClr val="FF0066"/>
                </a:solidFill>
                <a:latin typeface="Times New Roman" pitchFamily="18" charset="0"/>
                <a:cs typeface="Times New Roman" pitchFamily="18" charset="0"/>
              </a:rPr>
              <a:t> mass known as humus and has a fertilizing value which can be used for agricultural field.</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The compost contains lot of nitrogen essential for plant growth apart from phosphates and other minerals.</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World Health </a:t>
            </a:r>
            <a:r>
              <a:rPr lang="en-US" sz="2200" dirty="0" err="1" smtClean="0">
                <a:solidFill>
                  <a:srgbClr val="FF0066"/>
                </a:solidFill>
                <a:latin typeface="Times New Roman" pitchFamily="18" charset="0"/>
                <a:cs typeface="Times New Roman" pitchFamily="18" charset="0"/>
              </a:rPr>
              <a:t>Organisation</a:t>
            </a:r>
            <a:r>
              <a:rPr lang="en-US" sz="2200" dirty="0" smtClean="0">
                <a:solidFill>
                  <a:srgbClr val="FF0066"/>
                </a:solidFill>
                <a:latin typeface="Times New Roman" pitchFamily="18" charset="0"/>
                <a:cs typeface="Times New Roman" pitchFamily="18" charset="0"/>
              </a:rPr>
              <a:t> (WHO) has set up a compost plant in New Delhi in 1981 with a capacity to handle 90 to 100 </a:t>
            </a:r>
            <a:r>
              <a:rPr lang="en-US" sz="2200" dirty="0" err="1" smtClean="0">
                <a:solidFill>
                  <a:srgbClr val="FF0066"/>
                </a:solidFill>
                <a:latin typeface="Times New Roman" pitchFamily="18" charset="0"/>
                <a:cs typeface="Times New Roman" pitchFamily="18" charset="0"/>
              </a:rPr>
              <a:t>tonnes</a:t>
            </a:r>
            <a:r>
              <a:rPr lang="en-US" sz="2200" dirty="0" smtClean="0">
                <a:solidFill>
                  <a:srgbClr val="FF0066"/>
                </a:solidFill>
                <a:latin typeface="Times New Roman" pitchFamily="18" charset="0"/>
                <a:cs typeface="Times New Roman" pitchFamily="18" charset="0"/>
              </a:rPr>
              <a:t> of waste everyday. </a:t>
            </a:r>
          </a:p>
        </p:txBody>
      </p:sp>
    </p:spTree>
  </p:cSld>
  <p:clrMapOvr>
    <a:masterClrMapping/>
  </p:clrMapOvr>
  <p:transition spd="slow">
    <p:push/>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990600"/>
            <a:ext cx="8001000" cy="5509200"/>
          </a:xfrm>
          <a:prstGeom prst="rect">
            <a:avLst/>
          </a:prstGeom>
        </p:spPr>
        <p:txBody>
          <a:bodyPr wrap="square">
            <a:spAutoFit/>
          </a:bodyPr>
          <a:lstStyle/>
          <a:p>
            <a:pPr>
              <a:buFont typeface="Wingdings" pitchFamily="2" charset="2"/>
              <a:buChar char="q"/>
            </a:pPr>
            <a:r>
              <a:rPr lang="en-US" sz="2200" dirty="0" smtClean="0">
                <a:solidFill>
                  <a:srgbClr val="FF0066"/>
                </a:solidFill>
                <a:latin typeface="Times New Roman" pitchFamily="18" charset="0"/>
                <a:cs typeface="Times New Roman" pitchFamily="18" charset="0"/>
              </a:rPr>
              <a:t>  The prepared compost was supplied to nurseries, kitchen gardens and World Health </a:t>
            </a:r>
            <a:r>
              <a:rPr lang="en-US" sz="2200" dirty="0" err="1" smtClean="0">
                <a:solidFill>
                  <a:srgbClr val="FF0066"/>
                </a:solidFill>
                <a:latin typeface="Times New Roman" pitchFamily="18" charset="0"/>
                <a:cs typeface="Times New Roman" pitchFamily="18" charset="0"/>
              </a:rPr>
              <a:t>Organisation</a:t>
            </a:r>
            <a:r>
              <a:rPr lang="en-US" sz="2200" dirty="0" smtClean="0">
                <a:solidFill>
                  <a:srgbClr val="FF0066"/>
                </a:solidFill>
                <a:latin typeface="Times New Roman" pitchFamily="18" charset="0"/>
                <a:cs typeface="Times New Roman" pitchFamily="18" charset="0"/>
              </a:rPr>
              <a:t> (WHO) has set up a compost plant in New Delhi in 1981 with a capacity to handle 90 to 100 </a:t>
            </a:r>
            <a:r>
              <a:rPr lang="en-US" sz="2200" dirty="0" err="1" smtClean="0">
                <a:solidFill>
                  <a:srgbClr val="FF0066"/>
                </a:solidFill>
                <a:latin typeface="Times New Roman" pitchFamily="18" charset="0"/>
                <a:cs typeface="Times New Roman" pitchFamily="18" charset="0"/>
              </a:rPr>
              <a:t>tonnes</a:t>
            </a:r>
            <a:r>
              <a:rPr lang="en-US" sz="2200" dirty="0" smtClean="0">
                <a:solidFill>
                  <a:srgbClr val="FF0066"/>
                </a:solidFill>
                <a:latin typeface="Times New Roman" pitchFamily="18" charset="0"/>
                <a:cs typeface="Times New Roman" pitchFamily="18" charset="0"/>
              </a:rPr>
              <a:t> of waste everyday. </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The prepared compost was supplied to nurseries, kitchen gardens and horticulture department. </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The composting technology is widely employed in developing countries.</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Advantages</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When the manure is added to soil, it increases the water retention and ion-exchange capacity of soil.</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A number of industrial solid wastes can also be treated by this method.</a:t>
            </a:r>
          </a:p>
        </p:txBody>
      </p:sp>
    </p:spTree>
  </p:cSld>
  <p:clrMapOvr>
    <a:masterClrMapping/>
  </p:clrMapOvr>
  <p:transition spd="slow">
    <p:push/>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295400"/>
            <a:ext cx="7696200" cy="4493538"/>
          </a:xfrm>
          <a:prstGeom prst="rect">
            <a:avLst/>
          </a:prstGeom>
        </p:spPr>
        <p:txBody>
          <a:bodyPr wrap="square">
            <a:spAutoFit/>
          </a:bodyPr>
          <a:lstStyle/>
          <a:p>
            <a:pPr lvl="1">
              <a:buFont typeface="Wingdings" pitchFamily="2" charset="2"/>
              <a:buChar char="Ø"/>
            </a:pPr>
            <a:r>
              <a:rPr lang="en-US" sz="2200" dirty="0" smtClean="0">
                <a:solidFill>
                  <a:srgbClr val="FF0066"/>
                </a:solidFill>
                <a:latin typeface="Times New Roman" pitchFamily="18" charset="0"/>
                <a:cs typeface="Times New Roman" pitchFamily="18" charset="0"/>
              </a:rPr>
              <a:t>  It can (manure) be sold thereby reducing the cost of disposing of wastes.</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Recycling - occurs.</a:t>
            </a:r>
          </a:p>
          <a:p>
            <a:endParaRPr lang="en-US" sz="2200" dirty="0" smtClean="0">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Disadvantages</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The non-consumables have to be disposed separately.</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Use of compost has not yet caught up with farmers and hence no assured market.</a:t>
            </a:r>
          </a:p>
          <a:p>
            <a:endParaRPr lang="en-US" sz="2200" dirty="0" smtClean="0">
              <a:latin typeface="Times New Roman" pitchFamily="18" charset="0"/>
              <a:cs typeface="Times New Roman" pitchFamily="18" charset="0"/>
            </a:endParaRPr>
          </a:p>
          <a:p>
            <a:r>
              <a:rPr lang="en-US" sz="2200" b="1" dirty="0" smtClean="0">
                <a:solidFill>
                  <a:srgbClr val="0B8319"/>
                </a:solidFill>
                <a:latin typeface="Times New Roman" pitchFamily="18" charset="0"/>
                <a:cs typeface="Times New Roman" pitchFamily="18" charset="0"/>
              </a:rPr>
              <a:t>2.7 </a:t>
            </a:r>
            <a:r>
              <a:rPr lang="en-US" sz="2200" b="1" dirty="0" err="1" smtClean="0">
                <a:solidFill>
                  <a:srgbClr val="0B8319"/>
                </a:solidFill>
                <a:latin typeface="Times New Roman" pitchFamily="18" charset="0"/>
                <a:cs typeface="Times New Roman" pitchFamily="18" charset="0"/>
              </a:rPr>
              <a:t>Hazardas</a:t>
            </a:r>
            <a:r>
              <a:rPr lang="en-US" sz="2200" b="1" dirty="0" smtClean="0">
                <a:solidFill>
                  <a:srgbClr val="0B8319"/>
                </a:solidFill>
                <a:latin typeface="Times New Roman" pitchFamily="18" charset="0"/>
                <a:cs typeface="Times New Roman" pitchFamily="18" charset="0"/>
              </a:rPr>
              <a:t> waste</a:t>
            </a:r>
          </a:p>
          <a:p>
            <a:endParaRPr lang="en-US" sz="2200" b="1" dirty="0" smtClean="0">
              <a:latin typeface="Times New Roman" pitchFamily="18" charset="0"/>
              <a:cs typeface="Times New Roman" pitchFamily="18" charset="0"/>
            </a:endParaRPr>
          </a:p>
          <a:p>
            <a:r>
              <a:rPr lang="en-US" sz="2200" b="1" i="1" dirty="0" smtClean="0">
                <a:solidFill>
                  <a:srgbClr val="00B0F0"/>
                </a:solidFill>
                <a:latin typeface="Times New Roman" pitchFamily="18" charset="0"/>
                <a:cs typeface="Times New Roman" pitchFamily="18" charset="0"/>
              </a:rPr>
              <a:t>It is the waste that has potential threats to public health (or) the environment.</a:t>
            </a:r>
          </a:p>
        </p:txBody>
      </p:sp>
    </p:spTree>
  </p:cSld>
  <p:clrMapOvr>
    <a:masterClrMapping/>
  </p:clrMapOvr>
  <p:transition spd="slow">
    <p:push/>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8001000" cy="5509200"/>
          </a:xfrm>
          <a:prstGeom prst="rect">
            <a:avLst/>
          </a:prstGeom>
        </p:spPr>
        <p:txBody>
          <a:bodyPr wrap="square">
            <a:spAutoFit/>
          </a:bodyPr>
          <a:lstStyle/>
          <a:p>
            <a:r>
              <a:rPr lang="en-US" sz="2200" b="1" i="1" dirty="0" smtClean="0">
                <a:latin typeface="Times New Roman" pitchFamily="18" charset="0"/>
                <a:cs typeface="Times New Roman" pitchFamily="18" charset="0"/>
              </a:rPr>
              <a:t>Examples</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Cleaning solvents (acids and bases).</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Spent acids and bases.</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Metal finishing wastes.</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Painting wastes.</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a:t>
            </a:r>
            <a:r>
              <a:rPr lang="en-US" sz="2200" dirty="0" err="1" smtClean="0">
                <a:solidFill>
                  <a:srgbClr val="00B0F0"/>
                </a:solidFill>
                <a:latin typeface="Times New Roman" pitchFamily="18" charset="0"/>
                <a:cs typeface="Times New Roman" pitchFamily="18" charset="0"/>
              </a:rPr>
              <a:t>Sludges</a:t>
            </a:r>
            <a:r>
              <a:rPr lang="en-US" sz="2200" dirty="0" smtClean="0">
                <a:solidFill>
                  <a:srgbClr val="00B0F0"/>
                </a:solidFill>
                <a:latin typeface="Times New Roman" pitchFamily="18" charset="0"/>
                <a:cs typeface="Times New Roman" pitchFamily="18" charset="0"/>
              </a:rPr>
              <a:t> from air and water pollution control units.</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Disinfectants and pesticides.</a:t>
            </a:r>
          </a:p>
          <a:p>
            <a:endParaRPr lang="en-US" sz="2200" dirty="0" smtClean="0">
              <a:latin typeface="Times New Roman" pitchFamily="18" charset="0"/>
              <a:cs typeface="Times New Roman" pitchFamily="18" charset="0"/>
            </a:endParaRPr>
          </a:p>
          <a:p>
            <a:r>
              <a:rPr lang="en-US" sz="2200" b="1" i="1" dirty="0" smtClean="0">
                <a:solidFill>
                  <a:srgbClr val="0000CC"/>
                </a:solidFill>
                <a:latin typeface="Times New Roman" pitchFamily="18" charset="0"/>
                <a:cs typeface="Times New Roman" pitchFamily="18" charset="0"/>
              </a:rPr>
              <a:t>2.7.1 Types and characteristics of hazardous wastes</a:t>
            </a:r>
          </a:p>
          <a:p>
            <a:r>
              <a:rPr lang="en-US" sz="2200" b="1" dirty="0" smtClean="0">
                <a:solidFill>
                  <a:srgbClr val="FF9900"/>
                </a:solidFill>
                <a:latin typeface="Times New Roman" pitchFamily="18" charset="0"/>
                <a:cs typeface="Times New Roman" pitchFamily="18" charset="0"/>
              </a:rPr>
              <a:t>1. Toxic wastes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These are poisonous even in very small (or) trace amounts. They may have</a:t>
            </a:r>
          </a:p>
          <a:p>
            <a:r>
              <a:rPr lang="en-US" sz="2200" b="1" i="1" dirty="0" smtClean="0">
                <a:solidFill>
                  <a:srgbClr val="663300"/>
                </a:solidFill>
                <a:latin typeface="Times New Roman" pitchFamily="18" charset="0"/>
                <a:cs typeface="Times New Roman" pitchFamily="18" charset="0"/>
              </a:rPr>
              <a:t>(</a:t>
            </a:r>
            <a:r>
              <a:rPr lang="en-US" sz="2200" b="1" i="1" dirty="0" err="1" smtClean="0">
                <a:solidFill>
                  <a:srgbClr val="663300"/>
                </a:solidFill>
                <a:latin typeface="Times New Roman" pitchFamily="18" charset="0"/>
                <a:cs typeface="Times New Roman" pitchFamily="18" charset="0"/>
              </a:rPr>
              <a:t>i</a:t>
            </a:r>
            <a:r>
              <a:rPr lang="en-US" sz="2200" b="1" i="1" dirty="0" smtClean="0">
                <a:solidFill>
                  <a:srgbClr val="663300"/>
                </a:solidFill>
                <a:latin typeface="Times New Roman" pitchFamily="18" charset="0"/>
                <a:cs typeface="Times New Roman" pitchFamily="18" charset="0"/>
              </a:rPr>
              <a:t>) Acute effects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Causing death (or) violent illness</a:t>
            </a:r>
          </a:p>
          <a:p>
            <a:r>
              <a:rPr lang="en-US" sz="2200" b="1" i="1" dirty="0" smtClean="0">
                <a:solidFill>
                  <a:srgbClr val="663300"/>
                </a:solidFill>
                <a:latin typeface="Times New Roman" pitchFamily="18" charset="0"/>
                <a:cs typeface="Times New Roman" pitchFamily="18" charset="0"/>
              </a:rPr>
              <a:t>(ii) Chronic effects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Slowly causing </a:t>
            </a:r>
            <a:r>
              <a:rPr lang="en-US" sz="2200" dirty="0" err="1" smtClean="0">
                <a:solidFill>
                  <a:srgbClr val="FF0066"/>
                </a:solidFill>
                <a:latin typeface="Times New Roman" pitchFamily="18" charset="0"/>
                <a:cs typeface="Times New Roman" pitchFamily="18" charset="0"/>
              </a:rPr>
              <a:t>irrseparable</a:t>
            </a:r>
            <a:r>
              <a:rPr lang="en-US" sz="2200" dirty="0" smtClean="0">
                <a:solidFill>
                  <a:srgbClr val="FF0066"/>
                </a:solidFill>
                <a:latin typeface="Times New Roman" pitchFamily="18" charset="0"/>
                <a:cs typeface="Times New Roman" pitchFamily="18" charset="0"/>
              </a:rPr>
              <a:t> harm.</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219200"/>
            <a:ext cx="8077200" cy="5170646"/>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2. Carcinogenic waste</a:t>
            </a:r>
          </a:p>
          <a:p>
            <a:pPr>
              <a:buFont typeface="Wingdings" pitchFamily="2" charset="2"/>
              <a:buChar char="v"/>
            </a:pPr>
            <a:r>
              <a:rPr lang="en-US" sz="2200" dirty="0" smtClean="0">
                <a:solidFill>
                  <a:srgbClr val="FF0066"/>
                </a:solidFill>
                <a:latin typeface="Times New Roman" pitchFamily="18" charset="0"/>
                <a:cs typeface="Times New Roman" pitchFamily="18" charset="0"/>
              </a:rPr>
              <a:t> It causes cancer after many years of exposure.</a:t>
            </a:r>
          </a:p>
          <a:p>
            <a:r>
              <a:rPr lang="en-US" sz="2200" b="1" dirty="0" smtClean="0">
                <a:solidFill>
                  <a:srgbClr val="FF9900"/>
                </a:solidFill>
                <a:latin typeface="Times New Roman" pitchFamily="18" charset="0"/>
                <a:cs typeface="Times New Roman" pitchFamily="18" charset="0"/>
              </a:rPr>
              <a:t>3. Mutagenic</a:t>
            </a:r>
          </a:p>
          <a:p>
            <a:pPr>
              <a:buFont typeface="Wingdings" pitchFamily="2" charset="2"/>
              <a:buChar char="v"/>
            </a:pPr>
            <a:r>
              <a:rPr lang="en-US" sz="2200" dirty="0" smtClean="0">
                <a:solidFill>
                  <a:srgbClr val="FF0066"/>
                </a:solidFill>
                <a:latin typeface="Times New Roman" pitchFamily="18" charset="0"/>
                <a:cs typeface="Times New Roman" pitchFamily="18" charset="0"/>
              </a:rPr>
              <a:t>  It causes major biological changes in the off-spring of exposed humans and wild life.</a:t>
            </a:r>
          </a:p>
          <a:p>
            <a:r>
              <a:rPr lang="en-US" sz="2200" b="1" dirty="0" smtClean="0">
                <a:solidFill>
                  <a:srgbClr val="FF9900"/>
                </a:solidFill>
                <a:latin typeface="Times New Roman" pitchFamily="18" charset="0"/>
                <a:cs typeface="Times New Roman" pitchFamily="18" charset="0"/>
              </a:rPr>
              <a:t>4. Reactive wastes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These are chemically unusable and react violently with air (or) water. </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They cause explosions (or) form toxic </a:t>
            </a:r>
            <a:r>
              <a:rPr lang="en-US" sz="2200" dirty="0" err="1" smtClean="0">
                <a:solidFill>
                  <a:srgbClr val="FF0066"/>
                </a:solidFill>
                <a:latin typeface="Times New Roman" pitchFamily="18" charset="0"/>
                <a:cs typeface="Times New Roman" pitchFamily="18" charset="0"/>
              </a:rPr>
              <a:t>vapours</a:t>
            </a:r>
            <a:r>
              <a:rPr lang="en-US" sz="2200" dirty="0" smtClean="0">
                <a:solidFill>
                  <a:srgbClr val="FF0066"/>
                </a:solidFill>
                <a:latin typeface="Times New Roman" pitchFamily="18" charset="0"/>
                <a:cs typeface="Times New Roman" pitchFamily="18" charset="0"/>
              </a:rPr>
              <a:t>.</a:t>
            </a:r>
          </a:p>
          <a:p>
            <a:r>
              <a:rPr lang="en-US" sz="2200" b="1" dirty="0" smtClean="0">
                <a:solidFill>
                  <a:srgbClr val="FF9900"/>
                </a:solidFill>
                <a:latin typeface="Times New Roman" pitchFamily="18" charset="0"/>
                <a:cs typeface="Times New Roman" pitchFamily="18" charset="0"/>
              </a:rPr>
              <a:t>5. Ignitable wastes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They burn at relatively low temperatures and </a:t>
            </a:r>
            <a:r>
              <a:rPr lang="en-US" sz="2200" dirty="0" err="1" smtClean="0">
                <a:solidFill>
                  <a:srgbClr val="FF0066"/>
                </a:solidFill>
                <a:latin typeface="Times New Roman" pitchFamily="18" charset="0"/>
                <a:cs typeface="Times New Roman" pitchFamily="18" charset="0"/>
              </a:rPr>
              <a:t>caus</a:t>
            </a:r>
            <a:r>
              <a:rPr lang="en-US" sz="2200" dirty="0" smtClean="0">
                <a:solidFill>
                  <a:srgbClr val="FF0066"/>
                </a:solidFill>
                <a:latin typeface="Times New Roman" pitchFamily="18" charset="0"/>
                <a:cs typeface="Times New Roman" pitchFamily="18" charset="0"/>
              </a:rPr>
              <a:t> an immediate fire hazard.</a:t>
            </a:r>
          </a:p>
          <a:p>
            <a:r>
              <a:rPr lang="en-US" sz="2200" b="1" dirty="0" smtClean="0">
                <a:solidFill>
                  <a:srgbClr val="FF9900"/>
                </a:solidFill>
                <a:latin typeface="Times New Roman" pitchFamily="18" charset="0"/>
                <a:cs typeface="Times New Roman" pitchFamily="18" charset="0"/>
              </a:rPr>
              <a:t>6. Corrosive wastes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These include strong acidic (or) alkaline substances.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They destroy solid material and living tissue upon contact.</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66800"/>
            <a:ext cx="7772400" cy="5509200"/>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7. Infectious wastes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These include used bandages, hypodermic needles from hospitals (or) biological research facilities.</a:t>
            </a:r>
          </a:p>
          <a:p>
            <a:r>
              <a:rPr lang="en-US" sz="2200" b="1" dirty="0" smtClean="0">
                <a:solidFill>
                  <a:srgbClr val="FF9900"/>
                </a:solidFill>
                <a:latin typeface="Times New Roman" pitchFamily="18" charset="0"/>
                <a:cs typeface="Times New Roman" pitchFamily="18" charset="0"/>
              </a:rPr>
              <a:t>8. Radioactive wastes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These emit ionizing energy that can harm living organisms.</a:t>
            </a:r>
          </a:p>
          <a:p>
            <a:endParaRPr lang="en-US" sz="2200" dirty="0" smtClean="0">
              <a:latin typeface="Times New Roman" pitchFamily="18" charset="0"/>
              <a:cs typeface="Times New Roman" pitchFamily="18" charset="0"/>
            </a:endParaRPr>
          </a:p>
          <a:p>
            <a:r>
              <a:rPr lang="en-US" sz="2200" b="1" i="1" dirty="0" smtClean="0">
                <a:solidFill>
                  <a:srgbClr val="0000CC"/>
                </a:solidFill>
                <a:latin typeface="Times New Roman" pitchFamily="18" charset="0"/>
                <a:cs typeface="Times New Roman" pitchFamily="18" charset="0"/>
              </a:rPr>
              <a:t>2.7.2 Hazardous waste management</a:t>
            </a:r>
          </a:p>
          <a:p>
            <a:endParaRPr lang="en-US" sz="2200" b="1" i="1" dirty="0" smtClean="0">
              <a:latin typeface="Times New Roman" pitchFamily="18" charset="0"/>
              <a:cs typeface="Times New Roman" pitchFamily="18" charset="0"/>
            </a:endParaRPr>
          </a:p>
          <a:p>
            <a:r>
              <a:rPr lang="en-US" sz="2200" b="1" dirty="0" smtClean="0">
                <a:solidFill>
                  <a:srgbClr val="663300"/>
                </a:solidFill>
                <a:latin typeface="Times New Roman" pitchFamily="18" charset="0"/>
                <a:cs typeface="Times New Roman" pitchFamily="18" charset="0"/>
              </a:rPr>
              <a:t>Definition</a:t>
            </a:r>
          </a:p>
          <a:p>
            <a:r>
              <a:rPr lang="en-US" sz="2200" b="1" i="1" dirty="0" smtClean="0">
                <a:solidFill>
                  <a:srgbClr val="00B0F0"/>
                </a:solidFill>
                <a:latin typeface="Times New Roman" pitchFamily="18" charset="0"/>
                <a:cs typeface="Times New Roman" pitchFamily="18" charset="0"/>
              </a:rPr>
              <a:t>It is the collection, treatment and disposal of waste materials that can cause substantial harm to human health (or) to the environment.</a:t>
            </a:r>
          </a:p>
          <a:p>
            <a:endParaRPr lang="en-US" sz="2200" b="1" i="1" dirty="0" smtClean="0">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Improper hazardous-waste storage (or) disposal contaminates surface water and ground water supplies as harmful water pollution and land pollution. </a:t>
            </a:r>
          </a:p>
        </p:txBody>
      </p:sp>
    </p:spTree>
  </p:cSld>
  <p:clrMapOvr>
    <a:masterClrMapping/>
  </p:clrMapOvr>
  <p:transition spd="slow">
    <p:push/>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295400"/>
            <a:ext cx="7924800" cy="5170646"/>
          </a:xfrm>
          <a:prstGeom prst="rect">
            <a:avLst/>
          </a:prstGeom>
        </p:spPr>
        <p:txBody>
          <a:bodyPr wrap="square">
            <a:spAutoFit/>
          </a:bodyPr>
          <a:lstStyle/>
          <a:p>
            <a:pPr>
              <a:buFont typeface="Wingdings" pitchFamily="2" charset="2"/>
              <a:buChar char="v"/>
            </a:pPr>
            <a:r>
              <a:rPr lang="en-US" sz="2200" dirty="0" smtClean="0">
                <a:solidFill>
                  <a:srgbClr val="FF0066"/>
                </a:solidFill>
                <a:latin typeface="Times New Roman" pitchFamily="18" charset="0"/>
                <a:cs typeface="Times New Roman" pitchFamily="18" charset="0"/>
              </a:rPr>
              <a:t> People living in homes, built near waste disposal sites, may be in a vulnerable position. </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The best remedy for this problem is to regulate the practice of hazardous - waste management.</a:t>
            </a:r>
          </a:p>
          <a:p>
            <a:endParaRPr lang="en-US" sz="2200" dirty="0" smtClean="0">
              <a:latin typeface="Times New Roman" pitchFamily="18" charset="0"/>
              <a:cs typeface="Times New Roman" pitchFamily="18" charset="0"/>
            </a:endParaRPr>
          </a:p>
          <a:p>
            <a:r>
              <a:rPr lang="en-US" sz="2200" b="1" i="1" dirty="0" smtClean="0">
                <a:solidFill>
                  <a:srgbClr val="0000CC"/>
                </a:solidFill>
                <a:latin typeface="Times New Roman" pitchFamily="18" charset="0"/>
                <a:cs typeface="Times New Roman" pitchFamily="18" charset="0"/>
              </a:rPr>
              <a:t>2.7.3 Various steps of hazardous waste management</a:t>
            </a:r>
          </a:p>
          <a:p>
            <a:pPr>
              <a:buFont typeface="Wingdings" pitchFamily="2" charset="2"/>
              <a:buChar char="q"/>
            </a:pPr>
            <a:r>
              <a:rPr lang="en-US" sz="2200" dirty="0" smtClean="0">
                <a:solidFill>
                  <a:srgbClr val="FF0066"/>
                </a:solidFill>
                <a:latin typeface="Times New Roman" pitchFamily="18" charset="0"/>
                <a:cs typeface="Times New Roman" pitchFamily="18" charset="0"/>
              </a:rPr>
              <a:t>  Hazardous waste management involves the following 4 steps</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Step 1: Analysis: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Physical and chemical properties of hazardous waste must be </a:t>
            </a:r>
            <a:r>
              <a:rPr lang="en-US" sz="2200" dirty="0" err="1" smtClean="0">
                <a:solidFill>
                  <a:srgbClr val="FF0066"/>
                </a:solidFill>
                <a:latin typeface="Times New Roman" pitchFamily="18" charset="0"/>
                <a:cs typeface="Times New Roman" pitchFamily="18" charset="0"/>
              </a:rPr>
              <a:t>analysed</a:t>
            </a:r>
            <a:r>
              <a:rPr lang="en-US" sz="2200" dirty="0" smtClean="0">
                <a:solidFill>
                  <a:srgbClr val="FF0066"/>
                </a:solidFill>
                <a:latin typeface="Times New Roman" pitchFamily="18" charset="0"/>
                <a:cs typeface="Times New Roman" pitchFamily="18" charset="0"/>
              </a:rPr>
              <a:t> before collection and recovery of useful components.</a:t>
            </a:r>
          </a:p>
          <a:p>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It is essential because it can be used as a fertilizer, liming material (or) soil amendment.</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C:\Users\User\AppData\Local\Temp\ksohtml\wps2081.tmp.png"/>
          <p:cNvPicPr>
            <a:picLocks noChangeAspect="1" noChangeArrowheads="1"/>
          </p:cNvPicPr>
          <p:nvPr/>
        </p:nvPicPr>
        <p:blipFill>
          <a:blip r:embed="rId2">
            <a:duotone>
              <a:prstClr val="black"/>
              <a:schemeClr val="accent6">
                <a:tint val="45000"/>
                <a:satMod val="400000"/>
              </a:schemeClr>
            </a:duotone>
          </a:blip>
          <a:srcRect/>
          <a:stretch>
            <a:fillRect/>
          </a:stretch>
        </p:blipFill>
        <p:spPr bwMode="auto">
          <a:xfrm>
            <a:off x="685800" y="2057400"/>
            <a:ext cx="6400800" cy="3657600"/>
          </a:xfrm>
          <a:prstGeom prst="rect">
            <a:avLst/>
          </a:prstGeom>
          <a:noFill/>
        </p:spPr>
      </p:pic>
      <p:sp>
        <p:nvSpPr>
          <p:cNvPr id="3" name="Rectangle 2"/>
          <p:cNvSpPr/>
          <p:nvPr/>
        </p:nvSpPr>
        <p:spPr>
          <a:xfrm>
            <a:off x="533400" y="838200"/>
            <a:ext cx="7772400" cy="769441"/>
          </a:xfrm>
          <a:prstGeom prst="rect">
            <a:avLst/>
          </a:prstGeom>
        </p:spPr>
        <p:txBody>
          <a:bodyPr wrap="square">
            <a:spAutoFit/>
          </a:bodyPr>
          <a:lstStyle/>
          <a:p>
            <a:r>
              <a:rPr lang="en-US" sz="2200" b="1" i="1" dirty="0" smtClean="0">
                <a:solidFill>
                  <a:srgbClr val="0000CC"/>
                </a:solidFill>
                <a:latin typeface="Times New Roman" pitchFamily="18" charset="0"/>
                <a:cs typeface="Times New Roman" pitchFamily="18" charset="0"/>
              </a:rPr>
              <a:t>2.7.3 Various steps of hazardous waste management</a:t>
            </a:r>
            <a:endParaRPr lang="en-US" sz="2200" b="1" i="1" dirty="0" smtClean="0">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Hazardous waste management involves the following 4 steps</a:t>
            </a:r>
            <a:endParaRPr lang="en-US" sz="2200" dirty="0">
              <a:solidFill>
                <a:srgbClr val="FF0066"/>
              </a:solidFill>
              <a:latin typeface="Times New Roman" pitchFamily="18" charset="0"/>
              <a:cs typeface="Times New Roman" pitchFamily="18" charset="0"/>
            </a:endParaRPr>
          </a:p>
        </p:txBody>
      </p:sp>
      <p:sp>
        <p:nvSpPr>
          <p:cNvPr id="4" name="Rectangle 3"/>
          <p:cNvSpPr/>
          <p:nvPr/>
        </p:nvSpPr>
        <p:spPr>
          <a:xfrm>
            <a:off x="1676400" y="5943600"/>
            <a:ext cx="5410200" cy="400110"/>
          </a:xfrm>
          <a:prstGeom prst="rect">
            <a:avLst/>
          </a:prstGeom>
        </p:spPr>
        <p:txBody>
          <a:bodyPr wrap="square">
            <a:spAutoFit/>
          </a:bodyPr>
          <a:lstStyle/>
          <a:p>
            <a:r>
              <a:rPr lang="en-US" sz="2000" b="1" dirty="0" smtClean="0">
                <a:solidFill>
                  <a:srgbClr val="FF0000"/>
                </a:solidFill>
                <a:latin typeface="Times New Roman" pitchFamily="18" charset="0"/>
                <a:cs typeface="Times New Roman" pitchFamily="18" charset="0"/>
              </a:rPr>
              <a:t>Fig 2.4 Steps of hazardous waste management</a:t>
            </a:r>
            <a:endParaRPr lang="en-US" sz="2000" dirty="0">
              <a:solidFill>
                <a:srgbClr val="FF0000"/>
              </a:solidFill>
              <a:latin typeface="Times New Roman" pitchFamily="18" charset="0"/>
              <a:cs typeface="Times New Roman" pitchFamily="18" charset="0"/>
            </a:endParaRPr>
          </a:p>
        </p:txBody>
      </p:sp>
      <p:pic>
        <p:nvPicPr>
          <p:cNvPr id="37892" name="Picture 4" descr="C:\Users\User\AppData\Local\Temp\ksohtml\wpsA73E.tmp.png"/>
          <p:cNvPicPr>
            <a:picLocks noChangeAspect="1" noChangeArrowheads="1"/>
          </p:cNvPicPr>
          <p:nvPr/>
        </p:nvPicPr>
        <p:blipFill>
          <a:blip r:embed="rId3"/>
          <a:srcRect/>
          <a:stretch>
            <a:fillRect/>
          </a:stretch>
        </p:blipFill>
        <p:spPr bwMode="auto">
          <a:xfrm>
            <a:off x="3505200" y="1676401"/>
            <a:ext cx="838200" cy="313084"/>
          </a:xfrm>
          <a:prstGeom prst="rect">
            <a:avLst/>
          </a:prstGeom>
          <a:noFill/>
        </p:spPr>
      </p:pic>
    </p:spTree>
  </p:cSld>
  <p:clrMapOvr>
    <a:masterClrMapping/>
  </p:clrMapOvr>
  <p:transition spd="slow">
    <p:push/>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990600"/>
            <a:ext cx="8077200" cy="5509200"/>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Step 2: Collection and transport</a:t>
            </a:r>
          </a:p>
          <a:p>
            <a:pPr>
              <a:buFont typeface="Wingdings" pitchFamily="2" charset="2"/>
              <a:buChar char="q"/>
            </a:pPr>
            <a:r>
              <a:rPr lang="en-US" sz="2200" dirty="0" smtClean="0">
                <a:solidFill>
                  <a:srgbClr val="FF0066"/>
                </a:solidFill>
                <a:latin typeface="Times New Roman" pitchFamily="18" charset="0"/>
                <a:cs typeface="Times New Roman" pitchFamily="18" charset="0"/>
              </a:rPr>
              <a:t>  Hazardous waste, generated at a particular place, is generally collected and transported by truck over public highways. </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It can also be shipped in tank trucks, made of steel (or) </a:t>
            </a:r>
            <a:r>
              <a:rPr lang="en-US" sz="2200" dirty="0" err="1" smtClean="0">
                <a:solidFill>
                  <a:srgbClr val="FF0066"/>
                </a:solidFill>
                <a:latin typeface="Times New Roman" pitchFamily="18" charset="0"/>
                <a:cs typeface="Times New Roman" pitchFamily="18" charset="0"/>
              </a:rPr>
              <a:t>aluminium</a:t>
            </a:r>
            <a:r>
              <a:rPr lang="en-US" sz="2200" dirty="0" smtClean="0">
                <a:solidFill>
                  <a:srgbClr val="FF0066"/>
                </a:solidFill>
                <a:latin typeface="Times New Roman" pitchFamily="18" charset="0"/>
                <a:cs typeface="Times New Roman" pitchFamily="18" charset="0"/>
              </a:rPr>
              <a:t> alloy, with capacities </a:t>
            </a:r>
            <a:r>
              <a:rPr lang="en-US" sz="2200" dirty="0" err="1" smtClean="0">
                <a:solidFill>
                  <a:srgbClr val="FF0066"/>
                </a:solidFill>
                <a:latin typeface="Times New Roman" pitchFamily="18" charset="0"/>
                <a:cs typeface="Times New Roman" pitchFamily="18" charset="0"/>
              </a:rPr>
              <a:t>upto</a:t>
            </a:r>
            <a:r>
              <a:rPr lang="en-US" sz="2200" dirty="0" smtClean="0">
                <a:solidFill>
                  <a:srgbClr val="FF0066"/>
                </a:solidFill>
                <a:latin typeface="Times New Roman" pitchFamily="18" charset="0"/>
                <a:cs typeface="Times New Roman" pitchFamily="18" charset="0"/>
              </a:rPr>
              <a:t> about 34,000 </a:t>
            </a:r>
            <a:r>
              <a:rPr lang="en-US" sz="2200" dirty="0" err="1" smtClean="0">
                <a:solidFill>
                  <a:srgbClr val="FF0066"/>
                </a:solidFill>
                <a:latin typeface="Times New Roman" pitchFamily="18" charset="0"/>
                <a:cs typeface="Times New Roman" pitchFamily="18" charset="0"/>
              </a:rPr>
              <a:t>litres</a:t>
            </a:r>
            <a:r>
              <a:rPr lang="en-US" sz="2200" dirty="0" smtClean="0">
                <a:solidFill>
                  <a:srgbClr val="FF0066"/>
                </a:solidFill>
                <a:latin typeface="Times New Roman" pitchFamily="18" charset="0"/>
                <a:cs typeface="Times New Roman" pitchFamily="18" charset="0"/>
              </a:rPr>
              <a:t>.</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It can be containerized and shipped in 200 </a:t>
            </a:r>
            <a:r>
              <a:rPr lang="en-US" sz="2200" dirty="0" err="1" smtClean="0">
                <a:solidFill>
                  <a:srgbClr val="FF0066"/>
                </a:solidFill>
                <a:latin typeface="Times New Roman" pitchFamily="18" charset="0"/>
                <a:cs typeface="Times New Roman" pitchFamily="18" charset="0"/>
              </a:rPr>
              <a:t>litre</a:t>
            </a:r>
            <a:r>
              <a:rPr lang="en-US" sz="2200" dirty="0" smtClean="0">
                <a:solidFill>
                  <a:srgbClr val="FF0066"/>
                </a:solidFill>
                <a:latin typeface="Times New Roman" pitchFamily="18" charset="0"/>
                <a:cs typeface="Times New Roman" pitchFamily="18" charset="0"/>
              </a:rPr>
              <a:t> drums.</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Step 3: Treatment (or) Recovery</a:t>
            </a:r>
          </a:p>
          <a:p>
            <a:pPr>
              <a:buFont typeface="Wingdings" pitchFamily="2" charset="2"/>
              <a:buChar char="q"/>
            </a:pPr>
            <a:r>
              <a:rPr lang="en-US" sz="2200" dirty="0" smtClean="0">
                <a:solidFill>
                  <a:srgbClr val="FF0066"/>
                </a:solidFill>
                <a:latin typeface="Times New Roman" pitchFamily="18" charset="0"/>
                <a:cs typeface="Times New Roman" pitchFamily="18" charset="0"/>
              </a:rPr>
              <a:t>  Hazardous waste can be treated (or) recovered by</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lvl="4">
              <a:buFont typeface="Wingdings" pitchFamily="2" charset="2"/>
              <a:buChar char="ü"/>
            </a:pPr>
            <a:r>
              <a:rPr lang="en-US" sz="2200" dirty="0" smtClean="0">
                <a:solidFill>
                  <a:srgbClr val="00B0F0"/>
                </a:solidFill>
                <a:latin typeface="Times New Roman" pitchFamily="18" charset="0"/>
                <a:cs typeface="Times New Roman" pitchFamily="18" charset="0"/>
              </a:rPr>
              <a:t>  Chemical method.</a:t>
            </a:r>
          </a:p>
          <a:p>
            <a:pPr lvl="4">
              <a:buFont typeface="Wingdings" pitchFamily="2" charset="2"/>
              <a:buChar char="ü"/>
            </a:pPr>
            <a:r>
              <a:rPr lang="en-US" sz="2200" dirty="0" smtClean="0">
                <a:solidFill>
                  <a:srgbClr val="00B0F0"/>
                </a:solidFill>
                <a:latin typeface="Times New Roman" pitchFamily="18" charset="0"/>
                <a:cs typeface="Times New Roman" pitchFamily="18" charset="0"/>
              </a:rPr>
              <a:t>  Thermal method.</a:t>
            </a:r>
          </a:p>
          <a:p>
            <a:pPr lvl="4">
              <a:buFont typeface="Wingdings" pitchFamily="2" charset="2"/>
              <a:buChar char="ü"/>
            </a:pPr>
            <a:r>
              <a:rPr lang="en-US" sz="2200" dirty="0" smtClean="0">
                <a:solidFill>
                  <a:srgbClr val="00B0F0"/>
                </a:solidFill>
                <a:latin typeface="Times New Roman" pitchFamily="18" charset="0"/>
                <a:cs typeface="Times New Roman" pitchFamily="18" charset="0"/>
              </a:rPr>
              <a:t>  Biological method.</a:t>
            </a:r>
          </a:p>
          <a:p>
            <a:pPr lvl="4">
              <a:buFont typeface="Wingdings" pitchFamily="2" charset="2"/>
              <a:buChar char="ü"/>
            </a:pPr>
            <a:r>
              <a:rPr lang="en-US" sz="2200" dirty="0" smtClean="0">
                <a:solidFill>
                  <a:srgbClr val="00B0F0"/>
                </a:solidFill>
                <a:latin typeface="Times New Roman" pitchFamily="18" charset="0"/>
                <a:cs typeface="Times New Roman" pitchFamily="18" charset="0"/>
              </a:rPr>
              <a:t>  Physical method.</a:t>
            </a:r>
            <a:endParaRPr lang="en-US" sz="2200" dirty="0">
              <a:solidFill>
                <a:srgbClr val="00B0F0"/>
              </a:solidFill>
              <a:latin typeface="Times New Roman" pitchFamily="18" charset="0"/>
              <a:cs typeface="Times New Roman" pitchFamily="18" charset="0"/>
            </a:endParaRPr>
          </a:p>
        </p:txBody>
      </p:sp>
    </p:spTree>
  </p:cSld>
  <p:clrMapOvr>
    <a:masterClrMapping/>
  </p:clrMapOvr>
  <p:transition spd="slow">
    <p:push/>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10245"/>
            <a:ext cx="7848600" cy="5847755"/>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1. Chemical method</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It includes ion-exchange, precipitation, oxidation and reduction and neutralization.</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2. Thermal method</a:t>
            </a:r>
          </a:p>
          <a:p>
            <a:r>
              <a:rPr lang="en-US" sz="2200" b="1" dirty="0" smtClean="0">
                <a:solidFill>
                  <a:srgbClr val="663300"/>
                </a:solidFill>
                <a:latin typeface="Times New Roman" pitchFamily="18" charset="0"/>
                <a:cs typeface="Times New Roman" pitchFamily="18" charset="0"/>
              </a:rPr>
              <a:t> High temperature incineration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It not only can detoxify certain organic wastes but also can destroy them.</a:t>
            </a:r>
          </a:p>
          <a:p>
            <a:endParaRPr lang="en-US" sz="2200" dirty="0" smtClean="0">
              <a:solidFill>
                <a:srgbClr val="663300"/>
              </a:solidFill>
              <a:latin typeface="Times New Roman" pitchFamily="18" charset="0"/>
              <a:cs typeface="Times New Roman" pitchFamily="18" charset="0"/>
            </a:endParaRPr>
          </a:p>
          <a:p>
            <a:r>
              <a:rPr lang="en-US" sz="2200" b="1" i="1" dirty="0" smtClean="0">
                <a:solidFill>
                  <a:srgbClr val="663300"/>
                </a:solidFill>
                <a:latin typeface="Times New Roman" pitchFamily="18" charset="0"/>
                <a:cs typeface="Times New Roman" pitchFamily="18" charset="0"/>
              </a:rPr>
              <a:t>Special type of thermal equipment</a:t>
            </a:r>
          </a:p>
          <a:p>
            <a:endParaRPr lang="en-US" sz="2200" b="1" i="1" dirty="0" smtClean="0">
              <a:latin typeface="Times New Roman" pitchFamily="18" charset="0"/>
              <a:cs typeface="Times New Roman" pitchFamily="18" charset="0"/>
            </a:endParaRPr>
          </a:p>
          <a:p>
            <a:r>
              <a:rPr lang="en-US" sz="2200" b="1" dirty="0" smtClean="0">
                <a:latin typeface="Times New Roman" pitchFamily="18" charset="0"/>
                <a:cs typeface="Times New Roman" pitchFamily="18" charset="0"/>
              </a:rPr>
              <a:t>Examples</a:t>
            </a:r>
          </a:p>
          <a:p>
            <a:r>
              <a:rPr lang="en-US" sz="2200" i="1" dirty="0" smtClean="0">
                <a:solidFill>
                  <a:srgbClr val="FF0066"/>
                </a:solidFill>
                <a:latin typeface="Times New Roman" pitchFamily="18" charset="0"/>
                <a:cs typeface="Times New Roman" pitchFamily="18" charset="0"/>
              </a:rPr>
              <a:t>Fluidized-bed incinerator, multiple hearth furnace, rotary kiln and liquid-injection incinerator.</a:t>
            </a:r>
          </a:p>
          <a:p>
            <a:endParaRPr lang="en-US" sz="2200" i="1" dirty="0" smtClean="0">
              <a:latin typeface="Times New Roman" pitchFamily="18" charset="0"/>
              <a:cs typeface="Times New Roman" pitchFamily="18" charset="0"/>
            </a:endParaRPr>
          </a:p>
          <a:p>
            <a:r>
              <a:rPr lang="en-US" sz="2200" b="1" dirty="0" smtClean="0">
                <a:solidFill>
                  <a:srgbClr val="663300"/>
                </a:solidFill>
                <a:latin typeface="Times New Roman" pitchFamily="18" charset="0"/>
                <a:cs typeface="Times New Roman" pitchFamily="18" charset="0"/>
              </a:rPr>
              <a:t>Problem</a:t>
            </a:r>
          </a:p>
          <a:p>
            <a:pPr>
              <a:buFont typeface="Wingdings" pitchFamily="2" charset="2"/>
              <a:buChar char="q"/>
            </a:pPr>
            <a:r>
              <a:rPr lang="en-US" sz="2200" dirty="0" smtClean="0">
                <a:solidFill>
                  <a:srgbClr val="FF0066"/>
                </a:solidFill>
                <a:latin typeface="Times New Roman" pitchFamily="18" charset="0"/>
                <a:cs typeface="Times New Roman" pitchFamily="18" charset="0"/>
              </a:rPr>
              <a:t>  Hazardous-waste incineration is the source of air pollution.</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90600"/>
            <a:ext cx="7848600" cy="5170646"/>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3. Biological treatment</a:t>
            </a:r>
          </a:p>
          <a:p>
            <a:endParaRPr lang="en-US" sz="2200" b="1" dirty="0" smtClean="0">
              <a:latin typeface="Times New Roman" pitchFamily="18" charset="0"/>
              <a:cs typeface="Times New Roman" pitchFamily="18" charset="0"/>
            </a:endParaRPr>
          </a:p>
          <a:p>
            <a:r>
              <a:rPr lang="en-US" sz="2200" b="1" i="1" dirty="0" smtClean="0">
                <a:latin typeface="Times New Roman" pitchFamily="18" charset="0"/>
                <a:cs typeface="Times New Roman" pitchFamily="18" charset="0"/>
              </a:rPr>
              <a:t>Example: Land farming</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Land farming is one method of treating hazardous waste biologically, in which waste is mixed with surface soil on a suitable land. </a:t>
            </a:r>
          </a:p>
          <a:p>
            <a:pPr>
              <a:buFont typeface="Wingdings" pitchFamily="2" charset="2"/>
              <a:buChar char="Ø"/>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Ø"/>
            </a:pPr>
            <a:r>
              <a:rPr lang="en-US" sz="2200" dirty="0" smtClean="0">
                <a:solidFill>
                  <a:srgbClr val="FF0066"/>
                </a:solidFill>
                <a:latin typeface="Times New Roman" pitchFamily="18" charset="0"/>
                <a:cs typeface="Times New Roman" pitchFamily="18" charset="0"/>
              </a:rPr>
              <a:t>  Microbes that can metabolize the waste may be added, along with nutrients.</a:t>
            </a:r>
          </a:p>
          <a:p>
            <a:endParaRPr lang="en-US" sz="2200" dirty="0" smtClean="0">
              <a:latin typeface="Times New Roman" pitchFamily="18" charset="0"/>
              <a:cs typeface="Times New Roman" pitchFamily="18" charset="0"/>
            </a:endParaRPr>
          </a:p>
          <a:p>
            <a:r>
              <a:rPr lang="en-US" sz="2200" b="1" dirty="0" smtClean="0">
                <a:solidFill>
                  <a:srgbClr val="663300"/>
                </a:solidFill>
                <a:latin typeface="Times New Roman" pitchFamily="18" charset="0"/>
                <a:cs typeface="Times New Roman" pitchFamily="18" charset="0"/>
              </a:rPr>
              <a:t>Bio-remediation</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Microbes can also be used for stabilizing hazardous wastes on previously contaminated sites. </a:t>
            </a:r>
          </a:p>
          <a:p>
            <a:pPr>
              <a:buFont typeface="Wingdings" pitchFamily="2" charset="2"/>
              <a:buChar char="Ø"/>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Ø"/>
            </a:pPr>
            <a:r>
              <a:rPr lang="en-US" sz="2200" dirty="0" smtClean="0">
                <a:solidFill>
                  <a:srgbClr val="FF0066"/>
                </a:solidFill>
                <a:latin typeface="Times New Roman" pitchFamily="18" charset="0"/>
                <a:cs typeface="Times New Roman" pitchFamily="18" charset="0"/>
              </a:rPr>
              <a:t>  This process is called bio-remediation.</a:t>
            </a:r>
          </a:p>
        </p:txBody>
      </p:sp>
    </p:spTree>
  </p:cSld>
  <p:clrMapOvr>
    <a:masterClrMapping/>
  </p:clrMapOvr>
  <p:transition spd="slow">
    <p:push/>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10245"/>
            <a:ext cx="8229600" cy="5847755"/>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4. Physical treatment</a:t>
            </a:r>
          </a:p>
          <a:p>
            <a:r>
              <a:rPr lang="en-US" sz="2200" b="1" dirty="0" smtClean="0">
                <a:latin typeface="Times New Roman" pitchFamily="18" charset="0"/>
                <a:cs typeface="Times New Roman" pitchFamily="18" charset="0"/>
              </a:rPr>
              <a:t>Example</a:t>
            </a:r>
          </a:p>
          <a:p>
            <a:r>
              <a:rPr lang="en-US" sz="2200" i="1" dirty="0" smtClean="0">
                <a:solidFill>
                  <a:srgbClr val="00B0F0"/>
                </a:solidFill>
                <a:latin typeface="Times New Roman" pitchFamily="18" charset="0"/>
                <a:cs typeface="Times New Roman" pitchFamily="18" charset="0"/>
              </a:rPr>
              <a:t>Evaporation, sedimentation, solidification, flotation and filtration.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above treatment concentrates, solidifies (or) reduces the volume of the waste. Solidification is achieved by encapsulating waste in concrete, asphalt (or) plastic container. Encapsulation produces a solid mass of material that is resistant to leaching.</a:t>
            </a:r>
          </a:p>
          <a:p>
            <a:endParaRPr lang="en-US" sz="2200" dirty="0" smtClean="0">
              <a:latin typeface="Times New Roman" pitchFamily="18" charset="0"/>
              <a:cs typeface="Times New Roman" pitchFamily="18" charset="0"/>
            </a:endParaRPr>
          </a:p>
          <a:p>
            <a:r>
              <a:rPr lang="en-US" sz="2200" b="1" dirty="0" smtClean="0">
                <a:latin typeface="Times New Roman" pitchFamily="18" charset="0"/>
                <a:cs typeface="Times New Roman" pitchFamily="18" charset="0"/>
              </a:rPr>
              <a:t> </a:t>
            </a:r>
            <a:r>
              <a:rPr lang="en-US" sz="2200" b="1" dirty="0" smtClean="0">
                <a:solidFill>
                  <a:srgbClr val="FF9900"/>
                </a:solidFill>
                <a:latin typeface="Times New Roman" pitchFamily="18" charset="0"/>
                <a:cs typeface="Times New Roman" pitchFamily="18" charset="0"/>
              </a:rPr>
              <a:t>Step 4 Storage and disposal</a:t>
            </a:r>
          </a:p>
          <a:p>
            <a:pPr>
              <a:buFont typeface="Wingdings" pitchFamily="2" charset="2"/>
              <a:buChar char="q"/>
            </a:pPr>
            <a:r>
              <a:rPr lang="en-US" sz="2200" dirty="0" smtClean="0">
                <a:solidFill>
                  <a:srgbClr val="FF0066"/>
                </a:solidFill>
                <a:latin typeface="Times New Roman" pitchFamily="18" charset="0"/>
                <a:cs typeface="Times New Roman" pitchFamily="18" charset="0"/>
              </a:rPr>
              <a:t>  Hazardous wastes that are not destroyed by incineration (or) other chemical processes need to be disposed properly.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This can be done by the following methods.</a:t>
            </a:r>
          </a:p>
          <a:p>
            <a:endParaRPr lang="en-US" sz="2200" dirty="0" smtClean="0">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1. Surface storage (or) containment systems - Temporary method</a:t>
            </a:r>
          </a:p>
          <a:p>
            <a:r>
              <a:rPr lang="en-US" sz="2200" dirty="0" smtClean="0">
                <a:solidFill>
                  <a:srgbClr val="FF0066"/>
                </a:solidFill>
                <a:latin typeface="Times New Roman" pitchFamily="18" charset="0"/>
                <a:cs typeface="Times New Roman" pitchFamily="18" charset="0"/>
              </a:rPr>
              <a:t>It includes</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New waste piles</a:t>
            </a:r>
          </a:p>
          <a:p>
            <a:pPr lvl="2">
              <a:buFont typeface="Wingdings" pitchFamily="2" charset="2"/>
              <a:buChar char="ü"/>
            </a:pPr>
            <a:r>
              <a:rPr lang="en-US" sz="2200" dirty="0" smtClean="0">
                <a:solidFill>
                  <a:srgbClr val="00B0F0"/>
                </a:solidFill>
                <a:latin typeface="Times New Roman" pitchFamily="18" charset="0"/>
                <a:cs typeface="Times New Roman" pitchFamily="18" charset="0"/>
              </a:rPr>
              <a:t> Ponds (or) lagoons.</a:t>
            </a:r>
            <a:endParaRPr lang="en-US" sz="2200" dirty="0">
              <a:solidFill>
                <a:srgbClr val="00B0F0"/>
              </a:solidFill>
              <a:latin typeface="Times New Roman" pitchFamily="18" charset="0"/>
              <a:cs typeface="Times New Roman" pitchFamily="18" charset="0"/>
            </a:endParaRPr>
          </a:p>
        </p:txBody>
      </p:sp>
    </p:spTree>
  </p:cSld>
  <p:clrMapOvr>
    <a:masterClrMapping/>
  </p:clrMapOvr>
  <p:transition spd="slow">
    <p:push/>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66800"/>
            <a:ext cx="8001000" cy="5170646"/>
          </a:xfrm>
          <a:prstGeom prst="rect">
            <a:avLst/>
          </a:prstGeom>
        </p:spPr>
        <p:txBody>
          <a:bodyPr wrap="square">
            <a:spAutoFit/>
          </a:bodyPr>
          <a:lstStyle/>
          <a:p>
            <a:r>
              <a:rPr lang="en-US" sz="2200" b="1" i="1" dirty="0" smtClean="0">
                <a:solidFill>
                  <a:srgbClr val="663300"/>
                </a:solidFill>
                <a:latin typeface="Times New Roman" pitchFamily="18" charset="0"/>
                <a:cs typeface="Times New Roman" pitchFamily="18" charset="0"/>
              </a:rPr>
              <a:t>(</a:t>
            </a:r>
            <a:r>
              <a:rPr lang="en-US" sz="2200" b="1" i="1" dirty="0" err="1" smtClean="0">
                <a:solidFill>
                  <a:srgbClr val="663300"/>
                </a:solidFill>
                <a:latin typeface="Times New Roman" pitchFamily="18" charset="0"/>
                <a:cs typeface="Times New Roman" pitchFamily="18" charset="0"/>
              </a:rPr>
              <a:t>i</a:t>
            </a:r>
            <a:r>
              <a:rPr lang="en-US" sz="2200" b="1" i="1" dirty="0" smtClean="0">
                <a:solidFill>
                  <a:srgbClr val="663300"/>
                </a:solidFill>
                <a:latin typeface="Times New Roman" pitchFamily="18" charset="0"/>
                <a:cs typeface="Times New Roman" pitchFamily="18" charset="0"/>
              </a:rPr>
              <a:t>) New waste piles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It is carefully constructed over an impervious base.</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piles must be protected from wind dispersion, erosion and leaching.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Only non-containerized solid, non-flowing waste material can be stored in a new waste pile.</a:t>
            </a:r>
          </a:p>
          <a:p>
            <a:r>
              <a:rPr lang="en-US" sz="2200" b="1" i="1" dirty="0" smtClean="0">
                <a:solidFill>
                  <a:srgbClr val="663300"/>
                </a:solidFill>
                <a:latin typeface="Times New Roman" pitchFamily="18" charset="0"/>
                <a:cs typeface="Times New Roman" pitchFamily="18" charset="0"/>
              </a:rPr>
              <a:t>(ii) Ponds (or) lagoons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It is lined with impervious clay soils and flexible membrane liners </a:t>
            </a:r>
            <a:r>
              <a:rPr lang="en-US" sz="2200" dirty="0" err="1" smtClean="0">
                <a:solidFill>
                  <a:srgbClr val="FF0066"/>
                </a:solidFill>
                <a:latin typeface="Times New Roman" pitchFamily="18" charset="0"/>
                <a:cs typeface="Times New Roman" pitchFamily="18" charset="0"/>
              </a:rPr>
              <a:t>inorder</a:t>
            </a:r>
            <a:r>
              <a:rPr lang="en-US" sz="2200" dirty="0" smtClean="0">
                <a:solidFill>
                  <a:srgbClr val="FF0066"/>
                </a:solidFill>
                <a:latin typeface="Times New Roman" pitchFamily="18" charset="0"/>
                <a:cs typeface="Times New Roman" pitchFamily="18" charset="0"/>
              </a:rPr>
              <a:t> to protect ground water.</a:t>
            </a:r>
          </a:p>
          <a:p>
            <a:pPr>
              <a:buFont typeface="Wingdings" pitchFamily="2" charset="2"/>
              <a:buChar char="q"/>
            </a:pPr>
            <a:r>
              <a:rPr lang="en-US" sz="2200" dirty="0" smtClean="0">
                <a:solidFill>
                  <a:srgbClr val="FF0066"/>
                </a:solidFill>
                <a:latin typeface="Times New Roman" pitchFamily="18" charset="0"/>
                <a:cs typeface="Times New Roman" pitchFamily="18" charset="0"/>
              </a:rPr>
              <a:t> </a:t>
            </a:r>
            <a:r>
              <a:rPr lang="en-US" sz="2200" dirty="0" err="1" smtClean="0">
                <a:solidFill>
                  <a:srgbClr val="FF0066"/>
                </a:solidFill>
                <a:latin typeface="Times New Roman" pitchFamily="18" charset="0"/>
                <a:cs typeface="Times New Roman" pitchFamily="18" charset="0"/>
              </a:rPr>
              <a:t>Leachate</a:t>
            </a:r>
            <a:r>
              <a:rPr lang="en-US" sz="2200" dirty="0" smtClean="0">
                <a:solidFill>
                  <a:srgbClr val="FF0066"/>
                </a:solidFill>
                <a:latin typeface="Times New Roman" pitchFamily="18" charset="0"/>
                <a:cs typeface="Times New Roman" pitchFamily="18" charset="0"/>
              </a:rPr>
              <a:t> collection systems is installed between the liners.</a:t>
            </a:r>
          </a:p>
          <a:p>
            <a:r>
              <a:rPr lang="en-US" sz="2200" b="1" dirty="0" smtClean="0">
                <a:solidFill>
                  <a:srgbClr val="FF9900"/>
                </a:solidFill>
                <a:latin typeface="Times New Roman" pitchFamily="18" charset="0"/>
                <a:cs typeface="Times New Roman" pitchFamily="18" charset="0"/>
              </a:rPr>
              <a:t>2. Deep-well injection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It involves pumping liquid waste through a steel casing into a porous layer of limestone (or) sandstone.</a:t>
            </a:r>
          </a:p>
          <a:p>
            <a:pPr>
              <a:buFont typeface="Wingdings" pitchFamily="2" charset="2"/>
              <a:buChar char="q"/>
            </a:pPr>
            <a:r>
              <a:rPr lang="en-US" sz="2200" dirty="0" smtClean="0">
                <a:solidFill>
                  <a:srgbClr val="FF0066"/>
                </a:solidFill>
                <a:latin typeface="Times New Roman" pitchFamily="18" charset="0"/>
                <a:cs typeface="Times New Roman" pitchFamily="18" charset="0"/>
              </a:rPr>
              <a:t> High pressure is applied to force the liquid into the pores, where it is permanently stored.</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5" name="Picture 1"/>
          <p:cNvPicPr>
            <a:picLocks noChangeAspect="1" noChangeArrowheads="1"/>
          </p:cNvPicPr>
          <p:nvPr/>
        </p:nvPicPr>
        <p:blipFill>
          <a:blip r:embed="rId2">
            <a:duotone>
              <a:prstClr val="black"/>
              <a:schemeClr val="accent6">
                <a:tint val="45000"/>
                <a:satMod val="400000"/>
              </a:schemeClr>
            </a:duotone>
          </a:blip>
          <a:srcRect/>
          <a:stretch>
            <a:fillRect/>
          </a:stretch>
        </p:blipFill>
        <p:spPr bwMode="auto">
          <a:xfrm>
            <a:off x="990600" y="838200"/>
            <a:ext cx="6705600" cy="4895850"/>
          </a:xfrm>
          <a:prstGeom prst="rect">
            <a:avLst/>
          </a:prstGeom>
          <a:noFill/>
          <a:ln w="9525">
            <a:noFill/>
            <a:miter lim="800000"/>
            <a:headEnd/>
            <a:tailEnd/>
          </a:ln>
          <a:effectLst/>
        </p:spPr>
      </p:pic>
      <p:sp>
        <p:nvSpPr>
          <p:cNvPr id="3" name="Rectangle 2"/>
          <p:cNvSpPr/>
          <p:nvPr/>
        </p:nvSpPr>
        <p:spPr>
          <a:xfrm>
            <a:off x="1600200" y="6096000"/>
            <a:ext cx="5791200" cy="400110"/>
          </a:xfrm>
          <a:prstGeom prst="rect">
            <a:avLst/>
          </a:prstGeom>
        </p:spPr>
        <p:txBody>
          <a:bodyPr wrap="square">
            <a:spAutoFit/>
          </a:bodyPr>
          <a:lstStyle/>
          <a:p>
            <a:r>
              <a:rPr lang="en-US" sz="2000" b="1" dirty="0" smtClean="0">
                <a:solidFill>
                  <a:srgbClr val="FF0000"/>
                </a:solidFill>
                <a:latin typeface="Times New Roman" pitchFamily="18" charset="0"/>
                <a:cs typeface="Times New Roman" pitchFamily="18" charset="0"/>
              </a:rPr>
              <a:t>Fig. 2.5 Storage of Hazardous waste in Land fill</a:t>
            </a:r>
            <a:endParaRPr lang="en-US" sz="2000" dirty="0">
              <a:solidFill>
                <a:srgbClr val="FF0000"/>
              </a:solidFill>
              <a:latin typeface="Times New Roman" pitchFamily="18" charset="0"/>
              <a:cs typeface="Times New Roman" pitchFamily="18" charset="0"/>
            </a:endParaRPr>
          </a:p>
        </p:txBody>
      </p:sp>
    </p:spTree>
  </p:cSld>
  <p:clrMapOvr>
    <a:masterClrMapping/>
  </p:clrMapOvr>
  <p:transition spd="slow">
    <p:push/>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8001000" cy="5509200"/>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3. Land fills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It provides at least 3 </a:t>
            </a:r>
            <a:r>
              <a:rPr lang="en-US" sz="2200" dirty="0" err="1" smtClean="0">
                <a:solidFill>
                  <a:srgbClr val="FF0066"/>
                </a:solidFill>
                <a:latin typeface="Times New Roman" pitchFamily="18" charset="0"/>
                <a:cs typeface="Times New Roman" pitchFamily="18" charset="0"/>
              </a:rPr>
              <a:t>metres</a:t>
            </a:r>
            <a:r>
              <a:rPr lang="en-US" sz="2200" dirty="0" smtClean="0">
                <a:solidFill>
                  <a:srgbClr val="FF0066"/>
                </a:solidFill>
                <a:latin typeface="Times New Roman" pitchFamily="18" charset="0"/>
                <a:cs typeface="Times New Roman" pitchFamily="18" charset="0"/>
              </a:rPr>
              <a:t> (10 ft) of separation between the bottom of the landfill and the underlying bed rock (or) ground water table.</a:t>
            </a:r>
          </a:p>
          <a:p>
            <a:pPr>
              <a:buFont typeface="Wingdings" pitchFamily="2" charset="2"/>
              <a:buChar char="v"/>
            </a:pPr>
            <a:r>
              <a:rPr lang="en-US" sz="2200" dirty="0" smtClean="0">
                <a:solidFill>
                  <a:srgbClr val="FF0066"/>
                </a:solidFill>
                <a:latin typeface="Times New Roman" pitchFamily="18" charset="0"/>
                <a:cs typeface="Times New Roman" pitchFamily="18" charset="0"/>
              </a:rPr>
              <a:t>  It is also provided with two impermeable liners and </a:t>
            </a:r>
            <a:r>
              <a:rPr lang="en-US" sz="2200" dirty="0" err="1" smtClean="0">
                <a:solidFill>
                  <a:srgbClr val="FF0066"/>
                </a:solidFill>
                <a:latin typeface="Times New Roman" pitchFamily="18" charset="0"/>
                <a:cs typeface="Times New Roman" pitchFamily="18" charset="0"/>
              </a:rPr>
              <a:t>leachate</a:t>
            </a:r>
            <a:r>
              <a:rPr lang="en-US" sz="2200" dirty="0" smtClean="0">
                <a:solidFill>
                  <a:srgbClr val="FF0066"/>
                </a:solidFill>
                <a:latin typeface="Times New Roman" pitchFamily="18" charset="0"/>
                <a:cs typeface="Times New Roman" pitchFamily="18" charset="0"/>
              </a:rPr>
              <a:t> collection system, which pumps the collected </a:t>
            </a:r>
            <a:r>
              <a:rPr lang="en-US" sz="2200" dirty="0" err="1" smtClean="0">
                <a:solidFill>
                  <a:srgbClr val="FF0066"/>
                </a:solidFill>
                <a:latin typeface="Times New Roman" pitchFamily="18" charset="0"/>
                <a:cs typeface="Times New Roman" pitchFamily="18" charset="0"/>
              </a:rPr>
              <a:t>leachate</a:t>
            </a:r>
            <a:r>
              <a:rPr lang="en-US" sz="2200" dirty="0" smtClean="0">
                <a:solidFill>
                  <a:srgbClr val="FF0066"/>
                </a:solidFill>
                <a:latin typeface="Times New Roman" pitchFamily="18" charset="0"/>
                <a:cs typeface="Times New Roman" pitchFamily="18" charset="0"/>
              </a:rPr>
              <a:t> to a treatment plant.</a:t>
            </a:r>
          </a:p>
          <a:p>
            <a:endParaRPr lang="en-US" sz="2200" dirty="0" smtClean="0">
              <a:latin typeface="Times New Roman" pitchFamily="18" charset="0"/>
              <a:cs typeface="Times New Roman" pitchFamily="18" charset="0"/>
            </a:endParaRPr>
          </a:p>
          <a:p>
            <a:r>
              <a:rPr lang="en-US" sz="2200" b="1" dirty="0" smtClean="0">
                <a:solidFill>
                  <a:srgbClr val="0B8319"/>
                </a:solidFill>
                <a:latin typeface="Times New Roman" pitchFamily="18" charset="0"/>
                <a:cs typeface="Times New Roman" pitchFamily="18" charset="0"/>
              </a:rPr>
              <a:t>2.8 e-WASTE (Electronic waste) </a:t>
            </a:r>
          </a:p>
          <a:p>
            <a:endParaRPr lang="en-US" sz="2200" b="1" dirty="0" smtClean="0">
              <a:latin typeface="Times New Roman" pitchFamily="18" charset="0"/>
              <a:cs typeface="Times New Roman" pitchFamily="18" charset="0"/>
            </a:endParaRPr>
          </a:p>
          <a:p>
            <a:r>
              <a:rPr lang="en-US" sz="2200" b="1" dirty="0" smtClean="0">
                <a:solidFill>
                  <a:srgbClr val="663300"/>
                </a:solidFill>
                <a:latin typeface="Times New Roman" pitchFamily="18" charset="0"/>
                <a:cs typeface="Times New Roman" pitchFamily="18" charset="0"/>
              </a:rPr>
              <a:t>Definition</a:t>
            </a:r>
          </a:p>
          <a:p>
            <a:r>
              <a:rPr lang="en-US" sz="2200" b="1" i="1" dirty="0" smtClean="0">
                <a:solidFill>
                  <a:srgbClr val="00B0F0"/>
                </a:solidFill>
                <a:latin typeface="Times New Roman" pitchFamily="18" charset="0"/>
                <a:cs typeface="Times New Roman" pitchFamily="18" charset="0"/>
              </a:rPr>
              <a:t>e-waste describes discarded electrical (or) electronic devices.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e-wastes are considered dangerous because they contain hazardous chemicals.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hazardous content of e-waste pose a threat to human health and environment.</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578" name="Picture 2"/>
          <p:cNvPicPr>
            <a:picLocks noChangeAspect="1" noChangeArrowheads="1"/>
          </p:cNvPicPr>
          <p:nvPr/>
        </p:nvPicPr>
        <p:blipFill>
          <a:blip r:embed="rId2">
            <a:duotone>
              <a:prstClr val="black"/>
              <a:schemeClr val="accent6">
                <a:tint val="45000"/>
                <a:satMod val="400000"/>
              </a:schemeClr>
            </a:duotone>
          </a:blip>
          <a:srcRect/>
          <a:stretch>
            <a:fillRect/>
          </a:stretch>
        </p:blipFill>
        <p:spPr bwMode="auto">
          <a:xfrm>
            <a:off x="1676400" y="1066800"/>
            <a:ext cx="5181600" cy="3886200"/>
          </a:xfrm>
          <a:prstGeom prst="rect">
            <a:avLst/>
          </a:prstGeom>
          <a:noFill/>
          <a:ln w="9525">
            <a:noFill/>
            <a:miter lim="800000"/>
            <a:headEnd/>
            <a:tailEnd/>
          </a:ln>
          <a:effectLst/>
        </p:spPr>
      </p:pic>
      <p:sp>
        <p:nvSpPr>
          <p:cNvPr id="3" name="Rectangle 2"/>
          <p:cNvSpPr/>
          <p:nvPr/>
        </p:nvSpPr>
        <p:spPr>
          <a:xfrm>
            <a:off x="2819400" y="5562600"/>
            <a:ext cx="3505200" cy="430887"/>
          </a:xfrm>
          <a:prstGeom prst="rect">
            <a:avLst/>
          </a:prstGeom>
        </p:spPr>
        <p:txBody>
          <a:bodyPr wrap="square">
            <a:spAutoFit/>
          </a:bodyPr>
          <a:lstStyle/>
          <a:p>
            <a:r>
              <a:rPr lang="en-US" sz="2200" b="1" dirty="0" smtClean="0">
                <a:solidFill>
                  <a:srgbClr val="FF0000"/>
                </a:solidFill>
                <a:latin typeface="Times New Roman" pitchFamily="18" charset="0"/>
                <a:cs typeface="Times New Roman" pitchFamily="18" charset="0"/>
              </a:rPr>
              <a:t>Fig. 2.6 e-waste logo</a:t>
            </a:r>
            <a:endParaRPr lang="en-US" sz="2200" dirty="0">
              <a:solidFill>
                <a:srgbClr val="FF0000"/>
              </a:solidFill>
              <a:latin typeface="Times New Roman" pitchFamily="18" charset="0"/>
              <a:cs typeface="Times New Roman" pitchFamily="18" charset="0"/>
            </a:endParaRPr>
          </a:p>
        </p:txBody>
      </p:sp>
    </p:spTree>
  </p:cSld>
  <p:clrMapOvr>
    <a:masterClrMapping/>
  </p:clrMapOvr>
  <p:transition spd="slow">
    <p:push/>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990600"/>
            <a:ext cx="7772400" cy="5509200"/>
          </a:xfrm>
          <a:prstGeom prst="rect">
            <a:avLst/>
          </a:prstGeom>
        </p:spPr>
        <p:txBody>
          <a:bodyPr wrap="square">
            <a:spAutoFit/>
          </a:bodyPr>
          <a:lstStyle/>
          <a:p>
            <a:r>
              <a:rPr lang="en-US" sz="2200" b="1" i="1" dirty="0" smtClean="0">
                <a:solidFill>
                  <a:srgbClr val="0000CC"/>
                </a:solidFill>
                <a:latin typeface="Times New Roman" pitchFamily="18" charset="0"/>
                <a:cs typeface="Times New Roman" pitchFamily="18" charset="0"/>
              </a:rPr>
              <a:t>2.8.1 Hazardous chemicals in e-wastes (or) Causes of e-wastes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Some of the hazardous chemicals present in some e-wastes are</a:t>
            </a:r>
          </a:p>
          <a:p>
            <a:endParaRPr lang="en-US" sz="2200" dirty="0" smtClean="0">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Circuit boards in computer have heavy metals like lead and cadmium.</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Batteries have cadmium.</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Cathode ray tubes have lead oxide and barium.</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Most of the electronic products have polyvinyl chloride.</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Plastics have dioxins and furans. So, if these waste electronic products are not properly disposed, they can leach hazardous elements such as lead, cadmium and other chemicals into the soil and ground water and cause severe threat to environment.</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838200"/>
            <a:ext cx="8001000" cy="5847755"/>
          </a:xfrm>
          <a:prstGeom prst="rect">
            <a:avLst/>
          </a:prstGeom>
        </p:spPr>
        <p:txBody>
          <a:bodyPr wrap="square">
            <a:spAutoFit/>
          </a:bodyPr>
          <a:lstStyle/>
          <a:p>
            <a:r>
              <a:rPr lang="en-US" sz="2200" b="1" i="1" dirty="0" smtClean="0">
                <a:solidFill>
                  <a:srgbClr val="0000CC"/>
                </a:solidFill>
                <a:latin typeface="Times New Roman" pitchFamily="18" charset="0"/>
                <a:cs typeface="Times New Roman" pitchFamily="18" charset="0"/>
              </a:rPr>
              <a:t>2.8.2 e-waste management</a:t>
            </a:r>
          </a:p>
          <a:p>
            <a:r>
              <a:rPr lang="en-US" sz="2200" b="1" dirty="0" smtClean="0">
                <a:solidFill>
                  <a:srgbClr val="663300"/>
                </a:solidFill>
                <a:latin typeface="Times New Roman" pitchFamily="18" charset="0"/>
                <a:cs typeface="Times New Roman" pitchFamily="18" charset="0"/>
              </a:rPr>
              <a:t>Definition</a:t>
            </a:r>
          </a:p>
          <a:p>
            <a:endParaRPr lang="en-US" sz="2200" b="1" dirty="0" smtClean="0">
              <a:latin typeface="Times New Roman" pitchFamily="18" charset="0"/>
              <a:cs typeface="Times New Roman" pitchFamily="18" charset="0"/>
            </a:endParaRPr>
          </a:p>
          <a:p>
            <a:r>
              <a:rPr lang="en-US" sz="2200" b="1" i="1" dirty="0" smtClean="0">
                <a:solidFill>
                  <a:srgbClr val="00B0F0"/>
                </a:solidFill>
                <a:latin typeface="Times New Roman" pitchFamily="18" charset="0"/>
                <a:cs typeface="Times New Roman" pitchFamily="18" charset="0"/>
              </a:rPr>
              <a:t>e-waste management is defined as a holistic method of cutting down e-waste from the earth to prevent its harmful toxic to deteriorate earth.</a:t>
            </a:r>
          </a:p>
          <a:p>
            <a:endParaRPr lang="en-US" sz="2200" b="1" i="1" dirty="0" smtClean="0">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Management of e-waste should begin at the point of generation.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This can be done by waste </a:t>
            </a:r>
            <a:r>
              <a:rPr lang="en-US" sz="2200" dirty="0" err="1" smtClean="0">
                <a:solidFill>
                  <a:srgbClr val="FF0066"/>
                </a:solidFill>
                <a:latin typeface="Times New Roman" pitchFamily="18" charset="0"/>
                <a:cs typeface="Times New Roman" pitchFamily="18" charset="0"/>
              </a:rPr>
              <a:t>minimisation</a:t>
            </a:r>
            <a:r>
              <a:rPr lang="en-US" sz="2200" dirty="0" smtClean="0">
                <a:solidFill>
                  <a:srgbClr val="FF0066"/>
                </a:solidFill>
                <a:latin typeface="Times New Roman" pitchFamily="18" charset="0"/>
                <a:cs typeface="Times New Roman" pitchFamily="18" charset="0"/>
              </a:rPr>
              <a:t> techniques and by sustainable product design.</a:t>
            </a:r>
          </a:p>
          <a:p>
            <a:endParaRPr lang="en-US" sz="2200" dirty="0" smtClean="0">
              <a:latin typeface="Times New Roman" pitchFamily="18" charset="0"/>
              <a:cs typeface="Times New Roman" pitchFamily="18" charset="0"/>
            </a:endParaRPr>
          </a:p>
          <a:p>
            <a:r>
              <a:rPr lang="en-US" sz="2200" b="1" dirty="0" smtClean="0">
                <a:solidFill>
                  <a:srgbClr val="663300"/>
                </a:solidFill>
                <a:latin typeface="Times New Roman" pitchFamily="18" charset="0"/>
                <a:cs typeface="Times New Roman" pitchFamily="18" charset="0"/>
              </a:rPr>
              <a:t>Some e-waste management techniques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Waste management in industries involves adopting,</a:t>
            </a:r>
          </a:p>
          <a:p>
            <a:pPr lvl="2">
              <a:buFont typeface="Wingdings" pitchFamily="2" charset="2"/>
              <a:buChar char="Ø"/>
            </a:pPr>
            <a:r>
              <a:rPr lang="en-US" sz="2200" dirty="0" smtClean="0">
                <a:solidFill>
                  <a:srgbClr val="FF0066"/>
                </a:solidFill>
                <a:latin typeface="Times New Roman" pitchFamily="18" charset="0"/>
                <a:cs typeface="Times New Roman" pitchFamily="18" charset="0"/>
              </a:rPr>
              <a:t>  inventory management,</a:t>
            </a:r>
          </a:p>
          <a:p>
            <a:pPr lvl="2">
              <a:buFont typeface="Wingdings" pitchFamily="2" charset="2"/>
              <a:buChar char="Ø"/>
            </a:pPr>
            <a:r>
              <a:rPr lang="en-US" sz="2200" dirty="0" smtClean="0">
                <a:solidFill>
                  <a:srgbClr val="FF0066"/>
                </a:solidFill>
                <a:latin typeface="Times New Roman" pitchFamily="18" charset="0"/>
                <a:cs typeface="Times New Roman" pitchFamily="18" charset="0"/>
              </a:rPr>
              <a:t>  production process modification,</a:t>
            </a:r>
          </a:p>
          <a:p>
            <a:pPr lvl="2">
              <a:buFont typeface="Wingdings" pitchFamily="2" charset="2"/>
              <a:buChar char="Ø"/>
            </a:pPr>
            <a:r>
              <a:rPr lang="en-US" sz="2200" dirty="0" smtClean="0">
                <a:solidFill>
                  <a:srgbClr val="FF0066"/>
                </a:solidFill>
                <a:latin typeface="Times New Roman" pitchFamily="18" charset="0"/>
                <a:cs typeface="Times New Roman" pitchFamily="18" charset="0"/>
              </a:rPr>
              <a:t>  sustainable product design,</a:t>
            </a:r>
          </a:p>
          <a:p>
            <a:pPr lvl="2">
              <a:buFont typeface="Wingdings" pitchFamily="2" charset="2"/>
              <a:buChar char="Ø"/>
            </a:pPr>
            <a:r>
              <a:rPr lang="en-US" sz="2200" dirty="0" smtClean="0">
                <a:solidFill>
                  <a:srgbClr val="FF0066"/>
                </a:solidFill>
                <a:latin typeface="Times New Roman" pitchFamily="18" charset="0"/>
                <a:cs typeface="Times New Roman" pitchFamily="18" charset="0"/>
              </a:rPr>
              <a:t>  use of renewable raw materials.</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166843"/>
            <a:ext cx="7772400" cy="4493538"/>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1. Inventory management</a:t>
            </a:r>
          </a:p>
          <a:p>
            <a:pPr>
              <a:buFont typeface="Wingdings" pitchFamily="2" charset="2"/>
              <a:buChar char="v"/>
            </a:pPr>
            <a:r>
              <a:rPr lang="en-US" sz="2200" dirty="0" smtClean="0">
                <a:solidFill>
                  <a:srgbClr val="FF0066"/>
                </a:solidFill>
                <a:latin typeface="Times New Roman" pitchFamily="18" charset="0"/>
                <a:cs typeface="Times New Roman" pitchFamily="18" charset="0"/>
              </a:rPr>
              <a:t>  Proper control over the materials, used in the manufacturing process, is an important way to reduce waste generation. </a:t>
            </a:r>
          </a:p>
          <a:p>
            <a:pPr>
              <a:buFont typeface="Wingdings" pitchFamily="2" charset="2"/>
              <a:buChar char="v"/>
            </a:pPr>
            <a:r>
              <a:rPr lang="en-US" sz="2200" dirty="0" smtClean="0">
                <a:solidFill>
                  <a:srgbClr val="FF0066"/>
                </a:solidFill>
                <a:latin typeface="Times New Roman" pitchFamily="18" charset="0"/>
                <a:cs typeface="Times New Roman" pitchFamily="18" charset="0"/>
              </a:rPr>
              <a:t>  By reducing the quantity of hazardous materials, used in the process, e-waste could be reduced.</a:t>
            </a:r>
          </a:p>
          <a:p>
            <a:r>
              <a:rPr lang="en-US" sz="2200" b="1" dirty="0" smtClean="0">
                <a:solidFill>
                  <a:srgbClr val="FF9900"/>
                </a:solidFill>
                <a:latin typeface="Times New Roman" pitchFamily="18" charset="0"/>
                <a:cs typeface="Times New Roman" pitchFamily="18" charset="0"/>
              </a:rPr>
              <a:t>2. Production process modification</a:t>
            </a:r>
          </a:p>
          <a:p>
            <a:pPr>
              <a:buFont typeface="Wingdings" pitchFamily="2" charset="2"/>
              <a:buChar char="v"/>
            </a:pPr>
            <a:r>
              <a:rPr lang="en-US" sz="2200" dirty="0" smtClean="0">
                <a:solidFill>
                  <a:srgbClr val="FF0066"/>
                </a:solidFill>
                <a:latin typeface="Times New Roman" pitchFamily="18" charset="0"/>
                <a:cs typeface="Times New Roman" pitchFamily="18" charset="0"/>
              </a:rPr>
              <a:t>  By changing the production process e-waste generation can be </a:t>
            </a:r>
            <a:r>
              <a:rPr lang="en-US" sz="2200" dirty="0" err="1" smtClean="0">
                <a:solidFill>
                  <a:srgbClr val="FF0066"/>
                </a:solidFill>
                <a:latin typeface="Times New Roman" pitchFamily="18" charset="0"/>
                <a:cs typeface="Times New Roman" pitchFamily="18" charset="0"/>
              </a:rPr>
              <a:t>minimised</a:t>
            </a:r>
            <a:r>
              <a:rPr lang="en-US" sz="2200" dirty="0" smtClean="0">
                <a:solidFill>
                  <a:srgbClr val="FF0066"/>
                </a:solidFill>
                <a:latin typeface="Times New Roman" pitchFamily="18" charset="0"/>
                <a:cs typeface="Times New Roman" pitchFamily="18" charset="0"/>
              </a:rPr>
              <a:t>.</a:t>
            </a:r>
          </a:p>
          <a:p>
            <a:r>
              <a:rPr lang="en-US" sz="2200" b="1" dirty="0" smtClean="0">
                <a:solidFill>
                  <a:srgbClr val="FF9900"/>
                </a:solidFill>
                <a:latin typeface="Times New Roman" pitchFamily="18" charset="0"/>
                <a:cs typeface="Times New Roman" pitchFamily="18" charset="0"/>
              </a:rPr>
              <a:t>3. Sustainable product design</a:t>
            </a:r>
          </a:p>
          <a:p>
            <a:pPr>
              <a:buFont typeface="Wingdings" pitchFamily="2" charset="2"/>
              <a:buChar char="v"/>
            </a:pPr>
            <a:r>
              <a:rPr lang="en-US" sz="2200" dirty="0" smtClean="0">
                <a:solidFill>
                  <a:srgbClr val="FF0066"/>
                </a:solidFill>
                <a:latin typeface="Times New Roman" pitchFamily="18" charset="0"/>
                <a:cs typeface="Times New Roman" pitchFamily="18" charset="0"/>
              </a:rPr>
              <a:t>  Efforts should be made to design a product with less amount of hazardous material.</a:t>
            </a:r>
          </a:p>
          <a:p>
            <a:r>
              <a:rPr lang="en-US" sz="2200" b="1" dirty="0" smtClean="0">
                <a:latin typeface="Times New Roman" pitchFamily="18" charset="0"/>
                <a:cs typeface="Times New Roman" pitchFamily="18" charset="0"/>
              </a:rPr>
              <a:t>Example</a:t>
            </a:r>
          </a:p>
          <a:p>
            <a:pPr>
              <a:buFont typeface="Wingdings" pitchFamily="2" charset="2"/>
              <a:buChar char="q"/>
            </a:pPr>
            <a:r>
              <a:rPr lang="en-US" sz="2200" dirty="0" smtClean="0">
                <a:solidFill>
                  <a:srgbClr val="FF0066"/>
                </a:solidFill>
                <a:latin typeface="Times New Roman" pitchFamily="18" charset="0"/>
                <a:cs typeface="Times New Roman" pitchFamily="18" charset="0"/>
              </a:rPr>
              <a:t>  New computer designs that are lighter and more integrated.</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143000"/>
            <a:ext cx="8153400" cy="5170646"/>
          </a:xfrm>
          <a:prstGeom prst="rect">
            <a:avLst/>
          </a:prstGeom>
        </p:spPr>
        <p:txBody>
          <a:bodyPr wrap="square">
            <a:spAutoFit/>
          </a:bodyPr>
          <a:lstStyle/>
          <a:p>
            <a:r>
              <a:rPr lang="en-US" sz="2200" b="1" dirty="0" smtClean="0">
                <a:solidFill>
                  <a:srgbClr val="FF9900"/>
                </a:solidFill>
                <a:latin typeface="Times New Roman" pitchFamily="18" charset="0"/>
                <a:cs typeface="Times New Roman" pitchFamily="18" charset="0"/>
              </a:rPr>
              <a:t>4. Use of renewable materials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Bio based plastics are plastics made with plant based chemistry (or) plant </a:t>
            </a:r>
            <a:r>
              <a:rPr lang="en-US" sz="2200" dirty="0" err="1" smtClean="0">
                <a:solidFill>
                  <a:srgbClr val="FF0066"/>
                </a:solidFill>
                <a:latin typeface="Times New Roman" pitchFamily="18" charset="0"/>
                <a:cs typeface="Times New Roman" pitchFamily="18" charset="0"/>
              </a:rPr>
              <a:t>producted</a:t>
            </a:r>
            <a:r>
              <a:rPr lang="en-US" sz="2200" dirty="0" smtClean="0">
                <a:solidFill>
                  <a:srgbClr val="FF0066"/>
                </a:solidFill>
                <a:latin typeface="Times New Roman" pitchFamily="18" charset="0"/>
                <a:cs typeface="Times New Roman" pitchFamily="18" charset="0"/>
              </a:rPr>
              <a:t> polymers.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Most e-waste have non-degradable polymers in them. </a:t>
            </a:r>
          </a:p>
          <a:p>
            <a:pPr>
              <a:buFont typeface="Wingdings" pitchFamily="2" charset="2"/>
              <a:buChar char="v"/>
            </a:pPr>
            <a:r>
              <a:rPr lang="en-US" sz="2200" dirty="0" smtClean="0">
                <a:solidFill>
                  <a:srgbClr val="FF0066"/>
                </a:solidFill>
                <a:latin typeface="Times New Roman" pitchFamily="18" charset="0"/>
                <a:cs typeface="Times New Roman" pitchFamily="18" charset="0"/>
              </a:rPr>
              <a:t>  By using these bio polymers we can reduce ‘e’-wastes. </a:t>
            </a:r>
          </a:p>
          <a:p>
            <a:pPr>
              <a:buFont typeface="Wingdings" pitchFamily="2" charset="2"/>
              <a:buChar char="v"/>
            </a:pPr>
            <a:r>
              <a:rPr lang="en-US" sz="2200" dirty="0" smtClean="0">
                <a:solidFill>
                  <a:srgbClr val="FF0066"/>
                </a:solidFill>
                <a:latin typeface="Times New Roman" pitchFamily="18" charset="0"/>
                <a:cs typeface="Times New Roman" pitchFamily="18" charset="0"/>
              </a:rPr>
              <a:t>  Like wise bio based toners, glues and inks are new development e-wastes.</a:t>
            </a:r>
          </a:p>
          <a:p>
            <a:endParaRPr lang="en-US" sz="2200" dirty="0" smtClean="0">
              <a:latin typeface="Times New Roman" pitchFamily="18" charset="0"/>
              <a:cs typeface="Times New Roman" pitchFamily="18" charset="0"/>
            </a:endParaRPr>
          </a:p>
          <a:p>
            <a:r>
              <a:rPr lang="en-US" sz="2200" b="1" dirty="0" smtClean="0">
                <a:solidFill>
                  <a:srgbClr val="0000CC"/>
                </a:solidFill>
                <a:latin typeface="Times New Roman" pitchFamily="18" charset="0"/>
                <a:cs typeface="Times New Roman" pitchFamily="18" charset="0"/>
              </a:rPr>
              <a:t>2.9 OCCUPATIONAL HEALTH AND SAFETY MANAGEMENT SYSTEM (OHASMS) </a:t>
            </a:r>
          </a:p>
          <a:p>
            <a:endParaRPr lang="en-US" sz="2200" dirty="0" smtClean="0">
              <a:latin typeface="Times New Roman" pitchFamily="18" charset="0"/>
              <a:cs typeface="Times New Roman" pitchFamily="18" charset="0"/>
            </a:endParaRPr>
          </a:p>
          <a:p>
            <a:r>
              <a:rPr lang="en-US" sz="2200" b="1" i="1" dirty="0" smtClean="0">
                <a:solidFill>
                  <a:srgbClr val="00B0F0"/>
                </a:solidFill>
                <a:latin typeface="Times New Roman" pitchFamily="18" charset="0"/>
                <a:cs typeface="Times New Roman" pitchFamily="18" charset="0"/>
              </a:rPr>
              <a:t>An occupational health and safety management system (OHASMS) is a fundamental part of an organization’s risk management strategy. It enables an organization to protect its work force and others under its control.</a:t>
            </a:r>
            <a:endParaRPr lang="en-US" sz="2200" dirty="0">
              <a:solidFill>
                <a:srgbClr val="00B0F0"/>
              </a:solidFill>
              <a:latin typeface="Times New Roman" pitchFamily="18" charset="0"/>
              <a:cs typeface="Times New Roman" pitchFamily="18" charset="0"/>
            </a:endParaRPr>
          </a:p>
        </p:txBody>
      </p:sp>
    </p:spTree>
  </p:cSld>
  <p:clrMapOvr>
    <a:masterClrMapping/>
  </p:clrMapOvr>
  <p:transition spd="slow">
    <p:push/>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66800"/>
            <a:ext cx="7924800" cy="5170646"/>
          </a:xfrm>
          <a:prstGeom prst="rect">
            <a:avLst/>
          </a:prstGeom>
        </p:spPr>
        <p:txBody>
          <a:bodyPr wrap="square">
            <a:spAutoFit/>
          </a:bodyPr>
          <a:lstStyle/>
          <a:p>
            <a:r>
              <a:rPr lang="en-US" sz="2200" b="1" dirty="0" smtClean="0">
                <a:solidFill>
                  <a:srgbClr val="663300"/>
                </a:solidFill>
                <a:latin typeface="Times New Roman" pitchFamily="18" charset="0"/>
                <a:cs typeface="Times New Roman" pitchFamily="18" charset="0"/>
              </a:rPr>
              <a:t>Importance</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It reduces risk (or) accidents (or) injuries by identifying and mitigating hazards.</a:t>
            </a:r>
          </a:p>
          <a:p>
            <a:endParaRPr lang="en-US" sz="2200" dirty="0" smtClean="0">
              <a:latin typeface="Times New Roman" pitchFamily="18" charset="0"/>
              <a:cs typeface="Times New Roman" pitchFamily="18" charset="0"/>
            </a:endParaRPr>
          </a:p>
          <a:p>
            <a:r>
              <a:rPr lang="en-US" sz="2200" b="1" i="1" dirty="0" smtClean="0">
                <a:solidFill>
                  <a:srgbClr val="0000CC"/>
                </a:solidFill>
                <a:latin typeface="Times New Roman" pitchFamily="18" charset="0"/>
                <a:cs typeface="Times New Roman" pitchFamily="18" charset="0"/>
              </a:rPr>
              <a:t>2.9.1 Case studies on OHASMS</a:t>
            </a:r>
          </a:p>
          <a:p>
            <a:r>
              <a:rPr lang="en-US" sz="2200" b="1" dirty="0" smtClean="0">
                <a:latin typeface="Times New Roman" pitchFamily="18" charset="0"/>
                <a:cs typeface="Times New Roman" pitchFamily="18" charset="0"/>
              </a:rPr>
              <a:t> </a:t>
            </a:r>
            <a:r>
              <a:rPr lang="en-US" sz="2200" b="1" dirty="0" smtClean="0">
                <a:solidFill>
                  <a:srgbClr val="FF9900"/>
                </a:solidFill>
                <a:latin typeface="Times New Roman" pitchFamily="18" charset="0"/>
                <a:cs typeface="Times New Roman" pitchFamily="18" charset="0"/>
              </a:rPr>
              <a:t>I A Footwear manufacturing industry in </a:t>
            </a:r>
            <a:r>
              <a:rPr lang="en-US" sz="2200" b="1" dirty="0" err="1" smtClean="0">
                <a:solidFill>
                  <a:srgbClr val="FF9900"/>
                </a:solidFill>
                <a:latin typeface="Times New Roman" pitchFamily="18" charset="0"/>
                <a:cs typeface="Times New Roman" pitchFamily="18" charset="0"/>
              </a:rPr>
              <a:t>Ambur</a:t>
            </a:r>
            <a:r>
              <a:rPr lang="en-US" sz="2200" b="1" dirty="0" smtClean="0">
                <a:solidFill>
                  <a:srgbClr val="FF9900"/>
                </a:solidFill>
                <a:latin typeface="Times New Roman" pitchFamily="18" charset="0"/>
                <a:cs typeface="Times New Roman" pitchFamily="18" charset="0"/>
              </a:rPr>
              <a:t>, Tamil Nadu </a:t>
            </a:r>
          </a:p>
          <a:p>
            <a:r>
              <a:rPr lang="en-US" sz="2200" b="1" dirty="0" smtClean="0">
                <a:solidFill>
                  <a:srgbClr val="663300"/>
                </a:solidFill>
                <a:latin typeface="Times New Roman" pitchFamily="18" charset="0"/>
                <a:cs typeface="Times New Roman" pitchFamily="18" charset="0"/>
              </a:rPr>
              <a:t>Objective</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main objective of this case study is to assess the status of occupational health and safety of a footwear manufacturing industry with respect to the social compliance</a:t>
            </a:r>
            <a:r>
              <a:rPr lang="en-US" sz="2200" dirty="0" smtClean="0">
                <a:latin typeface="Times New Roman" pitchFamily="18" charset="0"/>
                <a:cs typeface="Times New Roman" pitchFamily="18" charset="0"/>
              </a:rPr>
              <a:t>.</a:t>
            </a:r>
          </a:p>
          <a:p>
            <a:r>
              <a:rPr lang="en-US" sz="2200" b="1" dirty="0" smtClean="0">
                <a:solidFill>
                  <a:srgbClr val="663300"/>
                </a:solidFill>
                <a:latin typeface="Times New Roman" pitchFamily="18" charset="0"/>
                <a:cs typeface="Times New Roman" pitchFamily="18" charset="0"/>
              </a:rPr>
              <a:t>Observation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We have visited </a:t>
            </a:r>
            <a:r>
              <a:rPr lang="en-US" sz="2200" dirty="0" err="1" smtClean="0">
                <a:solidFill>
                  <a:srgbClr val="FF0066"/>
                </a:solidFill>
                <a:latin typeface="Times New Roman" pitchFamily="18" charset="0"/>
                <a:cs typeface="Times New Roman" pitchFamily="18" charset="0"/>
              </a:rPr>
              <a:t>Azim</a:t>
            </a:r>
            <a:r>
              <a:rPr lang="en-US" sz="2200" dirty="0" smtClean="0">
                <a:solidFill>
                  <a:srgbClr val="FF0066"/>
                </a:solidFill>
                <a:latin typeface="Times New Roman" pitchFamily="18" charset="0"/>
                <a:cs typeface="Times New Roman" pitchFamily="18" charset="0"/>
              </a:rPr>
              <a:t> leather and footwear industries. </a:t>
            </a:r>
            <a:r>
              <a:rPr lang="en-US" sz="2200" dirty="0" err="1" smtClean="0">
                <a:solidFill>
                  <a:srgbClr val="FF0066"/>
                </a:solidFill>
                <a:latin typeface="Times New Roman" pitchFamily="18" charset="0"/>
                <a:cs typeface="Times New Roman" pitchFamily="18" charset="0"/>
              </a:rPr>
              <a:t>Ambur</a:t>
            </a:r>
            <a:r>
              <a:rPr lang="en-US" sz="2200" dirty="0" smtClean="0">
                <a:solidFill>
                  <a:srgbClr val="FF0066"/>
                </a:solidFill>
                <a:latin typeface="Times New Roman" pitchFamily="18" charset="0"/>
                <a:cs typeface="Times New Roman" pitchFamily="18" charset="0"/>
              </a:rPr>
              <a:t>, Tamil </a:t>
            </a:r>
            <a:r>
              <a:rPr lang="en-US" sz="2200" dirty="0" err="1" smtClean="0">
                <a:solidFill>
                  <a:srgbClr val="FF0066"/>
                </a:solidFill>
                <a:latin typeface="Times New Roman" pitchFamily="18" charset="0"/>
                <a:cs typeface="Times New Roman" pitchFamily="18" charset="0"/>
              </a:rPr>
              <a:t>nadu</a:t>
            </a:r>
            <a:r>
              <a:rPr lang="en-US" sz="2200" dirty="0" smtClean="0">
                <a:solidFill>
                  <a:srgbClr val="FF0066"/>
                </a:solidFill>
                <a:latin typeface="Times New Roman" pitchFamily="18" charset="0"/>
                <a:cs typeface="Times New Roman" pitchFamily="18" charset="0"/>
              </a:rPr>
              <a:t>.</a:t>
            </a:r>
          </a:p>
          <a:p>
            <a:pPr>
              <a:buFont typeface="Wingdings" pitchFamily="2" charset="2"/>
              <a:buChar char="q"/>
            </a:pPr>
            <a:r>
              <a:rPr lang="en-US" sz="2200" dirty="0" smtClean="0">
                <a:solidFill>
                  <a:srgbClr val="FF0066"/>
                </a:solidFill>
                <a:latin typeface="Times New Roman" pitchFamily="18" charset="0"/>
                <a:cs typeface="Times New Roman" pitchFamily="18" charset="0"/>
              </a:rPr>
              <a:t>  Overall occupational health and safety management practice in </a:t>
            </a:r>
            <a:r>
              <a:rPr lang="en-US" sz="2200" dirty="0" err="1" smtClean="0">
                <a:solidFill>
                  <a:srgbClr val="FF0066"/>
                </a:solidFill>
                <a:latin typeface="Times New Roman" pitchFamily="18" charset="0"/>
                <a:cs typeface="Times New Roman" pitchFamily="18" charset="0"/>
              </a:rPr>
              <a:t>Azim</a:t>
            </a:r>
            <a:r>
              <a:rPr lang="en-US" sz="2200" dirty="0" smtClean="0">
                <a:solidFill>
                  <a:srgbClr val="FF0066"/>
                </a:solidFill>
                <a:latin typeface="Times New Roman" pitchFamily="18" charset="0"/>
                <a:cs typeface="Times New Roman" pitchFamily="18" charset="0"/>
              </a:rPr>
              <a:t> leather and footwear industries was found to be good.</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143000"/>
            <a:ext cx="7696200" cy="5232202"/>
          </a:xfrm>
          <a:prstGeom prst="rect">
            <a:avLst/>
          </a:prstGeom>
        </p:spPr>
        <p:txBody>
          <a:bodyPr wrap="square">
            <a:spAutoFit/>
          </a:bodyPr>
          <a:lstStyle/>
          <a:p>
            <a:r>
              <a:rPr lang="en-US" sz="2200" b="1" dirty="0" smtClean="0">
                <a:solidFill>
                  <a:srgbClr val="663300"/>
                </a:solidFill>
                <a:latin typeface="Times New Roman" pitchFamily="18" charset="0"/>
                <a:cs typeface="Times New Roman" pitchFamily="18" charset="0"/>
              </a:rPr>
              <a:t>Production Process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Production process of </a:t>
            </a:r>
            <a:r>
              <a:rPr lang="en-US" sz="2200" dirty="0" err="1" smtClean="0">
                <a:solidFill>
                  <a:srgbClr val="FF0066"/>
                </a:solidFill>
                <a:latin typeface="Times New Roman" pitchFamily="18" charset="0"/>
                <a:cs typeface="Times New Roman" pitchFamily="18" charset="0"/>
              </a:rPr>
              <a:t>Azim</a:t>
            </a:r>
            <a:r>
              <a:rPr lang="en-US" sz="2200" dirty="0" smtClean="0">
                <a:solidFill>
                  <a:srgbClr val="FF0066"/>
                </a:solidFill>
                <a:latin typeface="Times New Roman" pitchFamily="18" charset="0"/>
                <a:cs typeface="Times New Roman" pitchFamily="18" charset="0"/>
              </a:rPr>
              <a:t> industries starts after collecting the raw materials, cutting them, assembling, joining the insole and outsole to the shoe, finishing and packing.</a:t>
            </a:r>
          </a:p>
          <a:p>
            <a:pPr>
              <a:buFont typeface="Wingdings" pitchFamily="2" charset="2"/>
              <a:buChar char="q"/>
            </a:pPr>
            <a:r>
              <a:rPr lang="en-US" sz="2200" dirty="0" smtClean="0">
                <a:solidFill>
                  <a:srgbClr val="FF0066"/>
                </a:solidFill>
                <a:latin typeface="Times New Roman" pitchFamily="18" charset="0"/>
                <a:cs typeface="Times New Roman" pitchFamily="18" charset="0"/>
              </a:rPr>
              <a:t>  Lots of people engaged during this production process.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About 70% of total workers are female.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In every section, </a:t>
            </a:r>
            <a:r>
              <a:rPr lang="en-US" sz="2200" dirty="0" err="1" smtClean="0">
                <a:solidFill>
                  <a:srgbClr val="FF0066"/>
                </a:solidFill>
                <a:latin typeface="Times New Roman" pitchFamily="18" charset="0"/>
                <a:cs typeface="Times New Roman" pitchFamily="18" charset="0"/>
              </a:rPr>
              <a:t>Azim</a:t>
            </a:r>
            <a:r>
              <a:rPr lang="en-US" sz="2200" dirty="0" smtClean="0">
                <a:solidFill>
                  <a:srgbClr val="FF0066"/>
                </a:solidFill>
                <a:latin typeface="Times New Roman" pitchFamily="18" charset="0"/>
                <a:cs typeface="Times New Roman" pitchFamily="18" charset="0"/>
              </a:rPr>
              <a:t> industries have employed experts to look after the work of the worker and improve the efficiency.</a:t>
            </a:r>
          </a:p>
          <a:p>
            <a:endParaRPr lang="en-US" sz="2200" dirty="0" smtClean="0">
              <a:latin typeface="Times New Roman" pitchFamily="18" charset="0"/>
              <a:cs typeface="Times New Roman" pitchFamily="18" charset="0"/>
            </a:endParaRPr>
          </a:p>
          <a:p>
            <a:r>
              <a:rPr lang="en-US" sz="2200" b="1" dirty="0" smtClean="0">
                <a:solidFill>
                  <a:srgbClr val="663300"/>
                </a:solidFill>
                <a:latin typeface="Times New Roman" pitchFamily="18" charset="0"/>
                <a:cs typeface="Times New Roman" pitchFamily="18" charset="0"/>
              </a:rPr>
              <a:t>Some of the encouraging approaches observed in </a:t>
            </a:r>
            <a:r>
              <a:rPr lang="en-US" sz="2200" b="1" dirty="0" err="1" smtClean="0">
                <a:solidFill>
                  <a:srgbClr val="663300"/>
                </a:solidFill>
                <a:latin typeface="Times New Roman" pitchFamily="18" charset="0"/>
                <a:cs typeface="Times New Roman" pitchFamily="18" charset="0"/>
              </a:rPr>
              <a:t>Azim</a:t>
            </a:r>
            <a:endParaRPr lang="en-US" sz="2200" b="1" dirty="0" smtClean="0">
              <a:solidFill>
                <a:srgbClr val="663300"/>
              </a:solidFill>
              <a:latin typeface="Times New Roman" pitchFamily="18" charset="0"/>
              <a:cs typeface="Times New Roman" pitchFamily="18" charset="0"/>
            </a:endParaRPr>
          </a:p>
          <a:p>
            <a:r>
              <a:rPr lang="en-US" sz="2200" b="1" dirty="0" smtClean="0">
                <a:solidFill>
                  <a:srgbClr val="663300"/>
                </a:solidFill>
                <a:latin typeface="Times New Roman" pitchFamily="18" charset="0"/>
                <a:cs typeface="Times New Roman" pitchFamily="18" charset="0"/>
              </a:rPr>
              <a:t>industry</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Positive attitude of owner towards welfare of the workers.</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Dedicated work force.</a:t>
            </a:r>
          </a:p>
          <a:p>
            <a:pPr lvl="1">
              <a:buFont typeface="Wingdings" pitchFamily="2" charset="2"/>
              <a:buChar char="Ø"/>
            </a:pPr>
            <a:r>
              <a:rPr lang="en-US" sz="2000" dirty="0" smtClean="0">
                <a:solidFill>
                  <a:srgbClr val="FF0066"/>
                </a:solidFill>
                <a:latin typeface="Times New Roman" pitchFamily="18" charset="0"/>
                <a:cs typeface="Times New Roman" pitchFamily="18" charset="0"/>
              </a:rPr>
              <a:t>  Experienced and professional management team.</a:t>
            </a:r>
          </a:p>
          <a:p>
            <a:pPr lvl="1">
              <a:buFont typeface="Wingdings" pitchFamily="2" charset="2"/>
              <a:buChar char="Ø"/>
            </a:pPr>
            <a:r>
              <a:rPr lang="en-US" sz="2000" dirty="0" smtClean="0">
                <a:solidFill>
                  <a:srgbClr val="FF0066"/>
                </a:solidFill>
                <a:latin typeface="Times New Roman" pitchFamily="18" charset="0"/>
                <a:cs typeface="Times New Roman" pitchFamily="18" charset="0"/>
              </a:rPr>
              <a:t>  Good relationship between management and workers.</a:t>
            </a:r>
            <a:endParaRPr lang="en-US" sz="20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1028343"/>
            <a:ext cx="7848600" cy="5509200"/>
          </a:xfrm>
          <a:prstGeom prst="rect">
            <a:avLst/>
          </a:prstGeom>
        </p:spPr>
        <p:txBody>
          <a:bodyPr wrap="square">
            <a:spAutoFit/>
          </a:bodyPr>
          <a:lstStyle/>
          <a:p>
            <a:pPr>
              <a:buFont typeface="Wingdings" pitchFamily="2" charset="2"/>
              <a:buChar char="Ø"/>
            </a:pPr>
            <a:r>
              <a:rPr lang="en-US" sz="2200" dirty="0" smtClean="0">
                <a:solidFill>
                  <a:srgbClr val="FF0066"/>
                </a:solidFill>
                <a:latin typeface="Times New Roman" pitchFamily="18" charset="0"/>
                <a:cs typeface="Times New Roman" pitchFamily="18" charset="0"/>
              </a:rPr>
              <a:t>  Disbursement of salary and wages to workers.</a:t>
            </a:r>
          </a:p>
          <a:p>
            <a:pPr>
              <a:buFont typeface="Wingdings" pitchFamily="2" charset="2"/>
              <a:buChar char="Ø"/>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Ø"/>
            </a:pPr>
            <a:r>
              <a:rPr lang="en-US" sz="2200" dirty="0" smtClean="0">
                <a:solidFill>
                  <a:srgbClr val="FF0066"/>
                </a:solidFill>
                <a:latin typeface="Times New Roman" pitchFamily="18" charset="0"/>
                <a:cs typeface="Times New Roman" pitchFamily="18" charset="0"/>
              </a:rPr>
              <a:t>  First aid box is found in all floors according to requirements of Indian </a:t>
            </a:r>
            <a:r>
              <a:rPr lang="en-US" sz="2200" dirty="0" err="1" smtClean="0">
                <a:solidFill>
                  <a:srgbClr val="FF0066"/>
                </a:solidFill>
                <a:latin typeface="Times New Roman" pitchFamily="18" charset="0"/>
                <a:cs typeface="Times New Roman" pitchFamily="18" charset="0"/>
              </a:rPr>
              <a:t>labour</a:t>
            </a:r>
            <a:r>
              <a:rPr lang="en-US" sz="2200" dirty="0" smtClean="0">
                <a:solidFill>
                  <a:srgbClr val="FF0066"/>
                </a:solidFill>
                <a:latin typeface="Times New Roman" pitchFamily="18" charset="0"/>
                <a:cs typeface="Times New Roman" pitchFamily="18" charset="0"/>
              </a:rPr>
              <a:t> rules.</a:t>
            </a:r>
          </a:p>
          <a:p>
            <a:pPr>
              <a:buFont typeface="Wingdings" pitchFamily="2" charset="2"/>
              <a:buChar char="Ø"/>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Ø"/>
            </a:pPr>
            <a:r>
              <a:rPr lang="en-US" sz="2200" dirty="0" smtClean="0">
                <a:solidFill>
                  <a:srgbClr val="FF0066"/>
                </a:solidFill>
                <a:latin typeface="Times New Roman" pitchFamily="18" charset="0"/>
                <a:cs typeface="Times New Roman" pitchFamily="18" charset="0"/>
              </a:rPr>
              <a:t>  Factory has own health centre to provide primary treatment.</a:t>
            </a:r>
          </a:p>
          <a:p>
            <a:pPr>
              <a:buFont typeface="Wingdings" pitchFamily="2" charset="2"/>
              <a:buChar char="Ø"/>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Ø"/>
            </a:pPr>
            <a:r>
              <a:rPr lang="en-US" sz="2200" dirty="0" smtClean="0">
                <a:solidFill>
                  <a:srgbClr val="FF0066"/>
                </a:solidFill>
                <a:latin typeface="Times New Roman" pitchFamily="18" charset="0"/>
                <a:cs typeface="Times New Roman" pitchFamily="18" charset="0"/>
              </a:rPr>
              <a:t>  Certified physician and nurse were available during the visit.</a:t>
            </a:r>
          </a:p>
          <a:p>
            <a:pPr>
              <a:buFont typeface="Wingdings" pitchFamily="2" charset="2"/>
              <a:buChar char="Ø"/>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Ø"/>
            </a:pPr>
            <a:r>
              <a:rPr lang="en-US" sz="2200" dirty="0" smtClean="0">
                <a:solidFill>
                  <a:srgbClr val="FF0066"/>
                </a:solidFill>
                <a:latin typeface="Times New Roman" pitchFamily="18" charset="0"/>
                <a:cs typeface="Times New Roman" pitchFamily="18" charset="0"/>
              </a:rPr>
              <a:t>  Factory has its child care centre.</a:t>
            </a:r>
          </a:p>
          <a:p>
            <a:pPr>
              <a:buFont typeface="Wingdings" pitchFamily="2" charset="2"/>
              <a:buChar char="Ø"/>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Ø"/>
            </a:pPr>
            <a:r>
              <a:rPr lang="en-US" sz="2200" dirty="0" smtClean="0">
                <a:solidFill>
                  <a:srgbClr val="FF0066"/>
                </a:solidFill>
                <a:latin typeface="Times New Roman" pitchFamily="18" charset="0"/>
                <a:cs typeface="Times New Roman" pitchFamily="18" charset="0"/>
              </a:rPr>
              <a:t>  Factory has well maintained hygienic canteen.</a:t>
            </a:r>
          </a:p>
          <a:p>
            <a:pPr>
              <a:buFont typeface="Wingdings" pitchFamily="2" charset="2"/>
              <a:buChar char="Ø"/>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Ø"/>
            </a:pPr>
            <a:r>
              <a:rPr lang="en-US" sz="2200" dirty="0" smtClean="0">
                <a:solidFill>
                  <a:srgbClr val="FF0066"/>
                </a:solidFill>
                <a:latin typeface="Times New Roman" pitchFamily="18" charset="0"/>
                <a:cs typeface="Times New Roman" pitchFamily="18" charset="0"/>
              </a:rPr>
              <a:t>  Factory is conducting fire drill regularly.</a:t>
            </a:r>
          </a:p>
          <a:p>
            <a:pPr>
              <a:buFont typeface="Wingdings" pitchFamily="2" charset="2"/>
              <a:buChar char="Ø"/>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Ø"/>
            </a:pPr>
            <a:r>
              <a:rPr lang="en-US" sz="2200" dirty="0" smtClean="0">
                <a:solidFill>
                  <a:srgbClr val="FF0066"/>
                </a:solidFill>
                <a:latin typeface="Times New Roman" pitchFamily="18" charset="0"/>
                <a:cs typeface="Times New Roman" pitchFamily="18" charset="0"/>
              </a:rPr>
              <a:t> Regular testing of drinking water, etc., is carried out.</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219200"/>
            <a:ext cx="8077200" cy="5170646"/>
          </a:xfrm>
          <a:prstGeom prst="rect">
            <a:avLst/>
          </a:prstGeom>
        </p:spPr>
        <p:txBody>
          <a:bodyPr wrap="square">
            <a:spAutoFit/>
          </a:bodyPr>
          <a:lstStyle/>
          <a:p>
            <a:r>
              <a:rPr lang="en-US" sz="2200" b="1" dirty="0" smtClean="0">
                <a:solidFill>
                  <a:srgbClr val="663300"/>
                </a:solidFill>
                <a:latin typeface="Times New Roman" pitchFamily="18" charset="0"/>
                <a:cs typeface="Times New Roman" pitchFamily="18" charset="0"/>
              </a:rPr>
              <a:t>Deficiency observed in </a:t>
            </a:r>
            <a:r>
              <a:rPr lang="en-US" sz="2200" b="1" dirty="0" err="1" smtClean="0">
                <a:solidFill>
                  <a:srgbClr val="663300"/>
                </a:solidFill>
                <a:latin typeface="Times New Roman" pitchFamily="18" charset="0"/>
                <a:cs typeface="Times New Roman" pitchFamily="18" charset="0"/>
              </a:rPr>
              <a:t>Azim</a:t>
            </a:r>
            <a:r>
              <a:rPr lang="en-US" sz="2200" b="1" dirty="0" smtClean="0">
                <a:solidFill>
                  <a:srgbClr val="663300"/>
                </a:solidFill>
                <a:latin typeface="Times New Roman" pitchFamily="18" charset="0"/>
                <a:cs typeface="Times New Roman" pitchFamily="18" charset="0"/>
              </a:rPr>
              <a:t> Industry and solution</a:t>
            </a:r>
          </a:p>
          <a:p>
            <a:pPr>
              <a:buFont typeface="Wingdings" pitchFamily="2" charset="2"/>
              <a:buChar char="v"/>
            </a:pPr>
            <a:r>
              <a:rPr lang="en-US" sz="2200" dirty="0" smtClean="0">
                <a:solidFill>
                  <a:srgbClr val="FF0066"/>
                </a:solidFill>
                <a:latin typeface="Times New Roman" pitchFamily="18" charset="0"/>
                <a:cs typeface="Times New Roman" pitchFamily="18" charset="0"/>
              </a:rPr>
              <a:t>  According to environmental conservation rules, </a:t>
            </a:r>
            <a:r>
              <a:rPr lang="en-US" sz="2200" dirty="0" err="1" smtClean="0">
                <a:solidFill>
                  <a:srgbClr val="FF0066"/>
                </a:solidFill>
                <a:latin typeface="Times New Roman" pitchFamily="18" charset="0"/>
                <a:cs typeface="Times New Roman" pitchFamily="18" charset="0"/>
              </a:rPr>
              <a:t>labour</a:t>
            </a:r>
            <a:r>
              <a:rPr lang="en-US" sz="2200" dirty="0" smtClean="0">
                <a:solidFill>
                  <a:srgbClr val="FF0066"/>
                </a:solidFill>
                <a:latin typeface="Times New Roman" pitchFamily="18" charset="0"/>
                <a:cs typeface="Times New Roman" pitchFamily="18" charset="0"/>
              </a:rPr>
              <a:t> rules of Indian Government and International guide lines, below findings are observed during factory visit and discussed the solutions with management.</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Management should maintain cleanliness of the area.</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Management should place temperature and humidity measuring device in workplace because excessive heat and humidity are injurious for workers health.</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Management should monitor and maintain sufficient and suitable lightings.</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Factory must display material safety data sheet at all chemical storage areas.</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Factory should confirm risk assessment for entire work place health and safety.</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990600"/>
            <a:ext cx="8229600" cy="5509200"/>
          </a:xfrm>
          <a:prstGeom prst="rect">
            <a:avLst/>
          </a:prstGeom>
        </p:spPr>
        <p:txBody>
          <a:bodyPr wrap="square">
            <a:spAutoFit/>
          </a:bodyPr>
          <a:lstStyle/>
          <a:p>
            <a:r>
              <a:rPr lang="en-US" sz="2200" b="1" dirty="0" smtClean="0">
                <a:solidFill>
                  <a:srgbClr val="663300"/>
                </a:solidFill>
                <a:latin typeface="Times New Roman" pitchFamily="18" charset="0"/>
                <a:cs typeface="Times New Roman" pitchFamily="18" charset="0"/>
              </a:rPr>
              <a:t>Report (or) Conclusion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Overall occupational health and safety management practice in </a:t>
            </a:r>
            <a:r>
              <a:rPr lang="en-US" sz="2200" dirty="0" err="1" smtClean="0">
                <a:solidFill>
                  <a:srgbClr val="FF0066"/>
                </a:solidFill>
                <a:latin typeface="Times New Roman" pitchFamily="18" charset="0"/>
                <a:cs typeface="Times New Roman" pitchFamily="18" charset="0"/>
              </a:rPr>
              <a:t>Azim</a:t>
            </a:r>
            <a:r>
              <a:rPr lang="en-US" sz="2200" dirty="0" smtClean="0">
                <a:solidFill>
                  <a:srgbClr val="FF0066"/>
                </a:solidFill>
                <a:latin typeface="Times New Roman" pitchFamily="18" charset="0"/>
                <a:cs typeface="Times New Roman" pitchFamily="18" charset="0"/>
              </a:rPr>
              <a:t> industries was found good. </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Though some deficiency were found during this visit, but commitment of top management towards occupational health and safety was impressive.</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r>
              <a:rPr lang="en-US" sz="2200" b="1" dirty="0" smtClean="0">
                <a:solidFill>
                  <a:srgbClr val="FF9900"/>
                </a:solidFill>
                <a:latin typeface="Times New Roman" pitchFamily="18" charset="0"/>
                <a:cs typeface="Times New Roman" pitchFamily="18" charset="0"/>
              </a:rPr>
              <a:t>2. Fire work industry in </a:t>
            </a:r>
            <a:r>
              <a:rPr lang="en-US" sz="2200" b="1" dirty="0" err="1" smtClean="0">
                <a:solidFill>
                  <a:srgbClr val="FF9900"/>
                </a:solidFill>
                <a:latin typeface="Times New Roman" pitchFamily="18" charset="0"/>
                <a:cs typeface="Times New Roman" pitchFamily="18" charset="0"/>
              </a:rPr>
              <a:t>Sivakasi</a:t>
            </a:r>
            <a:r>
              <a:rPr lang="en-US" sz="2200" b="1" dirty="0" smtClean="0">
                <a:solidFill>
                  <a:srgbClr val="FF9900"/>
                </a:solidFill>
                <a:latin typeface="Times New Roman" pitchFamily="18" charset="0"/>
                <a:cs typeface="Times New Roman" pitchFamily="18" charset="0"/>
              </a:rPr>
              <a:t>, Tamil Nadu</a:t>
            </a:r>
          </a:p>
          <a:p>
            <a:pPr>
              <a:buFont typeface="Wingdings" pitchFamily="2" charset="2"/>
              <a:buChar char="v"/>
            </a:pPr>
            <a:r>
              <a:rPr lang="en-US" sz="2200" dirty="0" smtClean="0">
                <a:solidFill>
                  <a:srgbClr val="FF0066"/>
                </a:solidFill>
                <a:latin typeface="Times New Roman" pitchFamily="18" charset="0"/>
                <a:cs typeface="Times New Roman" pitchFamily="18" charset="0"/>
              </a:rPr>
              <a:t>  Safety and well-being is very essential for firework employees because in fireworks they are handling dangerous materials every day.</a:t>
            </a:r>
          </a:p>
          <a:p>
            <a:pPr>
              <a:buFont typeface="Wingdings" pitchFamily="2" charset="2"/>
              <a:buChar char="v"/>
            </a:pPr>
            <a:r>
              <a:rPr lang="en-US" sz="2200" dirty="0" smtClean="0">
                <a:solidFill>
                  <a:srgbClr val="FF0066"/>
                </a:solidFill>
                <a:latin typeface="Times New Roman" pitchFamily="18" charset="0"/>
                <a:cs typeface="Times New Roman" pitchFamily="18" charset="0"/>
              </a:rPr>
              <a:t>  So the safety measures are most important in the firework industry. </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They are handling chemicals which will affect their health too.</a:t>
            </a:r>
          </a:p>
          <a:p>
            <a:pPr>
              <a:buFont typeface="Wingdings" pitchFamily="2" charset="2"/>
              <a:buChar char="v"/>
            </a:pPr>
            <a:r>
              <a:rPr lang="en-US" sz="2200" dirty="0" smtClean="0">
                <a:solidFill>
                  <a:srgbClr val="FF0066"/>
                </a:solidFill>
                <a:latin typeface="Times New Roman" pitchFamily="18" charset="0"/>
                <a:cs typeface="Times New Roman" pitchFamily="18" charset="0"/>
              </a:rPr>
              <a:t>  According to the factories Act, safety and well-being is very necessary.</a:t>
            </a:r>
          </a:p>
          <a:p>
            <a:pPr>
              <a:buFont typeface="Wingdings" pitchFamily="2" charset="2"/>
              <a:buChar char="v"/>
            </a:pPr>
            <a:r>
              <a:rPr lang="en-US" sz="2200" dirty="0" smtClean="0">
                <a:solidFill>
                  <a:srgbClr val="FF0066"/>
                </a:solidFill>
                <a:latin typeface="Times New Roman" pitchFamily="18" charset="0"/>
                <a:cs typeface="Times New Roman" pitchFamily="18" charset="0"/>
              </a:rPr>
              <a:t>  For well-being first aid kit, toilet facilities, cleanliness and medical camp are very essential.</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990600"/>
            <a:ext cx="7772400" cy="4832092"/>
          </a:xfrm>
          <a:prstGeom prst="rect">
            <a:avLst/>
          </a:prstGeom>
        </p:spPr>
        <p:txBody>
          <a:bodyPr wrap="square">
            <a:spAutoFit/>
          </a:bodyPr>
          <a:lstStyle/>
          <a:p>
            <a:r>
              <a:rPr lang="en-US" sz="2200" b="1" dirty="0" smtClean="0">
                <a:solidFill>
                  <a:srgbClr val="663300"/>
                </a:solidFill>
                <a:latin typeface="Times New Roman" pitchFamily="18" charset="0"/>
                <a:cs typeface="Times New Roman" pitchFamily="18" charset="0"/>
              </a:rPr>
              <a:t>Objectives of this study</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main objective of this study is to analyze the industrial safety and well-being of firework employees in “</a:t>
            </a:r>
            <a:r>
              <a:rPr lang="en-US" sz="2200" dirty="0" err="1" smtClean="0">
                <a:solidFill>
                  <a:srgbClr val="FF0066"/>
                </a:solidFill>
                <a:latin typeface="Times New Roman" pitchFamily="18" charset="0"/>
                <a:cs typeface="Times New Roman" pitchFamily="18" charset="0"/>
              </a:rPr>
              <a:t>Kumaran</a:t>
            </a:r>
            <a:r>
              <a:rPr lang="en-US" sz="2200" dirty="0" smtClean="0">
                <a:solidFill>
                  <a:srgbClr val="FF0066"/>
                </a:solidFill>
                <a:latin typeface="Times New Roman" pitchFamily="18" charset="0"/>
                <a:cs typeface="Times New Roman" pitchFamily="18" charset="0"/>
              </a:rPr>
              <a:t> fireworks” in </a:t>
            </a:r>
            <a:r>
              <a:rPr lang="en-US" sz="2200" dirty="0" err="1" smtClean="0">
                <a:solidFill>
                  <a:srgbClr val="FF0066"/>
                </a:solidFill>
                <a:latin typeface="Times New Roman" pitchFamily="18" charset="0"/>
                <a:cs typeface="Times New Roman" pitchFamily="18" charset="0"/>
              </a:rPr>
              <a:t>Sivakasi</a:t>
            </a:r>
            <a:r>
              <a:rPr lang="en-US" sz="2200" dirty="0" smtClean="0">
                <a:solidFill>
                  <a:srgbClr val="FF0066"/>
                </a:solidFill>
                <a:latin typeface="Times New Roman" pitchFamily="18" charset="0"/>
                <a:cs typeface="Times New Roman" pitchFamily="18" charset="0"/>
              </a:rPr>
              <a:t>.</a:t>
            </a:r>
          </a:p>
          <a:p>
            <a:pPr>
              <a:buFont typeface="Wingdings" pitchFamily="2" charset="2"/>
              <a:buChar char="q"/>
            </a:pPr>
            <a:r>
              <a:rPr lang="en-US" sz="2200" dirty="0" smtClean="0">
                <a:solidFill>
                  <a:srgbClr val="FF0066"/>
                </a:solidFill>
                <a:latin typeface="Times New Roman" pitchFamily="18" charset="0"/>
                <a:cs typeface="Times New Roman" pitchFamily="18" charset="0"/>
              </a:rPr>
              <a:t>  We have visited “</a:t>
            </a:r>
            <a:r>
              <a:rPr lang="en-US" sz="2200" dirty="0" err="1" smtClean="0">
                <a:solidFill>
                  <a:srgbClr val="FF0066"/>
                </a:solidFill>
                <a:latin typeface="Times New Roman" pitchFamily="18" charset="0"/>
                <a:cs typeface="Times New Roman" pitchFamily="18" charset="0"/>
              </a:rPr>
              <a:t>Kumaran</a:t>
            </a:r>
            <a:r>
              <a:rPr lang="en-US" sz="2200" dirty="0" smtClean="0">
                <a:solidFill>
                  <a:srgbClr val="FF0066"/>
                </a:solidFill>
                <a:latin typeface="Times New Roman" pitchFamily="18" charset="0"/>
                <a:cs typeface="Times New Roman" pitchFamily="18" charset="0"/>
              </a:rPr>
              <a:t> fireworks” and analyzed overall occupational health and safety management practices of 257 employees and selected 30 respondents and conducted survey question regarding safety measures of the employees.</a:t>
            </a:r>
          </a:p>
          <a:p>
            <a:r>
              <a:rPr lang="en-US" sz="2200" b="1" dirty="0" smtClean="0">
                <a:solidFill>
                  <a:srgbClr val="663300"/>
                </a:solidFill>
                <a:latin typeface="Times New Roman" pitchFamily="18" charset="0"/>
                <a:cs typeface="Times New Roman" pitchFamily="18" charset="0"/>
              </a:rPr>
              <a:t>Some of the encouraging approaches observed in “</a:t>
            </a:r>
            <a:r>
              <a:rPr lang="en-US" sz="2200" b="1" dirty="0" err="1" smtClean="0">
                <a:solidFill>
                  <a:srgbClr val="663300"/>
                </a:solidFill>
                <a:latin typeface="Times New Roman" pitchFamily="18" charset="0"/>
                <a:cs typeface="Times New Roman" pitchFamily="18" charset="0"/>
              </a:rPr>
              <a:t>Kumaran</a:t>
            </a:r>
            <a:r>
              <a:rPr lang="en-US" sz="2200" b="1" dirty="0" smtClean="0">
                <a:solidFill>
                  <a:srgbClr val="663300"/>
                </a:solidFill>
                <a:latin typeface="Times New Roman" pitchFamily="18" charset="0"/>
                <a:cs typeface="Times New Roman" pitchFamily="18" charset="0"/>
              </a:rPr>
              <a:t> fireworks”</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100% of respondent feels that adequate safety measures are taken during fire accidents.</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93.3% of respondent said limited safety materials are provided during the work.</a:t>
            </a:r>
          </a:p>
        </p:txBody>
      </p:sp>
    </p:spTree>
  </p:cSld>
  <p:clrMapOvr>
    <a:masterClrMapping/>
  </p:clrMapOvr>
  <p:transition spd="slow">
    <p:push/>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143000"/>
            <a:ext cx="7696200" cy="5232202"/>
          </a:xfrm>
          <a:prstGeom prst="rect">
            <a:avLst/>
          </a:prstGeom>
        </p:spPr>
        <p:txBody>
          <a:bodyPr wrap="square">
            <a:spAutoFit/>
          </a:bodyPr>
          <a:lstStyle/>
          <a:p>
            <a:pPr>
              <a:buFont typeface="Wingdings" pitchFamily="2" charset="2"/>
              <a:buChar char="Ø"/>
            </a:pPr>
            <a:r>
              <a:rPr lang="en-US" sz="2200" dirty="0" smtClean="0">
                <a:solidFill>
                  <a:srgbClr val="FF0066"/>
                </a:solidFill>
                <a:latin typeface="Times New Roman" pitchFamily="18" charset="0"/>
                <a:cs typeface="Times New Roman" pitchFamily="18" charset="0"/>
              </a:rPr>
              <a:t>  100% of respondent said the air circulation is perfect in the industry.</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90% of respondent said first aid box is available all the time.</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80.5% of respondent felt the work place is always clean and neat.</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85% of respondent said the building and machines are maintained in proper way.</a:t>
            </a:r>
          </a:p>
          <a:p>
            <a:endParaRPr lang="en-US" sz="2200" dirty="0" smtClean="0">
              <a:latin typeface="Times New Roman" pitchFamily="18" charset="0"/>
              <a:cs typeface="Times New Roman" pitchFamily="18" charset="0"/>
            </a:endParaRPr>
          </a:p>
          <a:p>
            <a:r>
              <a:rPr lang="en-US" sz="2200" b="1" dirty="0" smtClean="0">
                <a:solidFill>
                  <a:srgbClr val="663300"/>
                </a:solidFill>
                <a:latin typeface="Times New Roman" pitchFamily="18" charset="0"/>
                <a:cs typeface="Times New Roman" pitchFamily="18" charset="0"/>
              </a:rPr>
              <a:t>Deficiency observed in </a:t>
            </a:r>
            <a:r>
              <a:rPr lang="en-US" sz="2200" b="1" dirty="0" err="1" smtClean="0">
                <a:solidFill>
                  <a:srgbClr val="663300"/>
                </a:solidFill>
                <a:latin typeface="Times New Roman" pitchFamily="18" charset="0"/>
                <a:cs typeface="Times New Roman" pitchFamily="18" charset="0"/>
              </a:rPr>
              <a:t>Kumaran</a:t>
            </a:r>
            <a:r>
              <a:rPr lang="en-US" sz="2200" b="1" dirty="0" smtClean="0">
                <a:solidFill>
                  <a:srgbClr val="663300"/>
                </a:solidFill>
                <a:latin typeface="Times New Roman" pitchFamily="18" charset="0"/>
                <a:cs typeface="Times New Roman" pitchFamily="18" charset="0"/>
              </a:rPr>
              <a:t> fireworks and solution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Management should conduct medical camp once in 6 months, in the industry.</a:t>
            </a:r>
          </a:p>
          <a:p>
            <a:pPr>
              <a:buFont typeface="Wingdings" pitchFamily="2" charset="2"/>
              <a:buChar char="q"/>
            </a:pPr>
            <a:r>
              <a:rPr lang="en-US" sz="2200" dirty="0" smtClean="0">
                <a:solidFill>
                  <a:srgbClr val="FF0066"/>
                </a:solidFill>
                <a:latin typeface="Times New Roman" pitchFamily="18" charset="0"/>
                <a:cs typeface="Times New Roman" pitchFamily="18" charset="0"/>
              </a:rPr>
              <a:t>  Management must provide separate toilet facilities for men and women.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Proper rest room must be provided to the workers for taking rest in the break time.</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371600"/>
            <a:ext cx="7848600" cy="4832092"/>
          </a:xfrm>
          <a:prstGeom prst="rect">
            <a:avLst/>
          </a:prstGeom>
        </p:spPr>
        <p:txBody>
          <a:bodyPr wrap="square">
            <a:spAutoFit/>
          </a:bodyPr>
          <a:lstStyle/>
          <a:p>
            <a:pPr>
              <a:buFont typeface="Wingdings" pitchFamily="2" charset="2"/>
              <a:buChar char="q"/>
            </a:pPr>
            <a:r>
              <a:rPr lang="en-US" sz="2200" dirty="0" smtClean="0">
                <a:solidFill>
                  <a:srgbClr val="FF0066"/>
                </a:solidFill>
                <a:latin typeface="Times New Roman" pitchFamily="18" charset="0"/>
                <a:cs typeface="Times New Roman" pitchFamily="18" charset="0"/>
              </a:rPr>
              <a:t>  Enough safety materials like gloves, face mask must be provided while they are working near chemicals and machines in the factory.</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More safety guards around the machines must be provided.</a:t>
            </a:r>
          </a:p>
          <a:p>
            <a:endParaRPr lang="en-US" sz="2200" dirty="0" smtClean="0">
              <a:latin typeface="Times New Roman" pitchFamily="18" charset="0"/>
              <a:cs typeface="Times New Roman" pitchFamily="18" charset="0"/>
            </a:endParaRPr>
          </a:p>
          <a:p>
            <a:r>
              <a:rPr lang="en-US" sz="2200" b="1" dirty="0" smtClean="0">
                <a:solidFill>
                  <a:srgbClr val="663300"/>
                </a:solidFill>
                <a:latin typeface="Times New Roman" pitchFamily="18" charset="0"/>
                <a:cs typeface="Times New Roman" pitchFamily="18" charset="0"/>
              </a:rPr>
              <a:t>Report (or) Conclusion</a:t>
            </a:r>
          </a:p>
          <a:p>
            <a:pPr>
              <a:buFont typeface="Wingdings" pitchFamily="2" charset="2"/>
              <a:buChar char="v"/>
            </a:pPr>
            <a:r>
              <a:rPr lang="en-US" sz="2200" dirty="0" smtClean="0">
                <a:solidFill>
                  <a:srgbClr val="FF0066"/>
                </a:solidFill>
                <a:latin typeface="Times New Roman" pitchFamily="18" charset="0"/>
                <a:cs typeface="Times New Roman" pitchFamily="18" charset="0"/>
              </a:rPr>
              <a:t>  Overall occupational health and safety management practice in “</a:t>
            </a:r>
            <a:r>
              <a:rPr lang="en-US" sz="2200" dirty="0" err="1" smtClean="0">
                <a:solidFill>
                  <a:srgbClr val="FF0066"/>
                </a:solidFill>
                <a:latin typeface="Times New Roman" pitchFamily="18" charset="0"/>
                <a:cs typeface="Times New Roman" pitchFamily="18" charset="0"/>
              </a:rPr>
              <a:t>Kumaran</a:t>
            </a:r>
            <a:r>
              <a:rPr lang="en-US" sz="2200" dirty="0" smtClean="0">
                <a:solidFill>
                  <a:srgbClr val="FF0066"/>
                </a:solidFill>
                <a:latin typeface="Times New Roman" pitchFamily="18" charset="0"/>
                <a:cs typeface="Times New Roman" pitchFamily="18" charset="0"/>
              </a:rPr>
              <a:t> fireworks” was found good. </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Though some deficiency were found during this visit, commitment of top management towards occupational health and safety was impressive.</a:t>
            </a:r>
          </a:p>
          <a:p>
            <a:endParaRPr lang="en-US" sz="2200" dirty="0" smtClean="0">
              <a:latin typeface="Times New Roman" pitchFamily="18" charset="0"/>
              <a:cs typeface="Times New Roman" pitchFamily="18" charset="0"/>
            </a:endParaRPr>
          </a:p>
          <a:p>
            <a:endParaRPr lang="en-US" sz="2200" dirty="0" smtClean="0">
              <a:latin typeface="Times New Roman" pitchFamily="18" charset="0"/>
              <a:cs typeface="Times New Roman" pitchFamily="18" charset="0"/>
            </a:endParaRPr>
          </a:p>
        </p:txBody>
      </p:sp>
    </p:spTree>
  </p:cSld>
  <p:clrMapOvr>
    <a:masterClrMapping/>
  </p:clrMapOvr>
  <p:transition spd="slow">
    <p:push/>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219200"/>
            <a:ext cx="8305800" cy="5170646"/>
          </a:xfrm>
          <a:prstGeom prst="rect">
            <a:avLst/>
          </a:prstGeom>
        </p:spPr>
        <p:txBody>
          <a:bodyPr wrap="square">
            <a:spAutoFit/>
          </a:bodyPr>
          <a:lstStyle/>
          <a:p>
            <a:r>
              <a:rPr lang="en-US" sz="2200" b="1" dirty="0" smtClean="0">
                <a:solidFill>
                  <a:srgbClr val="0B8319"/>
                </a:solidFill>
                <a:latin typeface="Times New Roman" pitchFamily="18" charset="0"/>
                <a:cs typeface="Times New Roman" pitchFamily="18" charset="0"/>
              </a:rPr>
              <a:t>2.10 ENVIRONMENTAL PRODUCTION</a:t>
            </a:r>
          </a:p>
          <a:p>
            <a:endParaRPr lang="en-US" sz="2200" b="1" dirty="0" smtClean="0">
              <a:latin typeface="Times New Roman" pitchFamily="18" charset="0"/>
              <a:cs typeface="Times New Roman" pitchFamily="18" charset="0"/>
            </a:endParaRPr>
          </a:p>
          <a:p>
            <a:r>
              <a:rPr lang="en-US" sz="2200" b="1" dirty="0" smtClean="0">
                <a:solidFill>
                  <a:srgbClr val="FFC000"/>
                </a:solidFill>
                <a:latin typeface="Times New Roman" pitchFamily="18" charset="0"/>
                <a:cs typeface="Times New Roman" pitchFamily="18" charset="0"/>
              </a:rPr>
              <a:t>Definition</a:t>
            </a:r>
          </a:p>
          <a:p>
            <a:r>
              <a:rPr lang="en-US" sz="2200" b="1" i="1" dirty="0" smtClean="0">
                <a:solidFill>
                  <a:srgbClr val="00B0F0"/>
                </a:solidFill>
                <a:latin typeface="Times New Roman" pitchFamily="18" charset="0"/>
                <a:cs typeface="Times New Roman" pitchFamily="18" charset="0"/>
              </a:rPr>
              <a:t>Environmental protection is the practice of protecting the natural environment by individuals, organizations and governments.</a:t>
            </a:r>
          </a:p>
          <a:p>
            <a:endParaRPr lang="en-US" sz="2200" b="1" i="1" dirty="0" smtClean="0">
              <a:latin typeface="Times New Roman" pitchFamily="18" charset="0"/>
              <a:cs typeface="Times New Roman" pitchFamily="18" charset="0"/>
            </a:endParaRPr>
          </a:p>
          <a:p>
            <a:r>
              <a:rPr lang="en-US" sz="2200" b="1" dirty="0" smtClean="0">
                <a:solidFill>
                  <a:srgbClr val="FFC000"/>
                </a:solidFill>
                <a:latin typeface="Times New Roman" pitchFamily="18" charset="0"/>
                <a:cs typeface="Times New Roman" pitchFamily="18" charset="0"/>
              </a:rPr>
              <a:t>Objectives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Its objectives are</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to conserve natural resources,</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to conserve the existing natural environment,</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to repair damage and reverse trends.</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Due to the pressures of over consumption, population growth and technology, the biophysical environment is being degraded. This has been recognized and governments have begun placing restraints on activities that cause environmental degradation.</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219200"/>
            <a:ext cx="7924800" cy="4493538"/>
          </a:xfrm>
          <a:prstGeom prst="rect">
            <a:avLst/>
          </a:prstGeom>
        </p:spPr>
        <p:txBody>
          <a:bodyPr wrap="square">
            <a:spAutoFit/>
          </a:bodyPr>
          <a:lstStyle/>
          <a:p>
            <a:r>
              <a:rPr lang="en-US" sz="2200" b="1" dirty="0" smtClean="0">
                <a:solidFill>
                  <a:srgbClr val="FFC000"/>
                </a:solidFill>
                <a:latin typeface="Times New Roman" pitchFamily="18" charset="0"/>
                <a:cs typeface="Times New Roman" pitchFamily="18" charset="0"/>
              </a:rPr>
              <a:t>Importance (or) Goal of environmental protection</a:t>
            </a:r>
          </a:p>
          <a:p>
            <a:pPr marL="514350" indent="-514350">
              <a:buFont typeface="Wingdings" pitchFamily="2" charset="2"/>
              <a:buChar char="v"/>
            </a:pPr>
            <a:r>
              <a:rPr lang="en-US" sz="2200" dirty="0" smtClean="0">
                <a:solidFill>
                  <a:srgbClr val="FF0066"/>
                </a:solidFill>
                <a:latin typeface="Times New Roman" pitchFamily="18" charset="0"/>
                <a:cs typeface="Times New Roman" pitchFamily="18" charset="0"/>
              </a:rPr>
              <a:t>To reduce air, water and land pollution.</a:t>
            </a:r>
          </a:p>
          <a:p>
            <a:pPr marL="514350" indent="-514350">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To facilitate the conservation of natural resources for our future generations.</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To ensure the protection of biodiversity.</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To implement sustainable development.</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To restore the ecological balance.</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To save our planet from harmful effects of global warming.</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143000"/>
            <a:ext cx="7772400" cy="5170646"/>
          </a:xfrm>
          <a:prstGeom prst="rect">
            <a:avLst/>
          </a:prstGeom>
        </p:spPr>
        <p:txBody>
          <a:bodyPr wrap="square">
            <a:spAutoFit/>
          </a:bodyPr>
          <a:lstStyle/>
          <a:p>
            <a:r>
              <a:rPr lang="en-US" sz="2200" b="1" i="1" dirty="0" smtClean="0">
                <a:solidFill>
                  <a:srgbClr val="0000CC"/>
                </a:solidFill>
                <a:latin typeface="Times New Roman" pitchFamily="18" charset="0"/>
                <a:cs typeface="Times New Roman" pitchFamily="18" charset="0"/>
              </a:rPr>
              <a:t>2.10.1 Environment (Protection) Act, 1986</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This is a general legislation law in order to rectify the gaps and laps in the above Acts. </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This Act empowers the Central government to fix the standards for quality of air, water, soil and noise and to formulate procedures and safe guards for handling of hazard substances.</a:t>
            </a:r>
          </a:p>
          <a:p>
            <a:endParaRPr lang="en-US" sz="2200" dirty="0" smtClean="0">
              <a:latin typeface="Times New Roman" pitchFamily="18" charset="0"/>
              <a:cs typeface="Times New Roman" pitchFamily="18" charset="0"/>
            </a:endParaRPr>
          </a:p>
          <a:p>
            <a:r>
              <a:rPr lang="en-US" sz="2200" b="1" dirty="0" smtClean="0">
                <a:solidFill>
                  <a:srgbClr val="FFC000"/>
                </a:solidFill>
                <a:latin typeface="Times New Roman" pitchFamily="18" charset="0"/>
                <a:cs typeface="Times New Roman" pitchFamily="18" charset="0"/>
              </a:rPr>
              <a:t>Objectives of environmental act</a:t>
            </a:r>
          </a:p>
          <a:p>
            <a:pPr marL="514350" indent="-514350">
              <a:buFont typeface="Wingdings" pitchFamily="2" charset="2"/>
              <a:buChar char="v"/>
            </a:pPr>
            <a:r>
              <a:rPr lang="en-US" sz="2200" dirty="0" smtClean="0">
                <a:solidFill>
                  <a:srgbClr val="FF0066"/>
                </a:solidFill>
                <a:latin typeface="Times New Roman" pitchFamily="18" charset="0"/>
                <a:cs typeface="Times New Roman" pitchFamily="18" charset="0"/>
              </a:rPr>
              <a:t>to protect and improvement of the environment,</a:t>
            </a:r>
          </a:p>
          <a:p>
            <a:pPr marL="514350" indent="-514350">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to prevent hazards to all living creatures and property,</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to maintain harmonious relationship between humans and their environment.</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219200"/>
            <a:ext cx="7696200" cy="5170646"/>
          </a:xfrm>
          <a:prstGeom prst="rect">
            <a:avLst/>
          </a:prstGeom>
        </p:spPr>
        <p:txBody>
          <a:bodyPr wrap="square">
            <a:spAutoFit/>
          </a:bodyPr>
          <a:lstStyle/>
          <a:p>
            <a:r>
              <a:rPr lang="en-US" sz="2200" b="1" dirty="0" smtClean="0">
                <a:solidFill>
                  <a:srgbClr val="FFC000"/>
                </a:solidFill>
                <a:latin typeface="Times New Roman" pitchFamily="18" charset="0"/>
                <a:cs typeface="Times New Roman" pitchFamily="18" charset="0"/>
              </a:rPr>
              <a:t>Important features of Environment Act</a:t>
            </a:r>
          </a:p>
          <a:p>
            <a:pPr marL="342900" indent="-342900">
              <a:buFont typeface="Wingdings" pitchFamily="2" charset="2"/>
              <a:buChar char="q"/>
            </a:pPr>
            <a:r>
              <a:rPr lang="en-US" sz="2200" dirty="0" smtClean="0">
                <a:solidFill>
                  <a:srgbClr val="FF0066"/>
                </a:solidFill>
                <a:latin typeface="Times New Roman" pitchFamily="18" charset="0"/>
                <a:cs typeface="Times New Roman" pitchFamily="18" charset="0"/>
              </a:rPr>
              <a:t>The Act further empowers the Government to lay down procedures and safe guards for the prevention of accidents which cause pollution and remedial measures if an accident occurs.</a:t>
            </a:r>
          </a:p>
          <a:p>
            <a:pPr marL="342900" indent="-342900">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The Government has the authority to close (or) prohibit (or) regulate any industry (or) its operation, if the violation of the provisions of the Act occur.</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The penal sections of the Act contain more stringent penalties. Any person who fails to comply (or) who contravenes any provision of the Act shall be punishable with imprisonment for a term extending to five years (or) be punishable with fine up to Rupees one </a:t>
            </a:r>
            <a:r>
              <a:rPr lang="en-US" sz="2200" dirty="0" err="1" smtClean="0">
                <a:solidFill>
                  <a:srgbClr val="FF0066"/>
                </a:solidFill>
                <a:latin typeface="Times New Roman" pitchFamily="18" charset="0"/>
                <a:cs typeface="Times New Roman" pitchFamily="18" charset="0"/>
              </a:rPr>
              <a:t>lakh</a:t>
            </a:r>
            <a:r>
              <a:rPr lang="en-US" sz="2200" dirty="0" smtClean="0">
                <a:solidFill>
                  <a:srgbClr val="FF0066"/>
                </a:solidFill>
                <a:latin typeface="Times New Roman" pitchFamily="18" charset="0"/>
                <a:cs typeface="Times New Roman" pitchFamily="18" charset="0"/>
              </a:rPr>
              <a:t> (or) both.</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990600"/>
            <a:ext cx="7848600" cy="5170646"/>
          </a:xfrm>
          <a:prstGeom prst="rect">
            <a:avLst/>
          </a:prstGeom>
        </p:spPr>
        <p:txBody>
          <a:bodyPr wrap="square">
            <a:spAutoFit/>
          </a:bodyPr>
          <a:lstStyle/>
          <a:p>
            <a:pPr>
              <a:buFont typeface="Wingdings" pitchFamily="2" charset="2"/>
              <a:buChar char="q"/>
            </a:pPr>
            <a:r>
              <a:rPr lang="en-US" sz="2200" dirty="0" smtClean="0">
                <a:solidFill>
                  <a:srgbClr val="FF0066"/>
                </a:solidFill>
                <a:latin typeface="Times New Roman" pitchFamily="18" charset="0"/>
                <a:cs typeface="Times New Roman" pitchFamily="18" charset="0"/>
              </a:rPr>
              <a:t>  If the violation continues, an additional fine of Rupees five thousands per day may be imposed for the entire period of violation of rules.</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The Act fixes the liability of the offence punishable under Act on the person who is directly in charge. Whether he/she is the director (or) Manager (or) Secretary (or) any other officer, unless he/she proves that it was committed without his/her knowledge (or) consent.</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The Act empowers the officer of Central government to inspect the site (or) the plant (or) the machinery for preventing pollution and to collect samples of air, water, soil (or) other material from any factory (or) its premises for testing. </a:t>
            </a:r>
          </a:p>
          <a:p>
            <a:endParaRPr lang="en-US" sz="2200" dirty="0" smtClean="0">
              <a:latin typeface="Times New Roman" pitchFamily="18" charset="0"/>
              <a:cs typeface="Times New Roman" pitchFamily="18" charset="0"/>
            </a:endParaRPr>
          </a:p>
        </p:txBody>
      </p:sp>
    </p:spTree>
  </p:cSld>
  <p:clrMapOvr>
    <a:masterClrMapping/>
  </p:clrMapOvr>
  <p:transition spd="slow">
    <p:push/>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219200"/>
            <a:ext cx="7924800" cy="5170646"/>
          </a:xfrm>
          <a:prstGeom prst="rect">
            <a:avLst/>
          </a:prstGeom>
        </p:spPr>
        <p:txBody>
          <a:bodyPr wrap="square">
            <a:spAutoFit/>
          </a:bodyPr>
          <a:lstStyle/>
          <a:p>
            <a:pPr>
              <a:buFont typeface="Wingdings" pitchFamily="2" charset="2"/>
              <a:buChar char="q"/>
            </a:pPr>
            <a:r>
              <a:rPr lang="en-US" sz="2200" dirty="0" smtClean="0">
                <a:solidFill>
                  <a:srgbClr val="FF0066"/>
                </a:solidFill>
                <a:latin typeface="Times New Roman" pitchFamily="18" charset="0"/>
                <a:cs typeface="Times New Roman" pitchFamily="18" charset="0"/>
              </a:rPr>
              <a:t>  The Environment (Protection) Act is the most comprehensive legislation with powers for the central government to directly act, avoiding many regulatory authorities (or) agencies.</a:t>
            </a:r>
          </a:p>
          <a:p>
            <a:endParaRPr lang="en-US" sz="2200" dirty="0" smtClean="0">
              <a:latin typeface="Times New Roman" pitchFamily="18" charset="0"/>
              <a:cs typeface="Times New Roman" pitchFamily="18" charset="0"/>
            </a:endParaRPr>
          </a:p>
          <a:p>
            <a:r>
              <a:rPr lang="en-US" sz="2200" b="1" i="1" dirty="0" smtClean="0">
                <a:solidFill>
                  <a:srgbClr val="0000CC"/>
                </a:solidFill>
                <a:latin typeface="Times New Roman" pitchFamily="18" charset="0"/>
                <a:cs typeface="Times New Roman" pitchFamily="18" charset="0"/>
              </a:rPr>
              <a:t>2.10.2 Water (Prevention and Control of Pollution) Act, 1974</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This act provides for maintaining and restoring the sources of water. It also provides for preventing and controlling water pollution.</a:t>
            </a:r>
          </a:p>
          <a:p>
            <a:endParaRPr lang="en-US" sz="2200" dirty="0" smtClean="0">
              <a:solidFill>
                <a:srgbClr val="FFC000"/>
              </a:solidFill>
              <a:latin typeface="Times New Roman" pitchFamily="18" charset="0"/>
              <a:cs typeface="Times New Roman" pitchFamily="18" charset="0"/>
            </a:endParaRPr>
          </a:p>
          <a:p>
            <a:r>
              <a:rPr lang="en-US" sz="2200" b="1" dirty="0" smtClean="0">
                <a:solidFill>
                  <a:srgbClr val="FFC000"/>
                </a:solidFill>
                <a:latin typeface="Times New Roman" pitchFamily="18" charset="0"/>
                <a:cs typeface="Times New Roman" pitchFamily="18" charset="0"/>
              </a:rPr>
              <a:t>Objectives of the water act</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prevention and control of water pollution,</a:t>
            </a:r>
          </a:p>
          <a:p>
            <a:pPr>
              <a:buFont typeface="Wingdings" pitchFamily="2" charset="2"/>
              <a:buChar char="Ø"/>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Ø"/>
            </a:pPr>
            <a:r>
              <a:rPr lang="en-US" sz="2200" dirty="0" smtClean="0">
                <a:solidFill>
                  <a:srgbClr val="FF0066"/>
                </a:solidFill>
                <a:latin typeface="Times New Roman" pitchFamily="18" charset="0"/>
                <a:cs typeface="Times New Roman" pitchFamily="18" charset="0"/>
              </a:rPr>
              <a:t>  maintaining (or) restoring the wholesomeness of water,</a:t>
            </a:r>
          </a:p>
          <a:p>
            <a:pPr>
              <a:buFont typeface="Wingdings" pitchFamily="2" charset="2"/>
              <a:buChar char="Ø"/>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Ø"/>
            </a:pPr>
            <a:r>
              <a:rPr lang="en-US" sz="2200" dirty="0" smtClean="0">
                <a:solidFill>
                  <a:srgbClr val="FF0066"/>
                </a:solidFill>
                <a:latin typeface="Times New Roman" pitchFamily="18" charset="0"/>
                <a:cs typeface="Times New Roman" pitchFamily="18" charset="0"/>
              </a:rPr>
              <a:t>  establishing central and state boards for the prevention and control of water pollution.</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889844"/>
            <a:ext cx="7772400" cy="5847755"/>
          </a:xfrm>
          <a:prstGeom prst="rect">
            <a:avLst/>
          </a:prstGeom>
        </p:spPr>
        <p:txBody>
          <a:bodyPr wrap="square">
            <a:spAutoFit/>
          </a:bodyPr>
          <a:lstStyle/>
          <a:p>
            <a:r>
              <a:rPr lang="en-US" sz="2200" b="1" dirty="0" smtClean="0">
                <a:solidFill>
                  <a:srgbClr val="FFC000"/>
                </a:solidFill>
                <a:latin typeface="Times New Roman" pitchFamily="18" charset="0"/>
                <a:cs typeface="Times New Roman" pitchFamily="18" charset="0"/>
              </a:rPr>
              <a:t>Important features of Water Act</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This Act aims at, to protect the water from all kinds of pollution and to preserve the quality of water in all aquifers.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Act further provides for the establishment of Central Board and State Boards for prevention of water pollution.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States are empowered to restrain any person from discharging a pollutant (or) sewage (or) effluent into any water body without the consent of the Board.</a:t>
            </a:r>
          </a:p>
          <a:p>
            <a:pPr>
              <a:buFont typeface="Wingdings" pitchFamily="2" charset="2"/>
              <a:buChar char="q"/>
            </a:pPr>
            <a:r>
              <a:rPr lang="en-US" sz="2200" dirty="0" smtClean="0">
                <a:solidFill>
                  <a:srgbClr val="FF0066"/>
                </a:solidFill>
                <a:latin typeface="Times New Roman" pitchFamily="18" charset="0"/>
                <a:cs typeface="Times New Roman" pitchFamily="18" charset="0"/>
              </a:rPr>
              <a:t>  Any contravention of the guidelines (or) standards would attract penal action including prison sentence ranging from three months to six years.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Act is not clear about the definition of pollutant, discharge of pollutant, toxic pollutant which allows scope for misinterpretation at the time of decision whether the law is violated (or) not.</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Amendment Act of 1988 requires permission to set up an industry which may discharge effluent.</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914400"/>
            <a:ext cx="7543800" cy="4832092"/>
          </a:xfrm>
          <a:prstGeom prst="rect">
            <a:avLst/>
          </a:prstGeom>
        </p:spPr>
        <p:txBody>
          <a:bodyPr wrap="square">
            <a:spAutoFit/>
          </a:bodyPr>
          <a:lstStyle/>
          <a:p>
            <a:r>
              <a:rPr lang="en-US" sz="2200" b="1" i="1" dirty="0" smtClean="0">
                <a:solidFill>
                  <a:srgbClr val="FFC000"/>
                </a:solidFill>
                <a:latin typeface="Times New Roman" pitchFamily="18" charset="0"/>
                <a:cs typeface="Times New Roman" pitchFamily="18" charset="0"/>
              </a:rPr>
              <a:t>State Pollution Control Board</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 consent of the State Pollution Control Board is needed to Take steps to establish any industry (or) any treatment and disposal system (or) any extension (or) addition there to, which is likely to discharge (or) trade effluent into a stream (or) well (or) river (or) on land.</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Use any new (or) altered outlet for the discharge of a sewage.</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Begin to make any new discharge of sewage. In the event of a violation of the conditions imposed, the State Board may serve on the offender a notice imposing any such conditions as it might establishment, such outlet (or) discharge that is a violation of the conditions.</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143000"/>
            <a:ext cx="8001000" cy="5170646"/>
          </a:xfrm>
          <a:prstGeom prst="rect">
            <a:avLst/>
          </a:prstGeom>
        </p:spPr>
        <p:txBody>
          <a:bodyPr wrap="square">
            <a:spAutoFit/>
          </a:bodyPr>
          <a:lstStyle/>
          <a:p>
            <a:pPr>
              <a:buFont typeface="Wingdings" pitchFamily="2" charset="2"/>
              <a:buChar char="v"/>
            </a:pPr>
            <a:r>
              <a:rPr lang="en-US" sz="2200" dirty="0" smtClean="0">
                <a:solidFill>
                  <a:srgbClr val="FF0066"/>
                </a:solidFill>
                <a:latin typeface="Times New Roman" pitchFamily="18" charset="0"/>
                <a:cs typeface="Times New Roman" pitchFamily="18" charset="0"/>
              </a:rPr>
              <a:t>  The Act further empowers the State Board to order closure (or) stoppage of supply (or) electricity, water (or) any other services to the polluting unit.</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Non-compliance of the order may attract imprisonment for a term of one and half years to six years and fine which may extend to Rupees five thousand for every day, if the default continues.</a:t>
            </a:r>
          </a:p>
          <a:p>
            <a:endParaRPr lang="en-US" sz="2200" dirty="0" smtClean="0">
              <a:latin typeface="Times New Roman" pitchFamily="18" charset="0"/>
              <a:cs typeface="Times New Roman" pitchFamily="18" charset="0"/>
            </a:endParaRPr>
          </a:p>
          <a:p>
            <a:r>
              <a:rPr lang="en-US" sz="2200" b="1" i="1" dirty="0" smtClean="0">
                <a:solidFill>
                  <a:srgbClr val="0000CC"/>
                </a:solidFill>
                <a:latin typeface="Times New Roman" pitchFamily="18" charset="0"/>
                <a:cs typeface="Times New Roman" pitchFamily="18" charset="0"/>
              </a:rPr>
              <a:t>2.10.3 Air (Prevention and Control of Pollution) Act, 1981</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This Act was enacted in the Conference held at Stockholm in 1972.</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It deals with the problems relating to air pollution.</a:t>
            </a:r>
          </a:p>
          <a:p>
            <a:pPr>
              <a:buFont typeface="Wingdings" pitchFamily="2" charset="2"/>
              <a:buChar char="Ø"/>
            </a:pPr>
            <a:r>
              <a:rPr lang="en-US" sz="2200" dirty="0" smtClean="0">
                <a:solidFill>
                  <a:srgbClr val="FF0066"/>
                </a:solidFill>
                <a:latin typeface="Times New Roman" pitchFamily="18" charset="0"/>
                <a:cs typeface="Times New Roman" pitchFamily="18" charset="0"/>
              </a:rPr>
              <a:t>  It envisages the establishment of Central and State Control Boards endowed with absolute powers to monitor air quality and pollution control.</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28343"/>
            <a:ext cx="8001000" cy="4924425"/>
          </a:xfrm>
          <a:prstGeom prst="rect">
            <a:avLst/>
          </a:prstGeom>
        </p:spPr>
        <p:txBody>
          <a:bodyPr wrap="square">
            <a:spAutoFit/>
          </a:bodyPr>
          <a:lstStyle/>
          <a:p>
            <a:r>
              <a:rPr lang="en-US" sz="2200" b="1" dirty="0" smtClean="0">
                <a:solidFill>
                  <a:srgbClr val="FFC000"/>
                </a:solidFill>
                <a:latin typeface="Times New Roman" pitchFamily="18" charset="0"/>
                <a:cs typeface="Times New Roman" pitchFamily="18" charset="0"/>
              </a:rPr>
              <a:t>Objectives of air act are</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to prevent, control and abatement of air pollution,</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to maintain the quality of air,</a:t>
            </a:r>
          </a:p>
          <a:p>
            <a:pPr lvl="1">
              <a:buFont typeface="Wingdings" pitchFamily="2" charset="2"/>
              <a:buChar char="Ø"/>
            </a:pPr>
            <a:r>
              <a:rPr lang="en-US" sz="2200" dirty="0" smtClean="0">
                <a:solidFill>
                  <a:srgbClr val="FF0066"/>
                </a:solidFill>
                <a:latin typeface="Times New Roman" pitchFamily="18" charset="0"/>
                <a:cs typeface="Times New Roman" pitchFamily="18" charset="0"/>
              </a:rPr>
              <a:t>  to establish a board for the prevention and control of air pollution.</a:t>
            </a:r>
          </a:p>
          <a:p>
            <a:r>
              <a:rPr lang="en-US" sz="2200" b="1" dirty="0" smtClean="0">
                <a:solidFill>
                  <a:srgbClr val="FFC000"/>
                </a:solidFill>
                <a:latin typeface="Times New Roman" pitchFamily="18" charset="0"/>
                <a:cs typeface="Times New Roman" pitchFamily="18" charset="0"/>
              </a:rPr>
              <a:t>Important features of Air Act</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Central Board may lay down the standards for the quality of air.</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Central Board co-ordinates and settle disputes between state boards, in addition to providing technical assistance and guidance to State Boards.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State Boards are empowered to lay down the standards for emissions of air pollutants from industrial units (or) automobiles (or) other sources.</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889844"/>
            <a:ext cx="7848600" cy="5847755"/>
          </a:xfrm>
          <a:prstGeom prst="rect">
            <a:avLst/>
          </a:prstGeom>
        </p:spPr>
        <p:txBody>
          <a:bodyPr wrap="square">
            <a:spAutoFit/>
          </a:bodyPr>
          <a:lstStyle/>
          <a:p>
            <a:pPr>
              <a:buFont typeface="Wingdings" pitchFamily="2" charset="2"/>
              <a:buChar char="q"/>
            </a:pPr>
            <a:r>
              <a:rPr lang="en-US" sz="2200" dirty="0" smtClean="0">
                <a:solidFill>
                  <a:srgbClr val="FF0066"/>
                </a:solidFill>
                <a:latin typeface="Times New Roman" pitchFamily="18" charset="0"/>
                <a:cs typeface="Times New Roman" pitchFamily="18" charset="0"/>
              </a:rPr>
              <a:t>  The State Boards are to collect and disseminate information related to air pollution and also to function as inspectorates of air pollution.</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The State Boards are to examine the manufacturing processes and the control of equipment to verify whether they meet the standards prescribed.</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The State Board can advise the State Government to declare certain heavily polluted areas as pollution control areas and can advice to avoid the burning of waste products which cause air pollution in such areas.</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q"/>
            </a:pPr>
            <a:r>
              <a:rPr lang="en-US" sz="2200" dirty="0" smtClean="0">
                <a:solidFill>
                  <a:srgbClr val="FF0066"/>
                </a:solidFill>
                <a:latin typeface="Times New Roman" pitchFamily="18" charset="0"/>
                <a:cs typeface="Times New Roman" pitchFamily="18" charset="0"/>
              </a:rPr>
              <a:t>  The directions of the Central Board are mandatory on State Boards.</a:t>
            </a:r>
          </a:p>
          <a:p>
            <a:pPr>
              <a:buFont typeface="Wingdings" pitchFamily="2" charset="2"/>
              <a:buChar char="q"/>
            </a:pPr>
            <a:endParaRPr lang="en-US" sz="2200" dirty="0" smtClean="0">
              <a:solidFill>
                <a:srgbClr val="FF0066"/>
              </a:solidFill>
              <a:latin typeface="Times New Roman" pitchFamily="18" charset="0"/>
              <a:cs typeface="Times New Roman" pitchFamily="18" charset="0"/>
            </a:endParaRPr>
          </a:p>
          <a:p>
            <a:endParaRPr lang="en-US" sz="2200" dirty="0">
              <a:latin typeface="Times New Roman" pitchFamily="18" charset="0"/>
              <a:cs typeface="Times New Roman" pitchFamily="18" charset="0"/>
            </a:endParaRPr>
          </a:p>
        </p:txBody>
      </p:sp>
    </p:spTree>
  </p:cSld>
  <p:clrMapOvr>
    <a:masterClrMapping/>
  </p:clrMapOvr>
  <p:transition spd="slow">
    <p:push/>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990600"/>
            <a:ext cx="8077200" cy="5509200"/>
          </a:xfrm>
          <a:prstGeom prst="rect">
            <a:avLst/>
          </a:prstGeom>
        </p:spPr>
        <p:txBody>
          <a:bodyPr wrap="square">
            <a:spAutoFit/>
          </a:bodyPr>
          <a:lstStyle/>
          <a:p>
            <a:pPr>
              <a:buFont typeface="Wingdings" pitchFamily="2" charset="2"/>
              <a:buChar char="q"/>
            </a:pPr>
            <a:r>
              <a:rPr lang="en-US" sz="2200" dirty="0" smtClean="0">
                <a:solidFill>
                  <a:srgbClr val="FF0066"/>
                </a:solidFill>
                <a:latin typeface="Times New Roman" pitchFamily="18" charset="0"/>
                <a:cs typeface="Times New Roman" pitchFamily="18" charset="0"/>
              </a:rPr>
              <a:t>  The operation of an industrial unit is prohibited in a heavily polluted areas without the consent of the Central Board’.</a:t>
            </a:r>
          </a:p>
          <a:p>
            <a:endParaRPr lang="en-US" sz="2200" dirty="0" smtClean="0">
              <a:latin typeface="Times New Roman" pitchFamily="18" charset="0"/>
              <a:cs typeface="Times New Roman" pitchFamily="18" charset="0"/>
            </a:endParaRPr>
          </a:p>
          <a:p>
            <a:pPr marL="400050" indent="-400050">
              <a:buFont typeface="Wingdings" pitchFamily="2" charset="2"/>
              <a:buChar char="Ø"/>
            </a:pPr>
            <a:r>
              <a:rPr lang="en-US" sz="2200" dirty="0" smtClean="0">
                <a:solidFill>
                  <a:srgbClr val="FF0066"/>
                </a:solidFill>
                <a:latin typeface="Times New Roman" pitchFamily="18" charset="0"/>
                <a:cs typeface="Times New Roman" pitchFamily="18" charset="0"/>
              </a:rPr>
              <a:t>Violation of law is punishable with imprisonment for a term which may extend to three months (or) fine up to Rupees ten thousand (or) both.</a:t>
            </a:r>
          </a:p>
          <a:p>
            <a:pPr marL="400050" indent="-400050"/>
            <a:endParaRPr lang="en-US" sz="2200" dirty="0" smtClean="0">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This Act applies to all pollution industries. </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 Air Act, like Water Act, confers wide powers on State Boards to order closure of any industrial unit (or) stoppage (or) regulation of supply of water, electricity (or) other services, if it is highly polluting.</a:t>
            </a:r>
          </a:p>
          <a:p>
            <a:endParaRPr lang="en-US" sz="2200" dirty="0" smtClean="0">
              <a:latin typeface="Times New Roman" pitchFamily="18" charset="0"/>
              <a:cs typeface="Times New Roman" pitchFamily="18" charset="0"/>
            </a:endParaRPr>
          </a:p>
          <a:p>
            <a:r>
              <a:rPr lang="en-US" sz="2200" b="1" i="1" dirty="0" smtClean="0">
                <a:solidFill>
                  <a:srgbClr val="0000CC"/>
                </a:solidFill>
                <a:latin typeface="Times New Roman" pitchFamily="18" charset="0"/>
                <a:cs typeface="Times New Roman" pitchFamily="18" charset="0"/>
              </a:rPr>
              <a:t>2.10.4 Forest (Conservation (or) Preservative) Act, 1980</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This act provides conservation of forests and related aspects.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This act also covers all type of forests including reserved forests, protected forests and any forested land.</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62000" y="1028343"/>
            <a:ext cx="7772400" cy="4832092"/>
          </a:xfrm>
          <a:prstGeom prst="rect">
            <a:avLst/>
          </a:prstGeom>
        </p:spPr>
        <p:txBody>
          <a:bodyPr wrap="square">
            <a:spAutoFit/>
          </a:bodyPr>
          <a:lstStyle/>
          <a:p>
            <a:pPr>
              <a:buFont typeface="Wingdings" pitchFamily="2" charset="2"/>
              <a:buChar char="v"/>
            </a:pPr>
            <a:r>
              <a:rPr lang="en-US" sz="2200" dirty="0" smtClean="0">
                <a:solidFill>
                  <a:srgbClr val="FF0066"/>
                </a:solidFill>
                <a:latin typeface="Times New Roman" pitchFamily="18" charset="0"/>
                <a:cs typeface="Times New Roman" pitchFamily="18" charset="0"/>
              </a:rPr>
              <a:t>  This Act is enacted in 1980.</a:t>
            </a:r>
          </a:p>
          <a:p>
            <a:pPr>
              <a:buFont typeface="Wingdings" pitchFamily="2" charset="2"/>
              <a:buChar char="v"/>
            </a:pPr>
            <a:r>
              <a:rPr lang="en-US" sz="2200" dirty="0" smtClean="0">
                <a:solidFill>
                  <a:srgbClr val="FF0066"/>
                </a:solidFill>
                <a:latin typeface="Times New Roman" pitchFamily="18" charset="0"/>
                <a:cs typeface="Times New Roman" pitchFamily="18" charset="0"/>
              </a:rPr>
              <a:t>   It aims at to arrest deforestation.</a:t>
            </a:r>
          </a:p>
          <a:p>
            <a:endParaRPr lang="en-US" sz="2200" dirty="0" smtClean="0">
              <a:solidFill>
                <a:srgbClr val="FFC000"/>
              </a:solidFill>
              <a:latin typeface="Times New Roman" pitchFamily="18" charset="0"/>
              <a:cs typeface="Times New Roman" pitchFamily="18" charset="0"/>
            </a:endParaRPr>
          </a:p>
          <a:p>
            <a:r>
              <a:rPr lang="en-US" sz="2200" b="1" dirty="0" smtClean="0">
                <a:solidFill>
                  <a:srgbClr val="FFC000"/>
                </a:solidFill>
                <a:latin typeface="Times New Roman" pitchFamily="18" charset="0"/>
                <a:cs typeface="Times New Roman" pitchFamily="18" charset="0"/>
              </a:rPr>
              <a:t>Objectives of forest act</a:t>
            </a:r>
          </a:p>
          <a:p>
            <a:pPr lvl="2">
              <a:buFont typeface="Wingdings" pitchFamily="2" charset="2"/>
              <a:buChar char="Ø"/>
            </a:pPr>
            <a:r>
              <a:rPr lang="en-US" sz="2200" dirty="0" smtClean="0">
                <a:solidFill>
                  <a:srgbClr val="FF0066"/>
                </a:solidFill>
                <a:latin typeface="Times New Roman" pitchFamily="18" charset="0"/>
                <a:cs typeface="Times New Roman" pitchFamily="18" charset="0"/>
              </a:rPr>
              <a:t>  to protect and conserve the forest,</a:t>
            </a:r>
          </a:p>
          <a:p>
            <a:pPr lvl="2">
              <a:buFont typeface="Wingdings" pitchFamily="2" charset="2"/>
              <a:buChar char="Ø"/>
            </a:pPr>
            <a:r>
              <a:rPr lang="en-US" sz="2200" dirty="0" smtClean="0">
                <a:solidFill>
                  <a:srgbClr val="FF0066"/>
                </a:solidFill>
                <a:latin typeface="Times New Roman" pitchFamily="18" charset="0"/>
                <a:cs typeface="Times New Roman" pitchFamily="18" charset="0"/>
              </a:rPr>
              <a:t>   to ensure judicious use of forest products.</a:t>
            </a:r>
          </a:p>
          <a:p>
            <a:endParaRPr lang="en-US" sz="2200" dirty="0" smtClean="0">
              <a:latin typeface="Times New Roman" pitchFamily="18" charset="0"/>
              <a:cs typeface="Times New Roman" pitchFamily="18" charset="0"/>
            </a:endParaRPr>
          </a:p>
          <a:p>
            <a:r>
              <a:rPr lang="en-US" sz="2200" b="1" dirty="0" smtClean="0">
                <a:solidFill>
                  <a:srgbClr val="FFC000"/>
                </a:solidFill>
                <a:latin typeface="Times New Roman" pitchFamily="18" charset="0"/>
                <a:cs typeface="Times New Roman" pitchFamily="18" charset="0"/>
              </a:rPr>
              <a:t>Important features of Forest Act</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reserved forests shall not be diverted (or) </a:t>
            </a:r>
            <a:r>
              <a:rPr lang="en-US" sz="2200" dirty="0" err="1" smtClean="0">
                <a:solidFill>
                  <a:srgbClr val="FF0066"/>
                </a:solidFill>
                <a:latin typeface="Times New Roman" pitchFamily="18" charset="0"/>
                <a:cs typeface="Times New Roman" pitchFamily="18" charset="0"/>
              </a:rPr>
              <a:t>dereserved</a:t>
            </a:r>
            <a:r>
              <a:rPr lang="en-US" sz="2200" dirty="0" smtClean="0">
                <a:solidFill>
                  <a:srgbClr val="FF0066"/>
                </a:solidFill>
                <a:latin typeface="Times New Roman" pitchFamily="18" charset="0"/>
                <a:cs typeface="Times New Roman" pitchFamily="18" charset="0"/>
              </a:rPr>
              <a:t> without the prior permission of the central government.</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land that has been notified (or) registered (or) forest land may not be used for non-forest purposes.</a:t>
            </a:r>
          </a:p>
          <a:p>
            <a:pPr>
              <a:buFont typeface="Wingdings" pitchFamily="2" charset="2"/>
              <a:buChar char="q"/>
            </a:pPr>
            <a:r>
              <a:rPr lang="en-US" sz="2200" dirty="0" smtClean="0">
                <a:solidFill>
                  <a:srgbClr val="FF0066"/>
                </a:solidFill>
                <a:latin typeface="Times New Roman" pitchFamily="18" charset="0"/>
                <a:cs typeface="Times New Roman" pitchFamily="18" charset="0"/>
              </a:rPr>
              <a:t>  Any illegal non-forest activity within a forest area can be immediately stopped under act.</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28343"/>
            <a:ext cx="7924800" cy="5509200"/>
          </a:xfrm>
          <a:prstGeom prst="rect">
            <a:avLst/>
          </a:prstGeom>
        </p:spPr>
        <p:txBody>
          <a:bodyPr wrap="square">
            <a:spAutoFit/>
          </a:bodyPr>
          <a:lstStyle/>
          <a:p>
            <a:r>
              <a:rPr lang="en-US" sz="2200" b="1" dirty="0" smtClean="0">
                <a:solidFill>
                  <a:srgbClr val="FFC000"/>
                </a:solidFill>
                <a:latin typeface="Times New Roman" pitchFamily="18" charset="0"/>
                <a:cs typeface="Times New Roman" pitchFamily="18" charset="0"/>
              </a:rPr>
              <a:t>Important features of Amendment Act of 1988</a:t>
            </a:r>
          </a:p>
          <a:p>
            <a:pPr>
              <a:buFont typeface="Wingdings" pitchFamily="2" charset="2"/>
              <a:buChar char="q"/>
            </a:pPr>
            <a:r>
              <a:rPr lang="en-US" sz="2200" dirty="0" smtClean="0">
                <a:solidFill>
                  <a:srgbClr val="FF0066"/>
                </a:solidFill>
                <a:latin typeface="Times New Roman" pitchFamily="18" charset="0"/>
                <a:cs typeface="Times New Roman" pitchFamily="18" charset="0"/>
              </a:rPr>
              <a:t>  Forest departments are forbidden to assign any forest land ‘by way of lease (or) otherwise to any private person’ (or) non-government body for re-</a:t>
            </a:r>
            <a:r>
              <a:rPr lang="en-US" sz="2200" dirty="0" err="1" smtClean="0">
                <a:solidFill>
                  <a:srgbClr val="FF0066"/>
                </a:solidFill>
                <a:latin typeface="Times New Roman" pitchFamily="18" charset="0"/>
                <a:cs typeface="Times New Roman" pitchFamily="18" charset="0"/>
              </a:rPr>
              <a:t>afforestation</a:t>
            </a:r>
            <a:r>
              <a:rPr lang="en-US" sz="2200" dirty="0" smtClean="0">
                <a:solidFill>
                  <a:srgbClr val="FF0066"/>
                </a:solidFill>
                <a:latin typeface="Times New Roman" pitchFamily="18" charset="0"/>
                <a:cs typeface="Times New Roman" pitchFamily="18" charset="0"/>
              </a:rPr>
              <a:t>.</a:t>
            </a:r>
          </a:p>
          <a:p>
            <a:pPr>
              <a:buFont typeface="Wingdings" pitchFamily="2" charset="2"/>
              <a:buChar char="q"/>
            </a:pPr>
            <a:r>
              <a:rPr lang="en-US" sz="2200" dirty="0" smtClean="0">
                <a:solidFill>
                  <a:srgbClr val="FF0066"/>
                </a:solidFill>
                <a:latin typeface="Times New Roman" pitchFamily="18" charset="0"/>
                <a:cs typeface="Times New Roman" pitchFamily="18" charset="0"/>
              </a:rPr>
              <a:t>  Clearance of any forest land of naturally grown trees for the purpose of re-</a:t>
            </a:r>
            <a:r>
              <a:rPr lang="en-US" sz="2200" dirty="0" err="1" smtClean="0">
                <a:solidFill>
                  <a:srgbClr val="FF0066"/>
                </a:solidFill>
                <a:latin typeface="Times New Roman" pitchFamily="18" charset="0"/>
                <a:cs typeface="Times New Roman" pitchFamily="18" charset="0"/>
              </a:rPr>
              <a:t>afforestation</a:t>
            </a:r>
            <a:r>
              <a:rPr lang="en-US" sz="2200" dirty="0" smtClean="0">
                <a:solidFill>
                  <a:srgbClr val="FF0066"/>
                </a:solidFill>
                <a:latin typeface="Times New Roman" pitchFamily="18" charset="0"/>
                <a:cs typeface="Times New Roman" pitchFamily="18" charset="0"/>
              </a:rPr>
              <a:t> is forbidden.</a:t>
            </a:r>
          </a:p>
          <a:p>
            <a:pPr>
              <a:buFont typeface="Wingdings" pitchFamily="2" charset="2"/>
              <a:buChar char="q"/>
            </a:pPr>
            <a:r>
              <a:rPr lang="en-US" sz="2200" dirty="0" smtClean="0">
                <a:solidFill>
                  <a:srgbClr val="FF0066"/>
                </a:solidFill>
                <a:latin typeface="Times New Roman" pitchFamily="18" charset="0"/>
                <a:cs typeface="Times New Roman" pitchFamily="18" charset="0"/>
              </a:rPr>
              <a:t>  The diversion of forest land for non-forest uses is </a:t>
            </a:r>
            <a:r>
              <a:rPr lang="en-US" sz="2200" dirty="0" err="1" smtClean="0">
                <a:solidFill>
                  <a:srgbClr val="FF0066"/>
                </a:solidFill>
                <a:latin typeface="Times New Roman" pitchFamily="18" charset="0"/>
                <a:cs typeface="Times New Roman" pitchFamily="18" charset="0"/>
              </a:rPr>
              <a:t>cognisable</a:t>
            </a:r>
            <a:r>
              <a:rPr lang="en-US" sz="2200" dirty="0" smtClean="0">
                <a:solidFill>
                  <a:srgbClr val="FF0066"/>
                </a:solidFill>
                <a:latin typeface="Times New Roman" pitchFamily="18" charset="0"/>
                <a:cs typeface="Times New Roman" pitchFamily="18" charset="0"/>
              </a:rPr>
              <a:t> offence and any one who violates the law is punishable.</a:t>
            </a:r>
          </a:p>
          <a:p>
            <a:endParaRPr lang="en-US" sz="2200" dirty="0" smtClean="0">
              <a:latin typeface="Times New Roman" pitchFamily="18" charset="0"/>
              <a:cs typeface="Times New Roman" pitchFamily="18" charset="0"/>
            </a:endParaRPr>
          </a:p>
          <a:p>
            <a:r>
              <a:rPr lang="en-US" sz="2200" b="1" i="1" dirty="0" smtClean="0">
                <a:solidFill>
                  <a:srgbClr val="0000CC"/>
                </a:solidFill>
                <a:latin typeface="Times New Roman" pitchFamily="18" charset="0"/>
                <a:cs typeface="Times New Roman" pitchFamily="18" charset="0"/>
              </a:rPr>
              <a:t>2.10.5 Wildlife (Protection) Act, 1972, Amended in 1983, 1986 and 1991</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This act is aimed to protect and preserve wildlife. </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Wild life refers to all animals and plants that are not domesticated.</a:t>
            </a:r>
          </a:p>
          <a:p>
            <a:pPr>
              <a:buFont typeface="Wingdings" pitchFamily="2" charset="2"/>
              <a:buChar char="v"/>
            </a:pPr>
            <a:r>
              <a:rPr lang="en-US" sz="2200" dirty="0" smtClean="0">
                <a:solidFill>
                  <a:srgbClr val="FF0066"/>
                </a:solidFill>
                <a:latin typeface="Times New Roman" pitchFamily="18" charset="0"/>
                <a:cs typeface="Times New Roman" pitchFamily="18" charset="0"/>
              </a:rPr>
              <a:t> </a:t>
            </a:r>
          </a:p>
          <a:p>
            <a:pPr>
              <a:buFont typeface="Wingdings" pitchFamily="2" charset="2"/>
              <a:buChar char="v"/>
            </a:pPr>
            <a:r>
              <a:rPr lang="en-US" sz="2200" dirty="0" smtClean="0">
                <a:solidFill>
                  <a:srgbClr val="FF0066"/>
                </a:solidFill>
                <a:latin typeface="Times New Roman" pitchFamily="18" charset="0"/>
                <a:cs typeface="Times New Roman" pitchFamily="18" charset="0"/>
              </a:rPr>
              <a:t> India has rich wildlife heritage.</a:t>
            </a:r>
          </a:p>
        </p:txBody>
      </p:sp>
    </p:spTree>
  </p:cSld>
  <p:clrMapOvr>
    <a:masterClrMapping/>
  </p:clrMapOvr>
  <p:transition spd="slow">
    <p:push/>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295400"/>
            <a:ext cx="8001000" cy="4832092"/>
          </a:xfrm>
          <a:prstGeom prst="rect">
            <a:avLst/>
          </a:prstGeom>
        </p:spPr>
        <p:txBody>
          <a:bodyPr wrap="square">
            <a:spAutoFit/>
          </a:bodyPr>
          <a:lstStyle/>
          <a:p>
            <a:pPr>
              <a:buFont typeface="Wingdings" pitchFamily="2" charset="2"/>
              <a:buChar char="v"/>
            </a:pPr>
            <a:r>
              <a:rPr lang="en-US" sz="2200" dirty="0" smtClean="0">
                <a:solidFill>
                  <a:srgbClr val="FF0066"/>
                </a:solidFill>
                <a:latin typeface="Times New Roman" pitchFamily="18" charset="0"/>
                <a:cs typeface="Times New Roman" pitchFamily="18" charset="0"/>
              </a:rPr>
              <a:t>  It has 350 species of mammals, 1200 species of birds and about 20,000 known species of insects. </a:t>
            </a:r>
          </a:p>
          <a:p>
            <a:pPr>
              <a:buFont typeface="Wingdings" pitchFamily="2" charset="2"/>
              <a:buChar char="v"/>
            </a:pPr>
            <a:r>
              <a:rPr lang="en-US" sz="2200" dirty="0" smtClean="0">
                <a:solidFill>
                  <a:srgbClr val="FF0066"/>
                </a:solidFill>
                <a:latin typeface="Times New Roman" pitchFamily="18" charset="0"/>
                <a:cs typeface="Times New Roman" pitchFamily="18" charset="0"/>
              </a:rPr>
              <a:t>  Some of them are listed as ‘endangered species’ in the Wildlife (Protection) Act.</a:t>
            </a:r>
          </a:p>
          <a:p>
            <a:pPr>
              <a:buFont typeface="Wingdings" pitchFamily="2" charset="2"/>
              <a:buChar char="v"/>
            </a:pPr>
            <a:r>
              <a:rPr lang="en-US" sz="2200" dirty="0" smtClean="0">
                <a:solidFill>
                  <a:srgbClr val="FF0066"/>
                </a:solidFill>
                <a:latin typeface="Times New Roman" pitchFamily="18" charset="0"/>
                <a:cs typeface="Times New Roman" pitchFamily="18" charset="0"/>
              </a:rPr>
              <a:t>  Wildlife is an integral part of our ecology and plays an essential role in its functioning. </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 wildlife is declining due to human actions, the wildlife products - skins, furs, feathers, ivory etc., have decimated the populations of many species. Wildlife populations are regularly monitored and management strategies formulated to protect them.</a:t>
            </a:r>
          </a:p>
          <a:p>
            <a:endParaRPr lang="en-US" sz="2200" dirty="0" smtClean="0">
              <a:latin typeface="Times New Roman" pitchFamily="18" charset="0"/>
              <a:cs typeface="Times New Roman" pitchFamily="18" charset="0"/>
            </a:endParaRPr>
          </a:p>
          <a:p>
            <a:r>
              <a:rPr lang="en-US" sz="2200" b="1" dirty="0" smtClean="0">
                <a:solidFill>
                  <a:srgbClr val="FFC000"/>
                </a:solidFill>
                <a:latin typeface="Times New Roman" pitchFamily="18" charset="0"/>
                <a:cs typeface="Times New Roman" pitchFamily="18" charset="0"/>
              </a:rPr>
              <a:t>Objectives of the wildlife act</a:t>
            </a:r>
          </a:p>
          <a:p>
            <a:pPr lvl="2">
              <a:buFont typeface="Wingdings" pitchFamily="2" charset="2"/>
              <a:buChar char="Ø"/>
            </a:pPr>
            <a:r>
              <a:rPr lang="en-US" sz="2200" dirty="0" smtClean="0">
                <a:solidFill>
                  <a:srgbClr val="FF0066"/>
                </a:solidFill>
                <a:latin typeface="Times New Roman" pitchFamily="18" charset="0"/>
                <a:cs typeface="Times New Roman" pitchFamily="18" charset="0"/>
              </a:rPr>
              <a:t>  to maintain essential ecological processes and life-supporting systems,</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1166843"/>
            <a:ext cx="7924800" cy="4493538"/>
          </a:xfrm>
          <a:prstGeom prst="rect">
            <a:avLst/>
          </a:prstGeom>
        </p:spPr>
        <p:txBody>
          <a:bodyPr wrap="square">
            <a:spAutoFit/>
          </a:bodyPr>
          <a:lstStyle/>
          <a:p>
            <a:pPr lvl="2">
              <a:buFont typeface="Wingdings" pitchFamily="2" charset="2"/>
              <a:buChar char="Ø"/>
            </a:pPr>
            <a:r>
              <a:rPr lang="en-US" sz="2200" dirty="0" smtClean="0">
                <a:solidFill>
                  <a:srgbClr val="FF0066"/>
                </a:solidFill>
                <a:latin typeface="Times New Roman" pitchFamily="18" charset="0"/>
                <a:cs typeface="Times New Roman" pitchFamily="18" charset="0"/>
              </a:rPr>
              <a:t>  to preserve biodiversity,</a:t>
            </a:r>
          </a:p>
          <a:p>
            <a:pPr lvl="2">
              <a:buFont typeface="Wingdings" pitchFamily="2" charset="2"/>
              <a:buChar char="Ø"/>
            </a:pPr>
            <a:r>
              <a:rPr lang="en-US" sz="2200" dirty="0" smtClean="0">
                <a:solidFill>
                  <a:srgbClr val="FF0066"/>
                </a:solidFill>
                <a:latin typeface="Times New Roman" pitchFamily="18" charset="0"/>
                <a:cs typeface="Times New Roman" pitchFamily="18" charset="0"/>
              </a:rPr>
              <a:t>  to ensure a continuous use of species.</a:t>
            </a:r>
          </a:p>
          <a:p>
            <a:endParaRPr lang="en-US" sz="2200" dirty="0" smtClean="0">
              <a:solidFill>
                <a:srgbClr val="FFC000"/>
              </a:solidFill>
              <a:latin typeface="Times New Roman" pitchFamily="18" charset="0"/>
              <a:cs typeface="Times New Roman" pitchFamily="18" charset="0"/>
            </a:endParaRPr>
          </a:p>
          <a:p>
            <a:r>
              <a:rPr lang="en-US" sz="2200" b="1" dirty="0" smtClean="0">
                <a:solidFill>
                  <a:srgbClr val="FFC000"/>
                </a:solidFill>
                <a:latin typeface="Times New Roman" pitchFamily="18" charset="0"/>
                <a:cs typeface="Times New Roman" pitchFamily="18" charset="0"/>
              </a:rPr>
              <a:t>Important features</a:t>
            </a:r>
          </a:p>
          <a:p>
            <a:pPr>
              <a:buFont typeface="Wingdings" pitchFamily="2" charset="2"/>
              <a:buChar char="v"/>
            </a:pPr>
            <a:r>
              <a:rPr lang="en-US" sz="2200" dirty="0" smtClean="0">
                <a:solidFill>
                  <a:srgbClr val="FF0066"/>
                </a:solidFill>
                <a:latin typeface="Times New Roman" pitchFamily="18" charset="0"/>
                <a:cs typeface="Times New Roman" pitchFamily="18" charset="0"/>
              </a:rPr>
              <a:t>  The act covers the rights and non-rights of forest dwellers.</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It provides restricted grazing in sanctuaries but prohibits in national parks.</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It also prohibits the collection of non-timber forest.</a:t>
            </a:r>
          </a:p>
          <a:p>
            <a:pPr>
              <a:buFont typeface="Wingdings" pitchFamily="2" charset="2"/>
              <a:buChar char="v"/>
            </a:pPr>
            <a:endParaRPr lang="en-US" sz="2200" dirty="0" smtClean="0">
              <a:solidFill>
                <a:srgbClr val="FF0066"/>
              </a:solidFill>
              <a:latin typeface="Times New Roman" pitchFamily="18" charset="0"/>
              <a:cs typeface="Times New Roman" pitchFamily="18" charset="0"/>
            </a:endParaRPr>
          </a:p>
          <a:p>
            <a:pPr>
              <a:buFont typeface="Wingdings" pitchFamily="2" charset="2"/>
              <a:buChar char="v"/>
            </a:pPr>
            <a:r>
              <a:rPr lang="en-US" sz="2200" dirty="0" smtClean="0">
                <a:solidFill>
                  <a:srgbClr val="FF0066"/>
                </a:solidFill>
                <a:latin typeface="Times New Roman" pitchFamily="18" charset="0"/>
                <a:cs typeface="Times New Roman" pitchFamily="18" charset="0"/>
              </a:rPr>
              <a:t>  The rights of forest dwellers recognized by the Forest Policy of 1988 are taken away by the Amended Wild life Act of 1991.</a:t>
            </a:r>
            <a:endParaRPr lang="en-US" sz="2200" dirty="0">
              <a:solidFill>
                <a:srgbClr val="FF0066"/>
              </a:solidFill>
              <a:latin typeface="Times New Roman" pitchFamily="18" charset="0"/>
              <a:cs typeface="Times New Roman" pitchFamily="18" charset="0"/>
            </a:endParaRPr>
          </a:p>
        </p:txBody>
      </p:sp>
    </p:spTree>
  </p:cSld>
  <p:clrMapOvr>
    <a:masterClrMapping/>
  </p:clrMapOvr>
  <p:transition spd="slow">
    <p:push/>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oundry">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602</TotalTime>
  <Words>13032</Words>
  <Application>Microsoft Office PowerPoint</Application>
  <PresentationFormat>On-screen Show (4:3)</PresentationFormat>
  <Paragraphs>1504</Paragraphs>
  <Slides>136</Slides>
  <Notes>0</Notes>
  <HiddenSlides>0</HiddenSlides>
  <MMClips>0</MMClips>
  <ScaleCrop>false</ScaleCrop>
  <HeadingPairs>
    <vt:vector size="4" baseType="variant">
      <vt:variant>
        <vt:lpstr>Theme</vt:lpstr>
      </vt:variant>
      <vt:variant>
        <vt:i4>1</vt:i4>
      </vt:variant>
      <vt:variant>
        <vt:lpstr>Slide Titles</vt:lpstr>
      </vt:variant>
      <vt:variant>
        <vt:i4>136</vt:i4>
      </vt:variant>
    </vt:vector>
  </HeadingPairs>
  <TitlesOfParts>
    <vt:vector size="137" baseType="lpstr">
      <vt:lpstr>Flow</vt:lpstr>
      <vt:lpstr>ENVIRONMENTAL SCIENCES AND SUSTAINABILITY</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vector>
  </TitlesOfParts>
  <Company>Grizli777</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CHEMISTRY</dc:title>
  <dc:creator>SIVA</dc:creator>
  <cp:lastModifiedBy>SIVA</cp:lastModifiedBy>
  <cp:revision>82</cp:revision>
  <dcterms:created xsi:type="dcterms:W3CDTF">2023-01-16T06:22:23Z</dcterms:created>
  <dcterms:modified xsi:type="dcterms:W3CDTF">2023-01-22T17:47:12Z</dcterms:modified>
</cp:coreProperties>
</file>