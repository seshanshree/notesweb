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90" r:id="rId4"/>
    <p:sldId id="291" r:id="rId5"/>
    <p:sldId id="375" r:id="rId6"/>
    <p:sldId id="292" r:id="rId7"/>
    <p:sldId id="293" r:id="rId8"/>
    <p:sldId id="294" r:id="rId9"/>
    <p:sldId id="295" r:id="rId10"/>
    <p:sldId id="296" r:id="rId11"/>
    <p:sldId id="297" r:id="rId12"/>
    <p:sldId id="298" r:id="rId13"/>
    <p:sldId id="299" r:id="rId14"/>
    <p:sldId id="300" r:id="rId15"/>
    <p:sldId id="301" r:id="rId16"/>
    <p:sldId id="302" r:id="rId17"/>
    <p:sldId id="374" r:id="rId18"/>
    <p:sldId id="303" r:id="rId19"/>
    <p:sldId id="304" r:id="rId20"/>
    <p:sldId id="305" r:id="rId21"/>
    <p:sldId id="306" r:id="rId22"/>
    <p:sldId id="307" r:id="rId23"/>
    <p:sldId id="308" r:id="rId24"/>
    <p:sldId id="309" r:id="rId25"/>
    <p:sldId id="310" r:id="rId26"/>
    <p:sldId id="311" r:id="rId27"/>
    <p:sldId id="312" r:id="rId28"/>
    <p:sldId id="376" r:id="rId29"/>
    <p:sldId id="313" r:id="rId30"/>
    <p:sldId id="314" r:id="rId31"/>
    <p:sldId id="315" r:id="rId32"/>
    <p:sldId id="316" r:id="rId33"/>
    <p:sldId id="317" r:id="rId34"/>
    <p:sldId id="37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 id="342" r:id="rId60"/>
    <p:sldId id="343" r:id="rId61"/>
    <p:sldId id="344" r:id="rId62"/>
    <p:sldId id="345" r:id="rId63"/>
    <p:sldId id="346" r:id="rId64"/>
    <p:sldId id="347" r:id="rId65"/>
    <p:sldId id="348" r:id="rId66"/>
    <p:sldId id="349" r:id="rId67"/>
    <p:sldId id="350"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333399"/>
    <a:srgbClr val="996600"/>
    <a:srgbClr val="D6009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16" y="-52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7124A77-F5F2-425A-AD4D-7350CACF6564}" type="datetimeFigureOut">
              <a:rPr lang="en-US" smtClean="0"/>
              <a:pPr/>
              <a:t>6/20/2023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124A77-F5F2-425A-AD4D-7350CACF6564}"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7124A77-F5F2-425A-AD4D-7350CACF6564}"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7124A77-F5F2-425A-AD4D-7350CACF6564}"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7124A77-F5F2-425A-AD4D-7350CACF6564}" type="datetimeFigureOut">
              <a:rPr lang="en-US" smtClean="0"/>
              <a:pPr/>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37124A77-F5F2-425A-AD4D-7350CACF6564}" type="datetimeFigureOut">
              <a:rPr lang="en-US" smtClean="0"/>
              <a:pPr/>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124A77-F5F2-425A-AD4D-7350CACF6564}" type="datetimeFigureOut">
              <a:rPr lang="en-US" smtClean="0"/>
              <a:pPr/>
              <a:t>6/20/2023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7124A77-F5F2-425A-AD4D-7350CACF6564}"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7124A77-F5F2-425A-AD4D-7350CACF6564}" type="datetimeFigureOut">
              <a:rPr lang="en-US" smtClean="0"/>
              <a:pPr/>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FA4776C7-8340-498A-9153-12277FABEE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newsfla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124A77-F5F2-425A-AD4D-7350CACF6564}"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124A77-F5F2-425A-AD4D-7350CACF6564}" type="datetimeFigureOut">
              <a:rPr lang="en-US" smtClean="0"/>
              <a:pPr/>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776C7-8340-498A-9153-12277FABEE23}" type="slidenum">
              <a:rPr lang="en-US" smtClean="0"/>
              <a:pPr/>
              <a:t>‹#›</a:t>
            </a:fld>
            <a:endParaRPr lang="en-US"/>
          </a:p>
        </p:txBody>
      </p:sp>
    </p:spTree>
  </p:cSld>
  <p:clrMapOvr>
    <a:masterClrMapping/>
  </p:clrMapOvr>
  <p:transition spd="slow">
    <p:newsfla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7124A77-F5F2-425A-AD4D-7350CACF6564}" type="datetimeFigureOut">
              <a:rPr lang="en-US" smtClean="0"/>
              <a:pPr/>
              <a:t>6/20/2023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A4776C7-8340-498A-9153-12277FABEE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newsflash/>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295400"/>
            <a:ext cx="8385048" cy="1828800"/>
          </a:xfrm>
        </p:spPr>
        <p:txBody>
          <a:bodyPr>
            <a:noAutofit/>
          </a:bodyPr>
          <a:lstStyle/>
          <a:p>
            <a:r>
              <a:rPr lang="en-US" sz="4500" dirty="0" smtClean="0">
                <a:solidFill>
                  <a:srgbClr val="000099"/>
                </a:solidFill>
                <a:latin typeface="Times New Roman" pitchFamily="18" charset="0"/>
                <a:cs typeface="Times New Roman" pitchFamily="18" charset="0"/>
              </a:rPr>
              <a:t>ENVIRONMENTAL SCIENCES AND SUSTAINABILITY</a:t>
            </a:r>
            <a:endParaRPr lang="en-US" sz="4500" dirty="0"/>
          </a:p>
        </p:txBody>
      </p:sp>
      <p:sp>
        <p:nvSpPr>
          <p:cNvPr id="3" name="Subtitle 2"/>
          <p:cNvSpPr>
            <a:spLocks noGrp="1"/>
          </p:cNvSpPr>
          <p:nvPr>
            <p:ph type="subTitle" idx="1"/>
          </p:nvPr>
        </p:nvSpPr>
        <p:spPr>
          <a:xfrm>
            <a:off x="609600" y="3962400"/>
            <a:ext cx="7854696" cy="1752600"/>
          </a:xfrm>
        </p:spPr>
        <p:txBody>
          <a:bodyPr>
            <a:normAutofit fontScale="92500" lnSpcReduction="10000"/>
          </a:bodyPr>
          <a:lstStyle/>
          <a:p>
            <a:r>
              <a:rPr lang="en-US" dirty="0" smtClean="0">
                <a:solidFill>
                  <a:srgbClr val="009900"/>
                </a:solidFill>
              </a:rPr>
              <a:t>By:</a:t>
            </a:r>
          </a:p>
          <a:p>
            <a:r>
              <a:rPr lang="en-US" dirty="0" smtClean="0">
                <a:solidFill>
                  <a:srgbClr val="009900"/>
                </a:solidFill>
              </a:rPr>
              <a:t>Dr. A. RAVIKRISHNAN,</a:t>
            </a:r>
          </a:p>
          <a:p>
            <a:r>
              <a:rPr lang="en-US" dirty="0" smtClean="0">
                <a:solidFill>
                  <a:srgbClr val="009900"/>
                </a:solidFill>
              </a:rPr>
              <a:t>M.Sc., </a:t>
            </a:r>
            <a:r>
              <a:rPr lang="en-US" dirty="0" err="1" smtClean="0">
                <a:solidFill>
                  <a:srgbClr val="009900"/>
                </a:solidFill>
              </a:rPr>
              <a:t>M.Phil.</a:t>
            </a:r>
            <a:r>
              <a:rPr lang="en-US" dirty="0" smtClean="0">
                <a:solidFill>
                  <a:srgbClr val="009900"/>
                </a:solidFill>
              </a:rPr>
              <a:t>, M.Ed., Ph.D., MISTE., MILCS.,</a:t>
            </a:r>
          </a:p>
          <a:p>
            <a:r>
              <a:rPr lang="en-US" dirty="0" err="1" smtClean="0">
                <a:solidFill>
                  <a:srgbClr val="009900"/>
                </a:solidFill>
              </a:rPr>
              <a:t>Asst.Prof</a:t>
            </a:r>
            <a:r>
              <a:rPr lang="en-US" dirty="0" smtClean="0">
                <a:solidFill>
                  <a:srgbClr val="009900"/>
                </a:solidFill>
              </a:rPr>
              <a:t> of Chemistry.</a:t>
            </a:r>
          </a:p>
          <a:p>
            <a:endParaRPr lang="en-US" dirty="0" smtClean="0">
              <a:solidFill>
                <a:srgbClr val="009900"/>
              </a:solidFill>
            </a:endParaRPr>
          </a:p>
          <a:p>
            <a:endParaRPr lang="en-US" dirty="0" smtClean="0">
              <a:solidFill>
                <a:srgbClr val="009900"/>
              </a:solidFill>
            </a:endParaRPr>
          </a:p>
          <a:p>
            <a:endParaRPr lang="en-US" dirty="0" smtClean="0">
              <a:solidFill>
                <a:srgbClr val="009900"/>
              </a:solidFill>
            </a:endParaRPr>
          </a:p>
          <a:p>
            <a:endParaRPr lang="en-US" dirty="0"/>
          </a:p>
        </p:txBody>
      </p:sp>
    </p:spTree>
  </p:cSld>
  <p:clrMapOvr>
    <a:masterClrMapping/>
  </p:clrMapOvr>
  <p:transition spd="slow">
    <p:newsfla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924800" cy="4955203"/>
          </a:xfrm>
          <a:prstGeom prst="rect">
            <a:avLst/>
          </a:prstGeom>
        </p:spPr>
        <p:txBody>
          <a:bodyPr wrap="square">
            <a:spAutoFit/>
          </a:bodyPr>
          <a:lstStyle/>
          <a:p>
            <a:r>
              <a:rPr lang="en-US" sz="3000" b="1" dirty="0">
                <a:latin typeface="Times New Roman" pitchFamily="18" charset="0"/>
                <a:cs typeface="Times New Roman" pitchFamily="18" charset="0"/>
              </a:rPr>
              <a:t>                </a:t>
            </a:r>
            <a:r>
              <a:rPr lang="en-US" sz="3000" b="1" dirty="0">
                <a:solidFill>
                  <a:srgbClr val="C00000"/>
                </a:solidFill>
                <a:latin typeface="Times New Roman" pitchFamily="18" charset="0"/>
                <a:cs typeface="Times New Roman" pitchFamily="18" charset="0"/>
              </a:rPr>
              <a:t>Sustainability and Management</a:t>
            </a:r>
          </a:p>
          <a:p>
            <a:endParaRPr lang="en-US" sz="2200" b="1" dirty="0">
              <a:solidFill>
                <a:schemeClr val="accent4">
                  <a:lumMod val="75000"/>
                </a:schemeClr>
              </a:solidFill>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4.1 DEVELOPMENT</a:t>
            </a:r>
          </a:p>
          <a:p>
            <a:endParaRPr lang="en-US" sz="2200" b="1"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 true development does not mean a high standard of living with all benefits and an increase in the GNP (Gross National Product) of few countries. </a:t>
            </a:r>
          </a:p>
          <a:p>
            <a:pPr>
              <a:buFont typeface="Wingdings" pitchFamily="2" charset="2"/>
              <a:buChar char="v"/>
            </a:pPr>
            <a:r>
              <a:rPr lang="en-US" sz="2200" dirty="0">
                <a:solidFill>
                  <a:srgbClr val="FF0000"/>
                </a:solidFill>
                <a:latin typeface="Times New Roman" pitchFamily="18" charset="0"/>
                <a:cs typeface="Times New Roman" pitchFamily="18" charset="0"/>
              </a:rPr>
              <a:t>  But it brings benefits to all, not only for the present generation, but also for the future generation.</a:t>
            </a:r>
            <a:endParaRPr lang="en-US" sz="2200" b="1" dirty="0">
              <a:solidFill>
                <a:srgbClr val="FF0000"/>
              </a:solidFill>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Definition</a:t>
            </a:r>
          </a:p>
          <a:p>
            <a:pPr>
              <a:buFont typeface="Wingdings" pitchFamily="2" charset="2"/>
              <a:buChar char="v"/>
            </a:pPr>
            <a:r>
              <a:rPr lang="en-US" sz="2200" dirty="0">
                <a:solidFill>
                  <a:srgbClr val="FF0000"/>
                </a:solidFill>
                <a:latin typeface="Times New Roman" pitchFamily="18" charset="0"/>
                <a:cs typeface="Times New Roman" pitchFamily="18" charset="0"/>
              </a:rPr>
              <a:t>   Development is a process that creates growth progress, positive change in economic, environmental and social component without damaging the resources of the environment.</a:t>
            </a:r>
          </a:p>
        </p:txBody>
      </p:sp>
    </p:spTree>
  </p:cSld>
  <p:clrMapOvr>
    <a:masterClrMapping/>
  </p:clrMapOvr>
  <p:transition spd="slow">
    <p:newsfla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79248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4.1.1 Types of development</a:t>
            </a:r>
          </a:p>
          <a:p>
            <a:endParaRPr lang="en-US" sz="2200" b="1" i="1"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1. National development</a:t>
            </a:r>
          </a:p>
          <a:p>
            <a:pPr>
              <a:buFont typeface="Wingdings" pitchFamily="2" charset="2"/>
              <a:buChar char="v"/>
            </a:pPr>
            <a:r>
              <a:rPr lang="en-US" sz="2200" dirty="0">
                <a:solidFill>
                  <a:srgbClr val="FF0000"/>
                </a:solidFill>
                <a:latin typeface="Times New Roman" pitchFamily="18" charset="0"/>
                <a:cs typeface="Times New Roman" pitchFamily="18" charset="0"/>
              </a:rPr>
              <a:t>  National development starts from the national planning frame work.</a:t>
            </a:r>
          </a:p>
          <a:p>
            <a:pPr>
              <a:buFont typeface="Wingdings" pitchFamily="2" charset="2"/>
              <a:buChar char="v"/>
            </a:pPr>
            <a:r>
              <a:rPr lang="en-US" sz="2200" dirty="0">
                <a:solidFill>
                  <a:srgbClr val="FF0000"/>
                </a:solidFill>
                <a:latin typeface="Times New Roman" pitchFamily="18" charset="0"/>
                <a:cs typeface="Times New Roman" pitchFamily="18" charset="0"/>
              </a:rPr>
              <a:t>  These are developments that would make a significant contributions to overall success (or) its international role.</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Major development</a:t>
            </a:r>
          </a:p>
          <a:p>
            <a:endParaRPr lang="en-US" sz="2200" b="1"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Some categories falling under “major development” includes fish farms, offices, storage and distribution </a:t>
            </a:r>
            <a:r>
              <a:rPr lang="en-US" sz="2200" dirty="0" err="1">
                <a:solidFill>
                  <a:srgbClr val="FF0000"/>
                </a:solidFill>
                <a:latin typeface="Times New Roman" pitchFamily="18" charset="0"/>
                <a:cs typeface="Times New Roman" pitchFamily="18" charset="0"/>
              </a:rPr>
              <a:t>centres</a:t>
            </a:r>
            <a:r>
              <a:rPr lang="en-US" sz="2200" dirty="0">
                <a:solidFill>
                  <a:srgbClr val="FF0000"/>
                </a:solidFill>
                <a:latin typeface="Times New Roman" pitchFamily="18" charset="0"/>
                <a:cs typeface="Times New Roman" pitchFamily="18" charset="0"/>
              </a:rPr>
              <a:t>, housing estates, </a:t>
            </a:r>
            <a:r>
              <a:rPr lang="en-US" sz="2200" dirty="0" err="1">
                <a:solidFill>
                  <a:srgbClr val="FF0000"/>
                </a:solidFill>
                <a:latin typeface="Times New Roman" pitchFamily="18" charset="0"/>
                <a:cs typeface="Times New Roman" pitchFamily="18" charset="0"/>
              </a:rPr>
              <a:t>renewables</a:t>
            </a:r>
            <a:r>
              <a:rPr lang="en-US" sz="2200" dirty="0">
                <a:solidFill>
                  <a:srgbClr val="FF0000"/>
                </a:solidFill>
                <a:latin typeface="Times New Roman" pitchFamily="18" charset="0"/>
                <a:cs typeface="Times New Roman" pitchFamily="18" charset="0"/>
              </a:rPr>
              <a:t>, waste management (or) </a:t>
            </a:r>
            <a:r>
              <a:rPr lang="fr-FR" sz="2200" dirty="0" err="1">
                <a:solidFill>
                  <a:srgbClr val="FF0000"/>
                </a:solidFill>
                <a:latin typeface="Times New Roman" pitchFamily="18" charset="0"/>
                <a:cs typeface="Times New Roman" pitchFamily="18" charset="0"/>
              </a:rPr>
              <a:t>disposal</a:t>
            </a:r>
            <a:r>
              <a:rPr lang="fr-FR" sz="2200" dirty="0">
                <a:solidFill>
                  <a:srgbClr val="FF0000"/>
                </a:solidFill>
                <a:latin typeface="Times New Roman" pitchFamily="18" charset="0"/>
                <a:cs typeface="Times New Roman" pitchFamily="18" charset="0"/>
              </a:rPr>
              <a:t> </a:t>
            </a:r>
            <a:r>
              <a:rPr lang="fr-FR" sz="2200" dirty="0" err="1">
                <a:solidFill>
                  <a:srgbClr val="FF0000"/>
                </a:solidFill>
                <a:latin typeface="Times New Roman" pitchFamily="18" charset="0"/>
                <a:cs typeface="Times New Roman" pitchFamily="18" charset="0"/>
              </a:rPr>
              <a:t>facilities</a:t>
            </a:r>
            <a:r>
              <a:rPr lang="fr-FR" sz="2200" dirty="0">
                <a:solidFill>
                  <a:srgbClr val="FF0000"/>
                </a:solidFill>
                <a:latin typeface="Times New Roman" pitchFamily="18" charset="0"/>
                <a:cs typeface="Times New Roman" pitchFamily="18" charset="0"/>
              </a:rPr>
              <a:t>, </a:t>
            </a:r>
            <a:r>
              <a:rPr lang="fr-FR" sz="2200" dirty="0" err="1">
                <a:solidFill>
                  <a:srgbClr val="FF0000"/>
                </a:solidFill>
                <a:latin typeface="Times New Roman" pitchFamily="18" charset="0"/>
                <a:cs typeface="Times New Roman" pitchFamily="18" charset="0"/>
              </a:rPr>
              <a:t>mineral</a:t>
            </a:r>
            <a:r>
              <a:rPr lang="fr-FR" sz="2200" dirty="0">
                <a:solidFill>
                  <a:srgbClr val="FF0000"/>
                </a:solidFill>
                <a:latin typeface="Times New Roman" pitchFamily="18" charset="0"/>
                <a:cs typeface="Times New Roman" pitchFamily="18" charset="0"/>
              </a:rPr>
              <a:t> extraction sites, etc.,</a:t>
            </a:r>
          </a:p>
          <a:p>
            <a:endParaRPr lang="en-US" sz="2200" dirty="0">
              <a:latin typeface="Times New Roman" pitchFamily="18" charset="0"/>
              <a:cs typeface="Times New Roman" pitchFamily="18" charset="0"/>
            </a:endParaRPr>
          </a:p>
        </p:txBody>
      </p:sp>
    </p:spTree>
  </p:cSld>
  <p:clrMapOvr>
    <a:masterClrMapping/>
  </p:clrMapOvr>
  <p:transition spd="slow">
    <p:newsfla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772400" cy="5509200"/>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3. Local development</a:t>
            </a:r>
          </a:p>
          <a:p>
            <a:pPr>
              <a:buFont typeface="Wingdings" pitchFamily="2" charset="2"/>
              <a:buChar char="v"/>
            </a:pPr>
            <a:r>
              <a:rPr lang="en-US" sz="2200" dirty="0">
                <a:solidFill>
                  <a:srgbClr val="FF0000"/>
                </a:solidFill>
                <a:latin typeface="Times New Roman" pitchFamily="18" charset="0"/>
                <a:cs typeface="Times New Roman" pitchFamily="18" charset="0"/>
              </a:rPr>
              <a:t>   This is the most common form of development and comprises of small scale developments including house extensions, conversions, small and medium housing, industrial development and small scale renewable developments</a:t>
            </a:r>
          </a:p>
          <a:p>
            <a:endParaRPr lang="en-US" sz="2200" b="1" i="1"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4.1.2 Principles of development</a:t>
            </a:r>
          </a:p>
          <a:p>
            <a:pPr>
              <a:buFont typeface="Wingdings" pitchFamily="2" charset="2"/>
              <a:buChar char="Ø"/>
            </a:pPr>
            <a:r>
              <a:rPr lang="en-US" sz="2200" dirty="0">
                <a:solidFill>
                  <a:srgbClr val="FF0000"/>
                </a:solidFill>
                <a:latin typeface="Times New Roman" pitchFamily="18" charset="0"/>
                <a:cs typeface="Times New Roman" pitchFamily="18" charset="0"/>
              </a:rPr>
              <a:t>The following 7 principles are the important for the development.</a:t>
            </a:r>
          </a:p>
          <a:p>
            <a:endParaRPr lang="en-US" sz="2200" dirty="0">
              <a:solidFill>
                <a:srgbClr val="FF0000"/>
              </a:solidFill>
              <a:latin typeface="Times New Roman" pitchFamily="18" charset="0"/>
              <a:cs typeface="Times New Roman" pitchFamily="18" charset="0"/>
            </a:endParaRPr>
          </a:p>
          <a:p>
            <a:pPr lvl="3">
              <a:buFont typeface="Wingdings" pitchFamily="2" charset="2"/>
              <a:buChar char="ü"/>
            </a:pPr>
            <a:r>
              <a:rPr lang="en-US" sz="2200" dirty="0">
                <a:solidFill>
                  <a:srgbClr val="008000"/>
                </a:solidFill>
                <a:latin typeface="Times New Roman" pitchFamily="18" charset="0"/>
                <a:cs typeface="Times New Roman" pitchFamily="18" charset="0"/>
              </a:rPr>
              <a:t>  Equitable use.</a:t>
            </a:r>
          </a:p>
          <a:p>
            <a:pPr lvl="3">
              <a:buFont typeface="Wingdings" pitchFamily="2" charset="2"/>
              <a:buChar char="ü"/>
            </a:pPr>
            <a:r>
              <a:rPr lang="en-US" sz="2200" dirty="0">
                <a:solidFill>
                  <a:srgbClr val="008000"/>
                </a:solidFill>
                <a:latin typeface="Times New Roman" pitchFamily="18" charset="0"/>
                <a:cs typeface="Times New Roman" pitchFamily="18" charset="0"/>
              </a:rPr>
              <a:t>  Flexibility in use.</a:t>
            </a:r>
          </a:p>
          <a:p>
            <a:pPr lvl="3">
              <a:buFont typeface="Wingdings" pitchFamily="2" charset="2"/>
              <a:buChar char="ü"/>
            </a:pPr>
            <a:r>
              <a:rPr lang="en-US" sz="2200" dirty="0">
                <a:solidFill>
                  <a:srgbClr val="008000"/>
                </a:solidFill>
                <a:latin typeface="Times New Roman" pitchFamily="18" charset="0"/>
                <a:cs typeface="Times New Roman" pitchFamily="18" charset="0"/>
              </a:rPr>
              <a:t>  Simple and intuitive use.</a:t>
            </a:r>
          </a:p>
          <a:p>
            <a:pPr lvl="3">
              <a:buFont typeface="Wingdings" pitchFamily="2" charset="2"/>
              <a:buChar char="ü"/>
            </a:pPr>
            <a:r>
              <a:rPr lang="en-US" sz="2200" dirty="0">
                <a:solidFill>
                  <a:srgbClr val="008000"/>
                </a:solidFill>
                <a:latin typeface="Times New Roman" pitchFamily="18" charset="0"/>
                <a:cs typeface="Times New Roman" pitchFamily="18" charset="0"/>
              </a:rPr>
              <a:t>  Perceptible information.</a:t>
            </a:r>
          </a:p>
          <a:p>
            <a:pPr lvl="3">
              <a:buFont typeface="Wingdings" pitchFamily="2" charset="2"/>
              <a:buChar char="ü"/>
            </a:pPr>
            <a:r>
              <a:rPr lang="en-US" sz="2200" dirty="0">
                <a:solidFill>
                  <a:srgbClr val="008000"/>
                </a:solidFill>
                <a:latin typeface="Times New Roman" pitchFamily="18" charset="0"/>
                <a:cs typeface="Times New Roman" pitchFamily="18" charset="0"/>
              </a:rPr>
              <a:t>  Tolerance for error.</a:t>
            </a:r>
          </a:p>
          <a:p>
            <a:pPr lvl="3">
              <a:buFont typeface="Wingdings" pitchFamily="2" charset="2"/>
              <a:buChar char="ü"/>
            </a:pPr>
            <a:r>
              <a:rPr lang="en-US" sz="2200" dirty="0">
                <a:solidFill>
                  <a:srgbClr val="008000"/>
                </a:solidFill>
                <a:latin typeface="Times New Roman" pitchFamily="18" charset="0"/>
                <a:cs typeface="Times New Roman" pitchFamily="18" charset="0"/>
              </a:rPr>
              <a:t>  Low physical effort.</a:t>
            </a:r>
          </a:p>
          <a:p>
            <a:pPr lvl="3">
              <a:buFont typeface="Wingdings" pitchFamily="2" charset="2"/>
              <a:buChar char="ü"/>
            </a:pPr>
            <a:r>
              <a:rPr lang="en-US" sz="2200" dirty="0">
                <a:solidFill>
                  <a:srgbClr val="008000"/>
                </a:solidFill>
                <a:latin typeface="Times New Roman" pitchFamily="18" charset="0"/>
                <a:cs typeface="Times New Roman" pitchFamily="18" charset="0"/>
              </a:rPr>
              <a:t>  Size and space for approach and use.</a:t>
            </a:r>
          </a:p>
        </p:txBody>
      </p:sp>
    </p:spTree>
  </p:cSld>
  <p:clrMapOvr>
    <a:masterClrMapping/>
  </p:clrMapOvr>
  <p:transition spd="slow">
    <p:newsfla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AppData\Local\Temp\ksohtml\wps5249.tmp.png"/>
          <p:cNvPicPr>
            <a:picLocks noChangeAspect="1" noChangeArrowheads="1"/>
          </p:cNvPicPr>
          <p:nvPr/>
        </p:nvPicPr>
        <p:blipFill>
          <a:blip r:embed="rId2"/>
          <a:srcRect/>
          <a:stretch>
            <a:fillRect/>
          </a:stretch>
        </p:blipFill>
        <p:spPr bwMode="auto">
          <a:xfrm>
            <a:off x="838200" y="1752600"/>
            <a:ext cx="7086600" cy="4572000"/>
          </a:xfrm>
          <a:prstGeom prst="rect">
            <a:avLst/>
          </a:prstGeom>
          <a:noFill/>
        </p:spPr>
      </p:pic>
      <p:sp>
        <p:nvSpPr>
          <p:cNvPr id="1027" name="Rectangle 3"/>
          <p:cNvSpPr>
            <a:spLocks noChangeArrowheads="1"/>
          </p:cNvSpPr>
          <p:nvPr/>
        </p:nvSpPr>
        <p:spPr bwMode="auto">
          <a:xfrm>
            <a:off x="2286000" y="838200"/>
            <a:ext cx="4419600" cy="7694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00FFFF"/>
                </a:solidFill>
                <a:effectLst/>
                <a:latin typeface="Times New Roman" pitchFamily="18" charset="0"/>
                <a:cs typeface="Times New Roman" pitchFamily="18" charset="0"/>
              </a:rPr>
              <a:t>Fig. 4.1 Types of developments</a:t>
            </a: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transition spd="slow">
    <p:newsfla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8077200" cy="4832092"/>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4.1.3 Characteristics of development</a:t>
            </a:r>
          </a:p>
          <a:p>
            <a:pPr lvl="1">
              <a:buFont typeface="Wingdings" pitchFamily="2" charset="2"/>
              <a:buChar char="Ø"/>
            </a:pPr>
            <a:r>
              <a:rPr lang="en-US" sz="2200" dirty="0">
                <a:solidFill>
                  <a:srgbClr val="FF0000"/>
                </a:solidFill>
                <a:latin typeface="Times New Roman" pitchFamily="18" charset="0"/>
                <a:cs typeface="Times New Roman" pitchFamily="18" charset="0"/>
              </a:rPr>
              <a:t>  It is a continuous process.</a:t>
            </a:r>
          </a:p>
          <a:p>
            <a:pPr lvl="1">
              <a:buFont typeface="Wingdings" pitchFamily="2" charset="2"/>
              <a:buChar char="Ø"/>
            </a:pPr>
            <a:r>
              <a:rPr lang="en-US" sz="2200" dirty="0">
                <a:solidFill>
                  <a:srgbClr val="FF0000"/>
                </a:solidFill>
                <a:latin typeface="Times New Roman" pitchFamily="18" charset="0"/>
                <a:cs typeface="Times New Roman" pitchFamily="18" charset="0"/>
              </a:rPr>
              <a:t>  It is the result of interaction of individual and environment.</a:t>
            </a:r>
          </a:p>
          <a:p>
            <a:pPr lvl="1">
              <a:buFont typeface="Wingdings" pitchFamily="2" charset="2"/>
              <a:buChar char="Ø"/>
            </a:pPr>
            <a:r>
              <a:rPr lang="en-US" sz="2200" dirty="0">
                <a:solidFill>
                  <a:srgbClr val="FF0000"/>
                </a:solidFill>
                <a:latin typeface="Times New Roman" pitchFamily="18" charset="0"/>
                <a:cs typeface="Times New Roman" pitchFamily="18" charset="0"/>
              </a:rPr>
              <a:t>  It is predictable.</a:t>
            </a:r>
          </a:p>
          <a:p>
            <a:pPr lvl="1">
              <a:buFont typeface="Wingdings" pitchFamily="2" charset="2"/>
              <a:buChar char="Ø"/>
            </a:pPr>
            <a:r>
              <a:rPr lang="en-US" sz="2200" dirty="0">
                <a:solidFill>
                  <a:srgbClr val="FF0000"/>
                </a:solidFill>
                <a:latin typeface="Times New Roman" pitchFamily="18" charset="0"/>
                <a:cs typeface="Times New Roman" pitchFamily="18" charset="0"/>
              </a:rPr>
              <a:t>  It is both quantitative and qualitative.</a:t>
            </a:r>
          </a:p>
          <a:p>
            <a:pPr lvl="1">
              <a:buFont typeface="Wingdings" pitchFamily="2" charset="2"/>
              <a:buChar char="Ø"/>
            </a:pPr>
            <a:r>
              <a:rPr lang="en-US" sz="2200" dirty="0">
                <a:solidFill>
                  <a:srgbClr val="FF0000"/>
                </a:solidFill>
                <a:latin typeface="Times New Roman" pitchFamily="18" charset="0"/>
                <a:cs typeface="Times New Roman" pitchFamily="18" charset="0"/>
              </a:rPr>
              <a:t>  It follows a particular pattern like infancy, childhood, adolescence and maturity.</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4.1.4 Steps involved in concept development</a:t>
            </a:r>
          </a:p>
          <a:p>
            <a:pPr>
              <a:buFont typeface="Wingdings" pitchFamily="2" charset="2"/>
              <a:buChar char="q"/>
            </a:pPr>
            <a:r>
              <a:rPr lang="en-US" sz="2200" dirty="0">
                <a:solidFill>
                  <a:srgbClr val="FF0000"/>
                </a:solidFill>
                <a:latin typeface="Times New Roman" pitchFamily="18" charset="0"/>
                <a:cs typeface="Times New Roman" pitchFamily="18" charset="0"/>
              </a:rPr>
              <a:t>  There are 5 important steps involved, in the development process.</a:t>
            </a:r>
          </a:p>
          <a:p>
            <a:endParaRPr lang="en-US" sz="2200" dirty="0">
              <a:latin typeface="Times New Roman" pitchFamily="18" charset="0"/>
              <a:cs typeface="Times New Roman" pitchFamily="18" charset="0"/>
            </a:endParaRPr>
          </a:p>
          <a:p>
            <a:r>
              <a:rPr lang="en-US" sz="2200" dirty="0">
                <a:solidFill>
                  <a:srgbClr val="000099"/>
                </a:solidFill>
                <a:latin typeface="Times New Roman" pitchFamily="18" charset="0"/>
                <a:cs typeface="Times New Roman" pitchFamily="18" charset="0"/>
              </a:rPr>
              <a:t>Step 1: </a:t>
            </a:r>
            <a:r>
              <a:rPr lang="en-US" sz="2200" dirty="0">
                <a:solidFill>
                  <a:srgbClr val="008000"/>
                </a:solidFill>
                <a:latin typeface="Times New Roman" pitchFamily="18" charset="0"/>
                <a:cs typeface="Times New Roman" pitchFamily="18" charset="0"/>
              </a:rPr>
              <a:t>Brain storming to create a pool of potential product (or) service concept.</a:t>
            </a:r>
          </a:p>
          <a:p>
            <a:r>
              <a:rPr lang="en-US" sz="2200" dirty="0">
                <a:solidFill>
                  <a:srgbClr val="000099"/>
                </a:solidFill>
                <a:latin typeface="Times New Roman" pitchFamily="18" charset="0"/>
                <a:cs typeface="Times New Roman" pitchFamily="18" charset="0"/>
              </a:rPr>
              <a:t>Step 2: </a:t>
            </a:r>
            <a:r>
              <a:rPr lang="en-US" sz="2200" dirty="0">
                <a:solidFill>
                  <a:srgbClr val="008000"/>
                </a:solidFill>
                <a:latin typeface="Times New Roman" pitchFamily="18" charset="0"/>
                <a:cs typeface="Times New Roman" pitchFamily="18" charset="0"/>
              </a:rPr>
              <a:t>Performing customer research to target your ideal customer.</a:t>
            </a:r>
          </a:p>
        </p:txBody>
      </p:sp>
    </p:spTree>
  </p:cSld>
  <p:clrMapOvr>
    <a:masterClrMapping/>
  </p:clrMapOvr>
  <p:transition spd="slow">
    <p:newsfla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38200"/>
            <a:ext cx="8153400" cy="5847755"/>
          </a:xfrm>
          <a:prstGeom prst="rect">
            <a:avLst/>
          </a:prstGeom>
        </p:spPr>
        <p:txBody>
          <a:bodyPr wrap="square">
            <a:spAutoFit/>
          </a:bodyPr>
          <a:lstStyle/>
          <a:p>
            <a:r>
              <a:rPr lang="en-US" sz="2200" dirty="0">
                <a:solidFill>
                  <a:srgbClr val="000099"/>
                </a:solidFill>
                <a:latin typeface="Times New Roman" pitchFamily="18" charset="0"/>
                <a:cs typeface="Times New Roman" pitchFamily="18" charset="0"/>
              </a:rPr>
              <a:t>Step 3</a:t>
            </a:r>
            <a:r>
              <a:rPr lang="en-US" sz="2200" dirty="0">
                <a:solidFill>
                  <a:srgbClr val="008000"/>
                </a:solidFill>
                <a:latin typeface="Times New Roman" pitchFamily="18" charset="0"/>
                <a:cs typeface="Times New Roman" pitchFamily="18" charset="0"/>
              </a:rPr>
              <a:t>: Estimating the market potential for your product (or) service concept.</a:t>
            </a:r>
          </a:p>
          <a:p>
            <a:r>
              <a:rPr lang="en-US" sz="2200" dirty="0">
                <a:solidFill>
                  <a:srgbClr val="000099"/>
                </a:solidFill>
                <a:latin typeface="Times New Roman" pitchFamily="18" charset="0"/>
                <a:cs typeface="Times New Roman" pitchFamily="18" charset="0"/>
              </a:rPr>
              <a:t>Step 4:</a:t>
            </a:r>
            <a:r>
              <a:rPr lang="en-US" sz="2200" dirty="0">
                <a:solidFill>
                  <a:srgbClr val="008000"/>
                </a:solidFill>
                <a:latin typeface="Times New Roman" pitchFamily="18" charset="0"/>
                <a:cs typeface="Times New Roman" pitchFamily="18" charset="0"/>
              </a:rPr>
              <a:t>Creating a prototype for your product.</a:t>
            </a:r>
          </a:p>
          <a:p>
            <a:r>
              <a:rPr lang="en-US" sz="2200" dirty="0">
                <a:solidFill>
                  <a:srgbClr val="000099"/>
                </a:solidFill>
                <a:latin typeface="Times New Roman" pitchFamily="18" charset="0"/>
                <a:cs typeface="Times New Roman" pitchFamily="18" charset="0"/>
              </a:rPr>
              <a:t>Step 5</a:t>
            </a:r>
            <a:r>
              <a:rPr lang="en-US" sz="2200" dirty="0">
                <a:latin typeface="Times New Roman" pitchFamily="18" charset="0"/>
                <a:cs typeface="Times New Roman" pitchFamily="18" charset="0"/>
              </a:rPr>
              <a:t>:</a:t>
            </a:r>
            <a:r>
              <a:rPr lang="en-US" sz="2200" dirty="0">
                <a:solidFill>
                  <a:srgbClr val="008000"/>
                </a:solidFill>
                <a:latin typeface="Times New Roman" pitchFamily="18" charset="0"/>
                <a:cs typeface="Times New Roman" pitchFamily="18" charset="0"/>
              </a:rPr>
              <a:t>Devising a marketing strategy.</a:t>
            </a:r>
          </a:p>
          <a:p>
            <a:endParaRPr lang="en-US" sz="2200" dirty="0">
              <a:solidFill>
                <a:srgbClr val="996600"/>
              </a:solidFill>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4.1.5 Effects of development</a:t>
            </a:r>
          </a:p>
          <a:p>
            <a:pPr>
              <a:buFont typeface="Wingdings" pitchFamily="2" charset="2"/>
              <a:buChar char="q"/>
            </a:pPr>
            <a:r>
              <a:rPr lang="en-US" sz="2200" dirty="0">
                <a:solidFill>
                  <a:srgbClr val="FF0000"/>
                </a:solidFill>
                <a:latin typeface="Times New Roman" pitchFamily="18" charset="0"/>
                <a:cs typeface="Times New Roman" pitchFamily="18" charset="0"/>
              </a:rPr>
              <a:t>  It increases wealth (or) reduces poverty.</a:t>
            </a:r>
          </a:p>
          <a:p>
            <a:pPr>
              <a:buFont typeface="Wingdings" pitchFamily="2" charset="2"/>
              <a:buChar char="q"/>
            </a:pPr>
            <a:r>
              <a:rPr lang="en-US" sz="2200" dirty="0">
                <a:solidFill>
                  <a:srgbClr val="FF0000"/>
                </a:solidFill>
                <a:latin typeface="Times New Roman" pitchFamily="18" charset="0"/>
                <a:cs typeface="Times New Roman" pitchFamily="18" charset="0"/>
              </a:rPr>
              <a:t>  It improves standards of living, health, education, infrastructure and technology.</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4.1.6 Factors affecting development</a:t>
            </a:r>
          </a:p>
          <a:p>
            <a:pPr>
              <a:buFont typeface="Wingdings" pitchFamily="2" charset="2"/>
              <a:buChar char="q"/>
            </a:pPr>
            <a:r>
              <a:rPr lang="en-US" sz="2200" dirty="0">
                <a:solidFill>
                  <a:srgbClr val="FF0000"/>
                </a:solidFill>
                <a:latin typeface="Times New Roman" pitchFamily="18" charset="0"/>
                <a:cs typeface="Times New Roman" pitchFamily="18" charset="0"/>
              </a:rPr>
              <a:t>   Followings are the important economic factors affecting development.</a:t>
            </a:r>
          </a:p>
          <a:p>
            <a:r>
              <a:rPr lang="en-US" sz="2200" b="1" dirty="0">
                <a:solidFill>
                  <a:srgbClr val="000099"/>
                </a:solidFill>
                <a:latin typeface="Times New Roman" pitchFamily="18" charset="0"/>
                <a:cs typeface="Times New Roman" pitchFamily="18" charset="0"/>
              </a:rPr>
              <a:t>1. Natural resources</a:t>
            </a:r>
          </a:p>
          <a:p>
            <a:r>
              <a:rPr lang="en-US" sz="2200" b="1" i="1" dirty="0">
                <a:latin typeface="Times New Roman" pitchFamily="18" charset="0"/>
                <a:cs typeface="Times New Roman" pitchFamily="18" charset="0"/>
              </a:rPr>
              <a:t>Examples: </a:t>
            </a:r>
            <a:r>
              <a:rPr lang="en-US" sz="2200" b="1" i="1" dirty="0">
                <a:solidFill>
                  <a:srgbClr val="996600"/>
                </a:solidFill>
                <a:latin typeface="Times New Roman" pitchFamily="18" charset="0"/>
                <a:cs typeface="Times New Roman" pitchFamily="18" charset="0"/>
              </a:rPr>
              <a:t>Trees, soil, water, minerals, coal, oil, etc.,</a:t>
            </a:r>
          </a:p>
          <a:p>
            <a:pPr>
              <a:buFont typeface="Wingdings" pitchFamily="2" charset="2"/>
              <a:buChar char="v"/>
            </a:pPr>
            <a:r>
              <a:rPr lang="en-US" sz="2200" dirty="0">
                <a:solidFill>
                  <a:srgbClr val="FF0000"/>
                </a:solidFill>
                <a:latin typeface="Times New Roman" pitchFamily="18" charset="0"/>
                <a:cs typeface="Times New Roman" pitchFamily="18" charset="0"/>
              </a:rPr>
              <a:t>  They help countries develop by creating jobs and increasing their wealth through the sales.</a:t>
            </a:r>
          </a:p>
        </p:txBody>
      </p:sp>
    </p:spTree>
  </p:cSld>
  <p:clrMapOvr>
    <a:masterClrMapping/>
  </p:clrMapOvr>
  <p:transition spd="slow">
    <p:newsfla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0"/>
            <a:ext cx="8382000" cy="5847755"/>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2. Power and energy resources</a:t>
            </a:r>
          </a:p>
          <a:p>
            <a:r>
              <a:rPr lang="en-US" sz="2200" b="1" i="1" dirty="0">
                <a:latin typeface="Times New Roman" pitchFamily="18" charset="0"/>
                <a:cs typeface="Times New Roman" pitchFamily="18" charset="0"/>
              </a:rPr>
              <a:t>Examples: </a:t>
            </a:r>
            <a:r>
              <a:rPr lang="en-US" sz="2200" b="1" i="1" dirty="0">
                <a:solidFill>
                  <a:srgbClr val="996600"/>
                </a:solidFill>
                <a:latin typeface="Times New Roman" pitchFamily="18" charset="0"/>
                <a:cs typeface="Times New Roman" pitchFamily="18" charset="0"/>
              </a:rPr>
              <a:t>Oil, gas, coal and water.</a:t>
            </a:r>
          </a:p>
          <a:p>
            <a:pPr>
              <a:buFont typeface="Wingdings" pitchFamily="2" charset="2"/>
              <a:buChar char="v"/>
            </a:pPr>
            <a:r>
              <a:rPr lang="en-US" sz="2200" dirty="0">
                <a:solidFill>
                  <a:srgbClr val="FF0000"/>
                </a:solidFill>
                <a:latin typeface="Times New Roman" pitchFamily="18" charset="0"/>
                <a:cs typeface="Times New Roman" pitchFamily="18" charset="0"/>
              </a:rPr>
              <a:t>  They, being natural, can be mined and sold quickly.</a:t>
            </a:r>
          </a:p>
          <a:p>
            <a:pPr>
              <a:buFont typeface="Wingdings" pitchFamily="2" charset="2"/>
              <a:buChar char="v"/>
            </a:pPr>
            <a:r>
              <a:rPr lang="en-US" sz="2200" dirty="0">
                <a:solidFill>
                  <a:srgbClr val="FF0000"/>
                </a:solidFill>
                <a:latin typeface="Times New Roman" pitchFamily="18" charset="0"/>
                <a:cs typeface="Times New Roman" pitchFamily="18" charset="0"/>
              </a:rPr>
              <a:t>  They are important for producing power and energy within the country.</a:t>
            </a:r>
          </a:p>
          <a:p>
            <a:endParaRPr lang="en-US" sz="2200" dirty="0">
              <a:solidFill>
                <a:srgbClr val="000099"/>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3. Capital accumulation</a:t>
            </a:r>
          </a:p>
          <a:p>
            <a:pPr>
              <a:buFont typeface="Wingdings" pitchFamily="2" charset="2"/>
              <a:buChar char="v"/>
            </a:pPr>
            <a:r>
              <a:rPr lang="en-US" sz="2200" dirty="0">
                <a:solidFill>
                  <a:srgbClr val="FF0000"/>
                </a:solidFill>
                <a:latin typeface="Times New Roman" pitchFamily="18" charset="0"/>
                <a:cs typeface="Times New Roman" pitchFamily="18" charset="0"/>
              </a:rPr>
              <a:t>  If a country has more capital, it can creates more job. Low capital countries may have a low living wage and high unemployment.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4. Technological resources</a:t>
            </a:r>
          </a:p>
          <a:p>
            <a:r>
              <a:rPr lang="fr-FR" sz="2200" b="1" i="1" dirty="0" err="1">
                <a:latin typeface="Times New Roman" pitchFamily="18" charset="0"/>
                <a:cs typeface="Times New Roman" pitchFamily="18" charset="0"/>
              </a:rPr>
              <a:t>Examples</a:t>
            </a:r>
            <a:r>
              <a:rPr lang="fr-FR" sz="2200" b="1" i="1" dirty="0">
                <a:latin typeface="Times New Roman" pitchFamily="18" charset="0"/>
                <a:cs typeface="Times New Roman" pitchFamily="18" charset="0"/>
              </a:rPr>
              <a:t>: </a:t>
            </a:r>
            <a:r>
              <a:rPr lang="fr-FR" sz="2200" b="1" i="1" dirty="0">
                <a:solidFill>
                  <a:srgbClr val="996600"/>
                </a:solidFill>
                <a:latin typeface="Times New Roman" pitchFamily="18" charset="0"/>
                <a:cs typeface="Times New Roman" pitchFamily="18" charset="0"/>
              </a:rPr>
              <a:t>Computers, </a:t>
            </a:r>
            <a:r>
              <a:rPr lang="fr-FR" sz="2200" b="1" i="1" dirty="0" err="1">
                <a:solidFill>
                  <a:srgbClr val="996600"/>
                </a:solidFill>
                <a:latin typeface="Times New Roman" pitchFamily="18" charset="0"/>
                <a:cs typeface="Times New Roman" pitchFamily="18" charset="0"/>
              </a:rPr>
              <a:t>cell</a:t>
            </a:r>
            <a:r>
              <a:rPr lang="fr-FR" sz="2200" b="1" i="1" dirty="0">
                <a:solidFill>
                  <a:srgbClr val="996600"/>
                </a:solidFill>
                <a:latin typeface="Times New Roman" pitchFamily="18" charset="0"/>
                <a:cs typeface="Times New Roman" pitchFamily="18" charset="0"/>
              </a:rPr>
              <a:t> phones, etc.,</a:t>
            </a:r>
          </a:p>
          <a:p>
            <a:pPr>
              <a:buFont typeface="Wingdings" pitchFamily="2" charset="2"/>
              <a:buChar char="v"/>
            </a:pPr>
            <a:r>
              <a:rPr lang="en-US" sz="2200" dirty="0">
                <a:solidFill>
                  <a:srgbClr val="FF0000"/>
                </a:solidFill>
                <a:latin typeface="Times New Roman" pitchFamily="18" charset="0"/>
                <a:cs typeface="Times New Roman" pitchFamily="18" charset="0"/>
              </a:rPr>
              <a:t>  It refers to ability to use advanced technologies within a country. </a:t>
            </a:r>
          </a:p>
          <a:p>
            <a:pPr>
              <a:buFont typeface="Wingdings" pitchFamily="2" charset="2"/>
              <a:buChar char="v"/>
            </a:pPr>
            <a:r>
              <a:rPr lang="en-US" sz="2200" dirty="0">
                <a:solidFill>
                  <a:srgbClr val="FF0000"/>
                </a:solidFill>
                <a:latin typeface="Times New Roman" pitchFamily="18" charset="0"/>
                <a:cs typeface="Times New Roman" pitchFamily="18" charset="0"/>
              </a:rPr>
              <a:t>  It increases business capabilities and economic development of the country.</a:t>
            </a:r>
          </a:p>
          <a:p>
            <a:pPr>
              <a:buFont typeface="Wingdings" pitchFamily="2" charset="2"/>
              <a:buChar char="v"/>
            </a:pPr>
            <a:r>
              <a:rPr lang="en-US" sz="2200" dirty="0">
                <a:solidFill>
                  <a:srgbClr val="FF0000"/>
                </a:solidFill>
                <a:latin typeface="Times New Roman" pitchFamily="18" charset="0"/>
                <a:cs typeface="Times New Roman" pitchFamily="18" charset="0"/>
              </a:rPr>
              <a:t> Countries with low technological resources have poor economic development.</a:t>
            </a:r>
          </a:p>
        </p:txBody>
      </p:sp>
    </p:spTree>
  </p:cSld>
  <p:clrMapOvr>
    <a:masterClrMapping/>
  </p:clrMapOvr>
  <p:transition spd="slow">
    <p:newsfla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848600" cy="5170646"/>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5. Available </a:t>
            </a:r>
            <a:r>
              <a:rPr lang="en-US" sz="2200" b="1" dirty="0" err="1">
                <a:solidFill>
                  <a:srgbClr val="000099"/>
                </a:solidFill>
                <a:latin typeface="Times New Roman" pitchFamily="18" charset="0"/>
                <a:cs typeface="Times New Roman" pitchFamily="18" charset="0"/>
              </a:rPr>
              <a:t>labour</a:t>
            </a:r>
            <a:r>
              <a:rPr lang="en-US" sz="2200" b="1" dirty="0">
                <a:solidFill>
                  <a:srgbClr val="000099"/>
                </a:solidFill>
                <a:latin typeface="Times New Roman" pitchFamily="18" charset="0"/>
                <a:cs typeface="Times New Roman" pitchFamily="18" charset="0"/>
              </a:rPr>
              <a:t> force</a:t>
            </a:r>
          </a:p>
          <a:p>
            <a:pPr>
              <a:buFont typeface="Wingdings" pitchFamily="2" charset="2"/>
              <a:buChar char="v"/>
            </a:pPr>
            <a:r>
              <a:rPr lang="en-US" sz="2200" dirty="0">
                <a:solidFill>
                  <a:srgbClr val="FF0000"/>
                </a:solidFill>
                <a:latin typeface="Times New Roman" pitchFamily="18" charset="0"/>
                <a:cs typeface="Times New Roman" pitchFamily="18" charset="0"/>
              </a:rPr>
              <a:t>  Number of skilled </a:t>
            </a:r>
            <a:r>
              <a:rPr lang="en-US" sz="2200" dirty="0" err="1">
                <a:solidFill>
                  <a:srgbClr val="FF0000"/>
                </a:solidFill>
                <a:latin typeface="Times New Roman" pitchFamily="18" charset="0"/>
                <a:cs typeface="Times New Roman" pitchFamily="18" charset="0"/>
              </a:rPr>
              <a:t>labours</a:t>
            </a:r>
            <a:r>
              <a:rPr lang="en-US" sz="2200" dirty="0">
                <a:solidFill>
                  <a:srgbClr val="FF0000"/>
                </a:solidFill>
                <a:latin typeface="Times New Roman" pitchFamily="18" charset="0"/>
                <a:cs typeface="Times New Roman" pitchFamily="18" charset="0"/>
              </a:rPr>
              <a:t> within the country increases the development.</a:t>
            </a:r>
          </a:p>
          <a:p>
            <a:r>
              <a:rPr lang="en-US" sz="2200" dirty="0">
                <a:solidFill>
                  <a:srgbClr val="FF0000"/>
                </a:solidFill>
                <a:latin typeface="Times New Roman" pitchFamily="18" charset="0"/>
                <a:cs typeface="Times New Roman" pitchFamily="18" charset="0"/>
              </a:rPr>
              <a:t>6. Transportation and communications.</a:t>
            </a:r>
          </a:p>
          <a:p>
            <a:r>
              <a:rPr lang="en-US" sz="2200" dirty="0">
                <a:solidFill>
                  <a:srgbClr val="FF0000"/>
                </a:solidFill>
                <a:latin typeface="Times New Roman" pitchFamily="18" charset="0"/>
                <a:cs typeface="Times New Roman" pitchFamily="18" charset="0"/>
              </a:rPr>
              <a:t>7. Education and training.</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4.1.7 Advantages and disadvantages of development</a:t>
            </a:r>
          </a:p>
          <a:p>
            <a:r>
              <a:rPr lang="en-US" sz="2200" b="1" dirty="0">
                <a:solidFill>
                  <a:srgbClr val="000099"/>
                </a:solidFill>
                <a:latin typeface="Times New Roman" pitchFamily="18" charset="0"/>
                <a:cs typeface="Times New Roman" pitchFamily="18" charset="0"/>
              </a:rPr>
              <a:t>Advantages of development</a:t>
            </a:r>
          </a:p>
          <a:p>
            <a:pPr lvl="1">
              <a:buFont typeface="Wingdings" pitchFamily="2" charset="2"/>
              <a:buChar char="Ø"/>
            </a:pPr>
            <a:r>
              <a:rPr lang="en-US" sz="2200" dirty="0">
                <a:solidFill>
                  <a:srgbClr val="FF0000"/>
                </a:solidFill>
                <a:latin typeface="Times New Roman" pitchFamily="18" charset="0"/>
                <a:cs typeface="Times New Roman" pitchFamily="18" charset="0"/>
              </a:rPr>
              <a:t>  Increased job satisfaction and morale among employees.</a:t>
            </a:r>
          </a:p>
          <a:p>
            <a:pPr lvl="1">
              <a:buFont typeface="Wingdings" pitchFamily="2" charset="2"/>
              <a:buChar char="Ø"/>
            </a:pPr>
            <a:r>
              <a:rPr lang="en-US" sz="2200" dirty="0">
                <a:solidFill>
                  <a:srgbClr val="FF0000"/>
                </a:solidFill>
                <a:latin typeface="Times New Roman" pitchFamily="18" charset="0"/>
                <a:cs typeface="Times New Roman" pitchFamily="18" charset="0"/>
              </a:rPr>
              <a:t>  Increased employee motivation.</a:t>
            </a:r>
          </a:p>
          <a:p>
            <a:pPr lvl="1">
              <a:buFont typeface="Wingdings" pitchFamily="2" charset="2"/>
              <a:buChar char="Ø"/>
            </a:pPr>
            <a:r>
              <a:rPr lang="en-US" sz="2200" dirty="0">
                <a:solidFill>
                  <a:srgbClr val="FF0000"/>
                </a:solidFill>
                <a:latin typeface="Times New Roman" pitchFamily="18" charset="0"/>
                <a:cs typeface="Times New Roman" pitchFamily="18" charset="0"/>
              </a:rPr>
              <a:t>  Increased efficiencies in processes, resulting in financial gain.</a:t>
            </a:r>
          </a:p>
          <a:p>
            <a:pPr lvl="1">
              <a:buFont typeface="Wingdings" pitchFamily="2" charset="2"/>
              <a:buChar char="Ø"/>
            </a:pPr>
            <a:r>
              <a:rPr lang="en-US" sz="2200" dirty="0">
                <a:solidFill>
                  <a:srgbClr val="FF0000"/>
                </a:solidFill>
                <a:latin typeface="Times New Roman" pitchFamily="18" charset="0"/>
                <a:cs typeface="Times New Roman" pitchFamily="18" charset="0"/>
              </a:rPr>
              <a:t>  Increased capacity to adopt new technologies and methods.</a:t>
            </a:r>
          </a:p>
          <a:p>
            <a:pPr lvl="1">
              <a:buFont typeface="Wingdings" pitchFamily="2" charset="2"/>
              <a:buChar char="Ø"/>
            </a:pPr>
            <a:r>
              <a:rPr lang="en-US" sz="2200" dirty="0">
                <a:solidFill>
                  <a:srgbClr val="FF0000"/>
                </a:solidFill>
                <a:latin typeface="Times New Roman" pitchFamily="18" charset="0"/>
                <a:cs typeface="Times New Roman" pitchFamily="18" charset="0"/>
              </a:rPr>
              <a:t>  Economic growth increases state capacity and the supply of public goods.</a:t>
            </a:r>
          </a:p>
        </p:txBody>
      </p:sp>
    </p:spTree>
  </p:cSld>
  <p:clrMapOvr>
    <a:masterClrMapping/>
  </p:clrMapOvr>
  <p:transition spd="slow">
    <p:newsfla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95400"/>
            <a:ext cx="7848600" cy="4832092"/>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Disadvantages of development.</a:t>
            </a:r>
          </a:p>
          <a:p>
            <a:pPr lvl="1">
              <a:buFont typeface="Wingdings" pitchFamily="2" charset="2"/>
              <a:buChar char="Ø"/>
            </a:pPr>
            <a:r>
              <a:rPr lang="en-US" sz="2200" dirty="0">
                <a:solidFill>
                  <a:srgbClr val="FF0000"/>
                </a:solidFill>
                <a:latin typeface="Times New Roman" pitchFamily="18" charset="0"/>
                <a:cs typeface="Times New Roman" pitchFamily="18" charset="0"/>
              </a:rPr>
              <a:t>  Population growth.</a:t>
            </a:r>
          </a:p>
          <a:p>
            <a:pPr lvl="1">
              <a:buFont typeface="Wingdings" pitchFamily="2" charset="2"/>
              <a:buChar char="Ø"/>
            </a:pPr>
            <a:r>
              <a:rPr lang="en-US" sz="2200" dirty="0">
                <a:solidFill>
                  <a:srgbClr val="FF0000"/>
                </a:solidFill>
                <a:latin typeface="Times New Roman" pitchFamily="18" charset="0"/>
                <a:cs typeface="Times New Roman" pitchFamily="18" charset="0"/>
              </a:rPr>
              <a:t>  Weak governance and rapid urbanization.</a:t>
            </a:r>
          </a:p>
          <a:p>
            <a:pPr lvl="1">
              <a:buFont typeface="Wingdings" pitchFamily="2" charset="2"/>
              <a:buChar char="Ø"/>
            </a:pPr>
            <a:r>
              <a:rPr lang="en-US" sz="2200" dirty="0">
                <a:solidFill>
                  <a:srgbClr val="FF0000"/>
                </a:solidFill>
                <a:latin typeface="Times New Roman" pitchFamily="18" charset="0"/>
                <a:cs typeface="Times New Roman" pitchFamily="18" charset="0"/>
              </a:rPr>
              <a:t>  Poverty.</a:t>
            </a:r>
          </a:p>
          <a:p>
            <a:pPr lvl="1">
              <a:buFont typeface="Wingdings" pitchFamily="2" charset="2"/>
              <a:buChar char="Ø"/>
            </a:pPr>
            <a:r>
              <a:rPr lang="en-US" sz="2200" dirty="0">
                <a:solidFill>
                  <a:srgbClr val="FF0000"/>
                </a:solidFill>
                <a:latin typeface="Times New Roman" pitchFamily="18" charset="0"/>
                <a:cs typeface="Times New Roman" pitchFamily="18" charset="0"/>
              </a:rPr>
              <a:t>   Pollution like smog, acid rain, green house effect, depletion of ozone layer, sewage and garbage.</a:t>
            </a:r>
          </a:p>
          <a:p>
            <a:endParaRPr lang="en-US" sz="2200" dirty="0">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4.2  GDP (GROSS DOMESTIC PRODUCT)</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GDP is the total market value of the goods and services, produced within a country, during the specified period of time (usually 12 months (or) a year)</a:t>
            </a:r>
          </a:p>
          <a:p>
            <a:pPr>
              <a:buFont typeface="Wingdings" pitchFamily="2" charset="2"/>
              <a:buChar char="q"/>
            </a:pPr>
            <a:r>
              <a:rPr lang="en-US" sz="2200" dirty="0">
                <a:solidFill>
                  <a:srgbClr val="FF0000"/>
                </a:solidFill>
                <a:latin typeface="Times New Roman" pitchFamily="18" charset="0"/>
                <a:cs typeface="Times New Roman" pitchFamily="18" charset="0"/>
              </a:rPr>
              <a:t>  It is the broadest financial measurement of a nation’s total economic activity.</a:t>
            </a:r>
          </a:p>
        </p:txBody>
      </p:sp>
    </p:spTree>
  </p:cSld>
  <p:clrMapOvr>
    <a:masterClrMapping/>
  </p:clrMapOvr>
  <p:transition spd="slow">
    <p:newsfla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371600"/>
            <a:ext cx="8001000" cy="4493538"/>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4.2.1 Types of GDP</a:t>
            </a:r>
          </a:p>
          <a:p>
            <a:endParaRPr lang="en-US" sz="2200" b="1" i="1"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1. Normal GDP</a:t>
            </a:r>
          </a:p>
          <a:p>
            <a:pPr>
              <a:buFont typeface="Wingdings" pitchFamily="2" charset="2"/>
              <a:buChar char="q"/>
            </a:pPr>
            <a:r>
              <a:rPr lang="en-US" sz="2200" dirty="0">
                <a:solidFill>
                  <a:srgbClr val="FF0000"/>
                </a:solidFill>
                <a:latin typeface="Times New Roman" pitchFamily="18" charset="0"/>
                <a:cs typeface="Times New Roman" pitchFamily="18" charset="0"/>
              </a:rPr>
              <a:t>  It is the total value of all goods and services produced at current market prices.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Real GDP</a:t>
            </a:r>
          </a:p>
          <a:p>
            <a:pPr>
              <a:buFont typeface="Wingdings" pitchFamily="2" charset="2"/>
              <a:buChar char="q"/>
            </a:pPr>
            <a:r>
              <a:rPr lang="en-US" sz="2200" dirty="0">
                <a:solidFill>
                  <a:srgbClr val="FF0000"/>
                </a:solidFill>
                <a:latin typeface="Times New Roman" pitchFamily="18" charset="0"/>
                <a:cs typeface="Times New Roman" pitchFamily="18" charset="0"/>
              </a:rPr>
              <a:t>  It is the sum of all goods and services produced at constant prices.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3. Actual GDP</a:t>
            </a:r>
          </a:p>
          <a:p>
            <a:pPr>
              <a:buFont typeface="Wingdings" pitchFamily="2" charset="2"/>
              <a:buChar char="q"/>
            </a:pPr>
            <a:r>
              <a:rPr lang="en-US" sz="2200" dirty="0">
                <a:solidFill>
                  <a:srgbClr val="FF0000"/>
                </a:solidFill>
                <a:latin typeface="Times New Roman" pitchFamily="18" charset="0"/>
                <a:cs typeface="Times New Roman" pitchFamily="18" charset="0"/>
              </a:rPr>
              <a:t>  It is the real-time measurement of all outputs at any interval (or) any given time.</a:t>
            </a:r>
          </a:p>
          <a:p>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77724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4.2.2 Significance (or) importance of GDP</a:t>
            </a:r>
          </a:p>
          <a:p>
            <a:endParaRPr lang="en-US" sz="2200" b="1" i="1" dirty="0">
              <a:latin typeface="Times New Roman" pitchFamily="18" charset="0"/>
              <a:cs typeface="Times New Roman" pitchFamily="18" charset="0"/>
            </a:endParaRPr>
          </a:p>
          <a:p>
            <a:pPr marL="514350" indent="-514350">
              <a:buFont typeface="Wingdings" pitchFamily="2" charset="2"/>
              <a:buChar char="q"/>
            </a:pPr>
            <a:r>
              <a:rPr lang="en-US" sz="2200" dirty="0">
                <a:solidFill>
                  <a:srgbClr val="FF0000"/>
                </a:solidFill>
                <a:latin typeface="Times New Roman" pitchFamily="18" charset="0"/>
                <a:cs typeface="Times New Roman" pitchFamily="18" charset="0"/>
              </a:rPr>
              <a:t>It identifies the present state of economy.</a:t>
            </a:r>
          </a:p>
          <a:p>
            <a:pPr marL="514350" indent="-514350">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is used to compare the economics between countries.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GDP is objective of policy formulation.</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GDP is the root cause.</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gives information about the size of economy and how an economy is performing.</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is used to determine the development and performance of the economy.</a:t>
            </a:r>
          </a:p>
        </p:txBody>
      </p:sp>
    </p:spTree>
  </p:cSld>
  <p:clrMapOvr>
    <a:masterClrMapping/>
  </p:clrMapOvr>
  <p:transition spd="slow">
    <p:newsfla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8153400" cy="4832092"/>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4.2.3 Calculation of GDP</a:t>
            </a:r>
          </a:p>
          <a:p>
            <a:endParaRPr lang="en-US" sz="2200" b="1" i="1" dirty="0">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There are three different ways of calculating GDP</a:t>
            </a:r>
          </a:p>
          <a:p>
            <a:endParaRPr lang="en-US" sz="2200" dirty="0">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The value added approach.</a:t>
            </a:r>
          </a:p>
          <a:p>
            <a:pPr lvl="1">
              <a:buFont typeface="Wingdings" pitchFamily="2" charset="2"/>
              <a:buChar char="ü"/>
            </a:pPr>
            <a:r>
              <a:rPr lang="en-US" sz="2200" dirty="0">
                <a:solidFill>
                  <a:srgbClr val="008000"/>
                </a:solidFill>
                <a:latin typeface="Times New Roman" pitchFamily="18" charset="0"/>
                <a:cs typeface="Times New Roman" pitchFamily="18" charset="0"/>
              </a:rPr>
              <a:t>  The income approach (how much is earned as income on resource used to make stuff).</a:t>
            </a:r>
          </a:p>
          <a:p>
            <a:pPr lvl="1">
              <a:buFont typeface="Wingdings" pitchFamily="2" charset="2"/>
              <a:buChar char="ü"/>
            </a:pPr>
            <a:r>
              <a:rPr lang="en-US" sz="2200" dirty="0">
                <a:solidFill>
                  <a:srgbClr val="008000"/>
                </a:solidFill>
                <a:latin typeface="Times New Roman" pitchFamily="18" charset="0"/>
                <a:cs typeface="Times New Roman" pitchFamily="18" charset="0"/>
              </a:rPr>
              <a:t>   </a:t>
            </a:r>
            <a:r>
              <a:rPr lang="en-US" sz="2200" dirty="0" err="1">
                <a:solidFill>
                  <a:srgbClr val="008000"/>
                </a:solidFill>
                <a:latin typeface="Times New Roman" pitchFamily="18" charset="0"/>
                <a:cs typeface="Times New Roman" pitchFamily="18" charset="0"/>
              </a:rPr>
              <a:t>xpenditure</a:t>
            </a:r>
            <a:r>
              <a:rPr lang="en-US" sz="2200" dirty="0">
                <a:solidFill>
                  <a:srgbClr val="008000"/>
                </a:solidFill>
                <a:latin typeface="Times New Roman" pitchFamily="18" charset="0"/>
                <a:cs typeface="Times New Roman" pitchFamily="18" charset="0"/>
              </a:rPr>
              <a:t> approach (how much is spent on stuff). Of three, the expenditure approach is followed.</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Expenditure approach</a:t>
            </a:r>
          </a:p>
          <a:p>
            <a:pPr>
              <a:buFont typeface="Wingdings" pitchFamily="2" charset="2"/>
              <a:buChar char="v"/>
            </a:pPr>
            <a:r>
              <a:rPr lang="en-US" sz="2200" dirty="0">
                <a:solidFill>
                  <a:srgbClr val="FF0000"/>
                </a:solidFill>
                <a:latin typeface="Times New Roman" pitchFamily="18" charset="0"/>
                <a:cs typeface="Times New Roman" pitchFamily="18" charset="0"/>
              </a:rPr>
              <a:t>  The expenditure approach calculates the GDP by calculating the sum of all the services and goods produced in an economy.</a:t>
            </a:r>
          </a:p>
          <a:p>
            <a:pPr>
              <a:buFont typeface="Wingdings" pitchFamily="2" charset="2"/>
              <a:buChar char="v"/>
            </a:pPr>
            <a:r>
              <a:rPr lang="en-US" sz="2200" dirty="0">
                <a:solidFill>
                  <a:srgbClr val="FF0000"/>
                </a:solidFill>
                <a:latin typeface="Times New Roman" pitchFamily="18" charset="0"/>
                <a:cs typeface="Times New Roman" pitchFamily="18" charset="0"/>
              </a:rPr>
              <a:t>  It is calculated with the following formulae.</a:t>
            </a:r>
          </a:p>
        </p:txBody>
      </p:sp>
    </p:spTree>
  </p:cSld>
  <p:clrMapOvr>
    <a:masterClrMapping/>
  </p:clrMapOvr>
  <p:transition spd="slow">
    <p:newsfla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89844"/>
            <a:ext cx="8229600" cy="5509200"/>
          </a:xfrm>
          <a:prstGeom prst="rect">
            <a:avLst/>
          </a:prstGeom>
        </p:spPr>
        <p:txBody>
          <a:bodyPr wrap="square">
            <a:spAutoFit/>
          </a:bodyPr>
          <a:lstStyle/>
          <a:p>
            <a:endParaRPr lang="en-US" sz="2200" dirty="0">
              <a:solidFill>
                <a:srgbClr val="FF0000"/>
              </a:solidFill>
              <a:latin typeface="Times New Roman" pitchFamily="18" charset="0"/>
              <a:cs typeface="Times New Roman" pitchFamily="18" charset="0"/>
            </a:endParaRP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                             Private consumption + (Gross private investment +</a:t>
            </a:r>
          </a:p>
          <a:p>
            <a:r>
              <a:rPr lang="en-US" sz="2200" dirty="0">
                <a:solidFill>
                  <a:srgbClr val="FF0000"/>
                </a:solidFill>
                <a:latin typeface="Times New Roman" pitchFamily="18" charset="0"/>
                <a:cs typeface="Times New Roman" pitchFamily="18" charset="0"/>
              </a:rPr>
              <a:t>    GDP=              Government investment) + Government spending +</a:t>
            </a:r>
          </a:p>
          <a:p>
            <a:r>
              <a:rPr lang="en-US" sz="2200" dirty="0">
                <a:solidFill>
                  <a:srgbClr val="FF0000"/>
                </a:solidFill>
                <a:latin typeface="Times New Roman" pitchFamily="18" charset="0"/>
                <a:cs typeface="Times New Roman" pitchFamily="18" charset="0"/>
              </a:rPr>
              <a:t>                              (Exports − Imports)</a:t>
            </a:r>
          </a:p>
          <a:p>
            <a:endParaRPr lang="en-US" sz="2200" dirty="0">
              <a:solidFill>
                <a:srgbClr val="FF0000"/>
              </a:solidFill>
              <a:latin typeface="Times New Roman" pitchFamily="18" charset="0"/>
              <a:cs typeface="Times New Roman" pitchFamily="18" charset="0"/>
            </a:endParaRPr>
          </a:p>
          <a:p>
            <a:endParaRPr lang="en-US" sz="2200" dirty="0">
              <a:solidFill>
                <a:srgbClr val="FF0000"/>
              </a:solidFill>
              <a:latin typeface="Times New Roman" pitchFamily="18" charset="0"/>
              <a:cs typeface="Times New Roman" pitchFamily="18" charset="0"/>
            </a:endParaRPr>
          </a:p>
          <a:p>
            <a:r>
              <a:rPr lang="en-US" sz="2200" i="1" dirty="0">
                <a:solidFill>
                  <a:srgbClr val="FF0000"/>
                </a:solidFill>
                <a:latin typeface="Times New Roman" pitchFamily="18" charset="0"/>
                <a:cs typeface="Times New Roman" pitchFamily="18" charset="0"/>
              </a:rPr>
              <a:t>                           </a:t>
            </a:r>
            <a:r>
              <a:rPr lang="en-US" sz="2200" b="1" i="1" dirty="0">
                <a:latin typeface="Times New Roman" pitchFamily="18" charset="0"/>
                <a:cs typeface="Times New Roman" pitchFamily="18" charset="0"/>
              </a:rPr>
              <a:t>Y = C + I + G + (X − M)</a:t>
            </a:r>
          </a:p>
          <a:p>
            <a:endParaRPr lang="en-US" sz="2200" i="1"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where,</a:t>
            </a:r>
          </a:p>
          <a:p>
            <a:r>
              <a:rPr lang="en-US" sz="2200" dirty="0">
                <a:solidFill>
                  <a:srgbClr val="FF0000"/>
                </a:solidFill>
                <a:latin typeface="Times New Roman" pitchFamily="18" charset="0"/>
                <a:cs typeface="Times New Roman" pitchFamily="18" charset="0"/>
              </a:rPr>
              <a:t>           </a:t>
            </a:r>
            <a:r>
              <a:rPr lang="en-US" sz="2200" i="1" dirty="0">
                <a:solidFill>
                  <a:srgbClr val="FF0000"/>
                </a:solidFill>
                <a:latin typeface="Times New Roman" pitchFamily="18" charset="0"/>
                <a:cs typeface="Times New Roman" pitchFamily="18" charset="0"/>
              </a:rPr>
              <a:t>Y = Gross Domestic Product.</a:t>
            </a:r>
          </a:p>
          <a:p>
            <a:r>
              <a:rPr lang="en-US" sz="2200" i="1" dirty="0">
                <a:solidFill>
                  <a:srgbClr val="FF0000"/>
                </a:solidFill>
                <a:latin typeface="Times New Roman" pitchFamily="18" charset="0"/>
                <a:cs typeface="Times New Roman" pitchFamily="18" charset="0"/>
              </a:rPr>
              <a:t>           C = Consumption.</a:t>
            </a:r>
          </a:p>
          <a:p>
            <a:r>
              <a:rPr lang="en-US" sz="2200" i="1" dirty="0">
                <a:solidFill>
                  <a:srgbClr val="FF0000"/>
                </a:solidFill>
                <a:latin typeface="Times New Roman" pitchFamily="18" charset="0"/>
                <a:cs typeface="Times New Roman" pitchFamily="18" charset="0"/>
              </a:rPr>
              <a:t>           I = Investment.</a:t>
            </a:r>
          </a:p>
          <a:p>
            <a:r>
              <a:rPr lang="en-US" sz="2200" i="1" dirty="0">
                <a:solidFill>
                  <a:srgbClr val="FF0000"/>
                </a:solidFill>
                <a:latin typeface="Times New Roman" pitchFamily="18" charset="0"/>
                <a:cs typeface="Times New Roman" pitchFamily="18" charset="0"/>
              </a:rPr>
              <a:t>          G = Government spending.</a:t>
            </a:r>
          </a:p>
          <a:p>
            <a:r>
              <a:rPr lang="en-US" sz="2200" i="1" dirty="0">
                <a:solidFill>
                  <a:srgbClr val="FF0000"/>
                </a:solidFill>
                <a:latin typeface="Times New Roman" pitchFamily="18" charset="0"/>
                <a:cs typeface="Times New Roman" pitchFamily="18" charset="0"/>
              </a:rPr>
              <a:t>          X = Exports.</a:t>
            </a:r>
          </a:p>
          <a:p>
            <a:r>
              <a:rPr lang="en-US" sz="2200" i="1" dirty="0">
                <a:solidFill>
                  <a:srgbClr val="FF0000"/>
                </a:solidFill>
                <a:latin typeface="Times New Roman" pitchFamily="18" charset="0"/>
                <a:cs typeface="Times New Roman" pitchFamily="18" charset="0"/>
              </a:rPr>
              <a:t>          M = Imports.</a:t>
            </a:r>
            <a:endParaRPr lang="en-US" sz="2200" dirty="0">
              <a:solidFill>
                <a:srgbClr val="FF0000"/>
              </a:solidFill>
              <a:latin typeface="Times New Roman" pitchFamily="18" charset="0"/>
              <a:cs typeface="Times New Roman" pitchFamily="18" charset="0"/>
            </a:endParaRPr>
          </a:p>
        </p:txBody>
      </p:sp>
      <p:sp>
        <p:nvSpPr>
          <p:cNvPr id="3" name="Left Brace 2"/>
          <p:cNvSpPr/>
          <p:nvPr/>
        </p:nvSpPr>
        <p:spPr>
          <a:xfrm>
            <a:off x="2133600" y="1600200"/>
            <a:ext cx="533400" cy="1066800"/>
          </a:xfrm>
          <a:prstGeom prst="leftBrace">
            <a:avLst>
              <a:gd name="adj1" fmla="val 8333"/>
              <a:gd name="adj2" fmla="val 4846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spd="slow">
    <p:newsfla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838200"/>
            <a:ext cx="8077200" cy="5847755"/>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4.2.4 Advantages and disadvantages of GDP</a:t>
            </a:r>
          </a:p>
          <a:p>
            <a:r>
              <a:rPr lang="en-US" sz="2200" b="1" dirty="0">
                <a:latin typeface="Times New Roman" pitchFamily="18" charset="0"/>
                <a:cs typeface="Times New Roman" pitchFamily="18" charset="0"/>
              </a:rPr>
              <a:t>Advantages of GDP</a:t>
            </a:r>
          </a:p>
          <a:p>
            <a:pPr marL="514350" indent="-514350">
              <a:buFont typeface="Wingdings" pitchFamily="2" charset="2"/>
              <a:buChar char="Ø"/>
            </a:pPr>
            <a:r>
              <a:rPr lang="en-US" sz="2200" dirty="0">
                <a:solidFill>
                  <a:srgbClr val="FF0000"/>
                </a:solidFill>
                <a:latin typeface="Times New Roman" pitchFamily="18" charset="0"/>
                <a:cs typeface="Times New Roman" pitchFamily="18" charset="0"/>
              </a:rPr>
              <a:t>GDP is a broad indicators of development.</a:t>
            </a:r>
          </a:p>
          <a:p>
            <a:pPr marL="514350" indent="-514350">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is easy to measure growth in percentage.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is easy to compare to itself and other countries.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GDP is easy and cheap to collect.</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GDP is calculated from a formula which all countries use therefore it is reliable indicator.</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is the very good way for government to know whether economic policies have been successful.</a:t>
            </a:r>
          </a:p>
          <a:p>
            <a:pPr>
              <a:buFont typeface="Wingdings" pitchFamily="2" charset="2"/>
              <a:buChar char="Ø"/>
            </a:pPr>
            <a:r>
              <a:rPr lang="en-US" sz="2200" dirty="0">
                <a:solidFill>
                  <a:srgbClr val="FF0000"/>
                </a:solidFill>
                <a:latin typeface="Times New Roman" pitchFamily="18" charset="0"/>
                <a:cs typeface="Times New Roman" pitchFamily="18" charset="0"/>
              </a:rPr>
              <a:t>  It can be broken up into GDP per capita which accounts for the population of the country when it is calculated.</a:t>
            </a:r>
          </a:p>
        </p:txBody>
      </p:sp>
    </p:spTree>
  </p:cSld>
  <p:clrMapOvr>
    <a:masterClrMapping/>
  </p:clrMapOvr>
  <p:transition spd="slow">
    <p:newsfla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620000" cy="4832092"/>
          </a:xfrm>
          <a:prstGeom prst="rect">
            <a:avLst/>
          </a:prstGeom>
        </p:spPr>
        <p:txBody>
          <a:bodyPr wrap="square">
            <a:spAutoFit/>
          </a:bodyPr>
          <a:lstStyle/>
          <a:p>
            <a:r>
              <a:rPr lang="en-US" sz="2200" b="1" dirty="0">
                <a:latin typeface="Times New Roman" pitchFamily="18" charset="0"/>
                <a:cs typeface="Times New Roman" pitchFamily="18" charset="0"/>
              </a:rPr>
              <a:t>Disadvantages of GDP</a:t>
            </a:r>
          </a:p>
          <a:p>
            <a:endParaRPr lang="en-US" sz="2200" b="1" dirty="0">
              <a:latin typeface="Times New Roman" pitchFamily="18" charset="0"/>
              <a:cs typeface="Times New Roman" pitchFamily="18" charset="0"/>
            </a:endParaRPr>
          </a:p>
          <a:p>
            <a:pPr marL="514350" indent="-514350">
              <a:buFont typeface="Wingdings" pitchFamily="2" charset="2"/>
              <a:buChar char="Ø"/>
            </a:pPr>
            <a:r>
              <a:rPr lang="en-US" sz="2200" dirty="0">
                <a:solidFill>
                  <a:srgbClr val="FF0000"/>
                </a:solidFill>
                <a:latin typeface="Times New Roman" pitchFamily="18" charset="0"/>
                <a:cs typeface="Times New Roman" pitchFamily="18" charset="0"/>
              </a:rPr>
              <a:t>It does not include non-market transactions.</a:t>
            </a:r>
          </a:p>
          <a:p>
            <a:pPr marL="514350" indent="-514350">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is narrow indicator that fails to show quality of life, standard of living, happiness, health care.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fails to indicate whether the growth of a nation is sustainable.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GDP does not account inequality.</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doesn’t account for environmental impacts of the economic policies.</a:t>
            </a:r>
          </a:p>
        </p:txBody>
      </p:sp>
    </p:spTree>
  </p:cSld>
  <p:clrMapOvr>
    <a:masterClrMapping/>
  </p:clrMapOvr>
  <p:transition spd="slow">
    <p:newsfla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001000" cy="4154984"/>
          </a:xfrm>
          <a:prstGeom prst="rect">
            <a:avLst/>
          </a:prstGeom>
        </p:spPr>
        <p:txBody>
          <a:bodyPr wrap="square">
            <a:spAutoFit/>
          </a:bodyPr>
          <a:lstStyle/>
          <a:p>
            <a:endParaRPr lang="en-US" sz="2200" dirty="0">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doesn’t include the activity of informal sector (black market).</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Overseas income not taken into account.</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High inflation may be behind a high GDP rate.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Government could adjust the figures to gain power.</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Production process could be immoral.</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measures the growth in the past are not hugely relevant.</a:t>
            </a:r>
          </a:p>
        </p:txBody>
      </p:sp>
    </p:spTree>
  </p:cSld>
  <p:clrMapOvr>
    <a:masterClrMapping/>
  </p:clrMapOvr>
  <p:transition spd="slow">
    <p:newsfla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001000" cy="4832092"/>
          </a:xfrm>
          <a:prstGeom prst="rect">
            <a:avLst/>
          </a:prstGeom>
        </p:spPr>
        <p:txBody>
          <a:bodyPr wrap="square">
            <a:spAutoFit/>
          </a:bodyPr>
          <a:lstStyle/>
          <a:p>
            <a:r>
              <a:rPr lang="en-US" sz="2200" b="1" dirty="0">
                <a:solidFill>
                  <a:srgbClr val="D60093"/>
                </a:solidFill>
                <a:latin typeface="Times New Roman" pitchFamily="18" charset="0"/>
                <a:cs typeface="Times New Roman" pitchFamily="18" charset="0"/>
              </a:rPr>
              <a:t>4.3 SUSTAINABILITY</a:t>
            </a:r>
          </a:p>
          <a:p>
            <a:endParaRPr lang="en-US" sz="2200" dirty="0">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It is defined as </a:t>
            </a:r>
            <a:r>
              <a:rPr lang="en-US" sz="2200" b="1" i="1" dirty="0">
                <a:solidFill>
                  <a:srgbClr val="008000"/>
                </a:solidFill>
                <a:latin typeface="Times New Roman" pitchFamily="18" charset="0"/>
                <a:cs typeface="Times New Roman" pitchFamily="18" charset="0"/>
              </a:rPr>
              <a:t>“meeting our own needs without compromising the ability of future generations to meet their own needs”.</a:t>
            </a:r>
          </a:p>
          <a:p>
            <a:endParaRPr lang="en-US" sz="2200" b="1" i="1"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4.3.1 Need of sustainability</a:t>
            </a:r>
          </a:p>
          <a:p>
            <a:endParaRPr lang="en-US" sz="2200" b="1" i="1" dirty="0">
              <a:latin typeface="Times New Roman" pitchFamily="18" charset="0"/>
              <a:cs typeface="Times New Roman" pitchFamily="18" charset="0"/>
            </a:endParaRPr>
          </a:p>
          <a:p>
            <a:pPr marL="457200" indent="-457200">
              <a:buFont typeface="Wingdings" pitchFamily="2" charset="2"/>
              <a:buChar char="v"/>
            </a:pPr>
            <a:r>
              <a:rPr lang="en-US" sz="2200" dirty="0">
                <a:solidFill>
                  <a:srgbClr val="FF0000"/>
                </a:solidFill>
                <a:latin typeface="Times New Roman" pitchFamily="18" charset="0"/>
                <a:cs typeface="Times New Roman" pitchFamily="18" charset="0"/>
              </a:rPr>
              <a:t>Sustainability is key to preserving our planet.</a:t>
            </a:r>
          </a:p>
          <a:p>
            <a:pPr marL="457200" indent="-45720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Sustainability helps reduce pollution and conserve resources.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Sustainability creates jobs and stimulates the economy.</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Sustainability improves public health.</a:t>
            </a:r>
          </a:p>
        </p:txBody>
      </p:sp>
    </p:spTree>
  </p:cSld>
  <p:clrMapOvr>
    <a:masterClrMapping/>
  </p:clrMapOvr>
  <p:transition spd="slow">
    <p:newsfla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543800" cy="3816429"/>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It protects biodiversity.</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protects the natural environment.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is the choice of non-toxic materials.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reduces and reuses the resources.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minimizes waste.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is used for life-cycle analysis.</a:t>
            </a:r>
          </a:p>
        </p:txBody>
      </p:sp>
    </p:spTree>
  </p:cSld>
  <p:clrMapOvr>
    <a:masterClrMapping/>
  </p:clrMapOvr>
  <p:transition spd="slow">
    <p:newsfla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7924800" cy="5509200"/>
          </a:xfrm>
          <a:prstGeom prst="rect">
            <a:avLst/>
          </a:prstGeom>
        </p:spPr>
        <p:txBody>
          <a:bodyPr wrap="square">
            <a:spAutoFit/>
          </a:bodyPr>
          <a:lstStyle/>
          <a:p>
            <a:r>
              <a:rPr lang="en-US" sz="2200" b="1" dirty="0">
                <a:solidFill>
                  <a:srgbClr val="996600"/>
                </a:solidFill>
                <a:latin typeface="Times New Roman" pitchFamily="18" charset="0"/>
                <a:cs typeface="Times New Roman" pitchFamily="18" charset="0"/>
              </a:rPr>
              <a:t>4.3.2 Concept (or) Approaches (or) Significance of Sustainability</a:t>
            </a:r>
          </a:p>
          <a:p>
            <a:pPr>
              <a:buFont typeface="Wingdings" pitchFamily="2" charset="2"/>
              <a:buChar char="q"/>
            </a:pPr>
            <a:r>
              <a:rPr lang="en-US" sz="2200" dirty="0">
                <a:solidFill>
                  <a:srgbClr val="FF0000"/>
                </a:solidFill>
                <a:latin typeface="Times New Roman" pitchFamily="18" charset="0"/>
                <a:cs typeface="Times New Roman" pitchFamily="18" charset="0"/>
              </a:rPr>
              <a:t>   To build up the sustainability development, the following approaches (or) methods are proposed.</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1. Developing appropriate technology: </a:t>
            </a:r>
            <a:r>
              <a:rPr lang="en-US" sz="2200" b="1" dirty="0">
                <a:solidFill>
                  <a:srgbClr val="996600"/>
                </a:solidFill>
                <a:latin typeface="Times New Roman" pitchFamily="18" charset="0"/>
                <a:cs typeface="Times New Roman" pitchFamily="18" charset="0"/>
              </a:rPr>
              <a:t>It is the one,</a:t>
            </a:r>
          </a:p>
          <a:p>
            <a:pPr>
              <a:buFont typeface="Wingdings" pitchFamily="2" charset="2"/>
              <a:buChar char="q"/>
            </a:pPr>
            <a:r>
              <a:rPr lang="en-US" sz="2200" dirty="0">
                <a:solidFill>
                  <a:srgbClr val="FF0000"/>
                </a:solidFill>
                <a:latin typeface="Times New Roman" pitchFamily="18" charset="0"/>
                <a:cs typeface="Times New Roman" pitchFamily="18" charset="0"/>
              </a:rPr>
              <a:t>  which is locally adaptable, eco-friendly, resource-efficient and culturally suitable. </a:t>
            </a:r>
          </a:p>
          <a:p>
            <a:pPr>
              <a:buFont typeface="Wingdings" pitchFamily="2" charset="2"/>
              <a:buChar char="q"/>
            </a:pPr>
            <a:r>
              <a:rPr lang="en-US" sz="2200" dirty="0">
                <a:solidFill>
                  <a:srgbClr val="FF0000"/>
                </a:solidFill>
                <a:latin typeface="Times New Roman" pitchFamily="18" charset="0"/>
                <a:cs typeface="Times New Roman" pitchFamily="18" charset="0"/>
              </a:rPr>
              <a:t>  It uses local </a:t>
            </a:r>
            <a:r>
              <a:rPr lang="en-US" sz="2200" dirty="0" err="1">
                <a:solidFill>
                  <a:srgbClr val="FF0000"/>
                </a:solidFill>
                <a:latin typeface="Times New Roman" pitchFamily="18" charset="0"/>
                <a:cs typeface="Times New Roman" pitchFamily="18" charset="0"/>
              </a:rPr>
              <a:t>labours</a:t>
            </a:r>
            <a:r>
              <a:rPr lang="en-US" sz="2200" dirty="0">
                <a:solidFill>
                  <a:srgbClr val="FF0000"/>
                </a:solidFill>
                <a:latin typeface="Times New Roman" pitchFamily="18" charset="0"/>
                <a:cs typeface="Times New Roman" pitchFamily="18" charset="0"/>
              </a:rPr>
              <a:t>, less resources, and produces minimum waste.</a:t>
            </a:r>
          </a:p>
          <a:p>
            <a:endParaRPr lang="en-US" sz="2200" dirty="0">
              <a:solidFill>
                <a:srgbClr val="000099"/>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Reduce, Reuse, Recycle (3-R) approach: </a:t>
            </a:r>
            <a:r>
              <a:rPr lang="en-US" sz="2200" b="1" dirty="0">
                <a:solidFill>
                  <a:srgbClr val="996600"/>
                </a:solidFill>
                <a:latin typeface="Times New Roman" pitchFamily="18" charset="0"/>
                <a:cs typeface="Times New Roman" pitchFamily="18" charset="0"/>
              </a:rPr>
              <a:t>It insists</a:t>
            </a:r>
          </a:p>
          <a:p>
            <a:pPr>
              <a:buFont typeface="Wingdings" pitchFamily="2" charset="2"/>
              <a:buChar char="q"/>
            </a:pPr>
            <a:r>
              <a:rPr lang="en-US" sz="2200" dirty="0">
                <a:solidFill>
                  <a:srgbClr val="FF0000"/>
                </a:solidFill>
                <a:latin typeface="Times New Roman" pitchFamily="18" charset="0"/>
                <a:cs typeface="Times New Roman" pitchFamily="18" charset="0"/>
              </a:rPr>
              <a:t>  optimum use of natural resources, using it again and again instead of throwing it on the waste land (or) water and recycling the material into further products.</a:t>
            </a:r>
          </a:p>
          <a:p>
            <a:pPr>
              <a:buFont typeface="Wingdings" pitchFamily="2" charset="2"/>
              <a:buChar char="q"/>
            </a:pPr>
            <a:r>
              <a:rPr lang="en-US" sz="2200" dirty="0">
                <a:solidFill>
                  <a:srgbClr val="FF0000"/>
                </a:solidFill>
                <a:latin typeface="Times New Roman" pitchFamily="18" charset="0"/>
                <a:cs typeface="Times New Roman" pitchFamily="18" charset="0"/>
              </a:rPr>
              <a:t> It reduces pressure on our natural resources and reduces waste generation and pollution.</a:t>
            </a:r>
          </a:p>
        </p:txBody>
      </p:sp>
    </p:spTree>
  </p:cSld>
  <p:clrMapOvr>
    <a:masterClrMapping/>
  </p:clrMapOvr>
  <p:transition spd="slow">
    <p:newsfla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38200"/>
            <a:ext cx="8077200" cy="5847755"/>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3. Providing environmental education and awareness:</a:t>
            </a:r>
          </a:p>
          <a:p>
            <a:pPr>
              <a:buFont typeface="Wingdings" pitchFamily="2" charset="2"/>
              <a:buChar char="q"/>
            </a:pPr>
            <a:r>
              <a:rPr lang="en-US" sz="2200" dirty="0">
                <a:solidFill>
                  <a:srgbClr val="FF0000"/>
                </a:solidFill>
                <a:latin typeface="Times New Roman" pitchFamily="18" charset="0"/>
                <a:cs typeface="Times New Roman" pitchFamily="18" charset="0"/>
              </a:rPr>
              <a:t>  By providing environmental education and awareness, the thinking and attitude of people towards our earth and the environment can be changed.</a:t>
            </a:r>
          </a:p>
          <a:p>
            <a:endParaRPr lang="en-US" sz="2200" dirty="0">
              <a:solidFill>
                <a:srgbClr val="000099"/>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4. Consumption of Renewable Resources: </a:t>
            </a:r>
          </a:p>
          <a:p>
            <a:pPr>
              <a:buFont typeface="Wingdings" pitchFamily="2" charset="2"/>
              <a:buChar char="q"/>
            </a:pPr>
            <a:r>
              <a:rPr lang="en-US" sz="2200" dirty="0">
                <a:solidFill>
                  <a:srgbClr val="FF0000"/>
                </a:solidFill>
                <a:latin typeface="Times New Roman" pitchFamily="18" charset="0"/>
                <a:cs typeface="Times New Roman" pitchFamily="18" charset="0"/>
              </a:rPr>
              <a:t>  In order to attain sustainability, it is very important to consume the natural resources in such a way that the consumption should not exceed regeneration capacity.</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5. Conservation of non renewable resources:</a:t>
            </a:r>
          </a:p>
          <a:p>
            <a:pPr>
              <a:buFont typeface="Wingdings" pitchFamily="2" charset="2"/>
              <a:buChar char="q"/>
            </a:pPr>
            <a:r>
              <a:rPr lang="en-US" sz="2200" dirty="0">
                <a:solidFill>
                  <a:srgbClr val="FF0000"/>
                </a:solidFill>
                <a:latin typeface="Times New Roman" pitchFamily="18" charset="0"/>
                <a:cs typeface="Times New Roman" pitchFamily="18" charset="0"/>
              </a:rPr>
              <a:t>  Non-renewable resources should be conserved by recycling and reusing.</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6. Population Control: </a:t>
            </a:r>
          </a:p>
          <a:p>
            <a:pPr>
              <a:buFont typeface="Wingdings" pitchFamily="2" charset="2"/>
              <a:buChar char="q"/>
            </a:pPr>
            <a:r>
              <a:rPr lang="en-US" sz="2200" dirty="0">
                <a:solidFill>
                  <a:srgbClr val="FF0000"/>
                </a:solidFill>
                <a:latin typeface="Times New Roman" pitchFamily="18" charset="0"/>
                <a:cs typeface="Times New Roman" pitchFamily="18" charset="0"/>
              </a:rPr>
              <a:t>  By controlling population growth, we can make very good sustainability development.</a:t>
            </a:r>
          </a:p>
        </p:txBody>
      </p:sp>
    </p:spTree>
  </p:cSld>
  <p:clrMapOvr>
    <a:masterClrMapping/>
  </p:clrMapOvr>
  <p:transition spd="slow">
    <p:newsfla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219200"/>
            <a:ext cx="8229600" cy="4832092"/>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4.3.3 Economic and Social Challenges of Sustainability</a:t>
            </a:r>
          </a:p>
          <a:p>
            <a:endParaRPr lang="en-US" sz="2200" b="1" i="1"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I Economic sustainability  </a:t>
            </a:r>
          </a:p>
          <a:p>
            <a:pPr>
              <a:buFont typeface="Wingdings" pitchFamily="2" charset="2"/>
              <a:buChar char="v"/>
            </a:pPr>
            <a:r>
              <a:rPr lang="en-US" sz="2200" dirty="0">
                <a:solidFill>
                  <a:srgbClr val="FF0000"/>
                </a:solidFill>
                <a:latin typeface="Times New Roman" pitchFamily="18" charset="0"/>
                <a:cs typeface="Times New Roman" pitchFamily="18" charset="0"/>
              </a:rPr>
              <a:t>  It refers to the </a:t>
            </a:r>
            <a:r>
              <a:rPr lang="en-US" sz="2200" dirty="0" err="1">
                <a:solidFill>
                  <a:srgbClr val="FF0000"/>
                </a:solidFill>
                <a:latin typeface="Times New Roman" pitchFamily="18" charset="0"/>
                <a:cs typeface="Times New Roman" pitchFamily="18" charset="0"/>
              </a:rPr>
              <a:t>organisation’s</a:t>
            </a:r>
            <a:r>
              <a:rPr lang="en-US" sz="2200" dirty="0">
                <a:solidFill>
                  <a:srgbClr val="FF0000"/>
                </a:solidFill>
                <a:latin typeface="Times New Roman" pitchFamily="18" charset="0"/>
                <a:cs typeface="Times New Roman" pitchFamily="18" charset="0"/>
              </a:rPr>
              <a:t> ability to manage its resources and responsibly generate profits in the long term.</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Examples</a:t>
            </a:r>
          </a:p>
          <a:p>
            <a:r>
              <a:rPr lang="en-US" sz="2200" b="1" i="1" dirty="0">
                <a:solidFill>
                  <a:srgbClr val="000099"/>
                </a:solidFill>
                <a:latin typeface="Times New Roman" pitchFamily="18" charset="0"/>
                <a:cs typeface="Times New Roman" pitchFamily="18" charset="0"/>
              </a:rPr>
              <a:t>1. A company </a:t>
            </a:r>
            <a:r>
              <a:rPr lang="en-US" sz="2200" b="1" i="1" dirty="0" err="1">
                <a:solidFill>
                  <a:srgbClr val="000099"/>
                </a:solidFill>
                <a:latin typeface="Times New Roman" pitchFamily="18" charset="0"/>
                <a:cs typeface="Times New Roman" pitchFamily="18" charset="0"/>
              </a:rPr>
              <a:t>uniliver</a:t>
            </a:r>
            <a:endParaRPr lang="en-US" sz="2200" b="1" i="1" dirty="0">
              <a:solidFill>
                <a:srgbClr val="000099"/>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has followed a strategy to achieve a balance between sustainability and the company’s economic performance.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So, it implemented several measures like increasing package recycling, promoting the use of recycled materials and responsible consumption awareness campaigns.</a:t>
            </a:r>
          </a:p>
        </p:txBody>
      </p:sp>
    </p:spTree>
  </p:cSld>
  <p:clrMapOvr>
    <a:masterClrMapping/>
  </p:clrMapOvr>
  <p:transition spd="slow">
    <p:newsfla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001000" cy="5170646"/>
          </a:xfrm>
          <a:prstGeom prst="rect">
            <a:avLst/>
          </a:prstGeom>
        </p:spPr>
        <p:txBody>
          <a:bodyPr wrap="square">
            <a:spAutoFit/>
          </a:bodyPr>
          <a:lstStyle/>
          <a:p>
            <a:r>
              <a:rPr lang="en-US" sz="2200" b="1" i="1" dirty="0">
                <a:solidFill>
                  <a:srgbClr val="000099"/>
                </a:solidFill>
                <a:latin typeface="Times New Roman" pitchFamily="18" charset="0"/>
                <a:cs typeface="Times New Roman" pitchFamily="18" charset="0"/>
              </a:rPr>
              <a:t>2. A company </a:t>
            </a:r>
            <a:r>
              <a:rPr lang="en-US" sz="2200" b="1" i="1" dirty="0" err="1">
                <a:solidFill>
                  <a:srgbClr val="000099"/>
                </a:solidFill>
                <a:latin typeface="Times New Roman" pitchFamily="18" charset="0"/>
                <a:cs typeface="Times New Roman" pitchFamily="18" charset="0"/>
              </a:rPr>
              <a:t>suez</a:t>
            </a:r>
            <a:endParaRPr lang="en-US" sz="2200" b="1" i="1" dirty="0">
              <a:solidFill>
                <a:srgbClr val="000099"/>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It has reduced its emissions, related to electricity consumption, by 95% by using renewable energy and conservation of natural habitats.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Economic challenges</a:t>
            </a:r>
          </a:p>
          <a:p>
            <a:pPr>
              <a:buFont typeface="Wingdings" pitchFamily="2" charset="2"/>
              <a:buChar char="Ø"/>
            </a:pPr>
            <a:r>
              <a:rPr lang="en-US" sz="2200" dirty="0">
                <a:solidFill>
                  <a:srgbClr val="FF0000"/>
                </a:solidFill>
                <a:latin typeface="Times New Roman" pitchFamily="18" charset="0"/>
                <a:cs typeface="Times New Roman" pitchFamily="18" charset="0"/>
              </a:rPr>
              <a:t>  High rates of unemployment (or) under employment.</a:t>
            </a:r>
          </a:p>
          <a:p>
            <a:pPr>
              <a:buFont typeface="Wingdings" pitchFamily="2" charset="2"/>
              <a:buChar char="Ø"/>
            </a:pPr>
            <a:r>
              <a:rPr lang="en-US" sz="2200" dirty="0">
                <a:solidFill>
                  <a:srgbClr val="FF0000"/>
                </a:solidFill>
                <a:latin typeface="Times New Roman" pitchFamily="18" charset="0"/>
                <a:cs typeface="Times New Roman" pitchFamily="18" charset="0"/>
              </a:rPr>
              <a:t>  High rates of poverty and low growth.</a:t>
            </a:r>
          </a:p>
          <a:p>
            <a:pPr>
              <a:buFont typeface="Wingdings" pitchFamily="2" charset="2"/>
              <a:buChar char="Ø"/>
            </a:pPr>
            <a:r>
              <a:rPr lang="en-US" sz="2200" dirty="0">
                <a:solidFill>
                  <a:srgbClr val="FF0000"/>
                </a:solidFill>
                <a:latin typeface="Times New Roman" pitchFamily="18" charset="0"/>
                <a:cs typeface="Times New Roman" pitchFamily="18" charset="0"/>
              </a:rPr>
              <a:t>  Increasing inequality, with many not being included in the growth process.</a:t>
            </a:r>
          </a:p>
          <a:p>
            <a:pPr>
              <a:buFont typeface="Wingdings" pitchFamily="2" charset="2"/>
              <a:buChar char="Ø"/>
            </a:pPr>
            <a:r>
              <a:rPr lang="en-US" sz="2200" dirty="0">
                <a:solidFill>
                  <a:srgbClr val="FF0000"/>
                </a:solidFill>
                <a:latin typeface="Times New Roman" pitchFamily="18" charset="0"/>
                <a:cs typeface="Times New Roman" pitchFamily="18" charset="0"/>
              </a:rPr>
              <a:t> Disruption of major economic activities due to pandemic situation like tourism.</a:t>
            </a:r>
          </a:p>
          <a:p>
            <a:pPr>
              <a:buFont typeface="Wingdings" pitchFamily="2" charset="2"/>
              <a:buChar char="Ø"/>
            </a:pPr>
            <a:r>
              <a:rPr lang="en-US" sz="2200" dirty="0">
                <a:solidFill>
                  <a:srgbClr val="FF0000"/>
                </a:solidFill>
                <a:latin typeface="Times New Roman" pitchFamily="18" charset="0"/>
                <a:cs typeface="Times New Roman" pitchFamily="18" charset="0"/>
              </a:rPr>
              <a:t> Volatile growth dependent on one source.</a:t>
            </a:r>
          </a:p>
          <a:p>
            <a:pPr>
              <a:buFont typeface="Wingdings" pitchFamily="2" charset="2"/>
              <a:buChar char="Ø"/>
            </a:pPr>
            <a:r>
              <a:rPr lang="en-US" sz="2200" dirty="0">
                <a:solidFill>
                  <a:srgbClr val="FF0000"/>
                </a:solidFill>
                <a:latin typeface="Times New Roman" pitchFamily="18" charset="0"/>
                <a:cs typeface="Times New Roman" pitchFamily="18" charset="0"/>
              </a:rPr>
              <a:t> Low productivity due to poor human capital development.</a:t>
            </a:r>
          </a:p>
          <a:p>
            <a:pPr>
              <a:buFont typeface="Wingdings" pitchFamily="2" charset="2"/>
              <a:buChar char="Ø"/>
            </a:pPr>
            <a:r>
              <a:rPr lang="en-US" sz="2200" dirty="0">
                <a:solidFill>
                  <a:srgbClr val="FF0000"/>
                </a:solidFill>
                <a:latin typeface="Times New Roman" pitchFamily="18" charset="0"/>
                <a:cs typeface="Times New Roman" pitchFamily="18" charset="0"/>
              </a:rPr>
              <a:t>  Skills mismatch between skills you have and the jobs you want to create.</a:t>
            </a:r>
          </a:p>
        </p:txBody>
      </p:sp>
    </p:spTree>
  </p:cSld>
  <p:clrMapOvr>
    <a:masterClrMapping/>
  </p:clrMapOvr>
  <p:transition spd="slow">
    <p:newsfla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219200"/>
            <a:ext cx="7848600" cy="5170646"/>
          </a:xfrm>
          <a:prstGeom prst="rect">
            <a:avLst/>
          </a:prstGeom>
        </p:spPr>
        <p:txBody>
          <a:bodyPr wrap="square">
            <a:spAutoFit/>
          </a:bodyPr>
          <a:lstStyle/>
          <a:p>
            <a:pPr>
              <a:buFont typeface="Wingdings" pitchFamily="2" charset="2"/>
              <a:buChar char="Ø"/>
            </a:pPr>
            <a:r>
              <a:rPr lang="en-US" sz="2200" dirty="0">
                <a:solidFill>
                  <a:srgbClr val="FF0000"/>
                </a:solidFill>
                <a:latin typeface="Times New Roman" pitchFamily="18" charset="0"/>
                <a:cs typeface="Times New Roman" pitchFamily="18" charset="0"/>
              </a:rPr>
              <a:t> Lack of quality jobs.</a:t>
            </a:r>
          </a:p>
          <a:p>
            <a:pPr>
              <a:buFont typeface="Wingdings" pitchFamily="2" charset="2"/>
              <a:buChar char="Ø"/>
            </a:pPr>
            <a:r>
              <a:rPr lang="en-US" sz="2200" dirty="0">
                <a:solidFill>
                  <a:srgbClr val="FF0000"/>
                </a:solidFill>
                <a:latin typeface="Times New Roman" pitchFamily="18" charset="0"/>
                <a:cs typeface="Times New Roman" pitchFamily="18" charset="0"/>
              </a:rPr>
              <a:t> Macroeconomic instability and recurrent balance of payments shocks.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 </a:t>
            </a:r>
            <a:r>
              <a:rPr lang="en-US" sz="2200" b="1" dirty="0">
                <a:solidFill>
                  <a:srgbClr val="000099"/>
                </a:solidFill>
                <a:latin typeface="Times New Roman" pitchFamily="18" charset="0"/>
                <a:cs typeface="Times New Roman" pitchFamily="18" charset="0"/>
              </a:rPr>
              <a:t>2. Social Sustainability</a:t>
            </a:r>
          </a:p>
          <a:p>
            <a:pPr>
              <a:buFont typeface="Wingdings" pitchFamily="2" charset="2"/>
              <a:buChar char="q"/>
            </a:pPr>
            <a:r>
              <a:rPr lang="en-US" sz="2200" dirty="0">
                <a:solidFill>
                  <a:srgbClr val="FF0000"/>
                </a:solidFill>
                <a:latin typeface="Times New Roman" pitchFamily="18" charset="0"/>
                <a:cs typeface="Times New Roman" pitchFamily="18" charset="0"/>
              </a:rPr>
              <a:t>  It refers to strengthening the cohesion and stability of specific social groups.</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Examples</a:t>
            </a:r>
          </a:p>
          <a:p>
            <a:r>
              <a:rPr lang="en-US" sz="2200" b="1" i="1" dirty="0">
                <a:solidFill>
                  <a:srgbClr val="000099"/>
                </a:solidFill>
                <a:latin typeface="Times New Roman" pitchFamily="18" charset="0"/>
                <a:cs typeface="Times New Roman" pitchFamily="18" charset="0"/>
              </a:rPr>
              <a:t>1. A Company CEMEX</a:t>
            </a:r>
          </a:p>
          <a:p>
            <a:pPr>
              <a:buFont typeface="Wingdings" pitchFamily="2" charset="2"/>
              <a:buChar char="v"/>
            </a:pPr>
            <a:r>
              <a:rPr lang="en-US" sz="2200" dirty="0">
                <a:solidFill>
                  <a:srgbClr val="FF0000"/>
                </a:solidFill>
                <a:latin typeface="Times New Roman" pitchFamily="18" charset="0"/>
                <a:cs typeface="Times New Roman" pitchFamily="18" charset="0"/>
              </a:rPr>
              <a:t>  It is working to contribute to the social development of communities. </a:t>
            </a:r>
          </a:p>
          <a:p>
            <a:pPr>
              <a:buFont typeface="Wingdings" pitchFamily="2" charset="2"/>
              <a:buChar char="v"/>
            </a:pPr>
            <a:r>
              <a:rPr lang="en-US" sz="2200" dirty="0">
                <a:solidFill>
                  <a:srgbClr val="FF0000"/>
                </a:solidFill>
                <a:latin typeface="Times New Roman" pitchFamily="18" charset="0"/>
                <a:cs typeface="Times New Roman" pitchFamily="18" charset="0"/>
              </a:rPr>
              <a:t> Thus, it offers decent housing through self-building </a:t>
            </a:r>
            <a:r>
              <a:rPr lang="en-US" sz="2200" dirty="0" err="1">
                <a:solidFill>
                  <a:srgbClr val="FF0000"/>
                </a:solidFill>
                <a:latin typeface="Times New Roman" pitchFamily="18" charset="0"/>
                <a:cs typeface="Times New Roman" pitchFamily="18" charset="0"/>
              </a:rPr>
              <a:t>programmes</a:t>
            </a:r>
            <a:r>
              <a:rPr lang="en-US" sz="2200" dirty="0">
                <a:solidFill>
                  <a:srgbClr val="FF0000"/>
                </a:solidFill>
                <a:latin typeface="Times New Roman" pitchFamily="18" charset="0"/>
                <a:cs typeface="Times New Roman" pitchFamily="18" charset="0"/>
              </a:rPr>
              <a:t> and loans with </a:t>
            </a:r>
            <a:r>
              <a:rPr lang="en-US" sz="2200" dirty="0" err="1">
                <a:solidFill>
                  <a:srgbClr val="FF0000"/>
                </a:solidFill>
                <a:latin typeface="Times New Roman" pitchFamily="18" charset="0"/>
                <a:cs typeface="Times New Roman" pitchFamily="18" charset="0"/>
              </a:rPr>
              <a:t>favourable</a:t>
            </a:r>
            <a:r>
              <a:rPr lang="en-US" sz="2200" dirty="0">
                <a:solidFill>
                  <a:srgbClr val="FF0000"/>
                </a:solidFill>
                <a:latin typeface="Times New Roman" pitchFamily="18" charset="0"/>
                <a:cs typeface="Times New Roman" pitchFamily="18" charset="0"/>
              </a:rPr>
              <a:t> access conditions.</a:t>
            </a:r>
          </a:p>
          <a:p>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87135"/>
            <a:ext cx="7924800" cy="5970865"/>
          </a:xfrm>
          <a:prstGeom prst="rect">
            <a:avLst/>
          </a:prstGeom>
        </p:spPr>
        <p:txBody>
          <a:bodyPr wrap="square">
            <a:spAutoFit/>
          </a:bodyPr>
          <a:lstStyle/>
          <a:p>
            <a:r>
              <a:rPr lang="en-US" sz="2200" b="1" i="1" dirty="0">
                <a:solidFill>
                  <a:srgbClr val="000099"/>
                </a:solidFill>
                <a:latin typeface="Times New Roman" pitchFamily="18" charset="0"/>
                <a:cs typeface="Times New Roman" pitchFamily="18" charset="0"/>
              </a:rPr>
              <a:t>2. A </a:t>
            </a:r>
            <a:r>
              <a:rPr lang="en-US" sz="2200" b="1" i="1" dirty="0" err="1">
                <a:solidFill>
                  <a:srgbClr val="000099"/>
                </a:solidFill>
                <a:latin typeface="Times New Roman" pitchFamily="18" charset="0"/>
                <a:cs typeface="Times New Roman" pitchFamily="18" charset="0"/>
              </a:rPr>
              <a:t>Gigante</a:t>
            </a:r>
            <a:r>
              <a:rPr lang="en-US" sz="2200" b="1" i="1" dirty="0">
                <a:solidFill>
                  <a:srgbClr val="000099"/>
                </a:solidFill>
                <a:latin typeface="Times New Roman" pitchFamily="18" charset="0"/>
                <a:cs typeface="Times New Roman" pitchFamily="18" charset="0"/>
              </a:rPr>
              <a:t> group</a:t>
            </a:r>
          </a:p>
          <a:p>
            <a:pPr>
              <a:buFont typeface="Wingdings" pitchFamily="2" charset="2"/>
              <a:buChar char="v"/>
            </a:pPr>
            <a:r>
              <a:rPr lang="en-US" sz="2200" dirty="0">
                <a:solidFill>
                  <a:srgbClr val="FF0000"/>
                </a:solidFill>
                <a:latin typeface="Times New Roman" pitchFamily="18" charset="0"/>
                <a:cs typeface="Times New Roman" pitchFamily="18" charset="0"/>
              </a:rPr>
              <a:t>  It contributes funds and resources to a range of social causes like school materials for collaborators and grants to improve visual health.</a:t>
            </a:r>
          </a:p>
          <a:p>
            <a:endParaRPr lang="en-US" sz="2200" dirty="0">
              <a:latin typeface="Times New Roman" pitchFamily="18" charset="0"/>
              <a:cs typeface="Times New Roman" pitchFamily="18" charset="0"/>
            </a:endParaRPr>
          </a:p>
          <a:p>
            <a:r>
              <a:rPr lang="en-US" sz="2200" b="1" dirty="0">
                <a:latin typeface="Times New Roman" pitchFamily="18" charset="0"/>
                <a:cs typeface="Times New Roman" pitchFamily="18" charset="0"/>
              </a:rPr>
              <a:t>Social Challenges</a:t>
            </a:r>
          </a:p>
          <a:p>
            <a:pPr>
              <a:buFont typeface="Wingdings" pitchFamily="2" charset="2"/>
              <a:buChar char="v"/>
            </a:pPr>
            <a:r>
              <a:rPr lang="en-US" sz="2200" dirty="0">
                <a:solidFill>
                  <a:srgbClr val="FF0000"/>
                </a:solidFill>
                <a:latin typeface="Times New Roman" pitchFamily="18" charset="0"/>
                <a:cs typeface="Times New Roman" pitchFamily="18" charset="0"/>
              </a:rPr>
              <a:t>  Though social impact, social sustainability challenges, issues are not easily measurable, they are easier to identify. </a:t>
            </a:r>
          </a:p>
          <a:p>
            <a:pPr>
              <a:buFont typeface="Wingdings" pitchFamily="2" charset="2"/>
              <a:buChar char="v"/>
            </a:pPr>
            <a:r>
              <a:rPr lang="en-US" sz="2200" dirty="0">
                <a:solidFill>
                  <a:srgbClr val="FF0000"/>
                </a:solidFill>
                <a:latin typeface="Times New Roman" pitchFamily="18" charset="0"/>
                <a:cs typeface="Times New Roman" pitchFamily="18" charset="0"/>
              </a:rPr>
              <a:t>  Social sustainability performance challenges include</a:t>
            </a:r>
          </a:p>
          <a:p>
            <a:pPr lvl="4">
              <a:buFont typeface="Wingdings" pitchFamily="2" charset="2"/>
              <a:buChar char="ü"/>
            </a:pPr>
            <a:r>
              <a:rPr lang="en-US" sz="2200" dirty="0">
                <a:solidFill>
                  <a:srgbClr val="008000"/>
                </a:solidFill>
                <a:latin typeface="Times New Roman" pitchFamily="18" charset="0"/>
                <a:cs typeface="Times New Roman" pitchFamily="18" charset="0"/>
              </a:rPr>
              <a:t>  Human rights.</a:t>
            </a:r>
          </a:p>
          <a:p>
            <a:pPr lvl="4">
              <a:buFont typeface="Wingdings" pitchFamily="2" charset="2"/>
              <a:buChar char="ü"/>
            </a:pPr>
            <a:r>
              <a:rPr lang="en-US" sz="2200" dirty="0">
                <a:solidFill>
                  <a:srgbClr val="008000"/>
                </a:solidFill>
                <a:latin typeface="Times New Roman" pitchFamily="18" charset="0"/>
                <a:cs typeface="Times New Roman" pitchFamily="18" charset="0"/>
              </a:rPr>
              <a:t>  Fair </a:t>
            </a:r>
            <a:r>
              <a:rPr lang="en-US" sz="2200" dirty="0" err="1">
                <a:solidFill>
                  <a:srgbClr val="008000"/>
                </a:solidFill>
                <a:latin typeface="Times New Roman" pitchFamily="18" charset="0"/>
                <a:cs typeface="Times New Roman" pitchFamily="18" charset="0"/>
              </a:rPr>
              <a:t>labour</a:t>
            </a:r>
            <a:r>
              <a:rPr lang="en-US" sz="2200" dirty="0">
                <a:solidFill>
                  <a:srgbClr val="008000"/>
                </a:solidFill>
                <a:latin typeface="Times New Roman" pitchFamily="18" charset="0"/>
                <a:cs typeface="Times New Roman" pitchFamily="18" charset="0"/>
              </a:rPr>
              <a:t> practices.</a:t>
            </a:r>
          </a:p>
          <a:p>
            <a:pPr lvl="4">
              <a:buFont typeface="Wingdings" pitchFamily="2" charset="2"/>
              <a:buChar char="ü"/>
            </a:pPr>
            <a:r>
              <a:rPr lang="en-US" sz="2200" dirty="0">
                <a:solidFill>
                  <a:srgbClr val="008000"/>
                </a:solidFill>
                <a:latin typeface="Times New Roman" pitchFamily="18" charset="0"/>
                <a:cs typeface="Times New Roman" pitchFamily="18" charset="0"/>
              </a:rPr>
              <a:t>  Living conditions.</a:t>
            </a:r>
          </a:p>
          <a:p>
            <a:pPr lvl="4">
              <a:buFont typeface="Wingdings" pitchFamily="2" charset="2"/>
              <a:buChar char="ü"/>
            </a:pPr>
            <a:r>
              <a:rPr lang="en-US" sz="2200" dirty="0">
                <a:solidFill>
                  <a:srgbClr val="008000"/>
                </a:solidFill>
                <a:latin typeface="Times New Roman" pitchFamily="18" charset="0"/>
                <a:cs typeface="Times New Roman" pitchFamily="18" charset="0"/>
              </a:rPr>
              <a:t>  Health and safety.</a:t>
            </a:r>
          </a:p>
          <a:p>
            <a:pPr lvl="4">
              <a:buFont typeface="Wingdings" pitchFamily="2" charset="2"/>
              <a:buChar char="ü"/>
            </a:pPr>
            <a:r>
              <a:rPr lang="en-US" sz="2200" dirty="0">
                <a:solidFill>
                  <a:srgbClr val="008000"/>
                </a:solidFill>
                <a:latin typeface="Times New Roman" pitchFamily="18" charset="0"/>
                <a:cs typeface="Times New Roman" pitchFamily="18" charset="0"/>
              </a:rPr>
              <a:t>  Wellness, diversity and equity.</a:t>
            </a:r>
          </a:p>
          <a:p>
            <a:pPr lvl="4">
              <a:buFont typeface="Wingdings" pitchFamily="2" charset="2"/>
              <a:buChar char="ü"/>
            </a:pPr>
            <a:r>
              <a:rPr lang="en-US" sz="2200" dirty="0">
                <a:solidFill>
                  <a:srgbClr val="008000"/>
                </a:solidFill>
                <a:latin typeface="Times New Roman" pitchFamily="18" charset="0"/>
                <a:cs typeface="Times New Roman" pitchFamily="18" charset="0"/>
              </a:rPr>
              <a:t>  Work-life balance.</a:t>
            </a:r>
          </a:p>
          <a:p>
            <a:pPr lvl="4">
              <a:buFont typeface="Wingdings" pitchFamily="2" charset="2"/>
              <a:buChar char="ü"/>
            </a:pPr>
            <a:r>
              <a:rPr lang="en-US" sz="2200" dirty="0">
                <a:solidFill>
                  <a:srgbClr val="008000"/>
                </a:solidFill>
                <a:latin typeface="Times New Roman" pitchFamily="18" charset="0"/>
                <a:cs typeface="Times New Roman" pitchFamily="18" charset="0"/>
              </a:rPr>
              <a:t>  Empowerment.</a:t>
            </a:r>
          </a:p>
          <a:p>
            <a:pPr lvl="4">
              <a:buFont typeface="Wingdings" pitchFamily="2" charset="2"/>
              <a:buChar char="ü"/>
            </a:pPr>
            <a:r>
              <a:rPr lang="en-US" sz="2200" dirty="0">
                <a:solidFill>
                  <a:srgbClr val="008000"/>
                </a:solidFill>
                <a:latin typeface="Times New Roman" pitchFamily="18" charset="0"/>
                <a:cs typeface="Times New Roman" pitchFamily="18" charset="0"/>
              </a:rPr>
              <a:t>  Community engagement</a:t>
            </a:r>
            <a:r>
              <a:rPr lang="en-US" sz="2400" dirty="0">
                <a:solidFill>
                  <a:srgbClr val="008000"/>
                </a:solidFill>
              </a:rPr>
              <a:t>.</a:t>
            </a:r>
            <a:endParaRPr lang="en-US" sz="2200" dirty="0">
              <a:solidFill>
                <a:srgbClr val="008000"/>
              </a:solidFill>
              <a:latin typeface="Times New Roman" pitchFamily="18" charset="0"/>
              <a:cs typeface="Times New Roman" pitchFamily="18" charset="0"/>
            </a:endParaRPr>
          </a:p>
        </p:txBody>
      </p:sp>
    </p:spTree>
  </p:cSld>
  <p:clrMapOvr>
    <a:masterClrMapping/>
  </p:clrMapOvr>
  <p:transition spd="slow">
    <p:newsfla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28343"/>
            <a:ext cx="83058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4.3.4 Aspects of sustainability</a:t>
            </a:r>
          </a:p>
          <a:p>
            <a:pPr>
              <a:buFont typeface="Wingdings" pitchFamily="2" charset="2"/>
              <a:buChar char="q"/>
            </a:pPr>
            <a:r>
              <a:rPr lang="en-US" sz="2200" dirty="0">
                <a:solidFill>
                  <a:srgbClr val="FF0000"/>
                </a:solidFill>
                <a:latin typeface="Times New Roman" pitchFamily="18" charset="0"/>
                <a:cs typeface="Times New Roman" pitchFamily="18" charset="0"/>
              </a:rPr>
              <a:t>  There are 4 aspects of sustainability, of them environmental sustainability is the fundamental and important aspect.</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1. Environmental aspect</a:t>
            </a:r>
          </a:p>
          <a:p>
            <a:pPr>
              <a:buFont typeface="Wingdings" pitchFamily="2" charset="2"/>
              <a:buChar char="q"/>
            </a:pPr>
            <a:r>
              <a:rPr lang="en-US" sz="2200" dirty="0">
                <a:solidFill>
                  <a:srgbClr val="FF0000"/>
                </a:solidFill>
                <a:latin typeface="Times New Roman" pitchFamily="18" charset="0"/>
                <a:cs typeface="Times New Roman" pitchFamily="18" charset="0"/>
              </a:rPr>
              <a:t>  Environmental aspect acknowledges the need to enhance and maintain the biophysical systems that sustain all the life on earth. </a:t>
            </a:r>
          </a:p>
          <a:p>
            <a:pPr>
              <a:buFont typeface="Wingdings" pitchFamily="2" charset="2"/>
              <a:buChar char="q"/>
            </a:pPr>
            <a:r>
              <a:rPr lang="en-US" sz="2200" dirty="0">
                <a:solidFill>
                  <a:srgbClr val="FF0000"/>
                </a:solidFill>
                <a:latin typeface="Times New Roman" pitchFamily="18" charset="0"/>
                <a:cs typeface="Times New Roman" pitchFamily="18" charset="0"/>
              </a:rPr>
              <a:t>  It includes the structure and function of natural ecosystems and the interactions between them and people and calls for guardianship (or) </a:t>
            </a:r>
            <a:r>
              <a:rPr lang="en-US" sz="2200" dirty="0" err="1">
                <a:solidFill>
                  <a:srgbClr val="FF0000"/>
                </a:solidFill>
                <a:latin typeface="Times New Roman" pitchFamily="18" charset="0"/>
                <a:cs typeface="Times New Roman" pitchFamily="18" charset="0"/>
              </a:rPr>
              <a:t>kaitiakitanga</a:t>
            </a:r>
            <a:r>
              <a:rPr lang="en-US" sz="2200" dirty="0">
                <a:solidFill>
                  <a:srgbClr val="FF0000"/>
                </a:solidFill>
                <a:latin typeface="Times New Roman" pitchFamily="18" charset="0"/>
                <a:cs typeface="Times New Roman" pitchFamily="18" charset="0"/>
              </a:rPr>
              <a:t> of our environment.</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Social aspect</a:t>
            </a:r>
          </a:p>
          <a:p>
            <a:pPr>
              <a:buFont typeface="Wingdings" pitchFamily="2" charset="2"/>
              <a:buChar char="q"/>
            </a:pPr>
            <a:r>
              <a:rPr lang="en-US" sz="2200" dirty="0">
                <a:solidFill>
                  <a:srgbClr val="FF0000"/>
                </a:solidFill>
                <a:latin typeface="Times New Roman" pitchFamily="18" charset="0"/>
                <a:cs typeface="Times New Roman" pitchFamily="18" charset="0"/>
              </a:rPr>
              <a:t>  Social aspect acknowledges the need for equity</a:t>
            </a:r>
          </a:p>
          <a:p>
            <a:pPr lvl="2">
              <a:buFont typeface="Wingdings" pitchFamily="2" charset="2"/>
              <a:buChar char="ü"/>
            </a:pPr>
            <a:r>
              <a:rPr lang="en-US" sz="2200" dirty="0">
                <a:solidFill>
                  <a:srgbClr val="008000"/>
                </a:solidFill>
                <a:latin typeface="Times New Roman" pitchFamily="18" charset="0"/>
                <a:cs typeface="Times New Roman" pitchFamily="18" charset="0"/>
              </a:rPr>
              <a:t>  within and between generations, and</a:t>
            </a:r>
          </a:p>
          <a:p>
            <a:pPr lvl="2">
              <a:buFont typeface="Wingdings" pitchFamily="2" charset="2"/>
              <a:buChar char="ü"/>
            </a:pPr>
            <a:r>
              <a:rPr lang="en-US" sz="2200" dirty="0">
                <a:solidFill>
                  <a:srgbClr val="008000"/>
                </a:solidFill>
                <a:latin typeface="Times New Roman" pitchFamily="18" charset="0"/>
                <a:cs typeface="Times New Roman" pitchFamily="18" charset="0"/>
              </a:rPr>
              <a:t>  within and between ethnic and social groups.</a:t>
            </a:r>
          </a:p>
        </p:txBody>
      </p:sp>
    </p:spTree>
  </p:cSld>
  <p:clrMapOvr>
    <a:masterClrMapping/>
  </p:clrMapOvr>
  <p:transition spd="slow">
    <p:newsfla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7924800" cy="5509200"/>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It is inclusive of people’s mental and physical well-being and the cohesion of their communities based on a fair distribution of resources.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3. Cultural aspect</a:t>
            </a:r>
          </a:p>
          <a:p>
            <a:pPr>
              <a:buFont typeface="Wingdings" pitchFamily="2" charset="2"/>
              <a:buChar char="q"/>
            </a:pPr>
            <a:r>
              <a:rPr lang="en-US" sz="2200" dirty="0">
                <a:solidFill>
                  <a:srgbClr val="FF0000"/>
                </a:solidFill>
                <a:latin typeface="Times New Roman" pitchFamily="18" charset="0"/>
                <a:cs typeface="Times New Roman" pitchFamily="18" charset="0"/>
              </a:rPr>
              <a:t>  Cultural aspect acknowledges the need to nourish and share attitudes and values that represent diverse world views and the political need for all people to express their views freely and to participate in decision making. </a:t>
            </a:r>
          </a:p>
          <a:p>
            <a:pPr>
              <a:buFont typeface="Wingdings" pitchFamily="2" charset="2"/>
              <a:buChar char="q"/>
            </a:pPr>
            <a:r>
              <a:rPr lang="en-US" sz="2200" dirty="0">
                <a:solidFill>
                  <a:srgbClr val="FF0000"/>
                </a:solidFill>
                <a:latin typeface="Times New Roman" pitchFamily="18" charset="0"/>
                <a:cs typeface="Times New Roman" pitchFamily="18" charset="0"/>
              </a:rPr>
              <a:t>  Addressing these needs can build resilience for the future.</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4. Economic </a:t>
            </a:r>
            <a:r>
              <a:rPr lang="en-US" sz="2200" b="1" dirty="0" err="1" smtClean="0">
                <a:solidFill>
                  <a:srgbClr val="000099"/>
                </a:solidFill>
                <a:latin typeface="Times New Roman" pitchFamily="18" charset="0"/>
                <a:cs typeface="Times New Roman" pitchFamily="18" charset="0"/>
              </a:rPr>
              <a:t>aspect</a:t>
            </a:r>
            <a:r>
              <a:rPr lang="en-US" sz="2200" dirty="0" err="1">
                <a:solidFill>
                  <a:srgbClr val="FF0000"/>
                </a:solidFill>
                <a:latin typeface="Times New Roman" pitchFamily="18" charset="0"/>
                <a:cs typeface="Times New Roman" pitchFamily="18" charset="0"/>
              </a:rPr>
              <a:t>Economic</a:t>
            </a:r>
            <a:r>
              <a:rPr lang="en-US" sz="2200" dirty="0">
                <a:solidFill>
                  <a:srgbClr val="FF0000"/>
                </a:solidFill>
                <a:latin typeface="Times New Roman" pitchFamily="18" charset="0"/>
                <a:cs typeface="Times New Roman" pitchFamily="18" charset="0"/>
              </a:rPr>
              <a:t> aspect acknowledges the interactions of humans with the natural environment in using resources to create goods and services which add value to their lives.</a:t>
            </a:r>
          </a:p>
          <a:p>
            <a:endParaRPr lang="en-US" sz="2200" b="1" dirty="0">
              <a:solidFill>
                <a:srgbClr val="000099"/>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t>
            </a:r>
          </a:p>
        </p:txBody>
      </p:sp>
    </p:spTree>
  </p:cSld>
  <p:clrMapOvr>
    <a:masterClrMapping/>
  </p:clrMapOvr>
  <p:transition spd="slow">
    <p:newsfla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xmlns="" id="{C0CE9E6A-D853-8E92-C045-B75736C3D82F}"/>
              </a:ext>
            </a:extLst>
          </p:cNvPr>
          <p:cNvGrpSpPr>
            <a:grpSpLocks/>
          </p:cNvGrpSpPr>
          <p:nvPr/>
        </p:nvGrpSpPr>
        <p:grpSpPr bwMode="auto">
          <a:xfrm>
            <a:off x="2479607" y="2209800"/>
            <a:ext cx="2895600" cy="2743200"/>
            <a:chOff x="4707" y="188"/>
            <a:chExt cx="2820" cy="2789"/>
          </a:xfrm>
        </p:grpSpPr>
        <p:sp>
          <p:nvSpPr>
            <p:cNvPr id="3" name="Freeform 3">
              <a:extLst>
                <a:ext uri="{FF2B5EF4-FFF2-40B4-BE49-F238E27FC236}">
                  <a16:creationId xmlns:a16="http://schemas.microsoft.com/office/drawing/2014/main" xmlns="" id="{C8F359F4-6F07-8080-744D-721D1847E455}"/>
                </a:ext>
              </a:extLst>
            </p:cNvPr>
            <p:cNvSpPr>
              <a:spLocks/>
            </p:cNvSpPr>
            <p:nvPr/>
          </p:nvSpPr>
          <p:spPr bwMode="auto">
            <a:xfrm>
              <a:off x="5309" y="492"/>
              <a:ext cx="2211" cy="2477"/>
            </a:xfrm>
            <a:custGeom>
              <a:avLst/>
              <a:gdLst>
                <a:gd name="T0" fmla="+- 0 6999 5310"/>
                <a:gd name="T1" fmla="*/ T0 w 2211"/>
                <a:gd name="T2" fmla="+- 0 541 493"/>
                <a:gd name="T3" fmla="*/ 541 h 2477"/>
                <a:gd name="T4" fmla="+- 0 7105 5310"/>
                <a:gd name="T5" fmla="*/ T4 w 2211"/>
                <a:gd name="T6" fmla="+- 0 644 493"/>
                <a:gd name="T7" fmla="*/ 644 h 2477"/>
                <a:gd name="T8" fmla="+- 0 7242 5310"/>
                <a:gd name="T9" fmla="*/ T8 w 2211"/>
                <a:gd name="T10" fmla="+- 0 824 493"/>
                <a:gd name="T11" fmla="*/ 824 h 2477"/>
                <a:gd name="T12" fmla="+- 0 7316 5310"/>
                <a:gd name="T13" fmla="*/ T12 w 2211"/>
                <a:gd name="T14" fmla="+- 0 956 493"/>
                <a:gd name="T15" fmla="*/ 956 h 2477"/>
                <a:gd name="T16" fmla="+- 0 7378 5310"/>
                <a:gd name="T17" fmla="*/ T16 w 2211"/>
                <a:gd name="T18" fmla="+- 0 1097 493"/>
                <a:gd name="T19" fmla="*/ 1097 h 2477"/>
                <a:gd name="T20" fmla="+- 0 7422 5310"/>
                <a:gd name="T21" fmla="*/ T20 w 2211"/>
                <a:gd name="T22" fmla="+- 0 1244 493"/>
                <a:gd name="T23" fmla="*/ 1244 h 2477"/>
                <a:gd name="T24" fmla="+- 0 7450 5310"/>
                <a:gd name="T25" fmla="*/ T24 w 2211"/>
                <a:gd name="T26" fmla="+- 0 1400 493"/>
                <a:gd name="T27" fmla="*/ 1400 h 2477"/>
                <a:gd name="T28" fmla="+- 0 7450 5310"/>
                <a:gd name="T29" fmla="*/ T28 w 2211"/>
                <a:gd name="T30" fmla="+- 0 1697 493"/>
                <a:gd name="T31" fmla="*/ 1697 h 2477"/>
                <a:gd name="T32" fmla="+- 0 7417 5310"/>
                <a:gd name="T33" fmla="*/ T32 w 2211"/>
                <a:gd name="T34" fmla="+- 0 1897 493"/>
                <a:gd name="T35" fmla="*/ 1897 h 2477"/>
                <a:gd name="T36" fmla="+- 0 7374 5310"/>
                <a:gd name="T37" fmla="*/ T36 w 2211"/>
                <a:gd name="T38" fmla="+- 0 2029 493"/>
                <a:gd name="T39" fmla="*/ 2029 h 2477"/>
                <a:gd name="T40" fmla="+- 0 7321 5310"/>
                <a:gd name="T41" fmla="*/ T40 w 2211"/>
                <a:gd name="T42" fmla="+- 0 2146 493"/>
                <a:gd name="T43" fmla="*/ 2146 h 2477"/>
                <a:gd name="T44" fmla="+- 0 7261 5310"/>
                <a:gd name="T45" fmla="*/ T44 w 2211"/>
                <a:gd name="T46" fmla="+- 0 2266 493"/>
                <a:gd name="T47" fmla="*/ 2266 h 2477"/>
                <a:gd name="T48" fmla="+- 0 7146 5310"/>
                <a:gd name="T49" fmla="*/ T48 w 2211"/>
                <a:gd name="T50" fmla="+- 0 2427 493"/>
                <a:gd name="T51" fmla="*/ 2427 h 2477"/>
                <a:gd name="T52" fmla="+- 0 7009 5310"/>
                <a:gd name="T53" fmla="*/ T52 w 2211"/>
                <a:gd name="T54" fmla="+- 0 2569 493"/>
                <a:gd name="T55" fmla="*/ 2569 h 2477"/>
                <a:gd name="T56" fmla="+- 0 6853 5310"/>
                <a:gd name="T57" fmla="*/ T56 w 2211"/>
                <a:gd name="T58" fmla="+- 0 2691 493"/>
                <a:gd name="T59" fmla="*/ 2691 h 2477"/>
                <a:gd name="T60" fmla="+- 0 6745 5310"/>
                <a:gd name="T61" fmla="*/ T60 w 2211"/>
                <a:gd name="T62" fmla="+- 0 2758 493"/>
                <a:gd name="T63" fmla="*/ 2758 h 2477"/>
                <a:gd name="T64" fmla="+- 0 6622 5310"/>
                <a:gd name="T65" fmla="*/ T64 w 2211"/>
                <a:gd name="T66" fmla="+- 0 2813 493"/>
                <a:gd name="T67" fmla="*/ 2813 h 2477"/>
                <a:gd name="T68" fmla="+- 0 6433 5310"/>
                <a:gd name="T69" fmla="*/ T68 w 2211"/>
                <a:gd name="T70" fmla="+- 0 2881 493"/>
                <a:gd name="T71" fmla="*/ 2881 h 2477"/>
                <a:gd name="T72" fmla="+- 0 6234 5310"/>
                <a:gd name="T73" fmla="*/ T72 w 2211"/>
                <a:gd name="T74" fmla="+- 0 2914 493"/>
                <a:gd name="T75" fmla="*/ 2914 h 2477"/>
                <a:gd name="T76" fmla="+- 0 6092 5310"/>
                <a:gd name="T77" fmla="*/ T76 w 2211"/>
                <a:gd name="T78" fmla="+- 0 2921 493"/>
                <a:gd name="T79" fmla="*/ 2921 h 2477"/>
                <a:gd name="T80" fmla="+- 0 5878 5310"/>
                <a:gd name="T81" fmla="*/ T80 w 2211"/>
                <a:gd name="T82" fmla="+- 0 2905 493"/>
                <a:gd name="T83" fmla="*/ 2905 h 2477"/>
                <a:gd name="T84" fmla="+- 0 5674 5310"/>
                <a:gd name="T85" fmla="*/ T84 w 2211"/>
                <a:gd name="T86" fmla="+- 0 2857 493"/>
                <a:gd name="T87" fmla="*/ 2857 h 2477"/>
                <a:gd name="T88" fmla="+- 0 5485 5310"/>
                <a:gd name="T89" fmla="*/ T88 w 2211"/>
                <a:gd name="T90" fmla="+- 0 2775 493"/>
                <a:gd name="T91" fmla="*/ 2775 h 2477"/>
                <a:gd name="T92" fmla="+- 0 5310 5310"/>
                <a:gd name="T93" fmla="*/ T92 w 2211"/>
                <a:gd name="T94" fmla="+- 0 2672 493"/>
                <a:gd name="T95" fmla="*/ 2672 h 2477"/>
                <a:gd name="T96" fmla="+- 0 5494 5310"/>
                <a:gd name="T97" fmla="*/ T96 w 2211"/>
                <a:gd name="T98" fmla="+- 0 2799 493"/>
                <a:gd name="T99" fmla="*/ 2799 h 2477"/>
                <a:gd name="T100" fmla="+- 0 5698 5310"/>
                <a:gd name="T101" fmla="*/ T100 w 2211"/>
                <a:gd name="T102" fmla="+- 0 2890 493"/>
                <a:gd name="T103" fmla="*/ 2890 h 2477"/>
                <a:gd name="T104" fmla="+- 0 5806 5310"/>
                <a:gd name="T105" fmla="*/ T104 w 2211"/>
                <a:gd name="T106" fmla="+- 0 2921 493"/>
                <a:gd name="T107" fmla="*/ 2921 h 2477"/>
                <a:gd name="T108" fmla="+- 0 5977 5310"/>
                <a:gd name="T109" fmla="*/ T108 w 2211"/>
                <a:gd name="T110" fmla="+- 0 2960 493"/>
                <a:gd name="T111" fmla="*/ 2960 h 2477"/>
                <a:gd name="T112" fmla="+- 0 6224 5310"/>
                <a:gd name="T113" fmla="*/ T112 w 2211"/>
                <a:gd name="T114" fmla="+- 0 2969 493"/>
                <a:gd name="T115" fmla="*/ 2969 h 2477"/>
                <a:gd name="T116" fmla="+- 0 6361 5310"/>
                <a:gd name="T117" fmla="*/ T116 w 2211"/>
                <a:gd name="T118" fmla="+- 0 2955 493"/>
                <a:gd name="T119" fmla="*/ 2955 h 2477"/>
                <a:gd name="T120" fmla="+- 0 6498 5310"/>
                <a:gd name="T121" fmla="*/ T120 w 2211"/>
                <a:gd name="T122" fmla="+- 0 2926 493"/>
                <a:gd name="T123" fmla="*/ 2926 h 2477"/>
                <a:gd name="T124" fmla="+- 0 6625 5310"/>
                <a:gd name="T125" fmla="*/ T124 w 2211"/>
                <a:gd name="T126" fmla="+- 0 2885 493"/>
                <a:gd name="T127" fmla="*/ 2885 h 2477"/>
                <a:gd name="T128" fmla="+- 0 6745 5310"/>
                <a:gd name="T129" fmla="*/ T128 w 2211"/>
                <a:gd name="T130" fmla="+- 0 2833 493"/>
                <a:gd name="T131" fmla="*/ 2833 h 2477"/>
                <a:gd name="T132" fmla="+- 0 6862 5310"/>
                <a:gd name="T133" fmla="*/ T132 w 2211"/>
                <a:gd name="T134" fmla="+- 0 2770 493"/>
                <a:gd name="T135" fmla="*/ 2770 h 2477"/>
                <a:gd name="T136" fmla="+- 0 6970 5310"/>
                <a:gd name="T137" fmla="*/ T136 w 2211"/>
                <a:gd name="T138" fmla="+- 0 2701 493"/>
                <a:gd name="T139" fmla="*/ 2701 h 2477"/>
                <a:gd name="T140" fmla="+- 0 7071 5310"/>
                <a:gd name="T141" fmla="*/ T140 w 2211"/>
                <a:gd name="T142" fmla="+- 0 2614 493"/>
                <a:gd name="T143" fmla="*/ 2614 h 2477"/>
                <a:gd name="T144" fmla="+- 0 7165 5310"/>
                <a:gd name="T145" fmla="*/ T144 w 2211"/>
                <a:gd name="T146" fmla="+- 0 2521 493"/>
                <a:gd name="T147" fmla="*/ 2521 h 2477"/>
                <a:gd name="T148" fmla="+- 0 7251 5310"/>
                <a:gd name="T149" fmla="*/ T148 w 2211"/>
                <a:gd name="T150" fmla="+- 0 2422 493"/>
                <a:gd name="T151" fmla="*/ 2422 h 2477"/>
                <a:gd name="T152" fmla="+- 0 7321 5310"/>
                <a:gd name="T153" fmla="*/ T152 w 2211"/>
                <a:gd name="T154" fmla="+- 0 2312 493"/>
                <a:gd name="T155" fmla="*/ 2312 h 2477"/>
                <a:gd name="T156" fmla="+- 0 7383 5310"/>
                <a:gd name="T157" fmla="*/ T156 w 2211"/>
                <a:gd name="T158" fmla="+- 0 2194 493"/>
                <a:gd name="T159" fmla="*/ 2194 h 2477"/>
                <a:gd name="T160" fmla="+- 0 7436 5310"/>
                <a:gd name="T161" fmla="*/ T160 w 2211"/>
                <a:gd name="T162" fmla="+- 0 2077 493"/>
                <a:gd name="T163" fmla="*/ 2077 h 2477"/>
                <a:gd name="T164" fmla="+- 0 7477 5310"/>
                <a:gd name="T165" fmla="*/ T164 w 2211"/>
                <a:gd name="T166" fmla="+- 0 1945 493"/>
                <a:gd name="T167" fmla="*/ 1945 h 2477"/>
                <a:gd name="T168" fmla="+- 0 7506 5310"/>
                <a:gd name="T169" fmla="*/ T168 w 2211"/>
                <a:gd name="T170" fmla="+- 0 1813 493"/>
                <a:gd name="T171" fmla="*/ 1813 h 2477"/>
                <a:gd name="T172" fmla="+- 0 7520 5310"/>
                <a:gd name="T173" fmla="*/ T172 w 2211"/>
                <a:gd name="T174" fmla="+- 0 1673 493"/>
                <a:gd name="T175" fmla="*/ 1673 h 2477"/>
                <a:gd name="T176" fmla="+- 0 7515 5310"/>
                <a:gd name="T177" fmla="*/ T176 w 2211"/>
                <a:gd name="T178" fmla="+- 0 1517 493"/>
                <a:gd name="T179" fmla="*/ 1517 h 2477"/>
                <a:gd name="T180" fmla="+- 0 7496 5310"/>
                <a:gd name="T181" fmla="*/ T180 w 2211"/>
                <a:gd name="T182" fmla="+- 0 1352 493"/>
                <a:gd name="T183" fmla="*/ 1352 h 2477"/>
                <a:gd name="T184" fmla="+- 0 7455 5310"/>
                <a:gd name="T185" fmla="*/ T184 w 2211"/>
                <a:gd name="T186" fmla="+- 0 1191 493"/>
                <a:gd name="T187" fmla="*/ 1191 h 2477"/>
                <a:gd name="T188" fmla="+- 0 7398 5310"/>
                <a:gd name="T189" fmla="*/ T188 w 2211"/>
                <a:gd name="T190" fmla="+- 0 1040 493"/>
                <a:gd name="T191" fmla="*/ 1040 h 2477"/>
                <a:gd name="T192" fmla="+- 0 7321 5310"/>
                <a:gd name="T193" fmla="*/ T192 w 2211"/>
                <a:gd name="T194" fmla="+- 0 898 493"/>
                <a:gd name="T195" fmla="*/ 898 h 2477"/>
                <a:gd name="T196" fmla="+- 0 7232 5310"/>
                <a:gd name="T197" fmla="*/ T196 w 2211"/>
                <a:gd name="T198" fmla="+- 0 766 493"/>
                <a:gd name="T199" fmla="*/ 766 h 2477"/>
                <a:gd name="T200" fmla="+- 0 7124 5310"/>
                <a:gd name="T201" fmla="*/ T200 w 2211"/>
                <a:gd name="T202" fmla="+- 0 649 493"/>
                <a:gd name="T203" fmla="*/ 649 h 2477"/>
                <a:gd name="T204" fmla="+- 0 7004 5310"/>
                <a:gd name="T205" fmla="*/ T204 w 2211"/>
                <a:gd name="T206" fmla="+- 0 541 493"/>
                <a:gd name="T207" fmla="*/ 541 h 24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Lst>
              <a:rect l="0" t="0" r="r" b="b"/>
              <a:pathLst>
                <a:path w="2211" h="2477">
                  <a:moveTo>
                    <a:pt x="1629" y="0"/>
                  </a:moveTo>
                  <a:lnTo>
                    <a:pt x="1689" y="48"/>
                  </a:lnTo>
                  <a:lnTo>
                    <a:pt x="1742" y="98"/>
                  </a:lnTo>
                  <a:lnTo>
                    <a:pt x="1795" y="151"/>
                  </a:lnTo>
                  <a:lnTo>
                    <a:pt x="1888" y="268"/>
                  </a:lnTo>
                  <a:lnTo>
                    <a:pt x="1932" y="331"/>
                  </a:lnTo>
                  <a:lnTo>
                    <a:pt x="1970" y="396"/>
                  </a:lnTo>
                  <a:lnTo>
                    <a:pt x="2006" y="463"/>
                  </a:lnTo>
                  <a:lnTo>
                    <a:pt x="2040" y="535"/>
                  </a:lnTo>
                  <a:lnTo>
                    <a:pt x="2068" y="604"/>
                  </a:lnTo>
                  <a:lnTo>
                    <a:pt x="2092" y="676"/>
                  </a:lnTo>
                  <a:lnTo>
                    <a:pt x="2112" y="751"/>
                  </a:lnTo>
                  <a:lnTo>
                    <a:pt x="2126" y="828"/>
                  </a:lnTo>
                  <a:lnTo>
                    <a:pt x="2140" y="907"/>
                  </a:lnTo>
                  <a:lnTo>
                    <a:pt x="2150" y="1068"/>
                  </a:lnTo>
                  <a:lnTo>
                    <a:pt x="2140" y="1204"/>
                  </a:lnTo>
                  <a:lnTo>
                    <a:pt x="2121" y="1341"/>
                  </a:lnTo>
                  <a:lnTo>
                    <a:pt x="2107" y="1404"/>
                  </a:lnTo>
                  <a:lnTo>
                    <a:pt x="2088" y="1471"/>
                  </a:lnTo>
                  <a:lnTo>
                    <a:pt x="2064" y="1536"/>
                  </a:lnTo>
                  <a:lnTo>
                    <a:pt x="2040" y="1598"/>
                  </a:lnTo>
                  <a:lnTo>
                    <a:pt x="2011" y="1653"/>
                  </a:lnTo>
                  <a:lnTo>
                    <a:pt x="1984" y="1716"/>
                  </a:lnTo>
                  <a:lnTo>
                    <a:pt x="1951" y="1773"/>
                  </a:lnTo>
                  <a:lnTo>
                    <a:pt x="1912" y="1828"/>
                  </a:lnTo>
                  <a:lnTo>
                    <a:pt x="1836" y="1934"/>
                  </a:lnTo>
                  <a:lnTo>
                    <a:pt x="1795" y="1980"/>
                  </a:lnTo>
                  <a:lnTo>
                    <a:pt x="1699" y="2076"/>
                  </a:lnTo>
                  <a:lnTo>
                    <a:pt x="1600" y="2160"/>
                  </a:lnTo>
                  <a:lnTo>
                    <a:pt x="1543" y="2198"/>
                  </a:lnTo>
                  <a:lnTo>
                    <a:pt x="1490" y="2232"/>
                  </a:lnTo>
                  <a:lnTo>
                    <a:pt x="1435" y="2265"/>
                  </a:lnTo>
                  <a:lnTo>
                    <a:pt x="1372" y="2292"/>
                  </a:lnTo>
                  <a:lnTo>
                    <a:pt x="1312" y="2320"/>
                  </a:lnTo>
                  <a:lnTo>
                    <a:pt x="1188" y="2368"/>
                  </a:lnTo>
                  <a:lnTo>
                    <a:pt x="1123" y="2388"/>
                  </a:lnTo>
                  <a:lnTo>
                    <a:pt x="988" y="2416"/>
                  </a:lnTo>
                  <a:lnTo>
                    <a:pt x="924" y="2421"/>
                  </a:lnTo>
                  <a:lnTo>
                    <a:pt x="852" y="2428"/>
                  </a:lnTo>
                  <a:lnTo>
                    <a:pt x="782" y="2428"/>
                  </a:lnTo>
                  <a:lnTo>
                    <a:pt x="672" y="2426"/>
                  </a:lnTo>
                  <a:lnTo>
                    <a:pt x="568" y="2412"/>
                  </a:lnTo>
                  <a:lnTo>
                    <a:pt x="465" y="2392"/>
                  </a:lnTo>
                  <a:lnTo>
                    <a:pt x="364" y="2364"/>
                  </a:lnTo>
                  <a:lnTo>
                    <a:pt x="266" y="2330"/>
                  </a:lnTo>
                  <a:lnTo>
                    <a:pt x="175" y="2282"/>
                  </a:lnTo>
                  <a:lnTo>
                    <a:pt x="86" y="2236"/>
                  </a:lnTo>
                  <a:lnTo>
                    <a:pt x="0" y="2179"/>
                  </a:lnTo>
                  <a:lnTo>
                    <a:pt x="91" y="2246"/>
                  </a:lnTo>
                  <a:lnTo>
                    <a:pt x="184" y="2306"/>
                  </a:lnTo>
                  <a:lnTo>
                    <a:pt x="285" y="2354"/>
                  </a:lnTo>
                  <a:lnTo>
                    <a:pt x="388" y="2397"/>
                  </a:lnTo>
                  <a:lnTo>
                    <a:pt x="446" y="2416"/>
                  </a:lnTo>
                  <a:lnTo>
                    <a:pt x="496" y="2428"/>
                  </a:lnTo>
                  <a:lnTo>
                    <a:pt x="612" y="2457"/>
                  </a:lnTo>
                  <a:lnTo>
                    <a:pt x="667" y="2467"/>
                  </a:lnTo>
                  <a:lnTo>
                    <a:pt x="787" y="2476"/>
                  </a:lnTo>
                  <a:lnTo>
                    <a:pt x="914" y="2476"/>
                  </a:lnTo>
                  <a:lnTo>
                    <a:pt x="984" y="2467"/>
                  </a:lnTo>
                  <a:lnTo>
                    <a:pt x="1051" y="2462"/>
                  </a:lnTo>
                  <a:lnTo>
                    <a:pt x="1123" y="2448"/>
                  </a:lnTo>
                  <a:lnTo>
                    <a:pt x="1188" y="2433"/>
                  </a:lnTo>
                  <a:lnTo>
                    <a:pt x="1250" y="2416"/>
                  </a:lnTo>
                  <a:lnTo>
                    <a:pt x="1315" y="2392"/>
                  </a:lnTo>
                  <a:lnTo>
                    <a:pt x="1377" y="2368"/>
                  </a:lnTo>
                  <a:lnTo>
                    <a:pt x="1435" y="2340"/>
                  </a:lnTo>
                  <a:lnTo>
                    <a:pt x="1495" y="2311"/>
                  </a:lnTo>
                  <a:lnTo>
                    <a:pt x="1552" y="2277"/>
                  </a:lnTo>
                  <a:lnTo>
                    <a:pt x="1610" y="2246"/>
                  </a:lnTo>
                  <a:lnTo>
                    <a:pt x="1660" y="2208"/>
                  </a:lnTo>
                  <a:lnTo>
                    <a:pt x="1713" y="2164"/>
                  </a:lnTo>
                  <a:lnTo>
                    <a:pt x="1761" y="2121"/>
                  </a:lnTo>
                  <a:lnTo>
                    <a:pt x="1809" y="2076"/>
                  </a:lnTo>
                  <a:lnTo>
                    <a:pt x="1855" y="2028"/>
                  </a:lnTo>
                  <a:lnTo>
                    <a:pt x="1898" y="1980"/>
                  </a:lnTo>
                  <a:lnTo>
                    <a:pt x="1941" y="1929"/>
                  </a:lnTo>
                  <a:lnTo>
                    <a:pt x="1980" y="1876"/>
                  </a:lnTo>
                  <a:lnTo>
                    <a:pt x="2011" y="1819"/>
                  </a:lnTo>
                  <a:lnTo>
                    <a:pt x="2044" y="1764"/>
                  </a:lnTo>
                  <a:lnTo>
                    <a:pt x="2073" y="1701"/>
                  </a:lnTo>
                  <a:lnTo>
                    <a:pt x="2102" y="1644"/>
                  </a:lnTo>
                  <a:lnTo>
                    <a:pt x="2126" y="1584"/>
                  </a:lnTo>
                  <a:lnTo>
                    <a:pt x="2150" y="1516"/>
                  </a:lnTo>
                  <a:lnTo>
                    <a:pt x="2167" y="1452"/>
                  </a:lnTo>
                  <a:lnTo>
                    <a:pt x="2181" y="1389"/>
                  </a:lnTo>
                  <a:lnTo>
                    <a:pt x="2196" y="1320"/>
                  </a:lnTo>
                  <a:lnTo>
                    <a:pt x="2200" y="1252"/>
                  </a:lnTo>
                  <a:lnTo>
                    <a:pt x="2210" y="1180"/>
                  </a:lnTo>
                  <a:lnTo>
                    <a:pt x="2210" y="1111"/>
                  </a:lnTo>
                  <a:lnTo>
                    <a:pt x="2205" y="1024"/>
                  </a:lnTo>
                  <a:lnTo>
                    <a:pt x="2200" y="945"/>
                  </a:lnTo>
                  <a:lnTo>
                    <a:pt x="2186" y="859"/>
                  </a:lnTo>
                  <a:lnTo>
                    <a:pt x="2167" y="780"/>
                  </a:lnTo>
                  <a:lnTo>
                    <a:pt x="2145" y="698"/>
                  </a:lnTo>
                  <a:lnTo>
                    <a:pt x="2121" y="624"/>
                  </a:lnTo>
                  <a:lnTo>
                    <a:pt x="2088" y="547"/>
                  </a:lnTo>
                  <a:lnTo>
                    <a:pt x="2049" y="477"/>
                  </a:lnTo>
                  <a:lnTo>
                    <a:pt x="2011" y="405"/>
                  </a:lnTo>
                  <a:lnTo>
                    <a:pt x="1970" y="340"/>
                  </a:lnTo>
                  <a:lnTo>
                    <a:pt x="1922" y="273"/>
                  </a:lnTo>
                  <a:lnTo>
                    <a:pt x="1869" y="213"/>
                  </a:lnTo>
                  <a:lnTo>
                    <a:pt x="1814" y="156"/>
                  </a:lnTo>
                  <a:lnTo>
                    <a:pt x="1756" y="98"/>
                  </a:lnTo>
                  <a:lnTo>
                    <a:pt x="1694" y="48"/>
                  </a:lnTo>
                  <a:lnTo>
                    <a:pt x="16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4" name="Freeform 4">
              <a:extLst>
                <a:ext uri="{FF2B5EF4-FFF2-40B4-BE49-F238E27FC236}">
                  <a16:creationId xmlns:a16="http://schemas.microsoft.com/office/drawing/2014/main" xmlns="" id="{8DB9BD10-A5DF-F6EA-B8AB-4DA72D823C7F}"/>
                </a:ext>
              </a:extLst>
            </p:cNvPr>
            <p:cNvSpPr>
              <a:spLocks/>
            </p:cNvSpPr>
            <p:nvPr/>
          </p:nvSpPr>
          <p:spPr bwMode="auto">
            <a:xfrm>
              <a:off x="5309" y="492"/>
              <a:ext cx="2211" cy="2477"/>
            </a:xfrm>
            <a:custGeom>
              <a:avLst/>
              <a:gdLst>
                <a:gd name="T0" fmla="+- 0 7004 5310"/>
                <a:gd name="T1" fmla="*/ T0 w 2211"/>
                <a:gd name="T2" fmla="+- 0 541 493"/>
                <a:gd name="T3" fmla="*/ 541 h 2477"/>
                <a:gd name="T4" fmla="+- 0 7124 5310"/>
                <a:gd name="T5" fmla="*/ T4 w 2211"/>
                <a:gd name="T6" fmla="+- 0 649 493"/>
                <a:gd name="T7" fmla="*/ 649 h 2477"/>
                <a:gd name="T8" fmla="+- 0 7232 5310"/>
                <a:gd name="T9" fmla="*/ T8 w 2211"/>
                <a:gd name="T10" fmla="+- 0 766 493"/>
                <a:gd name="T11" fmla="*/ 766 h 2477"/>
                <a:gd name="T12" fmla="+- 0 7321 5310"/>
                <a:gd name="T13" fmla="*/ T12 w 2211"/>
                <a:gd name="T14" fmla="+- 0 898 493"/>
                <a:gd name="T15" fmla="*/ 898 h 2477"/>
                <a:gd name="T16" fmla="+- 0 7398 5310"/>
                <a:gd name="T17" fmla="*/ T16 w 2211"/>
                <a:gd name="T18" fmla="+- 0 1040 493"/>
                <a:gd name="T19" fmla="*/ 1040 h 2477"/>
                <a:gd name="T20" fmla="+- 0 7455 5310"/>
                <a:gd name="T21" fmla="*/ T20 w 2211"/>
                <a:gd name="T22" fmla="+- 0 1191 493"/>
                <a:gd name="T23" fmla="*/ 1191 h 2477"/>
                <a:gd name="T24" fmla="+- 0 7496 5310"/>
                <a:gd name="T25" fmla="*/ T24 w 2211"/>
                <a:gd name="T26" fmla="+- 0 1352 493"/>
                <a:gd name="T27" fmla="*/ 1352 h 2477"/>
                <a:gd name="T28" fmla="+- 0 7515 5310"/>
                <a:gd name="T29" fmla="*/ T28 w 2211"/>
                <a:gd name="T30" fmla="+- 0 1517 493"/>
                <a:gd name="T31" fmla="*/ 1517 h 2477"/>
                <a:gd name="T32" fmla="+- 0 7520 5310"/>
                <a:gd name="T33" fmla="*/ T32 w 2211"/>
                <a:gd name="T34" fmla="+- 0 1673 493"/>
                <a:gd name="T35" fmla="*/ 1673 h 2477"/>
                <a:gd name="T36" fmla="+- 0 7506 5310"/>
                <a:gd name="T37" fmla="*/ T36 w 2211"/>
                <a:gd name="T38" fmla="+- 0 1813 493"/>
                <a:gd name="T39" fmla="*/ 1813 h 2477"/>
                <a:gd name="T40" fmla="+- 0 7477 5310"/>
                <a:gd name="T41" fmla="*/ T40 w 2211"/>
                <a:gd name="T42" fmla="+- 0 1945 493"/>
                <a:gd name="T43" fmla="*/ 1945 h 2477"/>
                <a:gd name="T44" fmla="+- 0 7436 5310"/>
                <a:gd name="T45" fmla="*/ T44 w 2211"/>
                <a:gd name="T46" fmla="+- 0 2077 493"/>
                <a:gd name="T47" fmla="*/ 2077 h 2477"/>
                <a:gd name="T48" fmla="+- 0 7383 5310"/>
                <a:gd name="T49" fmla="*/ T48 w 2211"/>
                <a:gd name="T50" fmla="+- 0 2194 493"/>
                <a:gd name="T51" fmla="*/ 2194 h 2477"/>
                <a:gd name="T52" fmla="+- 0 7321 5310"/>
                <a:gd name="T53" fmla="*/ T52 w 2211"/>
                <a:gd name="T54" fmla="+- 0 2312 493"/>
                <a:gd name="T55" fmla="*/ 2312 h 2477"/>
                <a:gd name="T56" fmla="+- 0 7251 5310"/>
                <a:gd name="T57" fmla="*/ T56 w 2211"/>
                <a:gd name="T58" fmla="+- 0 2422 493"/>
                <a:gd name="T59" fmla="*/ 2422 h 2477"/>
                <a:gd name="T60" fmla="+- 0 7165 5310"/>
                <a:gd name="T61" fmla="*/ T60 w 2211"/>
                <a:gd name="T62" fmla="+- 0 2521 493"/>
                <a:gd name="T63" fmla="*/ 2521 h 2477"/>
                <a:gd name="T64" fmla="+- 0 7071 5310"/>
                <a:gd name="T65" fmla="*/ T64 w 2211"/>
                <a:gd name="T66" fmla="+- 0 2614 493"/>
                <a:gd name="T67" fmla="*/ 2614 h 2477"/>
                <a:gd name="T68" fmla="+- 0 6970 5310"/>
                <a:gd name="T69" fmla="*/ T68 w 2211"/>
                <a:gd name="T70" fmla="+- 0 2701 493"/>
                <a:gd name="T71" fmla="*/ 2701 h 2477"/>
                <a:gd name="T72" fmla="+- 0 6862 5310"/>
                <a:gd name="T73" fmla="*/ T72 w 2211"/>
                <a:gd name="T74" fmla="+- 0 2770 493"/>
                <a:gd name="T75" fmla="*/ 2770 h 2477"/>
                <a:gd name="T76" fmla="+- 0 6745 5310"/>
                <a:gd name="T77" fmla="*/ T76 w 2211"/>
                <a:gd name="T78" fmla="+- 0 2833 493"/>
                <a:gd name="T79" fmla="*/ 2833 h 2477"/>
                <a:gd name="T80" fmla="+- 0 6625 5310"/>
                <a:gd name="T81" fmla="*/ T80 w 2211"/>
                <a:gd name="T82" fmla="+- 0 2885 493"/>
                <a:gd name="T83" fmla="*/ 2885 h 2477"/>
                <a:gd name="T84" fmla="+- 0 6498 5310"/>
                <a:gd name="T85" fmla="*/ T84 w 2211"/>
                <a:gd name="T86" fmla="+- 0 2926 493"/>
                <a:gd name="T87" fmla="*/ 2926 h 2477"/>
                <a:gd name="T88" fmla="+- 0 6361 5310"/>
                <a:gd name="T89" fmla="*/ T88 w 2211"/>
                <a:gd name="T90" fmla="+- 0 2955 493"/>
                <a:gd name="T91" fmla="*/ 2955 h 2477"/>
                <a:gd name="T92" fmla="+- 0 6224 5310"/>
                <a:gd name="T93" fmla="*/ T92 w 2211"/>
                <a:gd name="T94" fmla="+- 0 2969 493"/>
                <a:gd name="T95" fmla="*/ 2969 h 2477"/>
                <a:gd name="T96" fmla="+- 0 6039 5310"/>
                <a:gd name="T97" fmla="*/ T96 w 2211"/>
                <a:gd name="T98" fmla="+- 0 2965 493"/>
                <a:gd name="T99" fmla="*/ 2965 h 2477"/>
                <a:gd name="T100" fmla="+- 0 5922 5310"/>
                <a:gd name="T101" fmla="*/ T100 w 2211"/>
                <a:gd name="T102" fmla="+- 0 2950 493"/>
                <a:gd name="T103" fmla="*/ 2950 h 2477"/>
                <a:gd name="T104" fmla="+- 0 5756 5310"/>
                <a:gd name="T105" fmla="*/ T104 w 2211"/>
                <a:gd name="T106" fmla="+- 0 2909 493"/>
                <a:gd name="T107" fmla="*/ 2909 h 2477"/>
                <a:gd name="T108" fmla="+- 0 5595 5310"/>
                <a:gd name="T109" fmla="*/ T108 w 2211"/>
                <a:gd name="T110" fmla="+- 0 2847 493"/>
                <a:gd name="T111" fmla="*/ 2847 h 2477"/>
                <a:gd name="T112" fmla="+- 0 5401 5310"/>
                <a:gd name="T113" fmla="*/ T112 w 2211"/>
                <a:gd name="T114" fmla="+- 0 2739 493"/>
                <a:gd name="T115" fmla="*/ 2739 h 2477"/>
                <a:gd name="T116" fmla="+- 0 5396 5310"/>
                <a:gd name="T117" fmla="*/ T116 w 2211"/>
                <a:gd name="T118" fmla="+- 0 2729 493"/>
                <a:gd name="T119" fmla="*/ 2729 h 2477"/>
                <a:gd name="T120" fmla="+- 0 5576 5310"/>
                <a:gd name="T121" fmla="*/ T120 w 2211"/>
                <a:gd name="T122" fmla="+- 0 2823 493"/>
                <a:gd name="T123" fmla="*/ 2823 h 2477"/>
                <a:gd name="T124" fmla="+- 0 5775 5310"/>
                <a:gd name="T125" fmla="*/ T124 w 2211"/>
                <a:gd name="T126" fmla="+- 0 2885 493"/>
                <a:gd name="T127" fmla="*/ 2885 h 2477"/>
                <a:gd name="T128" fmla="+- 0 5982 5310"/>
                <a:gd name="T129" fmla="*/ T128 w 2211"/>
                <a:gd name="T130" fmla="+- 0 2919 493"/>
                <a:gd name="T131" fmla="*/ 2919 h 2477"/>
                <a:gd name="T132" fmla="+- 0 6162 5310"/>
                <a:gd name="T133" fmla="*/ T132 w 2211"/>
                <a:gd name="T134" fmla="+- 0 2921 493"/>
                <a:gd name="T135" fmla="*/ 2921 h 2477"/>
                <a:gd name="T136" fmla="+- 0 6298 5310"/>
                <a:gd name="T137" fmla="*/ T136 w 2211"/>
                <a:gd name="T138" fmla="+- 0 2909 493"/>
                <a:gd name="T139" fmla="*/ 2909 h 2477"/>
                <a:gd name="T140" fmla="+- 0 6498 5310"/>
                <a:gd name="T141" fmla="*/ T140 w 2211"/>
                <a:gd name="T142" fmla="+- 0 2861 493"/>
                <a:gd name="T143" fmla="*/ 2861 h 2477"/>
                <a:gd name="T144" fmla="+- 0 6682 5310"/>
                <a:gd name="T145" fmla="*/ T144 w 2211"/>
                <a:gd name="T146" fmla="+- 0 2785 493"/>
                <a:gd name="T147" fmla="*/ 2785 h 2477"/>
                <a:gd name="T148" fmla="+- 0 6800 5310"/>
                <a:gd name="T149" fmla="*/ T148 w 2211"/>
                <a:gd name="T150" fmla="+- 0 2725 493"/>
                <a:gd name="T151" fmla="*/ 2725 h 2477"/>
                <a:gd name="T152" fmla="+- 0 6910 5310"/>
                <a:gd name="T153" fmla="*/ T152 w 2211"/>
                <a:gd name="T154" fmla="+- 0 2653 493"/>
                <a:gd name="T155" fmla="*/ 2653 h 2477"/>
                <a:gd name="T156" fmla="+- 0 7009 5310"/>
                <a:gd name="T157" fmla="*/ T156 w 2211"/>
                <a:gd name="T158" fmla="+- 0 2569 493"/>
                <a:gd name="T159" fmla="*/ 2569 h 2477"/>
                <a:gd name="T160" fmla="+- 0 7146 5310"/>
                <a:gd name="T161" fmla="*/ T160 w 2211"/>
                <a:gd name="T162" fmla="+- 0 2427 493"/>
                <a:gd name="T163" fmla="*/ 2427 h 2477"/>
                <a:gd name="T164" fmla="+- 0 7261 5310"/>
                <a:gd name="T165" fmla="*/ T164 w 2211"/>
                <a:gd name="T166" fmla="+- 0 2266 493"/>
                <a:gd name="T167" fmla="*/ 2266 h 2477"/>
                <a:gd name="T168" fmla="+- 0 7321 5310"/>
                <a:gd name="T169" fmla="*/ T168 w 2211"/>
                <a:gd name="T170" fmla="+- 0 2146 493"/>
                <a:gd name="T171" fmla="*/ 2146 h 2477"/>
                <a:gd name="T172" fmla="+- 0 7374 5310"/>
                <a:gd name="T173" fmla="*/ T172 w 2211"/>
                <a:gd name="T174" fmla="+- 0 2029 493"/>
                <a:gd name="T175" fmla="*/ 2029 h 2477"/>
                <a:gd name="T176" fmla="+- 0 7417 5310"/>
                <a:gd name="T177" fmla="*/ T176 w 2211"/>
                <a:gd name="T178" fmla="+- 0 1897 493"/>
                <a:gd name="T179" fmla="*/ 1897 h 2477"/>
                <a:gd name="T180" fmla="+- 0 7441 5310"/>
                <a:gd name="T181" fmla="*/ T180 w 2211"/>
                <a:gd name="T182" fmla="+- 0 1765 493"/>
                <a:gd name="T183" fmla="*/ 1765 h 2477"/>
                <a:gd name="T184" fmla="+- 0 7455 5310"/>
                <a:gd name="T185" fmla="*/ T184 w 2211"/>
                <a:gd name="T186" fmla="+- 0 1628 493"/>
                <a:gd name="T187" fmla="*/ 1628 h 2477"/>
                <a:gd name="T188" fmla="+- 0 7455 5310"/>
                <a:gd name="T189" fmla="*/ T188 w 2211"/>
                <a:gd name="T190" fmla="+- 0 1481 493"/>
                <a:gd name="T191" fmla="*/ 1481 h 2477"/>
                <a:gd name="T192" fmla="+- 0 7436 5310"/>
                <a:gd name="T193" fmla="*/ T192 w 2211"/>
                <a:gd name="T194" fmla="+- 0 1321 493"/>
                <a:gd name="T195" fmla="*/ 1321 h 2477"/>
                <a:gd name="T196" fmla="+- 0 7402 5310"/>
                <a:gd name="T197" fmla="*/ T196 w 2211"/>
                <a:gd name="T198" fmla="+- 0 1169 493"/>
                <a:gd name="T199" fmla="*/ 1169 h 2477"/>
                <a:gd name="T200" fmla="+- 0 7350 5310"/>
                <a:gd name="T201" fmla="*/ T200 w 2211"/>
                <a:gd name="T202" fmla="+- 0 1028 493"/>
                <a:gd name="T203" fmla="*/ 1028 h 2477"/>
                <a:gd name="T204" fmla="+- 0 7280 5310"/>
                <a:gd name="T205" fmla="*/ T204 w 2211"/>
                <a:gd name="T206" fmla="+- 0 889 493"/>
                <a:gd name="T207" fmla="*/ 889 h 2477"/>
                <a:gd name="T208" fmla="+- 0 7198 5310"/>
                <a:gd name="T209" fmla="*/ T208 w 2211"/>
                <a:gd name="T210" fmla="+- 0 761 493"/>
                <a:gd name="T211" fmla="*/ 761 h 2477"/>
                <a:gd name="T212" fmla="+- 0 7105 5310"/>
                <a:gd name="T213" fmla="*/ T212 w 2211"/>
                <a:gd name="T214" fmla="+- 0 644 493"/>
                <a:gd name="T215" fmla="*/ 644 h 2477"/>
                <a:gd name="T216" fmla="+- 0 6999 5310"/>
                <a:gd name="T217" fmla="*/ T216 w 2211"/>
                <a:gd name="T218" fmla="+- 0 541 493"/>
                <a:gd name="T219" fmla="*/ 541 h 24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Lst>
              <a:rect l="0" t="0" r="r" b="b"/>
              <a:pathLst>
                <a:path w="2211" h="2477">
                  <a:moveTo>
                    <a:pt x="1629" y="0"/>
                  </a:moveTo>
                  <a:lnTo>
                    <a:pt x="1694" y="48"/>
                  </a:lnTo>
                  <a:lnTo>
                    <a:pt x="1756" y="98"/>
                  </a:lnTo>
                  <a:lnTo>
                    <a:pt x="1814" y="156"/>
                  </a:lnTo>
                  <a:lnTo>
                    <a:pt x="1869" y="213"/>
                  </a:lnTo>
                  <a:lnTo>
                    <a:pt x="1922" y="273"/>
                  </a:lnTo>
                  <a:lnTo>
                    <a:pt x="1970" y="340"/>
                  </a:lnTo>
                  <a:lnTo>
                    <a:pt x="2011" y="405"/>
                  </a:lnTo>
                  <a:lnTo>
                    <a:pt x="2049" y="477"/>
                  </a:lnTo>
                  <a:lnTo>
                    <a:pt x="2088" y="547"/>
                  </a:lnTo>
                  <a:lnTo>
                    <a:pt x="2121" y="624"/>
                  </a:lnTo>
                  <a:lnTo>
                    <a:pt x="2145" y="698"/>
                  </a:lnTo>
                  <a:lnTo>
                    <a:pt x="2167" y="780"/>
                  </a:lnTo>
                  <a:lnTo>
                    <a:pt x="2186" y="859"/>
                  </a:lnTo>
                  <a:lnTo>
                    <a:pt x="2200" y="945"/>
                  </a:lnTo>
                  <a:lnTo>
                    <a:pt x="2205" y="1024"/>
                  </a:lnTo>
                  <a:lnTo>
                    <a:pt x="2210" y="1111"/>
                  </a:lnTo>
                  <a:lnTo>
                    <a:pt x="2210" y="1180"/>
                  </a:lnTo>
                  <a:lnTo>
                    <a:pt x="2200" y="1252"/>
                  </a:lnTo>
                  <a:lnTo>
                    <a:pt x="2196" y="1320"/>
                  </a:lnTo>
                  <a:lnTo>
                    <a:pt x="2181" y="1389"/>
                  </a:lnTo>
                  <a:lnTo>
                    <a:pt x="2167" y="1452"/>
                  </a:lnTo>
                  <a:lnTo>
                    <a:pt x="2150" y="1516"/>
                  </a:lnTo>
                  <a:lnTo>
                    <a:pt x="2126" y="1584"/>
                  </a:lnTo>
                  <a:lnTo>
                    <a:pt x="2102" y="1644"/>
                  </a:lnTo>
                  <a:lnTo>
                    <a:pt x="2073" y="1701"/>
                  </a:lnTo>
                  <a:lnTo>
                    <a:pt x="2044" y="1764"/>
                  </a:lnTo>
                  <a:lnTo>
                    <a:pt x="2011" y="1819"/>
                  </a:lnTo>
                  <a:lnTo>
                    <a:pt x="1980" y="1876"/>
                  </a:lnTo>
                  <a:lnTo>
                    <a:pt x="1941" y="1929"/>
                  </a:lnTo>
                  <a:lnTo>
                    <a:pt x="1898" y="1980"/>
                  </a:lnTo>
                  <a:lnTo>
                    <a:pt x="1855" y="2028"/>
                  </a:lnTo>
                  <a:lnTo>
                    <a:pt x="1809" y="2076"/>
                  </a:lnTo>
                  <a:lnTo>
                    <a:pt x="1761" y="2121"/>
                  </a:lnTo>
                  <a:lnTo>
                    <a:pt x="1713" y="2164"/>
                  </a:lnTo>
                  <a:lnTo>
                    <a:pt x="1660" y="2208"/>
                  </a:lnTo>
                  <a:lnTo>
                    <a:pt x="1610" y="2246"/>
                  </a:lnTo>
                  <a:lnTo>
                    <a:pt x="1552" y="2277"/>
                  </a:lnTo>
                  <a:lnTo>
                    <a:pt x="1495" y="2311"/>
                  </a:lnTo>
                  <a:lnTo>
                    <a:pt x="1435" y="2340"/>
                  </a:lnTo>
                  <a:lnTo>
                    <a:pt x="1377" y="2368"/>
                  </a:lnTo>
                  <a:lnTo>
                    <a:pt x="1315" y="2392"/>
                  </a:lnTo>
                  <a:lnTo>
                    <a:pt x="1250" y="2416"/>
                  </a:lnTo>
                  <a:lnTo>
                    <a:pt x="1188" y="2433"/>
                  </a:lnTo>
                  <a:lnTo>
                    <a:pt x="1123" y="2448"/>
                  </a:lnTo>
                  <a:lnTo>
                    <a:pt x="1051" y="2462"/>
                  </a:lnTo>
                  <a:lnTo>
                    <a:pt x="984" y="2467"/>
                  </a:lnTo>
                  <a:lnTo>
                    <a:pt x="914" y="2476"/>
                  </a:lnTo>
                  <a:lnTo>
                    <a:pt x="787" y="2476"/>
                  </a:lnTo>
                  <a:lnTo>
                    <a:pt x="729" y="2472"/>
                  </a:lnTo>
                  <a:lnTo>
                    <a:pt x="667" y="2467"/>
                  </a:lnTo>
                  <a:lnTo>
                    <a:pt x="612" y="2457"/>
                  </a:lnTo>
                  <a:lnTo>
                    <a:pt x="496" y="2428"/>
                  </a:lnTo>
                  <a:lnTo>
                    <a:pt x="446" y="2416"/>
                  </a:lnTo>
                  <a:lnTo>
                    <a:pt x="388" y="2397"/>
                  </a:lnTo>
                  <a:lnTo>
                    <a:pt x="285" y="2354"/>
                  </a:lnTo>
                  <a:lnTo>
                    <a:pt x="184" y="2306"/>
                  </a:lnTo>
                  <a:lnTo>
                    <a:pt x="91" y="2246"/>
                  </a:lnTo>
                  <a:lnTo>
                    <a:pt x="0" y="2179"/>
                  </a:lnTo>
                  <a:lnTo>
                    <a:pt x="86" y="2236"/>
                  </a:lnTo>
                  <a:lnTo>
                    <a:pt x="175" y="2282"/>
                  </a:lnTo>
                  <a:lnTo>
                    <a:pt x="266" y="2330"/>
                  </a:lnTo>
                  <a:lnTo>
                    <a:pt x="364" y="2364"/>
                  </a:lnTo>
                  <a:lnTo>
                    <a:pt x="465" y="2392"/>
                  </a:lnTo>
                  <a:lnTo>
                    <a:pt x="568" y="2412"/>
                  </a:lnTo>
                  <a:lnTo>
                    <a:pt x="672" y="2426"/>
                  </a:lnTo>
                  <a:lnTo>
                    <a:pt x="782" y="2428"/>
                  </a:lnTo>
                  <a:lnTo>
                    <a:pt x="852" y="2428"/>
                  </a:lnTo>
                  <a:lnTo>
                    <a:pt x="924" y="2421"/>
                  </a:lnTo>
                  <a:lnTo>
                    <a:pt x="988" y="2416"/>
                  </a:lnTo>
                  <a:lnTo>
                    <a:pt x="1123" y="2388"/>
                  </a:lnTo>
                  <a:lnTo>
                    <a:pt x="1188" y="2368"/>
                  </a:lnTo>
                  <a:lnTo>
                    <a:pt x="1312" y="2320"/>
                  </a:lnTo>
                  <a:lnTo>
                    <a:pt x="1372" y="2292"/>
                  </a:lnTo>
                  <a:lnTo>
                    <a:pt x="1435" y="2265"/>
                  </a:lnTo>
                  <a:lnTo>
                    <a:pt x="1490" y="2232"/>
                  </a:lnTo>
                  <a:lnTo>
                    <a:pt x="1543" y="2198"/>
                  </a:lnTo>
                  <a:lnTo>
                    <a:pt x="1600" y="2160"/>
                  </a:lnTo>
                  <a:lnTo>
                    <a:pt x="1651" y="2116"/>
                  </a:lnTo>
                  <a:lnTo>
                    <a:pt x="1699" y="2076"/>
                  </a:lnTo>
                  <a:lnTo>
                    <a:pt x="1795" y="1980"/>
                  </a:lnTo>
                  <a:lnTo>
                    <a:pt x="1836" y="1934"/>
                  </a:lnTo>
                  <a:lnTo>
                    <a:pt x="1912" y="1828"/>
                  </a:lnTo>
                  <a:lnTo>
                    <a:pt x="1951" y="1773"/>
                  </a:lnTo>
                  <a:lnTo>
                    <a:pt x="1984" y="1716"/>
                  </a:lnTo>
                  <a:lnTo>
                    <a:pt x="2011" y="1653"/>
                  </a:lnTo>
                  <a:lnTo>
                    <a:pt x="2040" y="1598"/>
                  </a:lnTo>
                  <a:lnTo>
                    <a:pt x="2064" y="1536"/>
                  </a:lnTo>
                  <a:lnTo>
                    <a:pt x="2088" y="1471"/>
                  </a:lnTo>
                  <a:lnTo>
                    <a:pt x="2107" y="1404"/>
                  </a:lnTo>
                  <a:lnTo>
                    <a:pt x="2121" y="1341"/>
                  </a:lnTo>
                  <a:lnTo>
                    <a:pt x="2131" y="1272"/>
                  </a:lnTo>
                  <a:lnTo>
                    <a:pt x="2140" y="1204"/>
                  </a:lnTo>
                  <a:lnTo>
                    <a:pt x="2145" y="1135"/>
                  </a:lnTo>
                  <a:lnTo>
                    <a:pt x="2150" y="1068"/>
                  </a:lnTo>
                  <a:lnTo>
                    <a:pt x="2145" y="988"/>
                  </a:lnTo>
                  <a:lnTo>
                    <a:pt x="2140" y="907"/>
                  </a:lnTo>
                  <a:lnTo>
                    <a:pt x="2126" y="828"/>
                  </a:lnTo>
                  <a:lnTo>
                    <a:pt x="2112" y="751"/>
                  </a:lnTo>
                  <a:lnTo>
                    <a:pt x="2092" y="676"/>
                  </a:lnTo>
                  <a:lnTo>
                    <a:pt x="2068" y="604"/>
                  </a:lnTo>
                  <a:lnTo>
                    <a:pt x="2040" y="535"/>
                  </a:lnTo>
                  <a:lnTo>
                    <a:pt x="2006" y="463"/>
                  </a:lnTo>
                  <a:lnTo>
                    <a:pt x="1970" y="396"/>
                  </a:lnTo>
                  <a:lnTo>
                    <a:pt x="1932" y="331"/>
                  </a:lnTo>
                  <a:lnTo>
                    <a:pt x="1888" y="268"/>
                  </a:lnTo>
                  <a:lnTo>
                    <a:pt x="1840" y="208"/>
                  </a:lnTo>
                  <a:lnTo>
                    <a:pt x="1795" y="151"/>
                  </a:lnTo>
                  <a:lnTo>
                    <a:pt x="1742" y="98"/>
                  </a:lnTo>
                  <a:lnTo>
                    <a:pt x="1689" y="48"/>
                  </a:lnTo>
                  <a:lnTo>
                    <a:pt x="1629" y="0"/>
                  </a:lnTo>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Freeform 5">
              <a:extLst>
                <a:ext uri="{FF2B5EF4-FFF2-40B4-BE49-F238E27FC236}">
                  <a16:creationId xmlns:a16="http://schemas.microsoft.com/office/drawing/2014/main" xmlns="" id="{432E8C0A-9D70-AA14-4E92-F2166A90DF44}"/>
                </a:ext>
              </a:extLst>
            </p:cNvPr>
            <p:cNvSpPr>
              <a:spLocks/>
            </p:cNvSpPr>
            <p:nvPr/>
          </p:nvSpPr>
          <p:spPr bwMode="auto">
            <a:xfrm>
              <a:off x="4714" y="194"/>
              <a:ext cx="2732" cy="2727"/>
            </a:xfrm>
            <a:custGeom>
              <a:avLst/>
              <a:gdLst>
                <a:gd name="T0" fmla="+- 0 6147 4714"/>
                <a:gd name="T1" fmla="*/ T0 w 2732"/>
                <a:gd name="T2" fmla="+- 0 195 195"/>
                <a:gd name="T3" fmla="*/ 195 h 2727"/>
                <a:gd name="T4" fmla="+- 0 6286 4714"/>
                <a:gd name="T5" fmla="*/ T4 w 2732"/>
                <a:gd name="T6" fmla="+- 0 209 195"/>
                <a:gd name="T7" fmla="*/ 209 h 2727"/>
                <a:gd name="T8" fmla="+- 0 6418 4714"/>
                <a:gd name="T9" fmla="*/ T8 w 2732"/>
                <a:gd name="T10" fmla="+- 0 238 195"/>
                <a:gd name="T11" fmla="*/ 238 h 2727"/>
                <a:gd name="T12" fmla="+- 0 6608 4714"/>
                <a:gd name="T13" fmla="*/ T12 w 2732"/>
                <a:gd name="T14" fmla="+- 0 303 195"/>
                <a:gd name="T15" fmla="*/ 303 h 2727"/>
                <a:gd name="T16" fmla="+- 0 6730 4714"/>
                <a:gd name="T17" fmla="*/ T16 w 2732"/>
                <a:gd name="T18" fmla="+- 0 361 195"/>
                <a:gd name="T19" fmla="*/ 361 h 2727"/>
                <a:gd name="T20" fmla="+- 0 6896 4714"/>
                <a:gd name="T21" fmla="*/ T20 w 2732"/>
                <a:gd name="T22" fmla="+- 0 464 195"/>
                <a:gd name="T23" fmla="*/ 464 h 2727"/>
                <a:gd name="T24" fmla="+- 0 6994 4714"/>
                <a:gd name="T25" fmla="*/ T24 w 2732"/>
                <a:gd name="T26" fmla="+- 0 550 195"/>
                <a:gd name="T27" fmla="*/ 550 h 2727"/>
                <a:gd name="T28" fmla="+- 0 7090 4714"/>
                <a:gd name="T29" fmla="*/ T28 w 2732"/>
                <a:gd name="T30" fmla="+- 0 644 195"/>
                <a:gd name="T31" fmla="*/ 644 h 2727"/>
                <a:gd name="T32" fmla="+- 0 7170 4714"/>
                <a:gd name="T33" fmla="*/ T32 w 2732"/>
                <a:gd name="T34" fmla="+- 0 742 195"/>
                <a:gd name="T35" fmla="*/ 742 h 2727"/>
                <a:gd name="T36" fmla="+- 0 7246 4714"/>
                <a:gd name="T37" fmla="*/ T36 w 2732"/>
                <a:gd name="T38" fmla="+- 0 853 195"/>
                <a:gd name="T39" fmla="*/ 853 h 2727"/>
                <a:gd name="T40" fmla="+- 0 7306 4714"/>
                <a:gd name="T41" fmla="*/ T40 w 2732"/>
                <a:gd name="T42" fmla="+- 0 970 195"/>
                <a:gd name="T43" fmla="*/ 970 h 2727"/>
                <a:gd name="T44" fmla="+- 0 7359 4714"/>
                <a:gd name="T45" fmla="*/ T44 w 2732"/>
                <a:gd name="T46" fmla="+- 0 1093 195"/>
                <a:gd name="T47" fmla="*/ 1093 h 2727"/>
                <a:gd name="T48" fmla="+- 0 7402 4714"/>
                <a:gd name="T49" fmla="*/ T48 w 2732"/>
                <a:gd name="T50" fmla="+- 0 1220 195"/>
                <a:gd name="T51" fmla="*/ 1220 h 2727"/>
                <a:gd name="T52" fmla="+- 0 7426 4714"/>
                <a:gd name="T53" fmla="*/ T52 w 2732"/>
                <a:gd name="T54" fmla="+- 0 1352 195"/>
                <a:gd name="T55" fmla="*/ 1352 h 2727"/>
                <a:gd name="T56" fmla="+- 0 7441 4714"/>
                <a:gd name="T57" fmla="*/ T56 w 2732"/>
                <a:gd name="T58" fmla="+- 0 1491 195"/>
                <a:gd name="T59" fmla="*/ 1491 h 2727"/>
                <a:gd name="T60" fmla="+- 0 7441 4714"/>
                <a:gd name="T61" fmla="*/ T60 w 2732"/>
                <a:gd name="T62" fmla="+- 0 1628 195"/>
                <a:gd name="T63" fmla="*/ 1628 h 2727"/>
                <a:gd name="T64" fmla="+- 0 7426 4714"/>
                <a:gd name="T65" fmla="*/ T64 w 2732"/>
                <a:gd name="T66" fmla="+- 0 1765 195"/>
                <a:gd name="T67" fmla="*/ 1765 h 2727"/>
                <a:gd name="T68" fmla="+- 0 7402 4714"/>
                <a:gd name="T69" fmla="*/ T68 w 2732"/>
                <a:gd name="T70" fmla="+- 0 1897 195"/>
                <a:gd name="T71" fmla="*/ 1897 h 2727"/>
                <a:gd name="T72" fmla="+- 0 7359 4714"/>
                <a:gd name="T73" fmla="*/ T72 w 2732"/>
                <a:gd name="T74" fmla="+- 0 2029 195"/>
                <a:gd name="T75" fmla="*/ 2029 h 2727"/>
                <a:gd name="T76" fmla="+- 0 7306 4714"/>
                <a:gd name="T77" fmla="*/ T76 w 2732"/>
                <a:gd name="T78" fmla="+- 0 2146 195"/>
                <a:gd name="T79" fmla="*/ 2146 h 2727"/>
                <a:gd name="T80" fmla="+- 0 7246 4714"/>
                <a:gd name="T81" fmla="*/ T80 w 2732"/>
                <a:gd name="T82" fmla="+- 0 2266 195"/>
                <a:gd name="T83" fmla="*/ 2266 h 2727"/>
                <a:gd name="T84" fmla="+- 0 7131 4714"/>
                <a:gd name="T85" fmla="*/ T84 w 2732"/>
                <a:gd name="T86" fmla="+- 0 2427 195"/>
                <a:gd name="T87" fmla="*/ 2427 h 2727"/>
                <a:gd name="T88" fmla="+- 0 6994 4714"/>
                <a:gd name="T89" fmla="*/ T88 w 2732"/>
                <a:gd name="T90" fmla="+- 0 2569 195"/>
                <a:gd name="T91" fmla="*/ 2569 h 2727"/>
                <a:gd name="T92" fmla="+- 0 6896 4714"/>
                <a:gd name="T93" fmla="*/ T92 w 2732"/>
                <a:gd name="T94" fmla="+- 0 2653 195"/>
                <a:gd name="T95" fmla="*/ 2653 h 2727"/>
                <a:gd name="T96" fmla="+- 0 6730 4714"/>
                <a:gd name="T97" fmla="*/ T96 w 2732"/>
                <a:gd name="T98" fmla="+- 0 2758 195"/>
                <a:gd name="T99" fmla="*/ 2758 h 2727"/>
                <a:gd name="T100" fmla="+- 0 6608 4714"/>
                <a:gd name="T101" fmla="*/ T100 w 2732"/>
                <a:gd name="T102" fmla="+- 0 2813 195"/>
                <a:gd name="T103" fmla="*/ 2813 h 2727"/>
                <a:gd name="T104" fmla="+- 0 6418 4714"/>
                <a:gd name="T105" fmla="*/ T104 w 2732"/>
                <a:gd name="T106" fmla="+- 0 2881 195"/>
                <a:gd name="T107" fmla="*/ 2881 h 2727"/>
                <a:gd name="T108" fmla="+- 0 6286 4714"/>
                <a:gd name="T109" fmla="*/ T108 w 2732"/>
                <a:gd name="T110" fmla="+- 0 2909 195"/>
                <a:gd name="T111" fmla="*/ 2909 h 2727"/>
                <a:gd name="T112" fmla="+- 0 6147 4714"/>
                <a:gd name="T113" fmla="*/ T112 w 2732"/>
                <a:gd name="T114" fmla="+- 0 2921 195"/>
                <a:gd name="T115" fmla="*/ 2921 h 2727"/>
                <a:gd name="T116" fmla="+- 0 5941 4714"/>
                <a:gd name="T117" fmla="*/ T116 w 2732"/>
                <a:gd name="T118" fmla="+- 0 2914 195"/>
                <a:gd name="T119" fmla="*/ 2914 h 2727"/>
                <a:gd name="T120" fmla="+- 0 5802 4714"/>
                <a:gd name="T121" fmla="*/ T120 w 2732"/>
                <a:gd name="T122" fmla="+- 0 2895 195"/>
                <a:gd name="T123" fmla="*/ 2895 h 2727"/>
                <a:gd name="T124" fmla="+- 0 5674 4714"/>
                <a:gd name="T125" fmla="*/ T124 w 2732"/>
                <a:gd name="T126" fmla="+- 0 2861 195"/>
                <a:gd name="T127" fmla="*/ 2861 h 2727"/>
                <a:gd name="T128" fmla="+- 0 5547 4714"/>
                <a:gd name="T129" fmla="*/ T128 w 2732"/>
                <a:gd name="T130" fmla="+- 0 2813 195"/>
                <a:gd name="T131" fmla="*/ 2813 h 2727"/>
                <a:gd name="T132" fmla="+- 0 5430 4714"/>
                <a:gd name="T133" fmla="*/ T132 w 2732"/>
                <a:gd name="T134" fmla="+- 0 2758 195"/>
                <a:gd name="T135" fmla="*/ 2758 h 2727"/>
                <a:gd name="T136" fmla="+- 0 5264 4714"/>
                <a:gd name="T137" fmla="*/ T136 w 2732"/>
                <a:gd name="T138" fmla="+- 0 2653 195"/>
                <a:gd name="T139" fmla="*/ 2653 h 2727"/>
                <a:gd name="T140" fmla="+- 0 5163 4714"/>
                <a:gd name="T141" fmla="*/ T140 w 2732"/>
                <a:gd name="T142" fmla="+- 0 2569 195"/>
                <a:gd name="T143" fmla="*/ 2569 h 2727"/>
                <a:gd name="T144" fmla="+- 0 5070 4714"/>
                <a:gd name="T145" fmla="*/ T144 w 2732"/>
                <a:gd name="T146" fmla="+- 0 2473 195"/>
                <a:gd name="T147" fmla="*/ 2473 h 2727"/>
                <a:gd name="T148" fmla="+- 0 4983 4714"/>
                <a:gd name="T149" fmla="*/ T148 w 2732"/>
                <a:gd name="T150" fmla="+- 0 2374 195"/>
                <a:gd name="T151" fmla="*/ 2374 h 2727"/>
                <a:gd name="T152" fmla="+- 0 4914 4714"/>
                <a:gd name="T153" fmla="*/ T152 w 2732"/>
                <a:gd name="T154" fmla="+- 0 2266 195"/>
                <a:gd name="T155" fmla="*/ 2266 h 2727"/>
                <a:gd name="T156" fmla="+- 0 4851 4714"/>
                <a:gd name="T157" fmla="*/ T156 w 2732"/>
                <a:gd name="T158" fmla="+- 0 2146 195"/>
                <a:gd name="T159" fmla="*/ 2146 h 2727"/>
                <a:gd name="T160" fmla="+- 0 4798 4714"/>
                <a:gd name="T161" fmla="*/ T160 w 2732"/>
                <a:gd name="T162" fmla="+- 0 2029 195"/>
                <a:gd name="T163" fmla="*/ 2029 h 2727"/>
                <a:gd name="T164" fmla="+- 0 4758 4714"/>
                <a:gd name="T165" fmla="*/ T164 w 2732"/>
                <a:gd name="T166" fmla="+- 0 1897 195"/>
                <a:gd name="T167" fmla="*/ 1897 h 2727"/>
                <a:gd name="T168" fmla="+- 0 4729 4714"/>
                <a:gd name="T169" fmla="*/ T168 w 2732"/>
                <a:gd name="T170" fmla="+- 0 1765 195"/>
                <a:gd name="T171" fmla="*/ 1765 h 2727"/>
                <a:gd name="T172" fmla="+- 0 4714 4714"/>
                <a:gd name="T173" fmla="*/ T172 w 2732"/>
                <a:gd name="T174" fmla="+- 0 1628 195"/>
                <a:gd name="T175" fmla="*/ 1628 h 2727"/>
                <a:gd name="T176" fmla="+- 0 4724 4714"/>
                <a:gd name="T177" fmla="*/ T176 w 2732"/>
                <a:gd name="T178" fmla="+- 0 1419 195"/>
                <a:gd name="T179" fmla="*/ 1419 h 2727"/>
                <a:gd name="T180" fmla="+- 0 4743 4714"/>
                <a:gd name="T181" fmla="*/ T180 w 2732"/>
                <a:gd name="T182" fmla="+- 0 1282 195"/>
                <a:gd name="T183" fmla="*/ 1282 h 2727"/>
                <a:gd name="T184" fmla="+- 0 4774 4714"/>
                <a:gd name="T185" fmla="*/ T184 w 2732"/>
                <a:gd name="T186" fmla="+- 0 1155 195"/>
                <a:gd name="T187" fmla="*/ 1155 h 2727"/>
                <a:gd name="T188" fmla="+- 0 4822 4714"/>
                <a:gd name="T189" fmla="*/ T188 w 2732"/>
                <a:gd name="T190" fmla="+- 0 1028 195"/>
                <a:gd name="T191" fmla="*/ 1028 h 2727"/>
                <a:gd name="T192" fmla="+- 0 4880 4714"/>
                <a:gd name="T193" fmla="*/ T192 w 2732"/>
                <a:gd name="T194" fmla="+- 0 908 195"/>
                <a:gd name="T195" fmla="*/ 908 h 2727"/>
                <a:gd name="T196" fmla="+- 0 4945 4714"/>
                <a:gd name="T197" fmla="*/ T196 w 2732"/>
                <a:gd name="T198" fmla="+- 0 795 195"/>
                <a:gd name="T199" fmla="*/ 795 h 2727"/>
                <a:gd name="T200" fmla="+- 0 5026 4714"/>
                <a:gd name="T201" fmla="*/ T200 w 2732"/>
                <a:gd name="T202" fmla="+- 0 692 195"/>
                <a:gd name="T203" fmla="*/ 692 h 2727"/>
                <a:gd name="T204" fmla="+- 0 5115 4714"/>
                <a:gd name="T205" fmla="*/ T204 w 2732"/>
                <a:gd name="T206" fmla="+- 0 596 195"/>
                <a:gd name="T207" fmla="*/ 596 h 2727"/>
                <a:gd name="T208" fmla="+- 0 5211 4714"/>
                <a:gd name="T209" fmla="*/ T208 w 2732"/>
                <a:gd name="T210" fmla="+- 0 507 195"/>
                <a:gd name="T211" fmla="*/ 507 h 2727"/>
                <a:gd name="T212" fmla="+- 0 5314 4714"/>
                <a:gd name="T213" fmla="*/ T212 w 2732"/>
                <a:gd name="T214" fmla="+- 0 425 195"/>
                <a:gd name="T215" fmla="*/ 425 h 2727"/>
                <a:gd name="T216" fmla="+- 0 5430 4714"/>
                <a:gd name="T217" fmla="*/ T216 w 2732"/>
                <a:gd name="T218" fmla="+- 0 361 195"/>
                <a:gd name="T219" fmla="*/ 361 h 2727"/>
                <a:gd name="T220" fmla="+- 0 5547 4714"/>
                <a:gd name="T221" fmla="*/ T220 w 2732"/>
                <a:gd name="T222" fmla="+- 0 303 195"/>
                <a:gd name="T223" fmla="*/ 303 h 2727"/>
                <a:gd name="T224" fmla="+- 0 5674 4714"/>
                <a:gd name="T225" fmla="*/ T224 w 2732"/>
                <a:gd name="T226" fmla="+- 0 255 195"/>
                <a:gd name="T227" fmla="*/ 255 h 2727"/>
                <a:gd name="T228" fmla="+- 0 5802 4714"/>
                <a:gd name="T229" fmla="*/ T228 w 2732"/>
                <a:gd name="T230" fmla="+- 0 224 195"/>
                <a:gd name="T231" fmla="*/ 224 h 2727"/>
                <a:gd name="T232" fmla="+- 0 5941 4714"/>
                <a:gd name="T233" fmla="*/ T232 w 2732"/>
                <a:gd name="T234" fmla="+- 0 205 195"/>
                <a:gd name="T235" fmla="*/ 205 h 2727"/>
                <a:gd name="T236" fmla="+- 0 6078 4714"/>
                <a:gd name="T237" fmla="*/ T236 w 2732"/>
                <a:gd name="T238" fmla="+- 0 195 195"/>
                <a:gd name="T239" fmla="*/ 195 h 272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Lst>
              <a:rect l="0" t="0" r="r" b="b"/>
              <a:pathLst>
                <a:path w="2732" h="2727">
                  <a:moveTo>
                    <a:pt x="1364" y="0"/>
                  </a:moveTo>
                  <a:lnTo>
                    <a:pt x="1433" y="0"/>
                  </a:lnTo>
                  <a:lnTo>
                    <a:pt x="1505" y="10"/>
                  </a:lnTo>
                  <a:lnTo>
                    <a:pt x="1572" y="14"/>
                  </a:lnTo>
                  <a:lnTo>
                    <a:pt x="1637" y="29"/>
                  </a:lnTo>
                  <a:lnTo>
                    <a:pt x="1704" y="43"/>
                  </a:lnTo>
                  <a:lnTo>
                    <a:pt x="1769" y="60"/>
                  </a:lnTo>
                  <a:lnTo>
                    <a:pt x="1894" y="108"/>
                  </a:lnTo>
                  <a:lnTo>
                    <a:pt x="1954" y="137"/>
                  </a:lnTo>
                  <a:lnTo>
                    <a:pt x="2016" y="166"/>
                  </a:lnTo>
                  <a:lnTo>
                    <a:pt x="2074" y="199"/>
                  </a:lnTo>
                  <a:lnTo>
                    <a:pt x="2182" y="269"/>
                  </a:lnTo>
                  <a:lnTo>
                    <a:pt x="2235" y="312"/>
                  </a:lnTo>
                  <a:lnTo>
                    <a:pt x="2280" y="355"/>
                  </a:lnTo>
                  <a:lnTo>
                    <a:pt x="2328" y="401"/>
                  </a:lnTo>
                  <a:lnTo>
                    <a:pt x="2376" y="449"/>
                  </a:lnTo>
                  <a:lnTo>
                    <a:pt x="2417" y="497"/>
                  </a:lnTo>
                  <a:lnTo>
                    <a:pt x="2456" y="547"/>
                  </a:lnTo>
                  <a:lnTo>
                    <a:pt x="2494" y="600"/>
                  </a:lnTo>
                  <a:lnTo>
                    <a:pt x="2532" y="658"/>
                  </a:lnTo>
                  <a:lnTo>
                    <a:pt x="2566" y="713"/>
                  </a:lnTo>
                  <a:lnTo>
                    <a:pt x="2592" y="775"/>
                  </a:lnTo>
                  <a:lnTo>
                    <a:pt x="2621" y="833"/>
                  </a:lnTo>
                  <a:lnTo>
                    <a:pt x="2645" y="898"/>
                  </a:lnTo>
                  <a:lnTo>
                    <a:pt x="2669" y="960"/>
                  </a:lnTo>
                  <a:lnTo>
                    <a:pt x="2688" y="1025"/>
                  </a:lnTo>
                  <a:lnTo>
                    <a:pt x="2703" y="1087"/>
                  </a:lnTo>
                  <a:lnTo>
                    <a:pt x="2712" y="1157"/>
                  </a:lnTo>
                  <a:lnTo>
                    <a:pt x="2722" y="1224"/>
                  </a:lnTo>
                  <a:lnTo>
                    <a:pt x="2727" y="1296"/>
                  </a:lnTo>
                  <a:lnTo>
                    <a:pt x="2732" y="1366"/>
                  </a:lnTo>
                  <a:lnTo>
                    <a:pt x="2727" y="1433"/>
                  </a:lnTo>
                  <a:lnTo>
                    <a:pt x="2722" y="1502"/>
                  </a:lnTo>
                  <a:lnTo>
                    <a:pt x="2712" y="1570"/>
                  </a:lnTo>
                  <a:lnTo>
                    <a:pt x="2703" y="1639"/>
                  </a:lnTo>
                  <a:lnTo>
                    <a:pt x="2688" y="1702"/>
                  </a:lnTo>
                  <a:lnTo>
                    <a:pt x="2669" y="1769"/>
                  </a:lnTo>
                  <a:lnTo>
                    <a:pt x="2645" y="1834"/>
                  </a:lnTo>
                  <a:lnTo>
                    <a:pt x="2621" y="1896"/>
                  </a:lnTo>
                  <a:lnTo>
                    <a:pt x="2592" y="1951"/>
                  </a:lnTo>
                  <a:lnTo>
                    <a:pt x="2566" y="2014"/>
                  </a:lnTo>
                  <a:lnTo>
                    <a:pt x="2532" y="2071"/>
                  </a:lnTo>
                  <a:lnTo>
                    <a:pt x="2494" y="2126"/>
                  </a:lnTo>
                  <a:lnTo>
                    <a:pt x="2417" y="2232"/>
                  </a:lnTo>
                  <a:lnTo>
                    <a:pt x="2376" y="2278"/>
                  </a:lnTo>
                  <a:lnTo>
                    <a:pt x="2280" y="2374"/>
                  </a:lnTo>
                  <a:lnTo>
                    <a:pt x="2235" y="2414"/>
                  </a:lnTo>
                  <a:lnTo>
                    <a:pt x="2182" y="2458"/>
                  </a:lnTo>
                  <a:lnTo>
                    <a:pt x="2074" y="2530"/>
                  </a:lnTo>
                  <a:lnTo>
                    <a:pt x="2016" y="2563"/>
                  </a:lnTo>
                  <a:lnTo>
                    <a:pt x="1954" y="2590"/>
                  </a:lnTo>
                  <a:lnTo>
                    <a:pt x="1894" y="2618"/>
                  </a:lnTo>
                  <a:lnTo>
                    <a:pt x="1769" y="2666"/>
                  </a:lnTo>
                  <a:lnTo>
                    <a:pt x="1704" y="2686"/>
                  </a:lnTo>
                  <a:lnTo>
                    <a:pt x="1637" y="2700"/>
                  </a:lnTo>
                  <a:lnTo>
                    <a:pt x="1572" y="2714"/>
                  </a:lnTo>
                  <a:lnTo>
                    <a:pt x="1505" y="2719"/>
                  </a:lnTo>
                  <a:lnTo>
                    <a:pt x="1433" y="2726"/>
                  </a:lnTo>
                  <a:lnTo>
                    <a:pt x="1296" y="2726"/>
                  </a:lnTo>
                  <a:lnTo>
                    <a:pt x="1227" y="2719"/>
                  </a:lnTo>
                  <a:lnTo>
                    <a:pt x="1160" y="2714"/>
                  </a:lnTo>
                  <a:lnTo>
                    <a:pt x="1088" y="2700"/>
                  </a:lnTo>
                  <a:lnTo>
                    <a:pt x="1023" y="2686"/>
                  </a:lnTo>
                  <a:lnTo>
                    <a:pt x="960" y="2666"/>
                  </a:lnTo>
                  <a:lnTo>
                    <a:pt x="896" y="2642"/>
                  </a:lnTo>
                  <a:lnTo>
                    <a:pt x="833" y="2618"/>
                  </a:lnTo>
                  <a:lnTo>
                    <a:pt x="776" y="2590"/>
                  </a:lnTo>
                  <a:lnTo>
                    <a:pt x="716" y="2563"/>
                  </a:lnTo>
                  <a:lnTo>
                    <a:pt x="600" y="2496"/>
                  </a:lnTo>
                  <a:lnTo>
                    <a:pt x="550" y="2458"/>
                  </a:lnTo>
                  <a:lnTo>
                    <a:pt x="497" y="2414"/>
                  </a:lnTo>
                  <a:lnTo>
                    <a:pt x="449" y="2374"/>
                  </a:lnTo>
                  <a:lnTo>
                    <a:pt x="401" y="2326"/>
                  </a:lnTo>
                  <a:lnTo>
                    <a:pt x="356" y="2278"/>
                  </a:lnTo>
                  <a:lnTo>
                    <a:pt x="312" y="2232"/>
                  </a:lnTo>
                  <a:lnTo>
                    <a:pt x="269" y="2179"/>
                  </a:lnTo>
                  <a:lnTo>
                    <a:pt x="231" y="2126"/>
                  </a:lnTo>
                  <a:lnTo>
                    <a:pt x="200" y="2071"/>
                  </a:lnTo>
                  <a:lnTo>
                    <a:pt x="166" y="2014"/>
                  </a:lnTo>
                  <a:lnTo>
                    <a:pt x="137" y="1951"/>
                  </a:lnTo>
                  <a:lnTo>
                    <a:pt x="108" y="1896"/>
                  </a:lnTo>
                  <a:lnTo>
                    <a:pt x="84" y="1834"/>
                  </a:lnTo>
                  <a:lnTo>
                    <a:pt x="60" y="1769"/>
                  </a:lnTo>
                  <a:lnTo>
                    <a:pt x="44" y="1702"/>
                  </a:lnTo>
                  <a:lnTo>
                    <a:pt x="29" y="1639"/>
                  </a:lnTo>
                  <a:lnTo>
                    <a:pt x="15" y="1570"/>
                  </a:lnTo>
                  <a:lnTo>
                    <a:pt x="10" y="1502"/>
                  </a:lnTo>
                  <a:lnTo>
                    <a:pt x="0" y="1433"/>
                  </a:lnTo>
                  <a:lnTo>
                    <a:pt x="0" y="1296"/>
                  </a:lnTo>
                  <a:lnTo>
                    <a:pt x="10" y="1224"/>
                  </a:lnTo>
                  <a:lnTo>
                    <a:pt x="15" y="1157"/>
                  </a:lnTo>
                  <a:lnTo>
                    <a:pt x="29" y="1087"/>
                  </a:lnTo>
                  <a:lnTo>
                    <a:pt x="44" y="1025"/>
                  </a:lnTo>
                  <a:lnTo>
                    <a:pt x="60" y="960"/>
                  </a:lnTo>
                  <a:lnTo>
                    <a:pt x="84" y="898"/>
                  </a:lnTo>
                  <a:lnTo>
                    <a:pt x="108" y="833"/>
                  </a:lnTo>
                  <a:lnTo>
                    <a:pt x="137" y="775"/>
                  </a:lnTo>
                  <a:lnTo>
                    <a:pt x="166" y="713"/>
                  </a:lnTo>
                  <a:lnTo>
                    <a:pt x="200" y="658"/>
                  </a:lnTo>
                  <a:lnTo>
                    <a:pt x="231" y="600"/>
                  </a:lnTo>
                  <a:lnTo>
                    <a:pt x="269" y="547"/>
                  </a:lnTo>
                  <a:lnTo>
                    <a:pt x="312" y="497"/>
                  </a:lnTo>
                  <a:lnTo>
                    <a:pt x="356" y="449"/>
                  </a:lnTo>
                  <a:lnTo>
                    <a:pt x="401" y="401"/>
                  </a:lnTo>
                  <a:lnTo>
                    <a:pt x="449" y="355"/>
                  </a:lnTo>
                  <a:lnTo>
                    <a:pt x="497" y="312"/>
                  </a:lnTo>
                  <a:lnTo>
                    <a:pt x="550" y="269"/>
                  </a:lnTo>
                  <a:lnTo>
                    <a:pt x="600" y="230"/>
                  </a:lnTo>
                  <a:lnTo>
                    <a:pt x="658" y="199"/>
                  </a:lnTo>
                  <a:lnTo>
                    <a:pt x="716" y="166"/>
                  </a:lnTo>
                  <a:lnTo>
                    <a:pt x="776" y="137"/>
                  </a:lnTo>
                  <a:lnTo>
                    <a:pt x="833" y="108"/>
                  </a:lnTo>
                  <a:lnTo>
                    <a:pt x="896" y="84"/>
                  </a:lnTo>
                  <a:lnTo>
                    <a:pt x="960" y="60"/>
                  </a:lnTo>
                  <a:lnTo>
                    <a:pt x="1023" y="43"/>
                  </a:lnTo>
                  <a:lnTo>
                    <a:pt x="1088" y="29"/>
                  </a:lnTo>
                  <a:lnTo>
                    <a:pt x="1160" y="14"/>
                  </a:lnTo>
                  <a:lnTo>
                    <a:pt x="1227" y="10"/>
                  </a:lnTo>
                  <a:lnTo>
                    <a:pt x="1296" y="0"/>
                  </a:lnTo>
                  <a:lnTo>
                    <a:pt x="1364" y="0"/>
                  </a:lnTo>
                  <a:close/>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Freeform 6">
              <a:extLst>
                <a:ext uri="{FF2B5EF4-FFF2-40B4-BE49-F238E27FC236}">
                  <a16:creationId xmlns:a16="http://schemas.microsoft.com/office/drawing/2014/main" xmlns="" id="{B83FE135-B8FE-CECB-B20A-EA9825E54ACB}"/>
                </a:ext>
              </a:extLst>
            </p:cNvPr>
            <p:cNvSpPr>
              <a:spLocks/>
            </p:cNvSpPr>
            <p:nvPr/>
          </p:nvSpPr>
          <p:spPr bwMode="auto">
            <a:xfrm>
              <a:off x="5480" y="742"/>
              <a:ext cx="1704" cy="1906"/>
            </a:xfrm>
            <a:custGeom>
              <a:avLst/>
              <a:gdLst>
                <a:gd name="T0" fmla="+- 0 6824 5480"/>
                <a:gd name="T1" fmla="*/ T0 w 1704"/>
                <a:gd name="T2" fmla="+- 0 819 742"/>
                <a:gd name="T3" fmla="*/ 819 h 1906"/>
                <a:gd name="T4" fmla="+- 0 6939 5480"/>
                <a:gd name="T5" fmla="*/ T4 w 1704"/>
                <a:gd name="T6" fmla="+- 0 951 742"/>
                <a:gd name="T7" fmla="*/ 951 h 1906"/>
                <a:gd name="T8" fmla="+- 0 7028 5480"/>
                <a:gd name="T9" fmla="*/ T8 w 1704"/>
                <a:gd name="T10" fmla="+- 0 1102 742"/>
                <a:gd name="T11" fmla="*/ 1102 h 1906"/>
                <a:gd name="T12" fmla="+- 0 7076 5480"/>
                <a:gd name="T13" fmla="*/ T12 w 1704"/>
                <a:gd name="T14" fmla="+- 0 1205 742"/>
                <a:gd name="T15" fmla="*/ 1205 h 1906"/>
                <a:gd name="T16" fmla="+- 0 7110 5480"/>
                <a:gd name="T17" fmla="*/ T16 w 1704"/>
                <a:gd name="T18" fmla="+- 0 1325 742"/>
                <a:gd name="T19" fmla="*/ 1325 h 1906"/>
                <a:gd name="T20" fmla="+- 0 7129 5480"/>
                <a:gd name="T21" fmla="*/ T20 w 1704"/>
                <a:gd name="T22" fmla="+- 0 1443 742"/>
                <a:gd name="T23" fmla="*/ 1443 h 1906"/>
                <a:gd name="T24" fmla="+- 0 7136 5480"/>
                <a:gd name="T25" fmla="*/ T24 w 1704"/>
                <a:gd name="T26" fmla="+- 0 1618 742"/>
                <a:gd name="T27" fmla="*/ 1618 h 1906"/>
                <a:gd name="T28" fmla="+- 0 7105 5480"/>
                <a:gd name="T29" fmla="*/ T28 w 1704"/>
                <a:gd name="T30" fmla="+- 0 1825 742"/>
                <a:gd name="T31" fmla="*/ 1825 h 1906"/>
                <a:gd name="T32" fmla="+- 0 7009 5480"/>
                <a:gd name="T33" fmla="*/ T32 w 1704"/>
                <a:gd name="T34" fmla="+- 0 2062 742"/>
                <a:gd name="T35" fmla="*/ 2062 h 1906"/>
                <a:gd name="T36" fmla="+- 0 6930 5480"/>
                <a:gd name="T37" fmla="*/ T36 w 1704"/>
                <a:gd name="T38" fmla="+- 0 2189 742"/>
                <a:gd name="T39" fmla="*/ 2189 h 1906"/>
                <a:gd name="T40" fmla="+- 0 6790 5480"/>
                <a:gd name="T41" fmla="*/ T40 w 1704"/>
                <a:gd name="T42" fmla="+- 0 2341 742"/>
                <a:gd name="T43" fmla="*/ 2341 h 1906"/>
                <a:gd name="T44" fmla="+- 0 6673 5480"/>
                <a:gd name="T45" fmla="*/ T44 w 1704"/>
                <a:gd name="T46" fmla="+- 0 2437 742"/>
                <a:gd name="T47" fmla="*/ 2437 h 1906"/>
                <a:gd name="T48" fmla="+- 0 6493 5480"/>
                <a:gd name="T49" fmla="*/ T48 w 1704"/>
                <a:gd name="T50" fmla="+- 0 2530 742"/>
                <a:gd name="T51" fmla="*/ 2530 h 1906"/>
                <a:gd name="T52" fmla="+- 0 6346 5480"/>
                <a:gd name="T53" fmla="*/ T52 w 1704"/>
                <a:gd name="T54" fmla="+- 0 2583 742"/>
                <a:gd name="T55" fmla="*/ 2583 h 1906"/>
                <a:gd name="T56" fmla="+- 0 6138 5480"/>
                <a:gd name="T57" fmla="*/ T56 w 1704"/>
                <a:gd name="T58" fmla="+- 0 2614 742"/>
                <a:gd name="T59" fmla="*/ 2614 h 1906"/>
                <a:gd name="T60" fmla="+- 0 6001 5480"/>
                <a:gd name="T61" fmla="*/ T60 w 1704"/>
                <a:gd name="T62" fmla="+- 0 2609 742"/>
                <a:gd name="T63" fmla="*/ 2609 h 1906"/>
                <a:gd name="T64" fmla="+- 0 5840 5480"/>
                <a:gd name="T65" fmla="*/ T64 w 1704"/>
                <a:gd name="T66" fmla="+- 0 2588 742"/>
                <a:gd name="T67" fmla="*/ 2588 h 1906"/>
                <a:gd name="T68" fmla="+- 0 5689 5480"/>
                <a:gd name="T69" fmla="*/ T68 w 1704"/>
                <a:gd name="T70" fmla="+- 0 2535 742"/>
                <a:gd name="T71" fmla="*/ 2535 h 1906"/>
                <a:gd name="T72" fmla="+- 0 5547 5480"/>
                <a:gd name="T73" fmla="*/ T72 w 1704"/>
                <a:gd name="T74" fmla="+- 0 2463 742"/>
                <a:gd name="T75" fmla="*/ 2463 h 1906"/>
                <a:gd name="T76" fmla="+- 0 5552 5480"/>
                <a:gd name="T77" fmla="*/ T76 w 1704"/>
                <a:gd name="T78" fmla="+- 0 2473 742"/>
                <a:gd name="T79" fmla="*/ 2473 h 1906"/>
                <a:gd name="T80" fmla="+- 0 5703 5480"/>
                <a:gd name="T81" fmla="*/ T80 w 1704"/>
                <a:gd name="T82" fmla="+- 0 2559 742"/>
                <a:gd name="T83" fmla="*/ 2559 h 1906"/>
                <a:gd name="T84" fmla="+- 0 5869 5480"/>
                <a:gd name="T85" fmla="*/ T84 w 1704"/>
                <a:gd name="T86" fmla="+- 0 2614 742"/>
                <a:gd name="T87" fmla="*/ 2614 h 1906"/>
                <a:gd name="T88" fmla="+- 0 6044 5480"/>
                <a:gd name="T89" fmla="*/ T88 w 1704"/>
                <a:gd name="T90" fmla="+- 0 2648 742"/>
                <a:gd name="T91" fmla="*/ 2648 h 1906"/>
                <a:gd name="T92" fmla="+- 0 6294 5480"/>
                <a:gd name="T93" fmla="*/ T92 w 1704"/>
                <a:gd name="T94" fmla="+- 0 2638 742"/>
                <a:gd name="T95" fmla="*/ 2638 h 1906"/>
                <a:gd name="T96" fmla="+- 0 6394 5480"/>
                <a:gd name="T97" fmla="*/ T96 w 1704"/>
                <a:gd name="T98" fmla="+- 0 2614 742"/>
                <a:gd name="T99" fmla="*/ 2614 h 1906"/>
                <a:gd name="T100" fmla="+- 0 6493 5480"/>
                <a:gd name="T101" fmla="*/ T100 w 1704"/>
                <a:gd name="T102" fmla="+- 0 2588 742"/>
                <a:gd name="T103" fmla="*/ 2588 h 1906"/>
                <a:gd name="T104" fmla="+- 0 6634 5480"/>
                <a:gd name="T105" fmla="*/ T104 w 1704"/>
                <a:gd name="T106" fmla="+- 0 2525 742"/>
                <a:gd name="T107" fmla="*/ 2525 h 1906"/>
                <a:gd name="T108" fmla="+- 0 6764 5480"/>
                <a:gd name="T109" fmla="*/ T108 w 1704"/>
                <a:gd name="T110" fmla="+- 0 2441 742"/>
                <a:gd name="T111" fmla="*/ 2441 h 1906"/>
                <a:gd name="T112" fmla="+- 0 6910 5480"/>
                <a:gd name="T113" fmla="*/ T112 w 1704"/>
                <a:gd name="T114" fmla="+- 0 2307 742"/>
                <a:gd name="T115" fmla="*/ 2307 h 1906"/>
                <a:gd name="T116" fmla="+- 0 7033 5480"/>
                <a:gd name="T117" fmla="*/ T116 w 1704"/>
                <a:gd name="T118" fmla="+- 0 2141 742"/>
                <a:gd name="T119" fmla="*/ 2141 h 1906"/>
                <a:gd name="T120" fmla="+- 0 7124 5480"/>
                <a:gd name="T121" fmla="*/ T120 w 1704"/>
                <a:gd name="T122" fmla="+- 0 1964 742"/>
                <a:gd name="T123" fmla="*/ 1964 h 1906"/>
                <a:gd name="T124" fmla="+- 0 7150 5480"/>
                <a:gd name="T125" fmla="*/ T124 w 1704"/>
                <a:gd name="T126" fmla="+- 0 1863 742"/>
                <a:gd name="T127" fmla="*/ 1863 h 1906"/>
                <a:gd name="T128" fmla="+- 0 7174 5480"/>
                <a:gd name="T129" fmla="*/ T128 w 1704"/>
                <a:gd name="T130" fmla="+- 0 1760 742"/>
                <a:gd name="T131" fmla="*/ 1760 h 1906"/>
                <a:gd name="T132" fmla="+- 0 7184 5480"/>
                <a:gd name="T133" fmla="*/ T132 w 1704"/>
                <a:gd name="T134" fmla="+- 0 1532 742"/>
                <a:gd name="T135" fmla="*/ 1532 h 1906"/>
                <a:gd name="T136" fmla="+- 0 7165 5480"/>
                <a:gd name="T137" fmla="*/ T136 w 1704"/>
                <a:gd name="T138" fmla="+- 0 1405 742"/>
                <a:gd name="T139" fmla="*/ 1405 h 1906"/>
                <a:gd name="T140" fmla="+- 0 7136 5480"/>
                <a:gd name="T141" fmla="*/ T140 w 1704"/>
                <a:gd name="T142" fmla="+- 0 1282 742"/>
                <a:gd name="T143" fmla="*/ 1282 h 1906"/>
                <a:gd name="T144" fmla="+- 0 7090 5480"/>
                <a:gd name="T145" fmla="*/ T144 w 1704"/>
                <a:gd name="T146" fmla="+- 0 1165 742"/>
                <a:gd name="T147" fmla="*/ 1165 h 1906"/>
                <a:gd name="T148" fmla="+- 0 7033 5480"/>
                <a:gd name="T149" fmla="*/ T148 w 1704"/>
                <a:gd name="T150" fmla="+- 0 1054 742"/>
                <a:gd name="T151" fmla="*/ 1054 h 1906"/>
                <a:gd name="T152" fmla="+- 0 6961 5480"/>
                <a:gd name="T153" fmla="*/ T152 w 1704"/>
                <a:gd name="T154" fmla="+- 0 956 742"/>
                <a:gd name="T155" fmla="*/ 956 h 1906"/>
                <a:gd name="T156" fmla="+- 0 6882 5480"/>
                <a:gd name="T157" fmla="*/ T156 w 1704"/>
                <a:gd name="T158" fmla="+- 0 862 742"/>
                <a:gd name="T159" fmla="*/ 862 h 1906"/>
                <a:gd name="T160" fmla="+- 0 6788 5480"/>
                <a:gd name="T161" fmla="*/ T160 w 1704"/>
                <a:gd name="T162" fmla="+- 0 781 742"/>
                <a:gd name="T163" fmla="*/ 781 h 190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Lst>
              <a:rect l="0" t="0" r="r" b="b"/>
              <a:pathLst>
                <a:path w="1704" h="1906">
                  <a:moveTo>
                    <a:pt x="1260" y="0"/>
                  </a:moveTo>
                  <a:lnTo>
                    <a:pt x="1344" y="77"/>
                  </a:lnTo>
                  <a:lnTo>
                    <a:pt x="1387" y="120"/>
                  </a:lnTo>
                  <a:lnTo>
                    <a:pt x="1459" y="209"/>
                  </a:lnTo>
                  <a:lnTo>
                    <a:pt x="1519" y="307"/>
                  </a:lnTo>
                  <a:lnTo>
                    <a:pt x="1548" y="360"/>
                  </a:lnTo>
                  <a:lnTo>
                    <a:pt x="1572" y="413"/>
                  </a:lnTo>
                  <a:lnTo>
                    <a:pt x="1596" y="463"/>
                  </a:lnTo>
                  <a:lnTo>
                    <a:pt x="1615" y="521"/>
                  </a:lnTo>
                  <a:lnTo>
                    <a:pt x="1630" y="583"/>
                  </a:lnTo>
                  <a:lnTo>
                    <a:pt x="1644" y="639"/>
                  </a:lnTo>
                  <a:lnTo>
                    <a:pt x="1649" y="701"/>
                  </a:lnTo>
                  <a:lnTo>
                    <a:pt x="1656" y="761"/>
                  </a:lnTo>
                  <a:lnTo>
                    <a:pt x="1656" y="876"/>
                  </a:lnTo>
                  <a:lnTo>
                    <a:pt x="1644" y="979"/>
                  </a:lnTo>
                  <a:lnTo>
                    <a:pt x="1625" y="1083"/>
                  </a:lnTo>
                  <a:lnTo>
                    <a:pt x="1572" y="1231"/>
                  </a:lnTo>
                  <a:lnTo>
                    <a:pt x="1529" y="1320"/>
                  </a:lnTo>
                  <a:lnTo>
                    <a:pt x="1505" y="1368"/>
                  </a:lnTo>
                  <a:lnTo>
                    <a:pt x="1450" y="1447"/>
                  </a:lnTo>
                  <a:lnTo>
                    <a:pt x="1382" y="1529"/>
                  </a:lnTo>
                  <a:lnTo>
                    <a:pt x="1310" y="1599"/>
                  </a:lnTo>
                  <a:lnTo>
                    <a:pt x="1274" y="1632"/>
                  </a:lnTo>
                  <a:lnTo>
                    <a:pt x="1193" y="1695"/>
                  </a:lnTo>
                  <a:lnTo>
                    <a:pt x="1109" y="1745"/>
                  </a:lnTo>
                  <a:lnTo>
                    <a:pt x="1013" y="1788"/>
                  </a:lnTo>
                  <a:lnTo>
                    <a:pt x="967" y="1807"/>
                  </a:lnTo>
                  <a:lnTo>
                    <a:pt x="866" y="1841"/>
                  </a:lnTo>
                  <a:lnTo>
                    <a:pt x="768" y="1860"/>
                  </a:lnTo>
                  <a:lnTo>
                    <a:pt x="658" y="1872"/>
                  </a:lnTo>
                  <a:lnTo>
                    <a:pt x="607" y="1872"/>
                  </a:lnTo>
                  <a:lnTo>
                    <a:pt x="521" y="1867"/>
                  </a:lnTo>
                  <a:lnTo>
                    <a:pt x="442" y="1860"/>
                  </a:lnTo>
                  <a:lnTo>
                    <a:pt x="360" y="1846"/>
                  </a:lnTo>
                  <a:lnTo>
                    <a:pt x="286" y="1822"/>
                  </a:lnTo>
                  <a:lnTo>
                    <a:pt x="209" y="1793"/>
                  </a:lnTo>
                  <a:lnTo>
                    <a:pt x="137" y="1759"/>
                  </a:lnTo>
                  <a:lnTo>
                    <a:pt x="67" y="1721"/>
                  </a:lnTo>
                  <a:lnTo>
                    <a:pt x="0" y="1680"/>
                  </a:lnTo>
                  <a:lnTo>
                    <a:pt x="72" y="1731"/>
                  </a:lnTo>
                  <a:lnTo>
                    <a:pt x="142" y="1779"/>
                  </a:lnTo>
                  <a:lnTo>
                    <a:pt x="223" y="1817"/>
                  </a:lnTo>
                  <a:lnTo>
                    <a:pt x="302" y="1851"/>
                  </a:lnTo>
                  <a:lnTo>
                    <a:pt x="389" y="1872"/>
                  </a:lnTo>
                  <a:lnTo>
                    <a:pt x="473" y="1891"/>
                  </a:lnTo>
                  <a:lnTo>
                    <a:pt x="564" y="1906"/>
                  </a:lnTo>
                  <a:lnTo>
                    <a:pt x="710" y="1906"/>
                  </a:lnTo>
                  <a:lnTo>
                    <a:pt x="814" y="1896"/>
                  </a:lnTo>
                  <a:lnTo>
                    <a:pt x="866" y="1887"/>
                  </a:lnTo>
                  <a:lnTo>
                    <a:pt x="914" y="1872"/>
                  </a:lnTo>
                  <a:lnTo>
                    <a:pt x="967" y="1860"/>
                  </a:lnTo>
                  <a:lnTo>
                    <a:pt x="1013" y="1846"/>
                  </a:lnTo>
                  <a:lnTo>
                    <a:pt x="1109" y="1807"/>
                  </a:lnTo>
                  <a:lnTo>
                    <a:pt x="1154" y="1783"/>
                  </a:lnTo>
                  <a:lnTo>
                    <a:pt x="1241" y="1726"/>
                  </a:lnTo>
                  <a:lnTo>
                    <a:pt x="1284" y="1699"/>
                  </a:lnTo>
                  <a:lnTo>
                    <a:pt x="1358" y="1637"/>
                  </a:lnTo>
                  <a:lnTo>
                    <a:pt x="1430" y="1565"/>
                  </a:lnTo>
                  <a:lnTo>
                    <a:pt x="1495" y="1486"/>
                  </a:lnTo>
                  <a:lnTo>
                    <a:pt x="1553" y="1399"/>
                  </a:lnTo>
                  <a:lnTo>
                    <a:pt x="1601" y="1315"/>
                  </a:lnTo>
                  <a:lnTo>
                    <a:pt x="1644" y="1222"/>
                  </a:lnTo>
                  <a:lnTo>
                    <a:pt x="1656" y="1169"/>
                  </a:lnTo>
                  <a:lnTo>
                    <a:pt x="1670" y="1121"/>
                  </a:lnTo>
                  <a:lnTo>
                    <a:pt x="1685" y="1071"/>
                  </a:lnTo>
                  <a:lnTo>
                    <a:pt x="1694" y="1018"/>
                  </a:lnTo>
                  <a:lnTo>
                    <a:pt x="1704" y="915"/>
                  </a:lnTo>
                  <a:lnTo>
                    <a:pt x="1704" y="790"/>
                  </a:lnTo>
                  <a:lnTo>
                    <a:pt x="1694" y="730"/>
                  </a:lnTo>
                  <a:lnTo>
                    <a:pt x="1685" y="663"/>
                  </a:lnTo>
                  <a:lnTo>
                    <a:pt x="1670" y="603"/>
                  </a:lnTo>
                  <a:lnTo>
                    <a:pt x="1656" y="540"/>
                  </a:lnTo>
                  <a:lnTo>
                    <a:pt x="1634" y="483"/>
                  </a:lnTo>
                  <a:lnTo>
                    <a:pt x="1610" y="423"/>
                  </a:lnTo>
                  <a:lnTo>
                    <a:pt x="1582" y="370"/>
                  </a:lnTo>
                  <a:lnTo>
                    <a:pt x="1553" y="312"/>
                  </a:lnTo>
                  <a:lnTo>
                    <a:pt x="1519" y="262"/>
                  </a:lnTo>
                  <a:lnTo>
                    <a:pt x="1481" y="214"/>
                  </a:lnTo>
                  <a:lnTo>
                    <a:pt x="1445" y="166"/>
                  </a:lnTo>
                  <a:lnTo>
                    <a:pt x="1402" y="120"/>
                  </a:lnTo>
                  <a:lnTo>
                    <a:pt x="1354" y="77"/>
                  </a:lnTo>
                  <a:lnTo>
                    <a:pt x="1308" y="39"/>
                  </a:lnTo>
                  <a:lnTo>
                    <a:pt x="12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7" name="Freeform 7">
              <a:extLst>
                <a:ext uri="{FF2B5EF4-FFF2-40B4-BE49-F238E27FC236}">
                  <a16:creationId xmlns:a16="http://schemas.microsoft.com/office/drawing/2014/main" xmlns="" id="{74A48127-D6FF-B08C-500C-EF1617BFF81E}"/>
                </a:ext>
              </a:extLst>
            </p:cNvPr>
            <p:cNvSpPr>
              <a:spLocks/>
            </p:cNvSpPr>
            <p:nvPr/>
          </p:nvSpPr>
          <p:spPr bwMode="auto">
            <a:xfrm>
              <a:off x="5480" y="742"/>
              <a:ext cx="1704" cy="1906"/>
            </a:xfrm>
            <a:custGeom>
              <a:avLst/>
              <a:gdLst>
                <a:gd name="T0" fmla="+- 0 6788 5480"/>
                <a:gd name="T1" fmla="*/ T0 w 1704"/>
                <a:gd name="T2" fmla="+- 0 781 742"/>
                <a:gd name="T3" fmla="*/ 781 h 1906"/>
                <a:gd name="T4" fmla="+- 0 6925 5480"/>
                <a:gd name="T5" fmla="*/ T4 w 1704"/>
                <a:gd name="T6" fmla="+- 0 908 742"/>
                <a:gd name="T7" fmla="*/ 908 h 1906"/>
                <a:gd name="T8" fmla="+- 0 6999 5480"/>
                <a:gd name="T9" fmla="*/ T8 w 1704"/>
                <a:gd name="T10" fmla="+- 0 1004 742"/>
                <a:gd name="T11" fmla="*/ 1004 h 1906"/>
                <a:gd name="T12" fmla="+- 0 7062 5480"/>
                <a:gd name="T13" fmla="*/ T12 w 1704"/>
                <a:gd name="T14" fmla="+- 0 1112 742"/>
                <a:gd name="T15" fmla="*/ 1112 h 1906"/>
                <a:gd name="T16" fmla="+- 0 7114 5480"/>
                <a:gd name="T17" fmla="*/ T16 w 1704"/>
                <a:gd name="T18" fmla="+- 0 1225 742"/>
                <a:gd name="T19" fmla="*/ 1225 h 1906"/>
                <a:gd name="T20" fmla="+- 0 7150 5480"/>
                <a:gd name="T21" fmla="*/ T20 w 1704"/>
                <a:gd name="T22" fmla="+- 0 1345 742"/>
                <a:gd name="T23" fmla="*/ 1345 h 1906"/>
                <a:gd name="T24" fmla="+- 0 7174 5480"/>
                <a:gd name="T25" fmla="*/ T24 w 1704"/>
                <a:gd name="T26" fmla="+- 0 1472 742"/>
                <a:gd name="T27" fmla="*/ 1472 h 1906"/>
                <a:gd name="T28" fmla="+- 0 7184 5480"/>
                <a:gd name="T29" fmla="*/ T28 w 1704"/>
                <a:gd name="T30" fmla="+- 0 1657 742"/>
                <a:gd name="T31" fmla="*/ 1657 h 1906"/>
                <a:gd name="T32" fmla="+- 0 7174 5480"/>
                <a:gd name="T33" fmla="*/ T32 w 1704"/>
                <a:gd name="T34" fmla="+- 0 1760 742"/>
                <a:gd name="T35" fmla="*/ 1760 h 1906"/>
                <a:gd name="T36" fmla="+- 0 7150 5480"/>
                <a:gd name="T37" fmla="*/ T36 w 1704"/>
                <a:gd name="T38" fmla="+- 0 1863 742"/>
                <a:gd name="T39" fmla="*/ 1863 h 1906"/>
                <a:gd name="T40" fmla="+- 0 7124 5480"/>
                <a:gd name="T41" fmla="*/ T40 w 1704"/>
                <a:gd name="T42" fmla="+- 0 1964 742"/>
                <a:gd name="T43" fmla="*/ 1964 h 1906"/>
                <a:gd name="T44" fmla="+- 0 7033 5480"/>
                <a:gd name="T45" fmla="*/ T44 w 1704"/>
                <a:gd name="T46" fmla="+- 0 2141 742"/>
                <a:gd name="T47" fmla="*/ 2141 h 1906"/>
                <a:gd name="T48" fmla="+- 0 6910 5480"/>
                <a:gd name="T49" fmla="*/ T48 w 1704"/>
                <a:gd name="T50" fmla="+- 0 2307 742"/>
                <a:gd name="T51" fmla="*/ 2307 h 1906"/>
                <a:gd name="T52" fmla="+- 0 6764 5480"/>
                <a:gd name="T53" fmla="*/ T52 w 1704"/>
                <a:gd name="T54" fmla="+- 0 2441 742"/>
                <a:gd name="T55" fmla="*/ 2441 h 1906"/>
                <a:gd name="T56" fmla="+- 0 6634 5480"/>
                <a:gd name="T57" fmla="*/ T56 w 1704"/>
                <a:gd name="T58" fmla="+- 0 2525 742"/>
                <a:gd name="T59" fmla="*/ 2525 h 1906"/>
                <a:gd name="T60" fmla="+- 0 6493 5480"/>
                <a:gd name="T61" fmla="*/ T60 w 1704"/>
                <a:gd name="T62" fmla="+- 0 2588 742"/>
                <a:gd name="T63" fmla="*/ 2588 h 1906"/>
                <a:gd name="T64" fmla="+- 0 6394 5480"/>
                <a:gd name="T65" fmla="*/ T64 w 1704"/>
                <a:gd name="T66" fmla="+- 0 2614 742"/>
                <a:gd name="T67" fmla="*/ 2614 h 1906"/>
                <a:gd name="T68" fmla="+- 0 6294 5480"/>
                <a:gd name="T69" fmla="*/ T68 w 1704"/>
                <a:gd name="T70" fmla="+- 0 2638 742"/>
                <a:gd name="T71" fmla="*/ 2638 h 1906"/>
                <a:gd name="T72" fmla="+- 0 6190 5480"/>
                <a:gd name="T73" fmla="*/ T72 w 1704"/>
                <a:gd name="T74" fmla="+- 0 2648 742"/>
                <a:gd name="T75" fmla="*/ 2648 h 1906"/>
                <a:gd name="T76" fmla="+- 0 5953 5480"/>
                <a:gd name="T77" fmla="*/ T76 w 1704"/>
                <a:gd name="T78" fmla="+- 0 2633 742"/>
                <a:gd name="T79" fmla="*/ 2633 h 1906"/>
                <a:gd name="T80" fmla="+- 0 5782 5480"/>
                <a:gd name="T81" fmla="*/ T80 w 1704"/>
                <a:gd name="T82" fmla="+- 0 2593 742"/>
                <a:gd name="T83" fmla="*/ 2593 h 1906"/>
                <a:gd name="T84" fmla="+- 0 5622 5480"/>
                <a:gd name="T85" fmla="*/ T84 w 1704"/>
                <a:gd name="T86" fmla="+- 0 2521 742"/>
                <a:gd name="T87" fmla="*/ 2521 h 1906"/>
                <a:gd name="T88" fmla="+- 0 5480 5480"/>
                <a:gd name="T89" fmla="*/ T88 w 1704"/>
                <a:gd name="T90" fmla="+- 0 2422 742"/>
                <a:gd name="T91" fmla="*/ 2422 h 1906"/>
                <a:gd name="T92" fmla="+- 0 5617 5480"/>
                <a:gd name="T93" fmla="*/ T92 w 1704"/>
                <a:gd name="T94" fmla="+- 0 2501 742"/>
                <a:gd name="T95" fmla="*/ 2501 h 1906"/>
                <a:gd name="T96" fmla="+- 0 5766 5480"/>
                <a:gd name="T97" fmla="*/ T96 w 1704"/>
                <a:gd name="T98" fmla="+- 0 2564 742"/>
                <a:gd name="T99" fmla="*/ 2564 h 1906"/>
                <a:gd name="T100" fmla="+- 0 5922 5480"/>
                <a:gd name="T101" fmla="*/ T100 w 1704"/>
                <a:gd name="T102" fmla="+- 0 2602 742"/>
                <a:gd name="T103" fmla="*/ 2602 h 1906"/>
                <a:gd name="T104" fmla="+- 0 6087 5480"/>
                <a:gd name="T105" fmla="*/ T104 w 1704"/>
                <a:gd name="T106" fmla="+- 0 2614 742"/>
                <a:gd name="T107" fmla="*/ 2614 h 1906"/>
                <a:gd name="T108" fmla="+- 0 6248 5480"/>
                <a:gd name="T109" fmla="*/ T108 w 1704"/>
                <a:gd name="T110" fmla="+- 0 2602 742"/>
                <a:gd name="T111" fmla="*/ 2602 h 1906"/>
                <a:gd name="T112" fmla="+- 0 6447 5480"/>
                <a:gd name="T113" fmla="*/ T112 w 1704"/>
                <a:gd name="T114" fmla="+- 0 2549 742"/>
                <a:gd name="T115" fmla="*/ 2549 h 1906"/>
                <a:gd name="T116" fmla="+- 0 6541 5480"/>
                <a:gd name="T117" fmla="*/ T116 w 1704"/>
                <a:gd name="T118" fmla="+- 0 2511 742"/>
                <a:gd name="T119" fmla="*/ 2511 h 1906"/>
                <a:gd name="T120" fmla="+- 0 6716 5480"/>
                <a:gd name="T121" fmla="*/ T120 w 1704"/>
                <a:gd name="T122" fmla="+- 0 2408 742"/>
                <a:gd name="T123" fmla="*/ 2408 h 1906"/>
                <a:gd name="T124" fmla="+- 0 6829 5480"/>
                <a:gd name="T125" fmla="*/ T124 w 1704"/>
                <a:gd name="T126" fmla="+- 0 2307 742"/>
                <a:gd name="T127" fmla="*/ 2307 h 1906"/>
                <a:gd name="T128" fmla="+- 0 6958 5480"/>
                <a:gd name="T129" fmla="*/ T128 w 1704"/>
                <a:gd name="T130" fmla="+- 0 2151 742"/>
                <a:gd name="T131" fmla="*/ 2151 h 1906"/>
                <a:gd name="T132" fmla="+- 0 7033 5480"/>
                <a:gd name="T133" fmla="*/ T132 w 1704"/>
                <a:gd name="T134" fmla="+- 0 2019 742"/>
                <a:gd name="T135" fmla="*/ 2019 h 1906"/>
                <a:gd name="T136" fmla="+- 0 7114 5480"/>
                <a:gd name="T137" fmla="*/ T136 w 1704"/>
                <a:gd name="T138" fmla="+- 0 1774 742"/>
                <a:gd name="T139" fmla="*/ 1774 h 1906"/>
                <a:gd name="T140" fmla="+- 0 7136 5480"/>
                <a:gd name="T141" fmla="*/ T140 w 1704"/>
                <a:gd name="T142" fmla="+- 0 1618 742"/>
                <a:gd name="T143" fmla="*/ 1618 h 1906"/>
                <a:gd name="T144" fmla="+- 0 7129 5480"/>
                <a:gd name="T145" fmla="*/ T144 w 1704"/>
                <a:gd name="T146" fmla="+- 0 1443 742"/>
                <a:gd name="T147" fmla="*/ 1443 h 1906"/>
                <a:gd name="T148" fmla="+- 0 7110 5480"/>
                <a:gd name="T149" fmla="*/ T148 w 1704"/>
                <a:gd name="T150" fmla="+- 0 1325 742"/>
                <a:gd name="T151" fmla="*/ 1325 h 1906"/>
                <a:gd name="T152" fmla="+- 0 7076 5480"/>
                <a:gd name="T153" fmla="*/ T152 w 1704"/>
                <a:gd name="T154" fmla="+- 0 1205 742"/>
                <a:gd name="T155" fmla="*/ 1205 h 1906"/>
                <a:gd name="T156" fmla="+- 0 7028 5480"/>
                <a:gd name="T157" fmla="*/ T156 w 1704"/>
                <a:gd name="T158" fmla="+- 0 1102 742"/>
                <a:gd name="T159" fmla="*/ 1102 h 1906"/>
                <a:gd name="T160" fmla="+- 0 6939 5480"/>
                <a:gd name="T161" fmla="*/ T160 w 1704"/>
                <a:gd name="T162" fmla="+- 0 951 742"/>
                <a:gd name="T163" fmla="*/ 951 h 1906"/>
                <a:gd name="T164" fmla="+- 0 6824 5480"/>
                <a:gd name="T165" fmla="*/ T164 w 1704"/>
                <a:gd name="T166" fmla="+- 0 819 742"/>
                <a:gd name="T167" fmla="*/ 819 h 1906"/>
                <a:gd name="T168" fmla="+- 0 6740 5480"/>
                <a:gd name="T169" fmla="*/ T168 w 1704"/>
                <a:gd name="T170" fmla="+- 0 742 742"/>
                <a:gd name="T171" fmla="*/ 742 h 190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Lst>
              <a:rect l="0" t="0" r="r" b="b"/>
              <a:pathLst>
                <a:path w="1704" h="1906">
                  <a:moveTo>
                    <a:pt x="1260" y="0"/>
                  </a:moveTo>
                  <a:lnTo>
                    <a:pt x="1308" y="39"/>
                  </a:lnTo>
                  <a:lnTo>
                    <a:pt x="1402" y="120"/>
                  </a:lnTo>
                  <a:lnTo>
                    <a:pt x="1445" y="166"/>
                  </a:lnTo>
                  <a:lnTo>
                    <a:pt x="1481" y="214"/>
                  </a:lnTo>
                  <a:lnTo>
                    <a:pt x="1519" y="262"/>
                  </a:lnTo>
                  <a:lnTo>
                    <a:pt x="1553" y="312"/>
                  </a:lnTo>
                  <a:lnTo>
                    <a:pt x="1582" y="370"/>
                  </a:lnTo>
                  <a:lnTo>
                    <a:pt x="1610" y="423"/>
                  </a:lnTo>
                  <a:lnTo>
                    <a:pt x="1634" y="483"/>
                  </a:lnTo>
                  <a:lnTo>
                    <a:pt x="1656" y="540"/>
                  </a:lnTo>
                  <a:lnTo>
                    <a:pt x="1670" y="603"/>
                  </a:lnTo>
                  <a:lnTo>
                    <a:pt x="1685" y="663"/>
                  </a:lnTo>
                  <a:lnTo>
                    <a:pt x="1694" y="730"/>
                  </a:lnTo>
                  <a:lnTo>
                    <a:pt x="1704" y="790"/>
                  </a:lnTo>
                  <a:lnTo>
                    <a:pt x="1704" y="915"/>
                  </a:lnTo>
                  <a:lnTo>
                    <a:pt x="1699" y="965"/>
                  </a:lnTo>
                  <a:lnTo>
                    <a:pt x="1694" y="1018"/>
                  </a:lnTo>
                  <a:lnTo>
                    <a:pt x="1685" y="1071"/>
                  </a:lnTo>
                  <a:lnTo>
                    <a:pt x="1670" y="1121"/>
                  </a:lnTo>
                  <a:lnTo>
                    <a:pt x="1656" y="1169"/>
                  </a:lnTo>
                  <a:lnTo>
                    <a:pt x="1644" y="1222"/>
                  </a:lnTo>
                  <a:lnTo>
                    <a:pt x="1601" y="1315"/>
                  </a:lnTo>
                  <a:lnTo>
                    <a:pt x="1553" y="1399"/>
                  </a:lnTo>
                  <a:lnTo>
                    <a:pt x="1495" y="1486"/>
                  </a:lnTo>
                  <a:lnTo>
                    <a:pt x="1430" y="1565"/>
                  </a:lnTo>
                  <a:lnTo>
                    <a:pt x="1358" y="1637"/>
                  </a:lnTo>
                  <a:lnTo>
                    <a:pt x="1284" y="1699"/>
                  </a:lnTo>
                  <a:lnTo>
                    <a:pt x="1241" y="1726"/>
                  </a:lnTo>
                  <a:lnTo>
                    <a:pt x="1154" y="1783"/>
                  </a:lnTo>
                  <a:lnTo>
                    <a:pt x="1109" y="1807"/>
                  </a:lnTo>
                  <a:lnTo>
                    <a:pt x="1013" y="1846"/>
                  </a:lnTo>
                  <a:lnTo>
                    <a:pt x="967" y="1860"/>
                  </a:lnTo>
                  <a:lnTo>
                    <a:pt x="914" y="1872"/>
                  </a:lnTo>
                  <a:lnTo>
                    <a:pt x="866" y="1887"/>
                  </a:lnTo>
                  <a:lnTo>
                    <a:pt x="814" y="1896"/>
                  </a:lnTo>
                  <a:lnTo>
                    <a:pt x="763" y="1901"/>
                  </a:lnTo>
                  <a:lnTo>
                    <a:pt x="710" y="1906"/>
                  </a:lnTo>
                  <a:lnTo>
                    <a:pt x="564" y="1906"/>
                  </a:lnTo>
                  <a:lnTo>
                    <a:pt x="473" y="1891"/>
                  </a:lnTo>
                  <a:lnTo>
                    <a:pt x="389" y="1872"/>
                  </a:lnTo>
                  <a:lnTo>
                    <a:pt x="302" y="1851"/>
                  </a:lnTo>
                  <a:lnTo>
                    <a:pt x="223" y="1817"/>
                  </a:lnTo>
                  <a:lnTo>
                    <a:pt x="142" y="1779"/>
                  </a:lnTo>
                  <a:lnTo>
                    <a:pt x="72" y="1731"/>
                  </a:lnTo>
                  <a:lnTo>
                    <a:pt x="0" y="1680"/>
                  </a:lnTo>
                  <a:lnTo>
                    <a:pt x="67" y="1721"/>
                  </a:lnTo>
                  <a:lnTo>
                    <a:pt x="137" y="1759"/>
                  </a:lnTo>
                  <a:lnTo>
                    <a:pt x="209" y="1793"/>
                  </a:lnTo>
                  <a:lnTo>
                    <a:pt x="286" y="1822"/>
                  </a:lnTo>
                  <a:lnTo>
                    <a:pt x="360" y="1846"/>
                  </a:lnTo>
                  <a:lnTo>
                    <a:pt x="442" y="1860"/>
                  </a:lnTo>
                  <a:lnTo>
                    <a:pt x="521" y="1867"/>
                  </a:lnTo>
                  <a:lnTo>
                    <a:pt x="607" y="1872"/>
                  </a:lnTo>
                  <a:lnTo>
                    <a:pt x="658" y="1872"/>
                  </a:lnTo>
                  <a:lnTo>
                    <a:pt x="768" y="1860"/>
                  </a:lnTo>
                  <a:lnTo>
                    <a:pt x="866" y="1841"/>
                  </a:lnTo>
                  <a:lnTo>
                    <a:pt x="967" y="1807"/>
                  </a:lnTo>
                  <a:lnTo>
                    <a:pt x="1013" y="1788"/>
                  </a:lnTo>
                  <a:lnTo>
                    <a:pt x="1061" y="1769"/>
                  </a:lnTo>
                  <a:lnTo>
                    <a:pt x="1150" y="1721"/>
                  </a:lnTo>
                  <a:lnTo>
                    <a:pt x="1236" y="1666"/>
                  </a:lnTo>
                  <a:lnTo>
                    <a:pt x="1310" y="1599"/>
                  </a:lnTo>
                  <a:lnTo>
                    <a:pt x="1349" y="1565"/>
                  </a:lnTo>
                  <a:lnTo>
                    <a:pt x="1416" y="1491"/>
                  </a:lnTo>
                  <a:lnTo>
                    <a:pt x="1478" y="1409"/>
                  </a:lnTo>
                  <a:lnTo>
                    <a:pt x="1529" y="1320"/>
                  </a:lnTo>
                  <a:lnTo>
                    <a:pt x="1553" y="1277"/>
                  </a:lnTo>
                  <a:lnTo>
                    <a:pt x="1610" y="1135"/>
                  </a:lnTo>
                  <a:lnTo>
                    <a:pt x="1634" y="1032"/>
                  </a:lnTo>
                  <a:lnTo>
                    <a:pt x="1651" y="927"/>
                  </a:lnTo>
                  <a:lnTo>
                    <a:pt x="1656" y="876"/>
                  </a:lnTo>
                  <a:lnTo>
                    <a:pt x="1656" y="761"/>
                  </a:lnTo>
                  <a:lnTo>
                    <a:pt x="1649" y="701"/>
                  </a:lnTo>
                  <a:lnTo>
                    <a:pt x="1644" y="639"/>
                  </a:lnTo>
                  <a:lnTo>
                    <a:pt x="1630" y="583"/>
                  </a:lnTo>
                  <a:lnTo>
                    <a:pt x="1615" y="521"/>
                  </a:lnTo>
                  <a:lnTo>
                    <a:pt x="1596" y="463"/>
                  </a:lnTo>
                  <a:lnTo>
                    <a:pt x="1572" y="413"/>
                  </a:lnTo>
                  <a:lnTo>
                    <a:pt x="1548" y="360"/>
                  </a:lnTo>
                  <a:lnTo>
                    <a:pt x="1519" y="307"/>
                  </a:lnTo>
                  <a:lnTo>
                    <a:pt x="1459" y="209"/>
                  </a:lnTo>
                  <a:lnTo>
                    <a:pt x="1421" y="161"/>
                  </a:lnTo>
                  <a:lnTo>
                    <a:pt x="1344" y="77"/>
                  </a:lnTo>
                  <a:lnTo>
                    <a:pt x="1303" y="39"/>
                  </a:lnTo>
                  <a:lnTo>
                    <a:pt x="1260" y="0"/>
                  </a:lnTo>
                  <a:close/>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reeform 8">
              <a:extLst>
                <a:ext uri="{FF2B5EF4-FFF2-40B4-BE49-F238E27FC236}">
                  <a16:creationId xmlns:a16="http://schemas.microsoft.com/office/drawing/2014/main" xmlns="" id="{FC1B014C-DB03-C4AE-BD5D-18A3A5D07D1B}"/>
                </a:ext>
              </a:extLst>
            </p:cNvPr>
            <p:cNvSpPr>
              <a:spLocks/>
            </p:cNvSpPr>
            <p:nvPr/>
          </p:nvSpPr>
          <p:spPr bwMode="auto">
            <a:xfrm>
              <a:off x="5036" y="516"/>
              <a:ext cx="2100" cy="2098"/>
            </a:xfrm>
            <a:custGeom>
              <a:avLst/>
              <a:gdLst>
                <a:gd name="T0" fmla="+- 0 6138 5036"/>
                <a:gd name="T1" fmla="*/ T0 w 2100"/>
                <a:gd name="T2" fmla="+- 0 517 517"/>
                <a:gd name="T3" fmla="*/ 517 h 2098"/>
                <a:gd name="T4" fmla="+- 0 6248 5036"/>
                <a:gd name="T5" fmla="*/ T4 w 2100"/>
                <a:gd name="T6" fmla="+- 0 526 517"/>
                <a:gd name="T7" fmla="*/ 526 h 2098"/>
                <a:gd name="T8" fmla="+- 0 6346 5036"/>
                <a:gd name="T9" fmla="*/ T8 w 2100"/>
                <a:gd name="T10" fmla="+- 0 550 517"/>
                <a:gd name="T11" fmla="*/ 550 h 2098"/>
                <a:gd name="T12" fmla="+- 0 6447 5036"/>
                <a:gd name="T13" fmla="*/ T12 w 2100"/>
                <a:gd name="T14" fmla="+- 0 577 517"/>
                <a:gd name="T15" fmla="*/ 577 h 2098"/>
                <a:gd name="T16" fmla="+- 0 6541 5036"/>
                <a:gd name="T17" fmla="*/ T16 w 2100"/>
                <a:gd name="T18" fmla="+- 0 615 517"/>
                <a:gd name="T19" fmla="*/ 615 h 2098"/>
                <a:gd name="T20" fmla="+- 0 6630 5036"/>
                <a:gd name="T21" fmla="*/ T20 w 2100"/>
                <a:gd name="T22" fmla="+- 0 668 517"/>
                <a:gd name="T23" fmla="*/ 668 h 2098"/>
                <a:gd name="T24" fmla="+- 0 6754 5036"/>
                <a:gd name="T25" fmla="*/ T24 w 2100"/>
                <a:gd name="T26" fmla="+- 0 752 517"/>
                <a:gd name="T27" fmla="*/ 752 h 2098"/>
                <a:gd name="T28" fmla="+- 0 6930 5036"/>
                <a:gd name="T29" fmla="*/ T28 w 2100"/>
                <a:gd name="T30" fmla="+- 0 937 517"/>
                <a:gd name="T31" fmla="*/ 937 h 2098"/>
                <a:gd name="T32" fmla="+- 0 7033 5036"/>
                <a:gd name="T33" fmla="*/ T32 w 2100"/>
                <a:gd name="T34" fmla="+- 0 1107 517"/>
                <a:gd name="T35" fmla="*/ 1107 h 2098"/>
                <a:gd name="T36" fmla="+- 0 7071 5036"/>
                <a:gd name="T37" fmla="*/ T36 w 2100"/>
                <a:gd name="T38" fmla="+- 0 1201 517"/>
                <a:gd name="T39" fmla="*/ 1201 h 2098"/>
                <a:gd name="T40" fmla="+- 0 7124 5036"/>
                <a:gd name="T41" fmla="*/ T40 w 2100"/>
                <a:gd name="T42" fmla="+- 0 1405 517"/>
                <a:gd name="T43" fmla="*/ 1405 h 2098"/>
                <a:gd name="T44" fmla="+- 0 7136 5036"/>
                <a:gd name="T45" fmla="*/ T44 w 2100"/>
                <a:gd name="T46" fmla="+- 0 1618 517"/>
                <a:gd name="T47" fmla="*/ 1618 h 2098"/>
                <a:gd name="T48" fmla="+- 0 7105 5036"/>
                <a:gd name="T49" fmla="*/ T48 w 2100"/>
                <a:gd name="T50" fmla="+- 0 1825 517"/>
                <a:gd name="T51" fmla="*/ 1825 h 2098"/>
                <a:gd name="T52" fmla="+- 0 7009 5036"/>
                <a:gd name="T53" fmla="*/ T52 w 2100"/>
                <a:gd name="T54" fmla="+- 0 2062 517"/>
                <a:gd name="T55" fmla="*/ 2062 h 2098"/>
                <a:gd name="T56" fmla="+- 0 6930 5036"/>
                <a:gd name="T57" fmla="*/ T56 w 2100"/>
                <a:gd name="T58" fmla="+- 0 2189 517"/>
                <a:gd name="T59" fmla="*/ 2189 h 2098"/>
                <a:gd name="T60" fmla="+- 0 6790 5036"/>
                <a:gd name="T61" fmla="*/ T60 w 2100"/>
                <a:gd name="T62" fmla="+- 0 2341 517"/>
                <a:gd name="T63" fmla="*/ 2341 h 2098"/>
                <a:gd name="T64" fmla="+- 0 6673 5036"/>
                <a:gd name="T65" fmla="*/ T64 w 2100"/>
                <a:gd name="T66" fmla="+- 0 2437 517"/>
                <a:gd name="T67" fmla="*/ 2437 h 2098"/>
                <a:gd name="T68" fmla="+- 0 6493 5036"/>
                <a:gd name="T69" fmla="*/ T68 w 2100"/>
                <a:gd name="T70" fmla="+- 0 2530 517"/>
                <a:gd name="T71" fmla="*/ 2530 h 2098"/>
                <a:gd name="T72" fmla="+- 0 6346 5036"/>
                <a:gd name="T73" fmla="*/ T72 w 2100"/>
                <a:gd name="T74" fmla="+- 0 2583 517"/>
                <a:gd name="T75" fmla="*/ 2583 h 2098"/>
                <a:gd name="T76" fmla="+- 0 6138 5036"/>
                <a:gd name="T77" fmla="*/ T76 w 2100"/>
                <a:gd name="T78" fmla="+- 0 2614 517"/>
                <a:gd name="T79" fmla="*/ 2614 h 2098"/>
                <a:gd name="T80" fmla="+- 0 5926 5036"/>
                <a:gd name="T81" fmla="*/ T80 w 2100"/>
                <a:gd name="T82" fmla="+- 0 2602 517"/>
                <a:gd name="T83" fmla="*/ 2602 h 2098"/>
                <a:gd name="T84" fmla="+- 0 5631 5036"/>
                <a:gd name="T85" fmla="*/ T84 w 2100"/>
                <a:gd name="T86" fmla="+- 0 2511 517"/>
                <a:gd name="T87" fmla="*/ 2511 h 2098"/>
                <a:gd name="T88" fmla="+- 0 5456 5036"/>
                <a:gd name="T89" fmla="*/ T88 w 2100"/>
                <a:gd name="T90" fmla="+- 0 2408 517"/>
                <a:gd name="T91" fmla="*/ 2408 h 2098"/>
                <a:gd name="T92" fmla="+- 0 5343 5036"/>
                <a:gd name="T93" fmla="*/ T92 w 2100"/>
                <a:gd name="T94" fmla="+- 0 2307 517"/>
                <a:gd name="T95" fmla="*/ 2307 h 2098"/>
                <a:gd name="T96" fmla="+- 0 5276 5036"/>
                <a:gd name="T97" fmla="*/ T96 w 2100"/>
                <a:gd name="T98" fmla="+- 0 2233 517"/>
                <a:gd name="T99" fmla="*/ 2233 h 2098"/>
                <a:gd name="T100" fmla="+- 0 5216 5036"/>
                <a:gd name="T101" fmla="*/ T100 w 2100"/>
                <a:gd name="T102" fmla="+- 0 2151 517"/>
                <a:gd name="T103" fmla="*/ 2151 h 2098"/>
                <a:gd name="T104" fmla="+- 0 5163 5036"/>
                <a:gd name="T105" fmla="*/ T104 w 2100"/>
                <a:gd name="T106" fmla="+- 0 2062 517"/>
                <a:gd name="T107" fmla="*/ 2062 h 2098"/>
                <a:gd name="T108" fmla="+- 0 5115 5036"/>
                <a:gd name="T109" fmla="*/ T108 w 2100"/>
                <a:gd name="T110" fmla="+- 0 1973 517"/>
                <a:gd name="T111" fmla="*/ 1973 h 2098"/>
                <a:gd name="T112" fmla="+- 0 5084 5036"/>
                <a:gd name="T113" fmla="*/ T112 w 2100"/>
                <a:gd name="T114" fmla="+- 0 1877 517"/>
                <a:gd name="T115" fmla="*/ 1877 h 2098"/>
                <a:gd name="T116" fmla="+- 0 5055 5036"/>
                <a:gd name="T117" fmla="*/ T116 w 2100"/>
                <a:gd name="T118" fmla="+- 0 1774 517"/>
                <a:gd name="T119" fmla="*/ 1774 h 2098"/>
                <a:gd name="T120" fmla="+- 0 5041 5036"/>
                <a:gd name="T121" fmla="*/ T120 w 2100"/>
                <a:gd name="T122" fmla="+- 0 1669 517"/>
                <a:gd name="T123" fmla="*/ 1669 h 2098"/>
                <a:gd name="T124" fmla="+- 0 5036 5036"/>
                <a:gd name="T125" fmla="*/ T124 w 2100"/>
                <a:gd name="T126" fmla="+- 0 1508 517"/>
                <a:gd name="T127" fmla="*/ 1508 h 2098"/>
                <a:gd name="T128" fmla="+- 0 5046 5036"/>
                <a:gd name="T129" fmla="*/ T128 w 2100"/>
                <a:gd name="T130" fmla="+- 0 1405 517"/>
                <a:gd name="T131" fmla="*/ 1405 h 2098"/>
                <a:gd name="T132" fmla="+- 0 5070 5036"/>
                <a:gd name="T133" fmla="*/ T132 w 2100"/>
                <a:gd name="T134" fmla="+- 0 1301 517"/>
                <a:gd name="T135" fmla="*/ 1301 h 2098"/>
                <a:gd name="T136" fmla="+- 0 5098 5036"/>
                <a:gd name="T137" fmla="*/ T136 w 2100"/>
                <a:gd name="T138" fmla="+- 0 1201 517"/>
                <a:gd name="T139" fmla="*/ 1201 h 2098"/>
                <a:gd name="T140" fmla="+- 0 5187 5036"/>
                <a:gd name="T141" fmla="*/ T140 w 2100"/>
                <a:gd name="T142" fmla="+- 0 1023 517"/>
                <a:gd name="T143" fmla="*/ 1023 h 2098"/>
                <a:gd name="T144" fmla="+- 0 5310 5036"/>
                <a:gd name="T145" fmla="*/ T144 w 2100"/>
                <a:gd name="T146" fmla="+- 0 857 517"/>
                <a:gd name="T147" fmla="*/ 857 h 2098"/>
                <a:gd name="T148" fmla="+- 0 5456 5036"/>
                <a:gd name="T149" fmla="*/ T148 w 2100"/>
                <a:gd name="T150" fmla="+- 0 723 517"/>
                <a:gd name="T151" fmla="*/ 723 h 2098"/>
                <a:gd name="T152" fmla="+- 0 5586 5036"/>
                <a:gd name="T153" fmla="*/ T152 w 2100"/>
                <a:gd name="T154" fmla="+- 0 639 517"/>
                <a:gd name="T155" fmla="*/ 639 h 2098"/>
                <a:gd name="T156" fmla="+- 0 5727 5036"/>
                <a:gd name="T157" fmla="*/ T156 w 2100"/>
                <a:gd name="T158" fmla="+- 0 577 517"/>
                <a:gd name="T159" fmla="*/ 577 h 2098"/>
                <a:gd name="T160" fmla="+- 0 5821 5036"/>
                <a:gd name="T161" fmla="*/ T160 w 2100"/>
                <a:gd name="T162" fmla="+- 0 550 517"/>
                <a:gd name="T163" fmla="*/ 550 h 2098"/>
                <a:gd name="T164" fmla="+- 0 5926 5036"/>
                <a:gd name="T165" fmla="*/ T164 w 2100"/>
                <a:gd name="T166" fmla="+- 0 526 517"/>
                <a:gd name="T167" fmla="*/ 526 h 2098"/>
                <a:gd name="T168" fmla="+- 0 6030 5036"/>
                <a:gd name="T169" fmla="*/ T168 w 2100"/>
                <a:gd name="T170" fmla="+- 0 517 517"/>
                <a:gd name="T171" fmla="*/ 517 h 20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Lst>
              <a:rect l="0" t="0" r="r" b="b"/>
              <a:pathLst>
                <a:path w="2100" h="2098">
                  <a:moveTo>
                    <a:pt x="1051" y="0"/>
                  </a:moveTo>
                  <a:lnTo>
                    <a:pt x="1102" y="0"/>
                  </a:lnTo>
                  <a:lnTo>
                    <a:pt x="1159" y="4"/>
                  </a:lnTo>
                  <a:lnTo>
                    <a:pt x="1212" y="9"/>
                  </a:lnTo>
                  <a:lnTo>
                    <a:pt x="1262" y="19"/>
                  </a:lnTo>
                  <a:lnTo>
                    <a:pt x="1310" y="33"/>
                  </a:lnTo>
                  <a:lnTo>
                    <a:pt x="1363" y="45"/>
                  </a:lnTo>
                  <a:lnTo>
                    <a:pt x="1411" y="60"/>
                  </a:lnTo>
                  <a:lnTo>
                    <a:pt x="1457" y="79"/>
                  </a:lnTo>
                  <a:lnTo>
                    <a:pt x="1505" y="98"/>
                  </a:lnTo>
                  <a:lnTo>
                    <a:pt x="1553" y="122"/>
                  </a:lnTo>
                  <a:lnTo>
                    <a:pt x="1594" y="151"/>
                  </a:lnTo>
                  <a:lnTo>
                    <a:pt x="1637" y="180"/>
                  </a:lnTo>
                  <a:lnTo>
                    <a:pt x="1718" y="235"/>
                  </a:lnTo>
                  <a:lnTo>
                    <a:pt x="1826" y="340"/>
                  </a:lnTo>
                  <a:lnTo>
                    <a:pt x="1894" y="420"/>
                  </a:lnTo>
                  <a:lnTo>
                    <a:pt x="1949" y="506"/>
                  </a:lnTo>
                  <a:lnTo>
                    <a:pt x="1997" y="590"/>
                  </a:lnTo>
                  <a:lnTo>
                    <a:pt x="2016" y="638"/>
                  </a:lnTo>
                  <a:lnTo>
                    <a:pt x="2035" y="684"/>
                  </a:lnTo>
                  <a:lnTo>
                    <a:pt x="2069" y="784"/>
                  </a:lnTo>
                  <a:lnTo>
                    <a:pt x="2088" y="888"/>
                  </a:lnTo>
                  <a:lnTo>
                    <a:pt x="2100" y="991"/>
                  </a:lnTo>
                  <a:lnTo>
                    <a:pt x="2100" y="1101"/>
                  </a:lnTo>
                  <a:lnTo>
                    <a:pt x="2088" y="1204"/>
                  </a:lnTo>
                  <a:lnTo>
                    <a:pt x="2069" y="1308"/>
                  </a:lnTo>
                  <a:lnTo>
                    <a:pt x="2016" y="1456"/>
                  </a:lnTo>
                  <a:lnTo>
                    <a:pt x="1973" y="1545"/>
                  </a:lnTo>
                  <a:lnTo>
                    <a:pt x="1949" y="1593"/>
                  </a:lnTo>
                  <a:lnTo>
                    <a:pt x="1894" y="1672"/>
                  </a:lnTo>
                  <a:lnTo>
                    <a:pt x="1826" y="1754"/>
                  </a:lnTo>
                  <a:lnTo>
                    <a:pt x="1754" y="1824"/>
                  </a:lnTo>
                  <a:lnTo>
                    <a:pt x="1718" y="1857"/>
                  </a:lnTo>
                  <a:lnTo>
                    <a:pt x="1637" y="1920"/>
                  </a:lnTo>
                  <a:lnTo>
                    <a:pt x="1553" y="1970"/>
                  </a:lnTo>
                  <a:lnTo>
                    <a:pt x="1457" y="2013"/>
                  </a:lnTo>
                  <a:lnTo>
                    <a:pt x="1411" y="2032"/>
                  </a:lnTo>
                  <a:lnTo>
                    <a:pt x="1310" y="2066"/>
                  </a:lnTo>
                  <a:lnTo>
                    <a:pt x="1212" y="2085"/>
                  </a:lnTo>
                  <a:lnTo>
                    <a:pt x="1102" y="2097"/>
                  </a:lnTo>
                  <a:lnTo>
                    <a:pt x="994" y="2097"/>
                  </a:lnTo>
                  <a:lnTo>
                    <a:pt x="890" y="2085"/>
                  </a:lnTo>
                  <a:lnTo>
                    <a:pt x="785" y="2066"/>
                  </a:lnTo>
                  <a:lnTo>
                    <a:pt x="595" y="1994"/>
                  </a:lnTo>
                  <a:lnTo>
                    <a:pt x="506" y="1946"/>
                  </a:lnTo>
                  <a:lnTo>
                    <a:pt x="420" y="1891"/>
                  </a:lnTo>
                  <a:lnTo>
                    <a:pt x="384" y="1857"/>
                  </a:lnTo>
                  <a:lnTo>
                    <a:pt x="307" y="1790"/>
                  </a:lnTo>
                  <a:lnTo>
                    <a:pt x="274" y="1754"/>
                  </a:lnTo>
                  <a:lnTo>
                    <a:pt x="240" y="1716"/>
                  </a:lnTo>
                  <a:lnTo>
                    <a:pt x="209" y="1672"/>
                  </a:lnTo>
                  <a:lnTo>
                    <a:pt x="180" y="1634"/>
                  </a:lnTo>
                  <a:lnTo>
                    <a:pt x="151" y="1593"/>
                  </a:lnTo>
                  <a:lnTo>
                    <a:pt x="127" y="1545"/>
                  </a:lnTo>
                  <a:lnTo>
                    <a:pt x="103" y="1502"/>
                  </a:lnTo>
                  <a:lnTo>
                    <a:pt x="79" y="1456"/>
                  </a:lnTo>
                  <a:lnTo>
                    <a:pt x="62" y="1408"/>
                  </a:lnTo>
                  <a:lnTo>
                    <a:pt x="48" y="1360"/>
                  </a:lnTo>
                  <a:lnTo>
                    <a:pt x="34" y="1308"/>
                  </a:lnTo>
                  <a:lnTo>
                    <a:pt x="19" y="1257"/>
                  </a:lnTo>
                  <a:lnTo>
                    <a:pt x="10" y="1204"/>
                  </a:lnTo>
                  <a:lnTo>
                    <a:pt x="5" y="1152"/>
                  </a:lnTo>
                  <a:lnTo>
                    <a:pt x="0" y="1101"/>
                  </a:lnTo>
                  <a:lnTo>
                    <a:pt x="0" y="991"/>
                  </a:lnTo>
                  <a:lnTo>
                    <a:pt x="5" y="940"/>
                  </a:lnTo>
                  <a:lnTo>
                    <a:pt x="10" y="888"/>
                  </a:lnTo>
                  <a:lnTo>
                    <a:pt x="19" y="835"/>
                  </a:lnTo>
                  <a:lnTo>
                    <a:pt x="34" y="784"/>
                  </a:lnTo>
                  <a:lnTo>
                    <a:pt x="48" y="736"/>
                  </a:lnTo>
                  <a:lnTo>
                    <a:pt x="62" y="684"/>
                  </a:lnTo>
                  <a:lnTo>
                    <a:pt x="103" y="590"/>
                  </a:lnTo>
                  <a:lnTo>
                    <a:pt x="151" y="506"/>
                  </a:lnTo>
                  <a:lnTo>
                    <a:pt x="209" y="420"/>
                  </a:lnTo>
                  <a:lnTo>
                    <a:pt x="274" y="340"/>
                  </a:lnTo>
                  <a:lnTo>
                    <a:pt x="346" y="268"/>
                  </a:lnTo>
                  <a:lnTo>
                    <a:pt x="420" y="206"/>
                  </a:lnTo>
                  <a:lnTo>
                    <a:pt x="463" y="180"/>
                  </a:lnTo>
                  <a:lnTo>
                    <a:pt x="550" y="122"/>
                  </a:lnTo>
                  <a:lnTo>
                    <a:pt x="595" y="98"/>
                  </a:lnTo>
                  <a:lnTo>
                    <a:pt x="691" y="60"/>
                  </a:lnTo>
                  <a:lnTo>
                    <a:pt x="739" y="45"/>
                  </a:lnTo>
                  <a:lnTo>
                    <a:pt x="785" y="33"/>
                  </a:lnTo>
                  <a:lnTo>
                    <a:pt x="838" y="19"/>
                  </a:lnTo>
                  <a:lnTo>
                    <a:pt x="890" y="9"/>
                  </a:lnTo>
                  <a:lnTo>
                    <a:pt x="941" y="4"/>
                  </a:lnTo>
                  <a:lnTo>
                    <a:pt x="994" y="0"/>
                  </a:lnTo>
                  <a:lnTo>
                    <a:pt x="1051" y="0"/>
                  </a:lnTo>
                  <a:close/>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Freeform 9">
              <a:extLst>
                <a:ext uri="{FF2B5EF4-FFF2-40B4-BE49-F238E27FC236}">
                  <a16:creationId xmlns:a16="http://schemas.microsoft.com/office/drawing/2014/main" xmlns="" id="{42AB5F48-A10C-59B3-19B1-86410161381E}"/>
                </a:ext>
              </a:extLst>
            </p:cNvPr>
            <p:cNvSpPr>
              <a:spLocks/>
            </p:cNvSpPr>
            <p:nvPr/>
          </p:nvSpPr>
          <p:spPr bwMode="auto">
            <a:xfrm>
              <a:off x="5664" y="989"/>
              <a:ext cx="1208" cy="1347"/>
            </a:xfrm>
            <a:custGeom>
              <a:avLst/>
              <a:gdLst>
                <a:gd name="T0" fmla="+- 0 6618 5665"/>
                <a:gd name="T1" fmla="*/ T0 w 1208"/>
                <a:gd name="T2" fmla="+- 0 1040 989"/>
                <a:gd name="T3" fmla="*/ 1040 h 1347"/>
                <a:gd name="T4" fmla="+- 0 6721 5665"/>
                <a:gd name="T5" fmla="*/ T4 w 1208"/>
                <a:gd name="T6" fmla="+- 0 1169 989"/>
                <a:gd name="T7" fmla="*/ 1169 h 1347"/>
                <a:gd name="T8" fmla="+- 0 6790 5665"/>
                <a:gd name="T9" fmla="*/ T8 w 1208"/>
                <a:gd name="T10" fmla="+- 0 1321 989"/>
                <a:gd name="T11" fmla="*/ 1321 h 1347"/>
                <a:gd name="T12" fmla="+- 0 6814 5665"/>
                <a:gd name="T13" fmla="*/ T12 w 1208"/>
                <a:gd name="T14" fmla="+- 0 1400 989"/>
                <a:gd name="T15" fmla="*/ 1400 h 1347"/>
                <a:gd name="T16" fmla="+- 0 6834 5665"/>
                <a:gd name="T17" fmla="*/ T16 w 1208"/>
                <a:gd name="T18" fmla="+- 0 1527 989"/>
                <a:gd name="T19" fmla="*/ 1527 h 1347"/>
                <a:gd name="T20" fmla="+- 0 6819 5665"/>
                <a:gd name="T21" fmla="*/ T20 w 1208"/>
                <a:gd name="T22" fmla="+- 0 1717 989"/>
                <a:gd name="T23" fmla="*/ 1717 h 1347"/>
                <a:gd name="T24" fmla="+- 0 6778 5665"/>
                <a:gd name="T25" fmla="*/ T24 w 1208"/>
                <a:gd name="T26" fmla="+- 0 1858 989"/>
                <a:gd name="T27" fmla="*/ 1858 h 1347"/>
                <a:gd name="T28" fmla="+- 0 6711 5665"/>
                <a:gd name="T29" fmla="*/ T28 w 1208"/>
                <a:gd name="T30" fmla="+- 0 1985 989"/>
                <a:gd name="T31" fmla="*/ 1985 h 1347"/>
                <a:gd name="T32" fmla="+- 0 6618 5665"/>
                <a:gd name="T33" fmla="*/ T32 w 1208"/>
                <a:gd name="T34" fmla="+- 0 2096 989"/>
                <a:gd name="T35" fmla="*/ 2096 h 1347"/>
                <a:gd name="T36" fmla="+- 0 6507 5665"/>
                <a:gd name="T37" fmla="*/ T36 w 1208"/>
                <a:gd name="T38" fmla="+- 0 2185 989"/>
                <a:gd name="T39" fmla="*/ 2185 h 1347"/>
                <a:gd name="T40" fmla="+- 0 6380 5665"/>
                <a:gd name="T41" fmla="*/ T40 w 1208"/>
                <a:gd name="T42" fmla="+- 0 2257 989"/>
                <a:gd name="T43" fmla="*/ 2257 h 1347"/>
                <a:gd name="T44" fmla="+- 0 6243 5665"/>
                <a:gd name="T45" fmla="*/ T44 w 1208"/>
                <a:gd name="T46" fmla="+- 0 2297 989"/>
                <a:gd name="T47" fmla="*/ 2297 h 1347"/>
                <a:gd name="T48" fmla="+- 0 6092 5665"/>
                <a:gd name="T49" fmla="*/ T48 w 1208"/>
                <a:gd name="T50" fmla="+- 0 2312 989"/>
                <a:gd name="T51" fmla="*/ 2312 h 1347"/>
                <a:gd name="T52" fmla="+- 0 5864 5665"/>
                <a:gd name="T53" fmla="*/ T52 w 1208"/>
                <a:gd name="T54" fmla="+- 0 2276 989"/>
                <a:gd name="T55" fmla="*/ 2276 h 1347"/>
                <a:gd name="T56" fmla="+- 0 5665 5665"/>
                <a:gd name="T57" fmla="*/ T56 w 1208"/>
                <a:gd name="T58" fmla="+- 0 2175 989"/>
                <a:gd name="T59" fmla="*/ 2175 h 1347"/>
                <a:gd name="T60" fmla="+- 0 5766 5665"/>
                <a:gd name="T61" fmla="*/ T60 w 1208"/>
                <a:gd name="T62" fmla="+- 0 2247 989"/>
                <a:gd name="T63" fmla="*/ 2247 h 1347"/>
                <a:gd name="T64" fmla="+- 0 5878 5665"/>
                <a:gd name="T65" fmla="*/ T64 w 1208"/>
                <a:gd name="T66" fmla="+- 0 2293 989"/>
                <a:gd name="T67" fmla="*/ 2293 h 1347"/>
                <a:gd name="T68" fmla="+- 0 6001 5665"/>
                <a:gd name="T69" fmla="*/ T68 w 1208"/>
                <a:gd name="T70" fmla="+- 0 2326 989"/>
                <a:gd name="T71" fmla="*/ 2326 h 1347"/>
                <a:gd name="T72" fmla="+- 0 6205 5665"/>
                <a:gd name="T73" fmla="*/ T72 w 1208"/>
                <a:gd name="T74" fmla="+- 0 2336 989"/>
                <a:gd name="T75" fmla="*/ 2336 h 1347"/>
                <a:gd name="T76" fmla="+- 0 6346 5665"/>
                <a:gd name="T77" fmla="*/ T76 w 1208"/>
                <a:gd name="T78" fmla="+- 0 2302 989"/>
                <a:gd name="T79" fmla="*/ 2302 h 1347"/>
                <a:gd name="T80" fmla="+- 0 6478 5665"/>
                <a:gd name="T81" fmla="*/ T80 w 1208"/>
                <a:gd name="T82" fmla="+- 0 2247 989"/>
                <a:gd name="T83" fmla="*/ 2247 h 1347"/>
                <a:gd name="T84" fmla="+- 0 6598 5665"/>
                <a:gd name="T85" fmla="*/ T84 w 1208"/>
                <a:gd name="T86" fmla="+- 0 2165 989"/>
                <a:gd name="T87" fmla="*/ 2165 h 1347"/>
                <a:gd name="T88" fmla="+- 0 6702 5665"/>
                <a:gd name="T89" fmla="*/ T88 w 1208"/>
                <a:gd name="T90" fmla="+- 0 2067 989"/>
                <a:gd name="T91" fmla="*/ 2067 h 1347"/>
                <a:gd name="T92" fmla="+- 0 6783 5665"/>
                <a:gd name="T93" fmla="*/ T92 w 1208"/>
                <a:gd name="T94" fmla="+- 0 1949 989"/>
                <a:gd name="T95" fmla="*/ 1949 h 1347"/>
                <a:gd name="T96" fmla="+- 0 6838 5665"/>
                <a:gd name="T97" fmla="*/ T96 w 1208"/>
                <a:gd name="T98" fmla="+- 0 1817 989"/>
                <a:gd name="T99" fmla="*/ 1817 h 1347"/>
                <a:gd name="T100" fmla="+- 0 6867 5665"/>
                <a:gd name="T101" fmla="*/ T100 w 1208"/>
                <a:gd name="T102" fmla="+- 0 1669 989"/>
                <a:gd name="T103" fmla="*/ 1669 h 1347"/>
                <a:gd name="T104" fmla="+- 0 6867 5665"/>
                <a:gd name="T105" fmla="*/ T104 w 1208"/>
                <a:gd name="T106" fmla="+- 0 1546 989"/>
                <a:gd name="T107" fmla="*/ 1546 h 1347"/>
                <a:gd name="T108" fmla="+- 0 6848 5665"/>
                <a:gd name="T109" fmla="*/ T108 w 1208"/>
                <a:gd name="T110" fmla="+- 0 1414 989"/>
                <a:gd name="T111" fmla="*/ 1414 h 1347"/>
                <a:gd name="T112" fmla="+- 0 6819 5665"/>
                <a:gd name="T113" fmla="*/ T112 w 1208"/>
                <a:gd name="T114" fmla="+- 0 1330 989"/>
                <a:gd name="T115" fmla="*/ 1330 h 1347"/>
                <a:gd name="T116" fmla="+- 0 6783 5665"/>
                <a:gd name="T117" fmla="*/ T116 w 1208"/>
                <a:gd name="T118" fmla="+- 0 1249 989"/>
                <a:gd name="T119" fmla="*/ 1249 h 1347"/>
                <a:gd name="T120" fmla="+- 0 6740 5665"/>
                <a:gd name="T121" fmla="*/ T120 w 1208"/>
                <a:gd name="T122" fmla="+- 0 1174 989"/>
                <a:gd name="T123" fmla="*/ 1174 h 1347"/>
                <a:gd name="T124" fmla="+- 0 6682 5665"/>
                <a:gd name="T125" fmla="*/ T124 w 1208"/>
                <a:gd name="T126" fmla="+- 0 1102 989"/>
                <a:gd name="T127" fmla="*/ 1102 h 1347"/>
                <a:gd name="T128" fmla="+- 0 6622 5665"/>
                <a:gd name="T129" fmla="*/ T128 w 1208"/>
                <a:gd name="T130" fmla="+- 0 1040 989"/>
                <a:gd name="T131" fmla="*/ 1040 h 1347"/>
                <a:gd name="T132" fmla="+- 0 6555 5665"/>
                <a:gd name="T133" fmla="*/ T132 w 1208"/>
                <a:gd name="T134" fmla="+- 0 989 989"/>
                <a:gd name="T135" fmla="*/ 989 h 134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Lst>
              <a:rect l="0" t="0" r="r" b="b"/>
              <a:pathLst>
                <a:path w="1208" h="1347">
                  <a:moveTo>
                    <a:pt x="890" y="0"/>
                  </a:moveTo>
                  <a:lnTo>
                    <a:pt x="953" y="51"/>
                  </a:lnTo>
                  <a:lnTo>
                    <a:pt x="1003" y="113"/>
                  </a:lnTo>
                  <a:lnTo>
                    <a:pt x="1056" y="180"/>
                  </a:lnTo>
                  <a:lnTo>
                    <a:pt x="1094" y="250"/>
                  </a:lnTo>
                  <a:lnTo>
                    <a:pt x="1125" y="332"/>
                  </a:lnTo>
                  <a:lnTo>
                    <a:pt x="1140" y="368"/>
                  </a:lnTo>
                  <a:lnTo>
                    <a:pt x="1149" y="411"/>
                  </a:lnTo>
                  <a:lnTo>
                    <a:pt x="1159" y="449"/>
                  </a:lnTo>
                  <a:lnTo>
                    <a:pt x="1169" y="538"/>
                  </a:lnTo>
                  <a:lnTo>
                    <a:pt x="1169" y="658"/>
                  </a:lnTo>
                  <a:lnTo>
                    <a:pt x="1154" y="728"/>
                  </a:lnTo>
                  <a:lnTo>
                    <a:pt x="1135" y="800"/>
                  </a:lnTo>
                  <a:lnTo>
                    <a:pt x="1113" y="869"/>
                  </a:lnTo>
                  <a:lnTo>
                    <a:pt x="1080" y="936"/>
                  </a:lnTo>
                  <a:lnTo>
                    <a:pt x="1046" y="996"/>
                  </a:lnTo>
                  <a:lnTo>
                    <a:pt x="998" y="1054"/>
                  </a:lnTo>
                  <a:lnTo>
                    <a:pt x="953" y="1107"/>
                  </a:lnTo>
                  <a:lnTo>
                    <a:pt x="900" y="1152"/>
                  </a:lnTo>
                  <a:lnTo>
                    <a:pt x="842" y="1196"/>
                  </a:lnTo>
                  <a:lnTo>
                    <a:pt x="782" y="1234"/>
                  </a:lnTo>
                  <a:lnTo>
                    <a:pt x="715" y="1268"/>
                  </a:lnTo>
                  <a:lnTo>
                    <a:pt x="648" y="1292"/>
                  </a:lnTo>
                  <a:lnTo>
                    <a:pt x="578" y="1308"/>
                  </a:lnTo>
                  <a:lnTo>
                    <a:pt x="501" y="1318"/>
                  </a:lnTo>
                  <a:lnTo>
                    <a:pt x="427" y="1323"/>
                  </a:lnTo>
                  <a:lnTo>
                    <a:pt x="312" y="1313"/>
                  </a:lnTo>
                  <a:lnTo>
                    <a:pt x="199" y="1287"/>
                  </a:lnTo>
                  <a:lnTo>
                    <a:pt x="96" y="1244"/>
                  </a:lnTo>
                  <a:lnTo>
                    <a:pt x="0" y="1186"/>
                  </a:lnTo>
                  <a:lnTo>
                    <a:pt x="48" y="1224"/>
                  </a:lnTo>
                  <a:lnTo>
                    <a:pt x="101" y="1258"/>
                  </a:lnTo>
                  <a:lnTo>
                    <a:pt x="156" y="1282"/>
                  </a:lnTo>
                  <a:lnTo>
                    <a:pt x="213" y="1304"/>
                  </a:lnTo>
                  <a:lnTo>
                    <a:pt x="276" y="1323"/>
                  </a:lnTo>
                  <a:lnTo>
                    <a:pt x="336" y="1337"/>
                  </a:lnTo>
                  <a:lnTo>
                    <a:pt x="398" y="1347"/>
                  </a:lnTo>
                  <a:lnTo>
                    <a:pt x="540" y="1347"/>
                  </a:lnTo>
                  <a:lnTo>
                    <a:pt x="612" y="1332"/>
                  </a:lnTo>
                  <a:lnTo>
                    <a:pt x="681" y="1313"/>
                  </a:lnTo>
                  <a:lnTo>
                    <a:pt x="753" y="1292"/>
                  </a:lnTo>
                  <a:lnTo>
                    <a:pt x="813" y="1258"/>
                  </a:lnTo>
                  <a:lnTo>
                    <a:pt x="876" y="1220"/>
                  </a:lnTo>
                  <a:lnTo>
                    <a:pt x="933" y="1176"/>
                  </a:lnTo>
                  <a:lnTo>
                    <a:pt x="989" y="1131"/>
                  </a:lnTo>
                  <a:lnTo>
                    <a:pt x="1037" y="1078"/>
                  </a:lnTo>
                  <a:lnTo>
                    <a:pt x="1080" y="1020"/>
                  </a:lnTo>
                  <a:lnTo>
                    <a:pt x="1118" y="960"/>
                  </a:lnTo>
                  <a:lnTo>
                    <a:pt x="1145" y="893"/>
                  </a:lnTo>
                  <a:lnTo>
                    <a:pt x="1173" y="828"/>
                  </a:lnTo>
                  <a:lnTo>
                    <a:pt x="1188" y="756"/>
                  </a:lnTo>
                  <a:lnTo>
                    <a:pt x="1202" y="680"/>
                  </a:lnTo>
                  <a:lnTo>
                    <a:pt x="1207" y="605"/>
                  </a:lnTo>
                  <a:lnTo>
                    <a:pt x="1202" y="557"/>
                  </a:lnTo>
                  <a:lnTo>
                    <a:pt x="1193" y="468"/>
                  </a:lnTo>
                  <a:lnTo>
                    <a:pt x="1183" y="425"/>
                  </a:lnTo>
                  <a:lnTo>
                    <a:pt x="1169" y="382"/>
                  </a:lnTo>
                  <a:lnTo>
                    <a:pt x="1154" y="341"/>
                  </a:lnTo>
                  <a:lnTo>
                    <a:pt x="1140" y="298"/>
                  </a:lnTo>
                  <a:lnTo>
                    <a:pt x="1118" y="260"/>
                  </a:lnTo>
                  <a:lnTo>
                    <a:pt x="1099" y="221"/>
                  </a:lnTo>
                  <a:lnTo>
                    <a:pt x="1075" y="185"/>
                  </a:lnTo>
                  <a:lnTo>
                    <a:pt x="1046" y="152"/>
                  </a:lnTo>
                  <a:lnTo>
                    <a:pt x="1017" y="113"/>
                  </a:lnTo>
                  <a:lnTo>
                    <a:pt x="989" y="84"/>
                  </a:lnTo>
                  <a:lnTo>
                    <a:pt x="957" y="51"/>
                  </a:lnTo>
                  <a:lnTo>
                    <a:pt x="924" y="24"/>
                  </a:lnTo>
                  <a:lnTo>
                    <a:pt x="8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 name="Freeform 10">
              <a:extLst>
                <a:ext uri="{FF2B5EF4-FFF2-40B4-BE49-F238E27FC236}">
                  <a16:creationId xmlns:a16="http://schemas.microsoft.com/office/drawing/2014/main" xmlns="" id="{95BAF117-D8B5-9663-9AD2-9C2B8369DD8F}"/>
                </a:ext>
              </a:extLst>
            </p:cNvPr>
            <p:cNvSpPr>
              <a:spLocks/>
            </p:cNvSpPr>
            <p:nvPr/>
          </p:nvSpPr>
          <p:spPr bwMode="auto">
            <a:xfrm>
              <a:off x="5664" y="989"/>
              <a:ext cx="1208" cy="1347"/>
            </a:xfrm>
            <a:custGeom>
              <a:avLst/>
              <a:gdLst>
                <a:gd name="T0" fmla="+- 0 6589 5665"/>
                <a:gd name="T1" fmla="*/ T0 w 1208"/>
                <a:gd name="T2" fmla="+- 0 1013 989"/>
                <a:gd name="T3" fmla="*/ 1013 h 1347"/>
                <a:gd name="T4" fmla="+- 0 6654 5665"/>
                <a:gd name="T5" fmla="*/ T4 w 1208"/>
                <a:gd name="T6" fmla="+- 0 1073 989"/>
                <a:gd name="T7" fmla="*/ 1073 h 1347"/>
                <a:gd name="T8" fmla="+- 0 6711 5665"/>
                <a:gd name="T9" fmla="*/ T8 w 1208"/>
                <a:gd name="T10" fmla="+- 0 1141 989"/>
                <a:gd name="T11" fmla="*/ 1141 h 1347"/>
                <a:gd name="T12" fmla="+- 0 6764 5665"/>
                <a:gd name="T13" fmla="*/ T12 w 1208"/>
                <a:gd name="T14" fmla="+- 0 1210 989"/>
                <a:gd name="T15" fmla="*/ 1210 h 1347"/>
                <a:gd name="T16" fmla="+- 0 6805 5665"/>
                <a:gd name="T17" fmla="*/ T16 w 1208"/>
                <a:gd name="T18" fmla="+- 0 1287 989"/>
                <a:gd name="T19" fmla="*/ 1287 h 1347"/>
                <a:gd name="T20" fmla="+- 0 6834 5665"/>
                <a:gd name="T21" fmla="*/ T20 w 1208"/>
                <a:gd name="T22" fmla="+- 0 1371 989"/>
                <a:gd name="T23" fmla="*/ 1371 h 1347"/>
                <a:gd name="T24" fmla="+- 0 6858 5665"/>
                <a:gd name="T25" fmla="*/ T24 w 1208"/>
                <a:gd name="T26" fmla="+- 0 1457 989"/>
                <a:gd name="T27" fmla="*/ 1457 h 1347"/>
                <a:gd name="T28" fmla="+- 0 6867 5665"/>
                <a:gd name="T29" fmla="*/ T28 w 1208"/>
                <a:gd name="T30" fmla="+- 0 1546 989"/>
                <a:gd name="T31" fmla="*/ 1546 h 1347"/>
                <a:gd name="T32" fmla="+- 0 6867 5665"/>
                <a:gd name="T33" fmla="*/ T32 w 1208"/>
                <a:gd name="T34" fmla="+- 0 1669 989"/>
                <a:gd name="T35" fmla="*/ 1669 h 1347"/>
                <a:gd name="T36" fmla="+- 0 6838 5665"/>
                <a:gd name="T37" fmla="*/ T36 w 1208"/>
                <a:gd name="T38" fmla="+- 0 1817 989"/>
                <a:gd name="T39" fmla="*/ 1817 h 1347"/>
                <a:gd name="T40" fmla="+- 0 6783 5665"/>
                <a:gd name="T41" fmla="*/ T40 w 1208"/>
                <a:gd name="T42" fmla="+- 0 1949 989"/>
                <a:gd name="T43" fmla="*/ 1949 h 1347"/>
                <a:gd name="T44" fmla="+- 0 6702 5665"/>
                <a:gd name="T45" fmla="*/ T44 w 1208"/>
                <a:gd name="T46" fmla="+- 0 2067 989"/>
                <a:gd name="T47" fmla="*/ 2067 h 1347"/>
                <a:gd name="T48" fmla="+- 0 6598 5665"/>
                <a:gd name="T49" fmla="*/ T48 w 1208"/>
                <a:gd name="T50" fmla="+- 0 2165 989"/>
                <a:gd name="T51" fmla="*/ 2165 h 1347"/>
                <a:gd name="T52" fmla="+- 0 6478 5665"/>
                <a:gd name="T53" fmla="*/ T52 w 1208"/>
                <a:gd name="T54" fmla="+- 0 2247 989"/>
                <a:gd name="T55" fmla="*/ 2247 h 1347"/>
                <a:gd name="T56" fmla="+- 0 6346 5665"/>
                <a:gd name="T57" fmla="*/ T56 w 1208"/>
                <a:gd name="T58" fmla="+- 0 2302 989"/>
                <a:gd name="T59" fmla="*/ 2302 h 1347"/>
                <a:gd name="T60" fmla="+- 0 6205 5665"/>
                <a:gd name="T61" fmla="*/ T60 w 1208"/>
                <a:gd name="T62" fmla="+- 0 2336 989"/>
                <a:gd name="T63" fmla="*/ 2336 h 1347"/>
                <a:gd name="T64" fmla="+- 0 6001 5665"/>
                <a:gd name="T65" fmla="*/ T64 w 1208"/>
                <a:gd name="T66" fmla="+- 0 2326 989"/>
                <a:gd name="T67" fmla="*/ 2326 h 1347"/>
                <a:gd name="T68" fmla="+- 0 5878 5665"/>
                <a:gd name="T69" fmla="*/ T68 w 1208"/>
                <a:gd name="T70" fmla="+- 0 2293 989"/>
                <a:gd name="T71" fmla="*/ 2293 h 1347"/>
                <a:gd name="T72" fmla="+- 0 5766 5665"/>
                <a:gd name="T73" fmla="*/ T72 w 1208"/>
                <a:gd name="T74" fmla="+- 0 2247 989"/>
                <a:gd name="T75" fmla="*/ 2247 h 1347"/>
                <a:gd name="T76" fmla="+- 0 5665 5665"/>
                <a:gd name="T77" fmla="*/ T76 w 1208"/>
                <a:gd name="T78" fmla="+- 0 2175 989"/>
                <a:gd name="T79" fmla="*/ 2175 h 1347"/>
                <a:gd name="T80" fmla="+- 0 5761 5665"/>
                <a:gd name="T81" fmla="*/ T80 w 1208"/>
                <a:gd name="T82" fmla="+- 0 2233 989"/>
                <a:gd name="T83" fmla="*/ 2233 h 1347"/>
                <a:gd name="T84" fmla="+- 0 5922 5665"/>
                <a:gd name="T85" fmla="*/ T84 w 1208"/>
                <a:gd name="T86" fmla="+- 0 2293 989"/>
                <a:gd name="T87" fmla="*/ 2293 h 1347"/>
                <a:gd name="T88" fmla="+- 0 6166 5665"/>
                <a:gd name="T89" fmla="*/ T88 w 1208"/>
                <a:gd name="T90" fmla="+- 0 2307 989"/>
                <a:gd name="T91" fmla="*/ 2307 h 1347"/>
                <a:gd name="T92" fmla="+- 0 6313 5665"/>
                <a:gd name="T93" fmla="*/ T92 w 1208"/>
                <a:gd name="T94" fmla="+- 0 2281 989"/>
                <a:gd name="T95" fmla="*/ 2281 h 1347"/>
                <a:gd name="T96" fmla="+- 0 6447 5665"/>
                <a:gd name="T97" fmla="*/ T96 w 1208"/>
                <a:gd name="T98" fmla="+- 0 2223 989"/>
                <a:gd name="T99" fmla="*/ 2223 h 1347"/>
                <a:gd name="T100" fmla="+- 0 6565 5665"/>
                <a:gd name="T101" fmla="*/ T100 w 1208"/>
                <a:gd name="T102" fmla="+- 0 2141 989"/>
                <a:gd name="T103" fmla="*/ 2141 h 1347"/>
                <a:gd name="T104" fmla="+- 0 6663 5665"/>
                <a:gd name="T105" fmla="*/ T104 w 1208"/>
                <a:gd name="T106" fmla="+- 0 2043 989"/>
                <a:gd name="T107" fmla="*/ 2043 h 1347"/>
                <a:gd name="T108" fmla="+- 0 6745 5665"/>
                <a:gd name="T109" fmla="*/ T108 w 1208"/>
                <a:gd name="T110" fmla="+- 0 1925 989"/>
                <a:gd name="T111" fmla="*/ 1925 h 1347"/>
                <a:gd name="T112" fmla="+- 0 6800 5665"/>
                <a:gd name="T113" fmla="*/ T112 w 1208"/>
                <a:gd name="T114" fmla="+- 0 1789 989"/>
                <a:gd name="T115" fmla="*/ 1789 h 1347"/>
                <a:gd name="T116" fmla="+- 0 6834 5665"/>
                <a:gd name="T117" fmla="*/ T116 w 1208"/>
                <a:gd name="T118" fmla="+- 0 1647 989"/>
                <a:gd name="T119" fmla="*/ 1647 h 1347"/>
                <a:gd name="T120" fmla="+- 0 6829 5665"/>
                <a:gd name="T121" fmla="*/ T120 w 1208"/>
                <a:gd name="T122" fmla="+- 0 1481 989"/>
                <a:gd name="T123" fmla="*/ 1481 h 1347"/>
                <a:gd name="T124" fmla="+- 0 6814 5665"/>
                <a:gd name="T125" fmla="*/ T124 w 1208"/>
                <a:gd name="T126" fmla="+- 0 1400 989"/>
                <a:gd name="T127" fmla="*/ 1400 h 1347"/>
                <a:gd name="T128" fmla="+- 0 6790 5665"/>
                <a:gd name="T129" fmla="*/ T128 w 1208"/>
                <a:gd name="T130" fmla="+- 0 1321 989"/>
                <a:gd name="T131" fmla="*/ 1321 h 1347"/>
                <a:gd name="T132" fmla="+- 0 6759 5665"/>
                <a:gd name="T133" fmla="*/ T132 w 1208"/>
                <a:gd name="T134" fmla="+- 0 1239 989"/>
                <a:gd name="T135" fmla="*/ 1239 h 1347"/>
                <a:gd name="T136" fmla="+- 0 6668 5665"/>
                <a:gd name="T137" fmla="*/ T136 w 1208"/>
                <a:gd name="T138" fmla="+- 0 1102 989"/>
                <a:gd name="T139" fmla="*/ 1102 h 1347"/>
                <a:gd name="T140" fmla="+- 0 6555 5665"/>
                <a:gd name="T141" fmla="*/ T140 w 1208"/>
                <a:gd name="T142" fmla="+- 0 989 989"/>
                <a:gd name="T143" fmla="*/ 989 h 134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1208" h="1347">
                  <a:moveTo>
                    <a:pt x="890" y="0"/>
                  </a:moveTo>
                  <a:lnTo>
                    <a:pt x="924" y="24"/>
                  </a:lnTo>
                  <a:lnTo>
                    <a:pt x="957" y="51"/>
                  </a:lnTo>
                  <a:lnTo>
                    <a:pt x="989" y="84"/>
                  </a:lnTo>
                  <a:lnTo>
                    <a:pt x="1017" y="113"/>
                  </a:lnTo>
                  <a:lnTo>
                    <a:pt x="1046" y="152"/>
                  </a:lnTo>
                  <a:lnTo>
                    <a:pt x="1075" y="185"/>
                  </a:lnTo>
                  <a:lnTo>
                    <a:pt x="1099" y="221"/>
                  </a:lnTo>
                  <a:lnTo>
                    <a:pt x="1118" y="260"/>
                  </a:lnTo>
                  <a:lnTo>
                    <a:pt x="1140" y="298"/>
                  </a:lnTo>
                  <a:lnTo>
                    <a:pt x="1154" y="341"/>
                  </a:lnTo>
                  <a:lnTo>
                    <a:pt x="1169" y="382"/>
                  </a:lnTo>
                  <a:lnTo>
                    <a:pt x="1183" y="425"/>
                  </a:lnTo>
                  <a:lnTo>
                    <a:pt x="1193" y="468"/>
                  </a:lnTo>
                  <a:lnTo>
                    <a:pt x="1197" y="514"/>
                  </a:lnTo>
                  <a:lnTo>
                    <a:pt x="1202" y="557"/>
                  </a:lnTo>
                  <a:lnTo>
                    <a:pt x="1207" y="605"/>
                  </a:lnTo>
                  <a:lnTo>
                    <a:pt x="1202" y="680"/>
                  </a:lnTo>
                  <a:lnTo>
                    <a:pt x="1188" y="756"/>
                  </a:lnTo>
                  <a:lnTo>
                    <a:pt x="1173" y="828"/>
                  </a:lnTo>
                  <a:lnTo>
                    <a:pt x="1145" y="893"/>
                  </a:lnTo>
                  <a:lnTo>
                    <a:pt x="1118" y="960"/>
                  </a:lnTo>
                  <a:lnTo>
                    <a:pt x="1080" y="1020"/>
                  </a:lnTo>
                  <a:lnTo>
                    <a:pt x="1037" y="1078"/>
                  </a:lnTo>
                  <a:lnTo>
                    <a:pt x="989" y="1131"/>
                  </a:lnTo>
                  <a:lnTo>
                    <a:pt x="933" y="1176"/>
                  </a:lnTo>
                  <a:lnTo>
                    <a:pt x="876" y="1220"/>
                  </a:lnTo>
                  <a:lnTo>
                    <a:pt x="813" y="1258"/>
                  </a:lnTo>
                  <a:lnTo>
                    <a:pt x="753" y="1292"/>
                  </a:lnTo>
                  <a:lnTo>
                    <a:pt x="681" y="1313"/>
                  </a:lnTo>
                  <a:lnTo>
                    <a:pt x="612" y="1332"/>
                  </a:lnTo>
                  <a:lnTo>
                    <a:pt x="540" y="1347"/>
                  </a:lnTo>
                  <a:lnTo>
                    <a:pt x="398" y="1347"/>
                  </a:lnTo>
                  <a:lnTo>
                    <a:pt x="336" y="1337"/>
                  </a:lnTo>
                  <a:lnTo>
                    <a:pt x="276" y="1323"/>
                  </a:lnTo>
                  <a:lnTo>
                    <a:pt x="213" y="1304"/>
                  </a:lnTo>
                  <a:lnTo>
                    <a:pt x="156" y="1282"/>
                  </a:lnTo>
                  <a:lnTo>
                    <a:pt x="101" y="1258"/>
                  </a:lnTo>
                  <a:lnTo>
                    <a:pt x="48" y="1224"/>
                  </a:lnTo>
                  <a:lnTo>
                    <a:pt x="0" y="1186"/>
                  </a:lnTo>
                  <a:lnTo>
                    <a:pt x="48" y="1220"/>
                  </a:lnTo>
                  <a:lnTo>
                    <a:pt x="96" y="1244"/>
                  </a:lnTo>
                  <a:lnTo>
                    <a:pt x="199" y="1287"/>
                  </a:lnTo>
                  <a:lnTo>
                    <a:pt x="257" y="1304"/>
                  </a:lnTo>
                  <a:lnTo>
                    <a:pt x="427" y="1323"/>
                  </a:lnTo>
                  <a:lnTo>
                    <a:pt x="501" y="1318"/>
                  </a:lnTo>
                  <a:lnTo>
                    <a:pt x="578" y="1308"/>
                  </a:lnTo>
                  <a:lnTo>
                    <a:pt x="648" y="1292"/>
                  </a:lnTo>
                  <a:lnTo>
                    <a:pt x="715" y="1268"/>
                  </a:lnTo>
                  <a:lnTo>
                    <a:pt x="782" y="1234"/>
                  </a:lnTo>
                  <a:lnTo>
                    <a:pt x="842" y="1196"/>
                  </a:lnTo>
                  <a:lnTo>
                    <a:pt x="900" y="1152"/>
                  </a:lnTo>
                  <a:lnTo>
                    <a:pt x="953" y="1107"/>
                  </a:lnTo>
                  <a:lnTo>
                    <a:pt x="998" y="1054"/>
                  </a:lnTo>
                  <a:lnTo>
                    <a:pt x="1046" y="996"/>
                  </a:lnTo>
                  <a:lnTo>
                    <a:pt x="1080" y="936"/>
                  </a:lnTo>
                  <a:lnTo>
                    <a:pt x="1113" y="869"/>
                  </a:lnTo>
                  <a:lnTo>
                    <a:pt x="1135" y="800"/>
                  </a:lnTo>
                  <a:lnTo>
                    <a:pt x="1154" y="728"/>
                  </a:lnTo>
                  <a:lnTo>
                    <a:pt x="1169" y="658"/>
                  </a:lnTo>
                  <a:lnTo>
                    <a:pt x="1169" y="538"/>
                  </a:lnTo>
                  <a:lnTo>
                    <a:pt x="1164" y="492"/>
                  </a:lnTo>
                  <a:lnTo>
                    <a:pt x="1159" y="449"/>
                  </a:lnTo>
                  <a:lnTo>
                    <a:pt x="1149" y="411"/>
                  </a:lnTo>
                  <a:lnTo>
                    <a:pt x="1140" y="368"/>
                  </a:lnTo>
                  <a:lnTo>
                    <a:pt x="1125" y="332"/>
                  </a:lnTo>
                  <a:lnTo>
                    <a:pt x="1113" y="288"/>
                  </a:lnTo>
                  <a:lnTo>
                    <a:pt x="1094" y="250"/>
                  </a:lnTo>
                  <a:lnTo>
                    <a:pt x="1056" y="180"/>
                  </a:lnTo>
                  <a:lnTo>
                    <a:pt x="1003" y="113"/>
                  </a:lnTo>
                  <a:lnTo>
                    <a:pt x="953" y="51"/>
                  </a:lnTo>
                  <a:lnTo>
                    <a:pt x="890" y="0"/>
                  </a:lnTo>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Freeform 11">
              <a:extLst>
                <a:ext uri="{FF2B5EF4-FFF2-40B4-BE49-F238E27FC236}">
                  <a16:creationId xmlns:a16="http://schemas.microsoft.com/office/drawing/2014/main" xmlns="" id="{0F0C9F20-BC6E-AFB1-A815-7FC7B3ACFCCD}"/>
                </a:ext>
              </a:extLst>
            </p:cNvPr>
            <p:cNvSpPr>
              <a:spLocks/>
            </p:cNvSpPr>
            <p:nvPr/>
          </p:nvSpPr>
          <p:spPr bwMode="auto">
            <a:xfrm>
              <a:off x="5348" y="828"/>
              <a:ext cx="1486" cy="1484"/>
            </a:xfrm>
            <a:custGeom>
              <a:avLst/>
              <a:gdLst>
                <a:gd name="T0" fmla="+- 0 6166 5348"/>
                <a:gd name="T1" fmla="*/ T0 w 1486"/>
                <a:gd name="T2" fmla="+- 0 829 829"/>
                <a:gd name="T3" fmla="*/ 829 h 1484"/>
                <a:gd name="T4" fmla="+- 0 6313 5348"/>
                <a:gd name="T5" fmla="*/ T4 w 1486"/>
                <a:gd name="T6" fmla="+- 0 862 829"/>
                <a:gd name="T7" fmla="*/ 862 h 1484"/>
                <a:gd name="T8" fmla="+- 0 6447 5348"/>
                <a:gd name="T9" fmla="*/ T8 w 1486"/>
                <a:gd name="T10" fmla="+- 0 917 829"/>
                <a:gd name="T11" fmla="*/ 917 h 1484"/>
                <a:gd name="T12" fmla="+- 0 6565 5348"/>
                <a:gd name="T13" fmla="*/ T12 w 1486"/>
                <a:gd name="T14" fmla="+- 0 999 829"/>
                <a:gd name="T15" fmla="*/ 999 h 1484"/>
                <a:gd name="T16" fmla="+- 0 6663 5348"/>
                <a:gd name="T17" fmla="*/ T16 w 1486"/>
                <a:gd name="T18" fmla="+- 0 1097 829"/>
                <a:gd name="T19" fmla="*/ 1097 h 1484"/>
                <a:gd name="T20" fmla="+- 0 6745 5348"/>
                <a:gd name="T21" fmla="*/ T20 w 1486"/>
                <a:gd name="T22" fmla="+- 0 1215 829"/>
                <a:gd name="T23" fmla="*/ 1215 h 1484"/>
                <a:gd name="T24" fmla="+- 0 6800 5348"/>
                <a:gd name="T25" fmla="*/ T24 w 1486"/>
                <a:gd name="T26" fmla="+- 0 1347 829"/>
                <a:gd name="T27" fmla="*/ 1347 h 1484"/>
                <a:gd name="T28" fmla="+- 0 6834 5348"/>
                <a:gd name="T29" fmla="*/ T28 w 1486"/>
                <a:gd name="T30" fmla="+- 0 1496 829"/>
                <a:gd name="T31" fmla="*/ 1496 h 1484"/>
                <a:gd name="T32" fmla="+- 0 6819 5348"/>
                <a:gd name="T33" fmla="*/ T32 w 1486"/>
                <a:gd name="T34" fmla="+- 0 1717 829"/>
                <a:gd name="T35" fmla="*/ 1717 h 1484"/>
                <a:gd name="T36" fmla="+- 0 6778 5348"/>
                <a:gd name="T37" fmla="*/ T36 w 1486"/>
                <a:gd name="T38" fmla="+- 0 1858 829"/>
                <a:gd name="T39" fmla="*/ 1858 h 1484"/>
                <a:gd name="T40" fmla="+- 0 6711 5348"/>
                <a:gd name="T41" fmla="*/ T40 w 1486"/>
                <a:gd name="T42" fmla="+- 0 1985 829"/>
                <a:gd name="T43" fmla="*/ 1985 h 1484"/>
                <a:gd name="T44" fmla="+- 0 6618 5348"/>
                <a:gd name="T45" fmla="*/ T44 w 1486"/>
                <a:gd name="T46" fmla="+- 0 2096 829"/>
                <a:gd name="T47" fmla="*/ 2096 h 1484"/>
                <a:gd name="T48" fmla="+- 0 6507 5348"/>
                <a:gd name="T49" fmla="*/ T48 w 1486"/>
                <a:gd name="T50" fmla="+- 0 2185 829"/>
                <a:gd name="T51" fmla="*/ 2185 h 1484"/>
                <a:gd name="T52" fmla="+- 0 6380 5348"/>
                <a:gd name="T53" fmla="*/ T52 w 1486"/>
                <a:gd name="T54" fmla="+- 0 2257 829"/>
                <a:gd name="T55" fmla="*/ 2257 h 1484"/>
                <a:gd name="T56" fmla="+- 0 6243 5348"/>
                <a:gd name="T57" fmla="*/ T56 w 1486"/>
                <a:gd name="T58" fmla="+- 0 2297 829"/>
                <a:gd name="T59" fmla="*/ 2297 h 1484"/>
                <a:gd name="T60" fmla="+- 0 6092 5348"/>
                <a:gd name="T61" fmla="*/ T60 w 1486"/>
                <a:gd name="T62" fmla="+- 0 2312 829"/>
                <a:gd name="T63" fmla="*/ 2312 h 1484"/>
                <a:gd name="T64" fmla="+- 0 5946 5348"/>
                <a:gd name="T65" fmla="*/ T64 w 1486"/>
                <a:gd name="T66" fmla="+- 0 2297 829"/>
                <a:gd name="T67" fmla="*/ 2297 h 1484"/>
                <a:gd name="T68" fmla="+- 0 5802 5348"/>
                <a:gd name="T69" fmla="*/ T68 w 1486"/>
                <a:gd name="T70" fmla="+- 0 2257 829"/>
                <a:gd name="T71" fmla="*/ 2257 h 1484"/>
                <a:gd name="T72" fmla="+- 0 5679 5348"/>
                <a:gd name="T73" fmla="*/ T72 w 1486"/>
                <a:gd name="T74" fmla="+- 0 2185 829"/>
                <a:gd name="T75" fmla="*/ 2185 h 1484"/>
                <a:gd name="T76" fmla="+- 0 5566 5348"/>
                <a:gd name="T77" fmla="*/ T76 w 1486"/>
                <a:gd name="T78" fmla="+- 0 2096 829"/>
                <a:gd name="T79" fmla="*/ 2096 h 1484"/>
                <a:gd name="T80" fmla="+- 0 5475 5348"/>
                <a:gd name="T81" fmla="*/ T80 w 1486"/>
                <a:gd name="T82" fmla="+- 0 1985 829"/>
                <a:gd name="T83" fmla="*/ 1985 h 1484"/>
                <a:gd name="T84" fmla="+- 0 5410 5348"/>
                <a:gd name="T85" fmla="*/ T84 w 1486"/>
                <a:gd name="T86" fmla="+- 0 1858 829"/>
                <a:gd name="T87" fmla="*/ 1858 h 1484"/>
                <a:gd name="T88" fmla="+- 0 5367 5348"/>
                <a:gd name="T89" fmla="*/ T88 w 1486"/>
                <a:gd name="T90" fmla="+- 0 1717 829"/>
                <a:gd name="T91" fmla="*/ 1717 h 1484"/>
                <a:gd name="T92" fmla="+- 0 5348 5348"/>
                <a:gd name="T93" fmla="*/ T92 w 1486"/>
                <a:gd name="T94" fmla="+- 0 1570 829"/>
                <a:gd name="T95" fmla="*/ 1570 h 1484"/>
                <a:gd name="T96" fmla="+- 0 5367 5348"/>
                <a:gd name="T97" fmla="*/ T96 w 1486"/>
                <a:gd name="T98" fmla="+- 0 1419 829"/>
                <a:gd name="T99" fmla="*/ 1419 h 1484"/>
                <a:gd name="T100" fmla="+- 0 5410 5348"/>
                <a:gd name="T101" fmla="*/ T100 w 1486"/>
                <a:gd name="T102" fmla="+- 0 1282 829"/>
                <a:gd name="T103" fmla="*/ 1282 h 1484"/>
                <a:gd name="T104" fmla="+- 0 5475 5348"/>
                <a:gd name="T105" fmla="*/ T104 w 1486"/>
                <a:gd name="T106" fmla="+- 0 1155 829"/>
                <a:gd name="T107" fmla="*/ 1155 h 1484"/>
                <a:gd name="T108" fmla="+- 0 5566 5348"/>
                <a:gd name="T109" fmla="*/ T108 w 1486"/>
                <a:gd name="T110" fmla="+- 0 1045 829"/>
                <a:gd name="T111" fmla="*/ 1045 h 1484"/>
                <a:gd name="T112" fmla="+- 0 5679 5348"/>
                <a:gd name="T113" fmla="*/ T112 w 1486"/>
                <a:gd name="T114" fmla="+- 0 956 829"/>
                <a:gd name="T115" fmla="*/ 956 h 1484"/>
                <a:gd name="T116" fmla="+- 0 5802 5348"/>
                <a:gd name="T117" fmla="*/ T116 w 1486"/>
                <a:gd name="T118" fmla="+- 0 884 829"/>
                <a:gd name="T119" fmla="*/ 884 h 1484"/>
                <a:gd name="T120" fmla="+- 0 5946 5348"/>
                <a:gd name="T121" fmla="*/ T120 w 1486"/>
                <a:gd name="T122" fmla="+- 0 843 829"/>
                <a:gd name="T123" fmla="*/ 843 h 1484"/>
                <a:gd name="T124" fmla="+- 0 6092 5348"/>
                <a:gd name="T125" fmla="*/ T124 w 1486"/>
                <a:gd name="T126" fmla="+- 0 829 829"/>
                <a:gd name="T127" fmla="*/ 829 h 148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486" h="1484">
                  <a:moveTo>
                    <a:pt x="744" y="0"/>
                  </a:moveTo>
                  <a:lnTo>
                    <a:pt x="818" y="0"/>
                  </a:lnTo>
                  <a:lnTo>
                    <a:pt x="895" y="14"/>
                  </a:lnTo>
                  <a:lnTo>
                    <a:pt x="965" y="33"/>
                  </a:lnTo>
                  <a:lnTo>
                    <a:pt x="1032" y="55"/>
                  </a:lnTo>
                  <a:lnTo>
                    <a:pt x="1099" y="88"/>
                  </a:lnTo>
                  <a:lnTo>
                    <a:pt x="1159" y="127"/>
                  </a:lnTo>
                  <a:lnTo>
                    <a:pt x="1217" y="170"/>
                  </a:lnTo>
                  <a:lnTo>
                    <a:pt x="1270" y="216"/>
                  </a:lnTo>
                  <a:lnTo>
                    <a:pt x="1315" y="268"/>
                  </a:lnTo>
                  <a:lnTo>
                    <a:pt x="1363" y="326"/>
                  </a:lnTo>
                  <a:lnTo>
                    <a:pt x="1397" y="386"/>
                  </a:lnTo>
                  <a:lnTo>
                    <a:pt x="1430" y="453"/>
                  </a:lnTo>
                  <a:lnTo>
                    <a:pt x="1452" y="518"/>
                  </a:lnTo>
                  <a:lnTo>
                    <a:pt x="1471" y="590"/>
                  </a:lnTo>
                  <a:lnTo>
                    <a:pt x="1486" y="667"/>
                  </a:lnTo>
                  <a:lnTo>
                    <a:pt x="1486" y="818"/>
                  </a:lnTo>
                  <a:lnTo>
                    <a:pt x="1471" y="888"/>
                  </a:lnTo>
                  <a:lnTo>
                    <a:pt x="1452" y="960"/>
                  </a:lnTo>
                  <a:lnTo>
                    <a:pt x="1430" y="1029"/>
                  </a:lnTo>
                  <a:lnTo>
                    <a:pt x="1397" y="1096"/>
                  </a:lnTo>
                  <a:lnTo>
                    <a:pt x="1363" y="1156"/>
                  </a:lnTo>
                  <a:lnTo>
                    <a:pt x="1315" y="1214"/>
                  </a:lnTo>
                  <a:lnTo>
                    <a:pt x="1270" y="1267"/>
                  </a:lnTo>
                  <a:lnTo>
                    <a:pt x="1217" y="1312"/>
                  </a:lnTo>
                  <a:lnTo>
                    <a:pt x="1159" y="1356"/>
                  </a:lnTo>
                  <a:lnTo>
                    <a:pt x="1099" y="1394"/>
                  </a:lnTo>
                  <a:lnTo>
                    <a:pt x="1032" y="1428"/>
                  </a:lnTo>
                  <a:lnTo>
                    <a:pt x="965" y="1452"/>
                  </a:lnTo>
                  <a:lnTo>
                    <a:pt x="895" y="1468"/>
                  </a:lnTo>
                  <a:lnTo>
                    <a:pt x="818" y="1478"/>
                  </a:lnTo>
                  <a:lnTo>
                    <a:pt x="744" y="1483"/>
                  </a:lnTo>
                  <a:lnTo>
                    <a:pt x="667" y="1478"/>
                  </a:lnTo>
                  <a:lnTo>
                    <a:pt x="598" y="1468"/>
                  </a:lnTo>
                  <a:lnTo>
                    <a:pt x="526" y="1452"/>
                  </a:lnTo>
                  <a:lnTo>
                    <a:pt x="454" y="1428"/>
                  </a:lnTo>
                  <a:lnTo>
                    <a:pt x="394" y="1394"/>
                  </a:lnTo>
                  <a:lnTo>
                    <a:pt x="331" y="1356"/>
                  </a:lnTo>
                  <a:lnTo>
                    <a:pt x="274" y="1312"/>
                  </a:lnTo>
                  <a:lnTo>
                    <a:pt x="218" y="1267"/>
                  </a:lnTo>
                  <a:lnTo>
                    <a:pt x="170" y="1214"/>
                  </a:lnTo>
                  <a:lnTo>
                    <a:pt x="127" y="1156"/>
                  </a:lnTo>
                  <a:lnTo>
                    <a:pt x="91" y="1096"/>
                  </a:lnTo>
                  <a:lnTo>
                    <a:pt x="62" y="1029"/>
                  </a:lnTo>
                  <a:lnTo>
                    <a:pt x="34" y="960"/>
                  </a:lnTo>
                  <a:lnTo>
                    <a:pt x="19" y="888"/>
                  </a:lnTo>
                  <a:lnTo>
                    <a:pt x="5" y="818"/>
                  </a:lnTo>
                  <a:lnTo>
                    <a:pt x="0" y="741"/>
                  </a:lnTo>
                  <a:lnTo>
                    <a:pt x="5" y="667"/>
                  </a:lnTo>
                  <a:lnTo>
                    <a:pt x="19" y="590"/>
                  </a:lnTo>
                  <a:lnTo>
                    <a:pt x="34" y="518"/>
                  </a:lnTo>
                  <a:lnTo>
                    <a:pt x="62" y="453"/>
                  </a:lnTo>
                  <a:lnTo>
                    <a:pt x="91" y="386"/>
                  </a:lnTo>
                  <a:lnTo>
                    <a:pt x="127" y="326"/>
                  </a:lnTo>
                  <a:lnTo>
                    <a:pt x="170" y="268"/>
                  </a:lnTo>
                  <a:lnTo>
                    <a:pt x="218" y="216"/>
                  </a:lnTo>
                  <a:lnTo>
                    <a:pt x="274" y="170"/>
                  </a:lnTo>
                  <a:lnTo>
                    <a:pt x="331" y="127"/>
                  </a:lnTo>
                  <a:lnTo>
                    <a:pt x="394" y="88"/>
                  </a:lnTo>
                  <a:lnTo>
                    <a:pt x="454" y="55"/>
                  </a:lnTo>
                  <a:lnTo>
                    <a:pt x="526" y="33"/>
                  </a:lnTo>
                  <a:lnTo>
                    <a:pt x="598" y="14"/>
                  </a:lnTo>
                  <a:lnTo>
                    <a:pt x="667" y="0"/>
                  </a:lnTo>
                  <a:lnTo>
                    <a:pt x="744" y="0"/>
                  </a:lnTo>
                  <a:close/>
                </a:path>
              </a:pathLst>
            </a:custGeom>
            <a:noFill/>
            <a:ln w="9144">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12">
              <a:extLst>
                <a:ext uri="{FF2B5EF4-FFF2-40B4-BE49-F238E27FC236}">
                  <a16:creationId xmlns:a16="http://schemas.microsoft.com/office/drawing/2014/main" xmlns="" id="{9494A27B-0EB2-650C-977E-FB4AA3A0F2AF}"/>
                </a:ext>
              </a:extLst>
            </p:cNvPr>
            <p:cNvSpPr>
              <a:spLocks/>
            </p:cNvSpPr>
            <p:nvPr/>
          </p:nvSpPr>
          <p:spPr bwMode="auto">
            <a:xfrm>
              <a:off x="5532" y="330"/>
              <a:ext cx="526" cy="138"/>
            </a:xfrm>
            <a:custGeom>
              <a:avLst/>
              <a:gdLst>
                <a:gd name="T0" fmla="+- 0 5576 5533"/>
                <a:gd name="T1" fmla="*/ T0 w 526"/>
                <a:gd name="T2" fmla="+- 0 459 331"/>
                <a:gd name="T3" fmla="*/ 459 h 138"/>
                <a:gd name="T4" fmla="+- 0 5617 5533"/>
                <a:gd name="T5" fmla="*/ T4 w 526"/>
                <a:gd name="T6" fmla="+- 0 421 331"/>
                <a:gd name="T7" fmla="*/ 421 h 138"/>
                <a:gd name="T8" fmla="+- 0 5617 5533"/>
                <a:gd name="T9" fmla="*/ T8 w 526"/>
                <a:gd name="T10" fmla="+- 0 385 331"/>
                <a:gd name="T11" fmla="*/ 385 h 138"/>
                <a:gd name="T12" fmla="+- 0 5617 5533"/>
                <a:gd name="T13" fmla="*/ T12 w 526"/>
                <a:gd name="T14" fmla="+- 0 346 331"/>
                <a:gd name="T15" fmla="*/ 346 h 138"/>
                <a:gd name="T16" fmla="+- 0 5631 5533"/>
                <a:gd name="T17" fmla="*/ T16 w 526"/>
                <a:gd name="T18" fmla="+- 0 337 331"/>
                <a:gd name="T19" fmla="*/ 337 h 138"/>
                <a:gd name="T20" fmla="+- 0 5542 5533"/>
                <a:gd name="T21" fmla="*/ T20 w 526"/>
                <a:gd name="T22" fmla="+- 0 464 331"/>
                <a:gd name="T23" fmla="*/ 464 h 138"/>
                <a:gd name="T24" fmla="+- 0 5732 5533"/>
                <a:gd name="T25" fmla="*/ T24 w 526"/>
                <a:gd name="T26" fmla="+- 0 389 331"/>
                <a:gd name="T27" fmla="*/ 389 h 138"/>
                <a:gd name="T28" fmla="+- 0 5674 5533"/>
                <a:gd name="T29" fmla="*/ T28 w 526"/>
                <a:gd name="T30" fmla="+- 0 375 331"/>
                <a:gd name="T31" fmla="*/ 375 h 138"/>
                <a:gd name="T32" fmla="+- 0 5660 5533"/>
                <a:gd name="T33" fmla="*/ T32 w 526"/>
                <a:gd name="T34" fmla="+- 0 459 331"/>
                <a:gd name="T35" fmla="*/ 459 h 138"/>
                <a:gd name="T36" fmla="+- 0 5694 5533"/>
                <a:gd name="T37" fmla="*/ T36 w 526"/>
                <a:gd name="T38" fmla="+- 0 389 331"/>
                <a:gd name="T39" fmla="*/ 389 h 138"/>
                <a:gd name="T40" fmla="+- 0 5713 5533"/>
                <a:gd name="T41" fmla="*/ T40 w 526"/>
                <a:gd name="T42" fmla="+- 0 464 331"/>
                <a:gd name="T43" fmla="*/ 464 h 138"/>
                <a:gd name="T44" fmla="+- 0 5826 5533"/>
                <a:gd name="T45" fmla="*/ T44 w 526"/>
                <a:gd name="T46" fmla="+- 0 389 331"/>
                <a:gd name="T47" fmla="*/ 389 h 138"/>
                <a:gd name="T48" fmla="+- 0 5782 5533"/>
                <a:gd name="T49" fmla="*/ T48 w 526"/>
                <a:gd name="T50" fmla="+- 0 385 331"/>
                <a:gd name="T51" fmla="*/ 385 h 138"/>
                <a:gd name="T52" fmla="+- 0 5766 5533"/>
                <a:gd name="T53" fmla="*/ T52 w 526"/>
                <a:gd name="T54" fmla="+- 0 389 331"/>
                <a:gd name="T55" fmla="*/ 389 h 138"/>
                <a:gd name="T56" fmla="+- 0 5835 5533"/>
                <a:gd name="T57" fmla="*/ T56 w 526"/>
                <a:gd name="T58" fmla="+- 0 389 331"/>
                <a:gd name="T59" fmla="*/ 389 h 138"/>
                <a:gd name="T60" fmla="+- 0 5864 5533"/>
                <a:gd name="T61" fmla="*/ T60 w 526"/>
                <a:gd name="T62" fmla="+- 0 345 331"/>
                <a:gd name="T63" fmla="*/ 345 h 138"/>
                <a:gd name="T64" fmla="+- 0 5876 5533"/>
                <a:gd name="T65" fmla="*/ T64 w 526"/>
                <a:gd name="T66" fmla="+- 0 352 331"/>
                <a:gd name="T67" fmla="*/ 352 h 138"/>
                <a:gd name="T68" fmla="+- 0 5883 5533"/>
                <a:gd name="T69" fmla="*/ T68 w 526"/>
                <a:gd name="T70" fmla="+- 0 338 331"/>
                <a:gd name="T71" fmla="*/ 338 h 138"/>
                <a:gd name="T72" fmla="+- 0 5869 5533"/>
                <a:gd name="T73" fmla="*/ T72 w 526"/>
                <a:gd name="T74" fmla="+- 0 333 331"/>
                <a:gd name="T75" fmla="*/ 333 h 138"/>
                <a:gd name="T76" fmla="+- 0 5883 5533"/>
                <a:gd name="T77" fmla="*/ T76 w 526"/>
                <a:gd name="T78" fmla="+- 0 333 331"/>
                <a:gd name="T79" fmla="*/ 333 h 138"/>
                <a:gd name="T80" fmla="+- 0 5883 5533"/>
                <a:gd name="T81" fmla="*/ T80 w 526"/>
                <a:gd name="T82" fmla="+- 0 400 331"/>
                <a:gd name="T83" fmla="*/ 400 h 138"/>
                <a:gd name="T84" fmla="+- 0 5883 5533"/>
                <a:gd name="T85" fmla="*/ T84 w 526"/>
                <a:gd name="T86" fmla="+- 0 383 331"/>
                <a:gd name="T87" fmla="*/ 383 h 138"/>
                <a:gd name="T88" fmla="+- 0 5878 5533"/>
                <a:gd name="T89" fmla="*/ T88 w 526"/>
                <a:gd name="T90" fmla="+- 0 379 331"/>
                <a:gd name="T91" fmla="*/ 379 h 138"/>
                <a:gd name="T92" fmla="+- 0 5854 5533"/>
                <a:gd name="T93" fmla="*/ T92 w 526"/>
                <a:gd name="T94" fmla="+- 0 386 331"/>
                <a:gd name="T95" fmla="*/ 386 h 138"/>
                <a:gd name="T96" fmla="+- 0 5864 5533"/>
                <a:gd name="T97" fmla="*/ T96 w 526"/>
                <a:gd name="T98" fmla="+- 0 398 331"/>
                <a:gd name="T99" fmla="*/ 398 h 138"/>
                <a:gd name="T100" fmla="+- 0 5866 5533"/>
                <a:gd name="T101" fmla="*/ T100 w 526"/>
                <a:gd name="T102" fmla="+- 0 460 331"/>
                <a:gd name="T103" fmla="*/ 460 h 138"/>
                <a:gd name="T104" fmla="+- 0 5890 5533"/>
                <a:gd name="T105" fmla="*/ T104 w 526"/>
                <a:gd name="T106" fmla="+- 0 463 331"/>
                <a:gd name="T107" fmla="*/ 463 h 138"/>
                <a:gd name="T108" fmla="+- 0 5936 5533"/>
                <a:gd name="T109" fmla="*/ T108 w 526"/>
                <a:gd name="T110" fmla="+- 0 375 331"/>
                <a:gd name="T111" fmla="*/ 375 h 138"/>
                <a:gd name="T112" fmla="+- 0 5912 5533"/>
                <a:gd name="T113" fmla="*/ T112 w 526"/>
                <a:gd name="T114" fmla="+- 0 459 331"/>
                <a:gd name="T115" fmla="*/ 459 h 138"/>
                <a:gd name="T116" fmla="+- 0 5941 5533"/>
                <a:gd name="T117" fmla="*/ T116 w 526"/>
                <a:gd name="T118" fmla="+- 0 394 331"/>
                <a:gd name="T119" fmla="*/ 394 h 138"/>
                <a:gd name="T120" fmla="+- 0 5967 5533"/>
                <a:gd name="T121" fmla="*/ T120 w 526"/>
                <a:gd name="T122" fmla="+- 0 385 331"/>
                <a:gd name="T123" fmla="*/ 385 h 138"/>
                <a:gd name="T124" fmla="+- 0 6054 5533"/>
                <a:gd name="T125" fmla="*/ T124 w 526"/>
                <a:gd name="T126" fmla="+- 0 398 331"/>
                <a:gd name="T127" fmla="*/ 398 h 138"/>
                <a:gd name="T128" fmla="+- 0 6046 5533"/>
                <a:gd name="T129" fmla="*/ T128 w 526"/>
                <a:gd name="T130" fmla="+- 0 391 331"/>
                <a:gd name="T131" fmla="*/ 391 h 138"/>
                <a:gd name="T132" fmla="+- 0 6034 5533"/>
                <a:gd name="T133" fmla="*/ T132 w 526"/>
                <a:gd name="T134" fmla="+- 0 383 331"/>
                <a:gd name="T135" fmla="*/ 383 h 138"/>
                <a:gd name="T136" fmla="+- 0 6006 5533"/>
                <a:gd name="T137" fmla="*/ T136 w 526"/>
                <a:gd name="T138" fmla="+- 0 376 331"/>
                <a:gd name="T139" fmla="*/ 376 h 138"/>
                <a:gd name="T140" fmla="+- 0 5994 5533"/>
                <a:gd name="T141" fmla="*/ T140 w 526"/>
                <a:gd name="T142" fmla="+- 0 383 331"/>
                <a:gd name="T143" fmla="*/ 383 h 138"/>
                <a:gd name="T144" fmla="+- 0 5986 5533"/>
                <a:gd name="T145" fmla="*/ T144 w 526"/>
                <a:gd name="T146" fmla="+- 0 391 331"/>
                <a:gd name="T147" fmla="*/ 391 h 138"/>
                <a:gd name="T148" fmla="+- 0 5979 5533"/>
                <a:gd name="T149" fmla="*/ T148 w 526"/>
                <a:gd name="T150" fmla="+- 0 398 331"/>
                <a:gd name="T151" fmla="*/ 398 h 138"/>
                <a:gd name="T152" fmla="+- 0 5974 5533"/>
                <a:gd name="T153" fmla="*/ T152 w 526"/>
                <a:gd name="T154" fmla="+- 0 407 331"/>
                <a:gd name="T155" fmla="*/ 407 h 138"/>
                <a:gd name="T156" fmla="+- 0 5972 5533"/>
                <a:gd name="T157" fmla="*/ T156 w 526"/>
                <a:gd name="T158" fmla="+- 0 419 331"/>
                <a:gd name="T159" fmla="*/ 419 h 138"/>
                <a:gd name="T160" fmla="+- 0 5974 5533"/>
                <a:gd name="T161" fmla="*/ T160 w 526"/>
                <a:gd name="T162" fmla="+- 0 431 331"/>
                <a:gd name="T163" fmla="*/ 431 h 138"/>
                <a:gd name="T164" fmla="+- 0 5994 5533"/>
                <a:gd name="T165" fmla="*/ T164 w 526"/>
                <a:gd name="T166" fmla="+- 0 436 331"/>
                <a:gd name="T167" fmla="*/ 436 h 138"/>
                <a:gd name="T168" fmla="+- 0 5991 5533"/>
                <a:gd name="T169" fmla="*/ T168 w 526"/>
                <a:gd name="T170" fmla="+- 0 427 331"/>
                <a:gd name="T171" fmla="*/ 427 h 138"/>
                <a:gd name="T172" fmla="+- 0 5991 5533"/>
                <a:gd name="T173" fmla="*/ T172 w 526"/>
                <a:gd name="T174" fmla="+- 0 412 331"/>
                <a:gd name="T175" fmla="*/ 412 h 138"/>
                <a:gd name="T176" fmla="+- 0 5994 5533"/>
                <a:gd name="T177" fmla="*/ T176 w 526"/>
                <a:gd name="T178" fmla="+- 0 403 331"/>
                <a:gd name="T179" fmla="*/ 403 h 138"/>
                <a:gd name="T180" fmla="+- 0 5996 5533"/>
                <a:gd name="T181" fmla="*/ T180 w 526"/>
                <a:gd name="T182" fmla="+- 0 393 331"/>
                <a:gd name="T183" fmla="*/ 393 h 138"/>
                <a:gd name="T184" fmla="+- 0 6025 5533"/>
                <a:gd name="T185" fmla="*/ T184 w 526"/>
                <a:gd name="T186" fmla="+- 0 386 331"/>
                <a:gd name="T187" fmla="*/ 386 h 138"/>
                <a:gd name="T188" fmla="+- 0 6032 5533"/>
                <a:gd name="T189" fmla="*/ T188 w 526"/>
                <a:gd name="T190" fmla="+- 0 393 331"/>
                <a:gd name="T191" fmla="*/ 393 h 138"/>
                <a:gd name="T192" fmla="+- 0 6037 5533"/>
                <a:gd name="T193" fmla="*/ T192 w 526"/>
                <a:gd name="T194" fmla="+- 0 403 331"/>
                <a:gd name="T195" fmla="*/ 403 h 138"/>
                <a:gd name="T196" fmla="+- 0 6039 5533"/>
                <a:gd name="T197" fmla="*/ T196 w 526"/>
                <a:gd name="T198" fmla="+- 0 415 331"/>
                <a:gd name="T199" fmla="*/ 415 h 138"/>
                <a:gd name="T200" fmla="+- 0 6039 5533"/>
                <a:gd name="T201" fmla="*/ T200 w 526"/>
                <a:gd name="T202" fmla="+- 0 429 331"/>
                <a:gd name="T203" fmla="*/ 429 h 138"/>
                <a:gd name="T204" fmla="+- 0 6056 5533"/>
                <a:gd name="T205" fmla="*/ T204 w 526"/>
                <a:gd name="T206" fmla="+- 0 436 331"/>
                <a:gd name="T207" fmla="*/ 436 h 138"/>
                <a:gd name="T208" fmla="+- 0 6058 5533"/>
                <a:gd name="T209" fmla="*/ T208 w 526"/>
                <a:gd name="T210" fmla="+- 0 424 331"/>
                <a:gd name="T211" fmla="*/ 424 h 138"/>
                <a:gd name="T212" fmla="+- 0 6058 5533"/>
                <a:gd name="T213" fmla="*/ T212 w 526"/>
                <a:gd name="T214" fmla="+- 0 410 331"/>
                <a:gd name="T215" fmla="*/ 410 h 13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Lst>
              <a:rect l="0" t="0" r="r" b="b"/>
              <a:pathLst>
                <a:path w="526" h="138">
                  <a:moveTo>
                    <a:pt x="113" y="99"/>
                  </a:moveTo>
                  <a:lnTo>
                    <a:pt x="108" y="99"/>
                  </a:lnTo>
                  <a:lnTo>
                    <a:pt x="103" y="114"/>
                  </a:lnTo>
                  <a:lnTo>
                    <a:pt x="93" y="118"/>
                  </a:lnTo>
                  <a:lnTo>
                    <a:pt x="84" y="128"/>
                  </a:lnTo>
                  <a:lnTo>
                    <a:pt x="43" y="128"/>
                  </a:lnTo>
                  <a:lnTo>
                    <a:pt x="38" y="123"/>
                  </a:lnTo>
                  <a:lnTo>
                    <a:pt x="38" y="70"/>
                  </a:lnTo>
                  <a:lnTo>
                    <a:pt x="79" y="70"/>
                  </a:lnTo>
                  <a:lnTo>
                    <a:pt x="79" y="75"/>
                  </a:lnTo>
                  <a:lnTo>
                    <a:pt x="84" y="75"/>
                  </a:lnTo>
                  <a:lnTo>
                    <a:pt x="84" y="90"/>
                  </a:lnTo>
                  <a:lnTo>
                    <a:pt x="89" y="90"/>
                  </a:lnTo>
                  <a:lnTo>
                    <a:pt x="89" y="70"/>
                  </a:lnTo>
                  <a:lnTo>
                    <a:pt x="89" y="63"/>
                  </a:lnTo>
                  <a:lnTo>
                    <a:pt x="89" y="44"/>
                  </a:lnTo>
                  <a:lnTo>
                    <a:pt x="84" y="44"/>
                  </a:lnTo>
                  <a:lnTo>
                    <a:pt x="84" y="54"/>
                  </a:lnTo>
                  <a:lnTo>
                    <a:pt x="79" y="58"/>
                  </a:lnTo>
                  <a:lnTo>
                    <a:pt x="77" y="63"/>
                  </a:lnTo>
                  <a:lnTo>
                    <a:pt x="38" y="63"/>
                  </a:lnTo>
                  <a:lnTo>
                    <a:pt x="38" y="10"/>
                  </a:lnTo>
                  <a:lnTo>
                    <a:pt x="79" y="10"/>
                  </a:lnTo>
                  <a:lnTo>
                    <a:pt x="84" y="15"/>
                  </a:lnTo>
                  <a:lnTo>
                    <a:pt x="89" y="15"/>
                  </a:lnTo>
                  <a:lnTo>
                    <a:pt x="93" y="20"/>
                  </a:lnTo>
                  <a:lnTo>
                    <a:pt x="93" y="25"/>
                  </a:lnTo>
                  <a:lnTo>
                    <a:pt x="98" y="34"/>
                  </a:lnTo>
                  <a:lnTo>
                    <a:pt x="103" y="34"/>
                  </a:lnTo>
                  <a:lnTo>
                    <a:pt x="98" y="6"/>
                  </a:lnTo>
                  <a:lnTo>
                    <a:pt x="0" y="6"/>
                  </a:lnTo>
                  <a:lnTo>
                    <a:pt x="0" y="10"/>
                  </a:lnTo>
                  <a:lnTo>
                    <a:pt x="14" y="10"/>
                  </a:lnTo>
                  <a:lnTo>
                    <a:pt x="19" y="15"/>
                  </a:lnTo>
                  <a:lnTo>
                    <a:pt x="19" y="123"/>
                  </a:lnTo>
                  <a:lnTo>
                    <a:pt x="9" y="133"/>
                  </a:lnTo>
                  <a:lnTo>
                    <a:pt x="98" y="133"/>
                  </a:lnTo>
                  <a:lnTo>
                    <a:pt x="100" y="128"/>
                  </a:lnTo>
                  <a:lnTo>
                    <a:pt x="113" y="99"/>
                  </a:lnTo>
                  <a:close/>
                  <a:moveTo>
                    <a:pt x="209" y="133"/>
                  </a:moveTo>
                  <a:lnTo>
                    <a:pt x="199" y="123"/>
                  </a:lnTo>
                  <a:lnTo>
                    <a:pt x="199" y="58"/>
                  </a:lnTo>
                  <a:lnTo>
                    <a:pt x="185" y="44"/>
                  </a:lnTo>
                  <a:lnTo>
                    <a:pt x="180" y="44"/>
                  </a:lnTo>
                  <a:lnTo>
                    <a:pt x="165" y="49"/>
                  </a:lnTo>
                  <a:lnTo>
                    <a:pt x="146" y="63"/>
                  </a:lnTo>
                  <a:lnTo>
                    <a:pt x="146" y="44"/>
                  </a:lnTo>
                  <a:lnTo>
                    <a:pt x="141" y="44"/>
                  </a:lnTo>
                  <a:lnTo>
                    <a:pt x="117" y="54"/>
                  </a:lnTo>
                  <a:lnTo>
                    <a:pt x="117" y="58"/>
                  </a:lnTo>
                  <a:lnTo>
                    <a:pt x="127" y="58"/>
                  </a:lnTo>
                  <a:lnTo>
                    <a:pt x="132" y="63"/>
                  </a:lnTo>
                  <a:lnTo>
                    <a:pt x="132" y="128"/>
                  </a:lnTo>
                  <a:lnTo>
                    <a:pt x="127" y="128"/>
                  </a:lnTo>
                  <a:lnTo>
                    <a:pt x="122" y="133"/>
                  </a:lnTo>
                  <a:lnTo>
                    <a:pt x="156" y="133"/>
                  </a:lnTo>
                  <a:lnTo>
                    <a:pt x="146" y="123"/>
                  </a:lnTo>
                  <a:lnTo>
                    <a:pt x="146" y="68"/>
                  </a:lnTo>
                  <a:lnTo>
                    <a:pt x="153" y="63"/>
                  </a:lnTo>
                  <a:lnTo>
                    <a:pt x="161" y="58"/>
                  </a:lnTo>
                  <a:lnTo>
                    <a:pt x="180" y="58"/>
                  </a:lnTo>
                  <a:lnTo>
                    <a:pt x="180" y="63"/>
                  </a:lnTo>
                  <a:lnTo>
                    <a:pt x="185" y="68"/>
                  </a:lnTo>
                  <a:lnTo>
                    <a:pt x="185" y="128"/>
                  </a:lnTo>
                  <a:lnTo>
                    <a:pt x="180" y="128"/>
                  </a:lnTo>
                  <a:lnTo>
                    <a:pt x="180" y="133"/>
                  </a:lnTo>
                  <a:lnTo>
                    <a:pt x="209" y="133"/>
                  </a:lnTo>
                  <a:close/>
                  <a:moveTo>
                    <a:pt x="312" y="49"/>
                  </a:moveTo>
                  <a:lnTo>
                    <a:pt x="283" y="49"/>
                  </a:lnTo>
                  <a:lnTo>
                    <a:pt x="288" y="54"/>
                  </a:lnTo>
                  <a:lnTo>
                    <a:pt x="293" y="54"/>
                  </a:lnTo>
                  <a:lnTo>
                    <a:pt x="293" y="58"/>
                  </a:lnTo>
                  <a:lnTo>
                    <a:pt x="288" y="63"/>
                  </a:lnTo>
                  <a:lnTo>
                    <a:pt x="269" y="114"/>
                  </a:lnTo>
                  <a:lnTo>
                    <a:pt x="249" y="68"/>
                  </a:lnTo>
                  <a:lnTo>
                    <a:pt x="247" y="63"/>
                  </a:lnTo>
                  <a:lnTo>
                    <a:pt x="247" y="54"/>
                  </a:lnTo>
                  <a:lnTo>
                    <a:pt x="249" y="54"/>
                  </a:lnTo>
                  <a:lnTo>
                    <a:pt x="254" y="49"/>
                  </a:lnTo>
                  <a:lnTo>
                    <a:pt x="218" y="49"/>
                  </a:lnTo>
                  <a:lnTo>
                    <a:pt x="223" y="54"/>
                  </a:lnTo>
                  <a:lnTo>
                    <a:pt x="228" y="54"/>
                  </a:lnTo>
                  <a:lnTo>
                    <a:pt x="228" y="58"/>
                  </a:lnTo>
                  <a:lnTo>
                    <a:pt x="233" y="58"/>
                  </a:lnTo>
                  <a:lnTo>
                    <a:pt x="233" y="63"/>
                  </a:lnTo>
                  <a:lnTo>
                    <a:pt x="264" y="138"/>
                  </a:lnTo>
                  <a:lnTo>
                    <a:pt x="269" y="138"/>
                  </a:lnTo>
                  <a:lnTo>
                    <a:pt x="278" y="114"/>
                  </a:lnTo>
                  <a:lnTo>
                    <a:pt x="297" y="63"/>
                  </a:lnTo>
                  <a:lnTo>
                    <a:pt x="302" y="58"/>
                  </a:lnTo>
                  <a:lnTo>
                    <a:pt x="302" y="54"/>
                  </a:lnTo>
                  <a:lnTo>
                    <a:pt x="307" y="54"/>
                  </a:lnTo>
                  <a:lnTo>
                    <a:pt x="312" y="49"/>
                  </a:lnTo>
                  <a:close/>
                  <a:moveTo>
                    <a:pt x="350" y="7"/>
                  </a:moveTo>
                  <a:lnTo>
                    <a:pt x="331" y="7"/>
                  </a:lnTo>
                  <a:lnTo>
                    <a:pt x="331" y="14"/>
                  </a:lnTo>
                  <a:lnTo>
                    <a:pt x="333" y="14"/>
                  </a:lnTo>
                  <a:lnTo>
                    <a:pt x="333" y="16"/>
                  </a:lnTo>
                  <a:lnTo>
                    <a:pt x="341" y="16"/>
                  </a:lnTo>
                  <a:lnTo>
                    <a:pt x="341" y="19"/>
                  </a:lnTo>
                  <a:lnTo>
                    <a:pt x="341" y="21"/>
                  </a:lnTo>
                  <a:lnTo>
                    <a:pt x="343" y="21"/>
                  </a:lnTo>
                  <a:lnTo>
                    <a:pt x="343" y="19"/>
                  </a:lnTo>
                  <a:lnTo>
                    <a:pt x="345" y="19"/>
                  </a:lnTo>
                  <a:lnTo>
                    <a:pt x="345" y="16"/>
                  </a:lnTo>
                  <a:lnTo>
                    <a:pt x="350" y="16"/>
                  </a:lnTo>
                  <a:lnTo>
                    <a:pt x="350" y="14"/>
                  </a:lnTo>
                  <a:lnTo>
                    <a:pt x="350" y="7"/>
                  </a:lnTo>
                  <a:close/>
                  <a:moveTo>
                    <a:pt x="350" y="2"/>
                  </a:moveTo>
                  <a:lnTo>
                    <a:pt x="343" y="2"/>
                  </a:lnTo>
                  <a:lnTo>
                    <a:pt x="343" y="0"/>
                  </a:lnTo>
                  <a:lnTo>
                    <a:pt x="341" y="0"/>
                  </a:lnTo>
                  <a:lnTo>
                    <a:pt x="341" y="2"/>
                  </a:lnTo>
                  <a:lnTo>
                    <a:pt x="336" y="2"/>
                  </a:lnTo>
                  <a:lnTo>
                    <a:pt x="336" y="4"/>
                  </a:lnTo>
                  <a:lnTo>
                    <a:pt x="333" y="4"/>
                  </a:lnTo>
                  <a:lnTo>
                    <a:pt x="333" y="7"/>
                  </a:lnTo>
                  <a:lnTo>
                    <a:pt x="350" y="7"/>
                  </a:lnTo>
                  <a:lnTo>
                    <a:pt x="350" y="4"/>
                  </a:lnTo>
                  <a:lnTo>
                    <a:pt x="350" y="2"/>
                  </a:lnTo>
                  <a:close/>
                  <a:moveTo>
                    <a:pt x="357" y="132"/>
                  </a:moveTo>
                  <a:lnTo>
                    <a:pt x="355" y="132"/>
                  </a:lnTo>
                  <a:lnTo>
                    <a:pt x="355" y="129"/>
                  </a:lnTo>
                  <a:lnTo>
                    <a:pt x="350" y="129"/>
                  </a:lnTo>
                  <a:lnTo>
                    <a:pt x="350" y="127"/>
                  </a:lnTo>
                  <a:lnTo>
                    <a:pt x="350" y="69"/>
                  </a:lnTo>
                  <a:lnTo>
                    <a:pt x="350" y="67"/>
                  </a:lnTo>
                  <a:lnTo>
                    <a:pt x="350" y="60"/>
                  </a:lnTo>
                  <a:lnTo>
                    <a:pt x="350" y="57"/>
                  </a:lnTo>
                  <a:lnTo>
                    <a:pt x="350" y="55"/>
                  </a:lnTo>
                  <a:lnTo>
                    <a:pt x="350" y="52"/>
                  </a:lnTo>
                  <a:lnTo>
                    <a:pt x="350" y="50"/>
                  </a:lnTo>
                  <a:lnTo>
                    <a:pt x="350" y="48"/>
                  </a:lnTo>
                  <a:lnTo>
                    <a:pt x="350" y="45"/>
                  </a:lnTo>
                  <a:lnTo>
                    <a:pt x="345" y="45"/>
                  </a:lnTo>
                  <a:lnTo>
                    <a:pt x="345" y="48"/>
                  </a:lnTo>
                  <a:lnTo>
                    <a:pt x="336" y="48"/>
                  </a:lnTo>
                  <a:lnTo>
                    <a:pt x="336" y="50"/>
                  </a:lnTo>
                  <a:lnTo>
                    <a:pt x="329" y="50"/>
                  </a:lnTo>
                  <a:lnTo>
                    <a:pt x="329" y="52"/>
                  </a:lnTo>
                  <a:lnTo>
                    <a:pt x="321" y="52"/>
                  </a:lnTo>
                  <a:lnTo>
                    <a:pt x="321" y="55"/>
                  </a:lnTo>
                  <a:lnTo>
                    <a:pt x="317" y="55"/>
                  </a:lnTo>
                  <a:lnTo>
                    <a:pt x="317" y="57"/>
                  </a:lnTo>
                  <a:lnTo>
                    <a:pt x="319" y="57"/>
                  </a:lnTo>
                  <a:lnTo>
                    <a:pt x="319" y="60"/>
                  </a:lnTo>
                  <a:lnTo>
                    <a:pt x="331" y="60"/>
                  </a:lnTo>
                  <a:lnTo>
                    <a:pt x="331" y="67"/>
                  </a:lnTo>
                  <a:lnTo>
                    <a:pt x="333" y="67"/>
                  </a:lnTo>
                  <a:lnTo>
                    <a:pt x="333" y="69"/>
                  </a:lnTo>
                  <a:lnTo>
                    <a:pt x="336" y="69"/>
                  </a:lnTo>
                  <a:lnTo>
                    <a:pt x="336" y="127"/>
                  </a:lnTo>
                  <a:lnTo>
                    <a:pt x="333" y="127"/>
                  </a:lnTo>
                  <a:lnTo>
                    <a:pt x="333" y="129"/>
                  </a:lnTo>
                  <a:lnTo>
                    <a:pt x="331" y="129"/>
                  </a:lnTo>
                  <a:lnTo>
                    <a:pt x="331" y="132"/>
                  </a:lnTo>
                  <a:lnTo>
                    <a:pt x="329" y="132"/>
                  </a:lnTo>
                  <a:lnTo>
                    <a:pt x="329" y="134"/>
                  </a:lnTo>
                  <a:lnTo>
                    <a:pt x="357" y="134"/>
                  </a:lnTo>
                  <a:lnTo>
                    <a:pt x="357" y="132"/>
                  </a:lnTo>
                  <a:close/>
                  <a:moveTo>
                    <a:pt x="434" y="54"/>
                  </a:moveTo>
                  <a:lnTo>
                    <a:pt x="425" y="44"/>
                  </a:lnTo>
                  <a:lnTo>
                    <a:pt x="420" y="44"/>
                  </a:lnTo>
                  <a:lnTo>
                    <a:pt x="413" y="49"/>
                  </a:lnTo>
                  <a:lnTo>
                    <a:pt x="403" y="63"/>
                  </a:lnTo>
                  <a:lnTo>
                    <a:pt x="403" y="44"/>
                  </a:lnTo>
                  <a:lnTo>
                    <a:pt x="398" y="44"/>
                  </a:lnTo>
                  <a:lnTo>
                    <a:pt x="369" y="54"/>
                  </a:lnTo>
                  <a:lnTo>
                    <a:pt x="369" y="58"/>
                  </a:lnTo>
                  <a:lnTo>
                    <a:pt x="384" y="58"/>
                  </a:lnTo>
                  <a:lnTo>
                    <a:pt x="384" y="128"/>
                  </a:lnTo>
                  <a:lnTo>
                    <a:pt x="379" y="128"/>
                  </a:lnTo>
                  <a:lnTo>
                    <a:pt x="379" y="133"/>
                  </a:lnTo>
                  <a:lnTo>
                    <a:pt x="413" y="133"/>
                  </a:lnTo>
                  <a:lnTo>
                    <a:pt x="408" y="128"/>
                  </a:lnTo>
                  <a:lnTo>
                    <a:pt x="403" y="128"/>
                  </a:lnTo>
                  <a:lnTo>
                    <a:pt x="403" y="70"/>
                  </a:lnTo>
                  <a:lnTo>
                    <a:pt x="408" y="63"/>
                  </a:lnTo>
                  <a:lnTo>
                    <a:pt x="408" y="58"/>
                  </a:lnTo>
                  <a:lnTo>
                    <a:pt x="415" y="58"/>
                  </a:lnTo>
                  <a:lnTo>
                    <a:pt x="420" y="63"/>
                  </a:lnTo>
                  <a:lnTo>
                    <a:pt x="429" y="63"/>
                  </a:lnTo>
                  <a:lnTo>
                    <a:pt x="434" y="58"/>
                  </a:lnTo>
                  <a:lnTo>
                    <a:pt x="434" y="54"/>
                  </a:lnTo>
                  <a:close/>
                  <a:moveTo>
                    <a:pt x="525" y="72"/>
                  </a:moveTo>
                  <a:lnTo>
                    <a:pt x="523" y="72"/>
                  </a:lnTo>
                  <a:lnTo>
                    <a:pt x="523" y="69"/>
                  </a:lnTo>
                  <a:lnTo>
                    <a:pt x="521" y="69"/>
                  </a:lnTo>
                  <a:lnTo>
                    <a:pt x="521" y="67"/>
                  </a:lnTo>
                  <a:lnTo>
                    <a:pt x="521" y="64"/>
                  </a:lnTo>
                  <a:lnTo>
                    <a:pt x="518" y="64"/>
                  </a:lnTo>
                  <a:lnTo>
                    <a:pt x="518" y="62"/>
                  </a:lnTo>
                  <a:lnTo>
                    <a:pt x="516" y="62"/>
                  </a:lnTo>
                  <a:lnTo>
                    <a:pt x="516" y="60"/>
                  </a:lnTo>
                  <a:lnTo>
                    <a:pt x="513" y="60"/>
                  </a:lnTo>
                  <a:lnTo>
                    <a:pt x="513" y="57"/>
                  </a:lnTo>
                  <a:lnTo>
                    <a:pt x="509" y="57"/>
                  </a:lnTo>
                  <a:lnTo>
                    <a:pt x="509" y="55"/>
                  </a:lnTo>
                  <a:lnTo>
                    <a:pt x="506" y="55"/>
                  </a:lnTo>
                  <a:lnTo>
                    <a:pt x="506" y="52"/>
                  </a:lnTo>
                  <a:lnTo>
                    <a:pt x="501" y="52"/>
                  </a:lnTo>
                  <a:lnTo>
                    <a:pt x="501" y="50"/>
                  </a:lnTo>
                  <a:lnTo>
                    <a:pt x="494" y="50"/>
                  </a:lnTo>
                  <a:lnTo>
                    <a:pt x="494" y="48"/>
                  </a:lnTo>
                  <a:lnTo>
                    <a:pt x="482" y="48"/>
                  </a:lnTo>
                  <a:lnTo>
                    <a:pt x="482" y="45"/>
                  </a:lnTo>
                  <a:lnTo>
                    <a:pt x="473" y="45"/>
                  </a:lnTo>
                  <a:lnTo>
                    <a:pt x="473" y="48"/>
                  </a:lnTo>
                  <a:lnTo>
                    <a:pt x="468" y="48"/>
                  </a:lnTo>
                  <a:lnTo>
                    <a:pt x="468" y="50"/>
                  </a:lnTo>
                  <a:lnTo>
                    <a:pt x="463" y="50"/>
                  </a:lnTo>
                  <a:lnTo>
                    <a:pt x="463" y="52"/>
                  </a:lnTo>
                  <a:lnTo>
                    <a:pt x="461" y="52"/>
                  </a:lnTo>
                  <a:lnTo>
                    <a:pt x="461" y="55"/>
                  </a:lnTo>
                  <a:lnTo>
                    <a:pt x="458" y="55"/>
                  </a:lnTo>
                  <a:lnTo>
                    <a:pt x="458" y="57"/>
                  </a:lnTo>
                  <a:lnTo>
                    <a:pt x="456" y="57"/>
                  </a:lnTo>
                  <a:lnTo>
                    <a:pt x="456" y="60"/>
                  </a:lnTo>
                  <a:lnTo>
                    <a:pt x="453" y="60"/>
                  </a:lnTo>
                  <a:lnTo>
                    <a:pt x="453" y="62"/>
                  </a:lnTo>
                  <a:lnTo>
                    <a:pt x="451" y="62"/>
                  </a:lnTo>
                  <a:lnTo>
                    <a:pt x="451" y="64"/>
                  </a:lnTo>
                  <a:lnTo>
                    <a:pt x="449" y="64"/>
                  </a:lnTo>
                  <a:lnTo>
                    <a:pt x="449" y="67"/>
                  </a:lnTo>
                  <a:lnTo>
                    <a:pt x="446" y="67"/>
                  </a:lnTo>
                  <a:lnTo>
                    <a:pt x="446" y="69"/>
                  </a:lnTo>
                  <a:lnTo>
                    <a:pt x="444" y="69"/>
                  </a:lnTo>
                  <a:lnTo>
                    <a:pt x="444" y="72"/>
                  </a:lnTo>
                  <a:lnTo>
                    <a:pt x="444" y="74"/>
                  </a:lnTo>
                  <a:lnTo>
                    <a:pt x="441" y="74"/>
                  </a:lnTo>
                  <a:lnTo>
                    <a:pt x="441" y="76"/>
                  </a:lnTo>
                  <a:lnTo>
                    <a:pt x="441" y="79"/>
                  </a:lnTo>
                  <a:lnTo>
                    <a:pt x="439" y="79"/>
                  </a:lnTo>
                  <a:lnTo>
                    <a:pt x="439" y="81"/>
                  </a:lnTo>
                  <a:lnTo>
                    <a:pt x="439" y="84"/>
                  </a:lnTo>
                  <a:lnTo>
                    <a:pt x="439" y="86"/>
                  </a:lnTo>
                  <a:lnTo>
                    <a:pt x="439" y="88"/>
                  </a:lnTo>
                  <a:lnTo>
                    <a:pt x="439" y="91"/>
                  </a:lnTo>
                  <a:lnTo>
                    <a:pt x="439" y="93"/>
                  </a:lnTo>
                  <a:lnTo>
                    <a:pt x="439" y="96"/>
                  </a:lnTo>
                  <a:lnTo>
                    <a:pt x="441" y="96"/>
                  </a:lnTo>
                  <a:lnTo>
                    <a:pt x="441" y="98"/>
                  </a:lnTo>
                  <a:lnTo>
                    <a:pt x="441" y="100"/>
                  </a:lnTo>
                  <a:lnTo>
                    <a:pt x="441" y="103"/>
                  </a:lnTo>
                  <a:lnTo>
                    <a:pt x="441" y="105"/>
                  </a:lnTo>
                  <a:lnTo>
                    <a:pt x="444" y="105"/>
                  </a:lnTo>
                  <a:lnTo>
                    <a:pt x="444" y="108"/>
                  </a:lnTo>
                  <a:lnTo>
                    <a:pt x="461" y="108"/>
                  </a:lnTo>
                  <a:lnTo>
                    <a:pt x="461" y="105"/>
                  </a:lnTo>
                  <a:lnTo>
                    <a:pt x="461" y="103"/>
                  </a:lnTo>
                  <a:lnTo>
                    <a:pt x="458" y="103"/>
                  </a:lnTo>
                  <a:lnTo>
                    <a:pt x="458" y="100"/>
                  </a:lnTo>
                  <a:lnTo>
                    <a:pt x="458" y="98"/>
                  </a:lnTo>
                  <a:lnTo>
                    <a:pt x="458" y="96"/>
                  </a:lnTo>
                  <a:lnTo>
                    <a:pt x="458" y="93"/>
                  </a:lnTo>
                  <a:lnTo>
                    <a:pt x="458" y="91"/>
                  </a:lnTo>
                  <a:lnTo>
                    <a:pt x="458" y="88"/>
                  </a:lnTo>
                  <a:lnTo>
                    <a:pt x="458" y="86"/>
                  </a:lnTo>
                  <a:lnTo>
                    <a:pt x="458" y="84"/>
                  </a:lnTo>
                  <a:lnTo>
                    <a:pt x="458" y="81"/>
                  </a:lnTo>
                  <a:lnTo>
                    <a:pt x="458" y="79"/>
                  </a:lnTo>
                  <a:lnTo>
                    <a:pt x="458" y="76"/>
                  </a:lnTo>
                  <a:lnTo>
                    <a:pt x="458" y="74"/>
                  </a:lnTo>
                  <a:lnTo>
                    <a:pt x="458" y="72"/>
                  </a:lnTo>
                  <a:lnTo>
                    <a:pt x="461" y="72"/>
                  </a:lnTo>
                  <a:lnTo>
                    <a:pt x="461" y="69"/>
                  </a:lnTo>
                  <a:lnTo>
                    <a:pt x="461" y="67"/>
                  </a:lnTo>
                  <a:lnTo>
                    <a:pt x="463" y="67"/>
                  </a:lnTo>
                  <a:lnTo>
                    <a:pt x="463" y="64"/>
                  </a:lnTo>
                  <a:lnTo>
                    <a:pt x="463" y="62"/>
                  </a:lnTo>
                  <a:lnTo>
                    <a:pt x="463" y="60"/>
                  </a:lnTo>
                  <a:lnTo>
                    <a:pt x="465" y="60"/>
                  </a:lnTo>
                  <a:lnTo>
                    <a:pt x="465" y="57"/>
                  </a:lnTo>
                  <a:lnTo>
                    <a:pt x="468" y="57"/>
                  </a:lnTo>
                  <a:lnTo>
                    <a:pt x="468" y="55"/>
                  </a:lnTo>
                  <a:lnTo>
                    <a:pt x="492" y="55"/>
                  </a:lnTo>
                  <a:lnTo>
                    <a:pt x="492" y="57"/>
                  </a:lnTo>
                  <a:lnTo>
                    <a:pt x="494" y="57"/>
                  </a:lnTo>
                  <a:lnTo>
                    <a:pt x="494" y="60"/>
                  </a:lnTo>
                  <a:lnTo>
                    <a:pt x="497" y="60"/>
                  </a:lnTo>
                  <a:lnTo>
                    <a:pt x="497" y="62"/>
                  </a:lnTo>
                  <a:lnTo>
                    <a:pt x="499" y="62"/>
                  </a:lnTo>
                  <a:lnTo>
                    <a:pt x="499" y="64"/>
                  </a:lnTo>
                  <a:lnTo>
                    <a:pt x="499" y="67"/>
                  </a:lnTo>
                  <a:lnTo>
                    <a:pt x="501" y="67"/>
                  </a:lnTo>
                  <a:lnTo>
                    <a:pt x="501" y="69"/>
                  </a:lnTo>
                  <a:lnTo>
                    <a:pt x="501" y="72"/>
                  </a:lnTo>
                  <a:lnTo>
                    <a:pt x="504" y="72"/>
                  </a:lnTo>
                  <a:lnTo>
                    <a:pt x="504" y="74"/>
                  </a:lnTo>
                  <a:lnTo>
                    <a:pt x="504" y="76"/>
                  </a:lnTo>
                  <a:lnTo>
                    <a:pt x="506" y="76"/>
                  </a:lnTo>
                  <a:lnTo>
                    <a:pt x="506" y="79"/>
                  </a:lnTo>
                  <a:lnTo>
                    <a:pt x="506" y="81"/>
                  </a:lnTo>
                  <a:lnTo>
                    <a:pt x="506" y="84"/>
                  </a:lnTo>
                  <a:lnTo>
                    <a:pt x="506" y="86"/>
                  </a:lnTo>
                  <a:lnTo>
                    <a:pt x="506" y="88"/>
                  </a:lnTo>
                  <a:lnTo>
                    <a:pt x="506" y="91"/>
                  </a:lnTo>
                  <a:lnTo>
                    <a:pt x="506" y="93"/>
                  </a:lnTo>
                  <a:lnTo>
                    <a:pt x="506" y="96"/>
                  </a:lnTo>
                  <a:lnTo>
                    <a:pt x="506" y="98"/>
                  </a:lnTo>
                  <a:lnTo>
                    <a:pt x="506" y="100"/>
                  </a:lnTo>
                  <a:lnTo>
                    <a:pt x="506" y="103"/>
                  </a:lnTo>
                  <a:lnTo>
                    <a:pt x="506" y="105"/>
                  </a:lnTo>
                  <a:lnTo>
                    <a:pt x="506" y="108"/>
                  </a:lnTo>
                  <a:lnTo>
                    <a:pt x="523" y="108"/>
                  </a:lnTo>
                  <a:lnTo>
                    <a:pt x="523" y="105"/>
                  </a:lnTo>
                  <a:lnTo>
                    <a:pt x="525" y="105"/>
                  </a:lnTo>
                  <a:lnTo>
                    <a:pt x="525" y="103"/>
                  </a:lnTo>
                  <a:lnTo>
                    <a:pt x="525" y="100"/>
                  </a:lnTo>
                  <a:lnTo>
                    <a:pt x="525" y="98"/>
                  </a:lnTo>
                  <a:lnTo>
                    <a:pt x="525" y="96"/>
                  </a:lnTo>
                  <a:lnTo>
                    <a:pt x="525" y="93"/>
                  </a:lnTo>
                  <a:lnTo>
                    <a:pt x="525" y="91"/>
                  </a:lnTo>
                  <a:lnTo>
                    <a:pt x="525" y="88"/>
                  </a:lnTo>
                  <a:lnTo>
                    <a:pt x="525" y="86"/>
                  </a:lnTo>
                  <a:lnTo>
                    <a:pt x="525" y="84"/>
                  </a:lnTo>
                  <a:lnTo>
                    <a:pt x="525" y="81"/>
                  </a:lnTo>
                  <a:lnTo>
                    <a:pt x="525" y="79"/>
                  </a:lnTo>
                  <a:lnTo>
                    <a:pt x="525" y="76"/>
                  </a:lnTo>
                  <a:lnTo>
                    <a:pt x="525" y="74"/>
                  </a:lnTo>
                  <a:lnTo>
                    <a:pt x="525"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 name="AutoShape 13">
              <a:extLst>
                <a:ext uri="{FF2B5EF4-FFF2-40B4-BE49-F238E27FC236}">
                  <a16:creationId xmlns:a16="http://schemas.microsoft.com/office/drawing/2014/main" xmlns="" id="{7E11750C-BA62-3118-5D9E-C341F2BC9610}"/>
                </a:ext>
              </a:extLst>
            </p:cNvPr>
            <p:cNvSpPr>
              <a:spLocks/>
            </p:cNvSpPr>
            <p:nvPr/>
          </p:nvSpPr>
          <p:spPr bwMode="auto">
            <a:xfrm>
              <a:off x="5976" y="374"/>
              <a:ext cx="423" cy="95"/>
            </a:xfrm>
            <a:custGeom>
              <a:avLst/>
              <a:gdLst>
                <a:gd name="T0" fmla="+- 0 6039 5977"/>
                <a:gd name="T1" fmla="*/ T0 w 423"/>
                <a:gd name="T2" fmla="+- 0 443 375"/>
                <a:gd name="T3" fmla="*/ 443 h 95"/>
                <a:gd name="T4" fmla="+- 0 6037 5977"/>
                <a:gd name="T5" fmla="*/ T4 w 423"/>
                <a:gd name="T6" fmla="+- 0 453 375"/>
                <a:gd name="T7" fmla="*/ 453 h 95"/>
                <a:gd name="T8" fmla="+- 0 6032 5977"/>
                <a:gd name="T9" fmla="*/ T8 w 423"/>
                <a:gd name="T10" fmla="+- 0 460 375"/>
                <a:gd name="T11" fmla="*/ 460 h 95"/>
                <a:gd name="T12" fmla="+- 0 6015 5977"/>
                <a:gd name="T13" fmla="*/ T12 w 423"/>
                <a:gd name="T14" fmla="+- 0 465 375"/>
                <a:gd name="T15" fmla="*/ 465 h 95"/>
                <a:gd name="T16" fmla="+- 0 6003 5977"/>
                <a:gd name="T17" fmla="*/ T16 w 423"/>
                <a:gd name="T18" fmla="+- 0 458 375"/>
                <a:gd name="T19" fmla="*/ 458 h 95"/>
                <a:gd name="T20" fmla="+- 0 6001 5977"/>
                <a:gd name="T21" fmla="*/ T20 w 423"/>
                <a:gd name="T22" fmla="+- 0 448 375"/>
                <a:gd name="T23" fmla="*/ 448 h 95"/>
                <a:gd name="T24" fmla="+- 0 5996 5977"/>
                <a:gd name="T25" fmla="*/ T24 w 423"/>
                <a:gd name="T26" fmla="+- 0 441 375"/>
                <a:gd name="T27" fmla="*/ 441 h 95"/>
                <a:gd name="T28" fmla="+- 0 5977 5977"/>
                <a:gd name="T29" fmla="*/ T28 w 423"/>
                <a:gd name="T30" fmla="+- 0 446 375"/>
                <a:gd name="T31" fmla="*/ 446 h 95"/>
                <a:gd name="T32" fmla="+- 0 5982 5977"/>
                <a:gd name="T33" fmla="*/ T32 w 423"/>
                <a:gd name="T34" fmla="+- 0 453 375"/>
                <a:gd name="T35" fmla="*/ 453 h 95"/>
                <a:gd name="T36" fmla="+- 0 5989 5977"/>
                <a:gd name="T37" fmla="*/ T36 w 423"/>
                <a:gd name="T38" fmla="+- 0 460 375"/>
                <a:gd name="T39" fmla="*/ 460 h 95"/>
                <a:gd name="T40" fmla="+- 0 5996 5977"/>
                <a:gd name="T41" fmla="*/ T40 w 423"/>
                <a:gd name="T42" fmla="+- 0 467 375"/>
                <a:gd name="T43" fmla="*/ 467 h 95"/>
                <a:gd name="T44" fmla="+- 0 6039 5977"/>
                <a:gd name="T45" fmla="*/ T44 w 423"/>
                <a:gd name="T46" fmla="+- 0 467 375"/>
                <a:gd name="T47" fmla="*/ 467 h 95"/>
                <a:gd name="T48" fmla="+- 0 6044 5977"/>
                <a:gd name="T49" fmla="*/ T48 w 423"/>
                <a:gd name="T50" fmla="+- 0 460 375"/>
                <a:gd name="T51" fmla="*/ 460 h 95"/>
                <a:gd name="T52" fmla="+- 0 6049 5977"/>
                <a:gd name="T53" fmla="*/ T52 w 423"/>
                <a:gd name="T54" fmla="+- 0 453 375"/>
                <a:gd name="T55" fmla="*/ 453 h 95"/>
                <a:gd name="T56" fmla="+- 0 6054 5977"/>
                <a:gd name="T57" fmla="*/ T56 w 423"/>
                <a:gd name="T58" fmla="+- 0 446 375"/>
                <a:gd name="T59" fmla="*/ 446 h 95"/>
                <a:gd name="T60" fmla="+- 0 6056 5977"/>
                <a:gd name="T61" fmla="*/ T60 w 423"/>
                <a:gd name="T62" fmla="+- 0 436 375"/>
                <a:gd name="T63" fmla="*/ 436 h 95"/>
                <a:gd name="T64" fmla="+- 0 6128 5977"/>
                <a:gd name="T65" fmla="*/ T64 w 423"/>
                <a:gd name="T66" fmla="+- 0 375 375"/>
                <a:gd name="T67" fmla="*/ 375 h 95"/>
                <a:gd name="T68" fmla="+- 0 6068 5977"/>
                <a:gd name="T69" fmla="*/ T68 w 423"/>
                <a:gd name="T70" fmla="+- 0 385 375"/>
                <a:gd name="T71" fmla="*/ 385 h 95"/>
                <a:gd name="T72" fmla="+- 0 6073 5977"/>
                <a:gd name="T73" fmla="*/ T72 w 423"/>
                <a:gd name="T74" fmla="+- 0 464 375"/>
                <a:gd name="T75" fmla="*/ 464 h 95"/>
                <a:gd name="T76" fmla="+- 0 6104 5977"/>
                <a:gd name="T77" fmla="*/ T76 w 423"/>
                <a:gd name="T78" fmla="+- 0 394 375"/>
                <a:gd name="T79" fmla="*/ 394 h 95"/>
                <a:gd name="T80" fmla="+- 0 6128 5977"/>
                <a:gd name="T81" fmla="*/ T80 w 423"/>
                <a:gd name="T82" fmla="+- 0 459 375"/>
                <a:gd name="T83" fmla="*/ 459 h 95"/>
                <a:gd name="T84" fmla="+- 0 6303 5977"/>
                <a:gd name="T85" fmla="*/ T84 w 423"/>
                <a:gd name="T86" fmla="+- 0 459 375"/>
                <a:gd name="T87" fmla="*/ 459 h 95"/>
                <a:gd name="T88" fmla="+- 0 6286 5977"/>
                <a:gd name="T89" fmla="*/ T88 w 423"/>
                <a:gd name="T90" fmla="+- 0 375 375"/>
                <a:gd name="T91" fmla="*/ 375 h 95"/>
                <a:gd name="T92" fmla="+- 0 6248 5977"/>
                <a:gd name="T93" fmla="*/ T92 w 423"/>
                <a:gd name="T94" fmla="+- 0 389 375"/>
                <a:gd name="T95" fmla="*/ 389 h 95"/>
                <a:gd name="T96" fmla="+- 0 6219 5977"/>
                <a:gd name="T97" fmla="*/ T96 w 423"/>
                <a:gd name="T98" fmla="+- 0 380 375"/>
                <a:gd name="T99" fmla="*/ 380 h 95"/>
                <a:gd name="T100" fmla="+- 0 6190 5977"/>
                <a:gd name="T101" fmla="*/ T100 w 423"/>
                <a:gd name="T102" fmla="+- 0 375 375"/>
                <a:gd name="T103" fmla="*/ 375 h 95"/>
                <a:gd name="T104" fmla="+- 0 6181 5977"/>
                <a:gd name="T105" fmla="*/ T104 w 423"/>
                <a:gd name="T106" fmla="+- 0 394 375"/>
                <a:gd name="T107" fmla="*/ 394 h 95"/>
                <a:gd name="T108" fmla="+- 0 6200 5977"/>
                <a:gd name="T109" fmla="*/ T108 w 423"/>
                <a:gd name="T110" fmla="+- 0 459 375"/>
                <a:gd name="T111" fmla="*/ 459 h 95"/>
                <a:gd name="T112" fmla="+- 0 6224 5977"/>
                <a:gd name="T113" fmla="*/ T112 w 423"/>
                <a:gd name="T114" fmla="+- 0 389 375"/>
                <a:gd name="T115" fmla="*/ 389 h 95"/>
                <a:gd name="T116" fmla="+- 0 6258 5977"/>
                <a:gd name="T117" fmla="*/ T116 w 423"/>
                <a:gd name="T118" fmla="+- 0 464 375"/>
                <a:gd name="T119" fmla="*/ 464 h 95"/>
                <a:gd name="T120" fmla="+- 0 6253 5977"/>
                <a:gd name="T121" fmla="*/ T120 w 423"/>
                <a:gd name="T122" fmla="+- 0 399 375"/>
                <a:gd name="T123" fmla="*/ 399 h 95"/>
                <a:gd name="T124" fmla="+- 0 6286 5977"/>
                <a:gd name="T125" fmla="*/ T124 w 423"/>
                <a:gd name="T126" fmla="+- 0 459 375"/>
                <a:gd name="T127" fmla="*/ 459 h 95"/>
                <a:gd name="T128" fmla="+- 0 6339 5977"/>
                <a:gd name="T129" fmla="*/ T128 w 423"/>
                <a:gd name="T130" fmla="+- 0 419 375"/>
                <a:gd name="T131" fmla="*/ 419 h 95"/>
                <a:gd name="T132" fmla="+- 0 6325 5977"/>
                <a:gd name="T133" fmla="*/ T132 w 423"/>
                <a:gd name="T134" fmla="+- 0 417 375"/>
                <a:gd name="T135" fmla="*/ 417 h 95"/>
                <a:gd name="T136" fmla="+- 0 6342 5977"/>
                <a:gd name="T137" fmla="*/ T136 w 423"/>
                <a:gd name="T138" fmla="+- 0 427 375"/>
                <a:gd name="T139" fmla="*/ 427 h 95"/>
                <a:gd name="T140" fmla="+- 0 6342 5977"/>
                <a:gd name="T141" fmla="*/ T140 w 423"/>
                <a:gd name="T142" fmla="+- 0 431 375"/>
                <a:gd name="T143" fmla="*/ 431 h 95"/>
                <a:gd name="T144" fmla="+- 0 6351 5977"/>
                <a:gd name="T145" fmla="*/ T144 w 423"/>
                <a:gd name="T146" fmla="+- 0 448 375"/>
                <a:gd name="T147" fmla="*/ 448 h 95"/>
                <a:gd name="T148" fmla="+- 0 6346 5977"/>
                <a:gd name="T149" fmla="*/ T148 w 423"/>
                <a:gd name="T150" fmla="+- 0 441 375"/>
                <a:gd name="T151" fmla="*/ 441 h 95"/>
                <a:gd name="T152" fmla="+- 0 6344 5977"/>
                <a:gd name="T153" fmla="*/ T152 w 423"/>
                <a:gd name="T154" fmla="+- 0 431 375"/>
                <a:gd name="T155" fmla="*/ 431 h 95"/>
                <a:gd name="T156" fmla="+- 0 6327 5977"/>
                <a:gd name="T157" fmla="*/ T156 w 423"/>
                <a:gd name="T158" fmla="+- 0 441 375"/>
                <a:gd name="T159" fmla="*/ 441 h 95"/>
                <a:gd name="T160" fmla="+- 0 6332 5977"/>
                <a:gd name="T161" fmla="*/ T160 w 423"/>
                <a:gd name="T162" fmla="+- 0 448 375"/>
                <a:gd name="T163" fmla="*/ 448 h 95"/>
                <a:gd name="T164" fmla="+- 0 6356 5977"/>
                <a:gd name="T165" fmla="*/ T164 w 423"/>
                <a:gd name="T166" fmla="+- 0 451 375"/>
                <a:gd name="T167" fmla="*/ 451 h 95"/>
                <a:gd name="T168" fmla="+- 0 6394 5977"/>
                <a:gd name="T169" fmla="*/ T168 w 423"/>
                <a:gd name="T170" fmla="+- 0 436 375"/>
                <a:gd name="T171" fmla="*/ 436 h 95"/>
                <a:gd name="T172" fmla="+- 0 6390 5977"/>
                <a:gd name="T173" fmla="*/ T172 w 423"/>
                <a:gd name="T174" fmla="+- 0 443 375"/>
                <a:gd name="T175" fmla="*/ 443 h 95"/>
                <a:gd name="T176" fmla="+- 0 6380 5977"/>
                <a:gd name="T177" fmla="*/ T176 w 423"/>
                <a:gd name="T178" fmla="+- 0 451 375"/>
                <a:gd name="T179" fmla="*/ 451 h 95"/>
                <a:gd name="T180" fmla="+- 0 6394 5977"/>
                <a:gd name="T181" fmla="*/ T180 w 423"/>
                <a:gd name="T182" fmla="+- 0 448 375"/>
                <a:gd name="T183" fmla="*/ 448 h 95"/>
                <a:gd name="T184" fmla="+- 0 6399 5977"/>
                <a:gd name="T185" fmla="*/ T184 w 423"/>
                <a:gd name="T186" fmla="+- 0 441 375"/>
                <a:gd name="T187" fmla="*/ 441 h 95"/>
                <a:gd name="T188" fmla="+- 0 6399 5977"/>
                <a:gd name="T189" fmla="*/ T188 w 423"/>
                <a:gd name="T190" fmla="+- 0 405 375"/>
                <a:gd name="T191" fmla="*/ 405 h 95"/>
                <a:gd name="T192" fmla="+- 0 6397 5977"/>
                <a:gd name="T193" fmla="*/ T192 w 423"/>
                <a:gd name="T194" fmla="+- 0 398 375"/>
                <a:gd name="T195" fmla="*/ 398 h 95"/>
                <a:gd name="T196" fmla="+- 0 6392 5977"/>
                <a:gd name="T197" fmla="*/ T196 w 423"/>
                <a:gd name="T198" fmla="+- 0 391 375"/>
                <a:gd name="T199" fmla="*/ 391 h 95"/>
                <a:gd name="T200" fmla="+- 0 6385 5977"/>
                <a:gd name="T201" fmla="*/ T200 w 423"/>
                <a:gd name="T202" fmla="+- 0 383 375"/>
                <a:gd name="T203" fmla="*/ 383 h 95"/>
                <a:gd name="T204" fmla="+- 0 6380 5977"/>
                <a:gd name="T205" fmla="*/ T204 w 423"/>
                <a:gd name="T206" fmla="+- 0 407 375"/>
                <a:gd name="T207" fmla="*/ 407 h 95"/>
                <a:gd name="T208" fmla="+- 0 6339 5977"/>
                <a:gd name="T209" fmla="*/ T208 w 423"/>
                <a:gd name="T210" fmla="+- 0 400 375"/>
                <a:gd name="T211" fmla="*/ 400 h 95"/>
                <a:gd name="T212" fmla="+- 0 6344 5977"/>
                <a:gd name="T213" fmla="*/ T212 w 423"/>
                <a:gd name="T214" fmla="+- 0 393 375"/>
                <a:gd name="T215" fmla="*/ 393 h 95"/>
                <a:gd name="T216" fmla="+- 0 6351 5977"/>
                <a:gd name="T217" fmla="*/ T216 w 423"/>
                <a:gd name="T218" fmla="+- 0 388 375"/>
                <a:gd name="T219" fmla="*/ 388 h 95"/>
                <a:gd name="T220" fmla="+- 0 6373 5977"/>
                <a:gd name="T221" fmla="*/ T220 w 423"/>
                <a:gd name="T222" fmla="+- 0 391 375"/>
                <a:gd name="T223" fmla="*/ 391 h 95"/>
                <a:gd name="T224" fmla="+- 0 6378 5977"/>
                <a:gd name="T225" fmla="*/ T224 w 423"/>
                <a:gd name="T226" fmla="+- 0 398 375"/>
                <a:gd name="T227" fmla="*/ 398 h 95"/>
                <a:gd name="T228" fmla="+- 0 6375 5977"/>
                <a:gd name="T229" fmla="*/ T228 w 423"/>
                <a:gd name="T230" fmla="+- 0 381 375"/>
                <a:gd name="T231" fmla="*/ 381 h 95"/>
                <a:gd name="T232" fmla="+- 0 6351 5977"/>
                <a:gd name="T233" fmla="*/ T232 w 423"/>
                <a:gd name="T234" fmla="+- 0 383 375"/>
                <a:gd name="T235" fmla="*/ 383 h 95"/>
                <a:gd name="T236" fmla="+- 0 6339 5977"/>
                <a:gd name="T237" fmla="*/ T236 w 423"/>
                <a:gd name="T238" fmla="+- 0 388 375"/>
                <a:gd name="T239" fmla="*/ 388 h 95"/>
                <a:gd name="T240" fmla="+- 0 6334 5977"/>
                <a:gd name="T241" fmla="*/ T240 w 423"/>
                <a:gd name="T242" fmla="+- 0 395 375"/>
                <a:gd name="T243" fmla="*/ 395 h 95"/>
                <a:gd name="T244" fmla="+- 0 6330 5977"/>
                <a:gd name="T245" fmla="*/ T244 w 423"/>
                <a:gd name="T246" fmla="+- 0 403 375"/>
                <a:gd name="T247" fmla="*/ 403 h 95"/>
                <a:gd name="T248" fmla="+- 0 6325 5977"/>
                <a:gd name="T249" fmla="*/ T248 w 423"/>
                <a:gd name="T250" fmla="+- 0 410 375"/>
                <a:gd name="T251" fmla="*/ 410 h 9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 ang="0">
                  <a:pos x="T249" y="T251"/>
                </a:cxn>
              </a:cxnLst>
              <a:rect l="0" t="0" r="r" b="b"/>
              <a:pathLst>
                <a:path w="423" h="95">
                  <a:moveTo>
                    <a:pt x="79" y="61"/>
                  </a:moveTo>
                  <a:lnTo>
                    <a:pt x="62" y="61"/>
                  </a:lnTo>
                  <a:lnTo>
                    <a:pt x="62" y="64"/>
                  </a:lnTo>
                  <a:lnTo>
                    <a:pt x="62" y="66"/>
                  </a:lnTo>
                  <a:lnTo>
                    <a:pt x="62" y="68"/>
                  </a:lnTo>
                  <a:lnTo>
                    <a:pt x="62" y="71"/>
                  </a:lnTo>
                  <a:lnTo>
                    <a:pt x="62" y="73"/>
                  </a:lnTo>
                  <a:lnTo>
                    <a:pt x="62" y="76"/>
                  </a:lnTo>
                  <a:lnTo>
                    <a:pt x="60" y="76"/>
                  </a:lnTo>
                  <a:lnTo>
                    <a:pt x="60" y="78"/>
                  </a:lnTo>
                  <a:lnTo>
                    <a:pt x="60" y="80"/>
                  </a:lnTo>
                  <a:lnTo>
                    <a:pt x="57" y="80"/>
                  </a:lnTo>
                  <a:lnTo>
                    <a:pt x="57" y="83"/>
                  </a:lnTo>
                  <a:lnTo>
                    <a:pt x="55" y="83"/>
                  </a:lnTo>
                  <a:lnTo>
                    <a:pt x="55" y="85"/>
                  </a:lnTo>
                  <a:lnTo>
                    <a:pt x="53" y="85"/>
                  </a:lnTo>
                  <a:lnTo>
                    <a:pt x="53" y="88"/>
                  </a:lnTo>
                  <a:lnTo>
                    <a:pt x="48" y="88"/>
                  </a:lnTo>
                  <a:lnTo>
                    <a:pt x="48" y="90"/>
                  </a:lnTo>
                  <a:lnTo>
                    <a:pt x="38" y="90"/>
                  </a:lnTo>
                  <a:lnTo>
                    <a:pt x="38" y="88"/>
                  </a:lnTo>
                  <a:lnTo>
                    <a:pt x="29" y="88"/>
                  </a:lnTo>
                  <a:lnTo>
                    <a:pt x="29" y="85"/>
                  </a:lnTo>
                  <a:lnTo>
                    <a:pt x="29" y="83"/>
                  </a:lnTo>
                  <a:lnTo>
                    <a:pt x="26" y="83"/>
                  </a:lnTo>
                  <a:lnTo>
                    <a:pt x="26" y="80"/>
                  </a:lnTo>
                  <a:lnTo>
                    <a:pt x="26" y="78"/>
                  </a:lnTo>
                  <a:lnTo>
                    <a:pt x="24" y="78"/>
                  </a:lnTo>
                  <a:lnTo>
                    <a:pt x="24" y="76"/>
                  </a:lnTo>
                  <a:lnTo>
                    <a:pt x="24" y="73"/>
                  </a:lnTo>
                  <a:lnTo>
                    <a:pt x="21" y="73"/>
                  </a:lnTo>
                  <a:lnTo>
                    <a:pt x="21" y="71"/>
                  </a:lnTo>
                  <a:lnTo>
                    <a:pt x="21" y="68"/>
                  </a:lnTo>
                  <a:lnTo>
                    <a:pt x="19" y="68"/>
                  </a:lnTo>
                  <a:lnTo>
                    <a:pt x="19" y="66"/>
                  </a:lnTo>
                  <a:lnTo>
                    <a:pt x="19" y="64"/>
                  </a:lnTo>
                  <a:lnTo>
                    <a:pt x="0" y="64"/>
                  </a:lnTo>
                  <a:lnTo>
                    <a:pt x="0" y="66"/>
                  </a:lnTo>
                  <a:lnTo>
                    <a:pt x="0" y="68"/>
                  </a:lnTo>
                  <a:lnTo>
                    <a:pt x="0" y="71"/>
                  </a:lnTo>
                  <a:lnTo>
                    <a:pt x="2" y="71"/>
                  </a:lnTo>
                  <a:lnTo>
                    <a:pt x="2" y="73"/>
                  </a:lnTo>
                  <a:lnTo>
                    <a:pt x="2" y="76"/>
                  </a:lnTo>
                  <a:lnTo>
                    <a:pt x="2" y="78"/>
                  </a:lnTo>
                  <a:lnTo>
                    <a:pt x="5" y="78"/>
                  </a:lnTo>
                  <a:lnTo>
                    <a:pt x="5" y="80"/>
                  </a:lnTo>
                  <a:lnTo>
                    <a:pt x="5" y="83"/>
                  </a:lnTo>
                  <a:lnTo>
                    <a:pt x="9" y="83"/>
                  </a:lnTo>
                  <a:lnTo>
                    <a:pt x="9" y="85"/>
                  </a:lnTo>
                  <a:lnTo>
                    <a:pt x="12" y="85"/>
                  </a:lnTo>
                  <a:lnTo>
                    <a:pt x="12" y="88"/>
                  </a:lnTo>
                  <a:lnTo>
                    <a:pt x="17" y="88"/>
                  </a:lnTo>
                  <a:lnTo>
                    <a:pt x="17" y="90"/>
                  </a:lnTo>
                  <a:lnTo>
                    <a:pt x="19" y="90"/>
                  </a:lnTo>
                  <a:lnTo>
                    <a:pt x="19" y="92"/>
                  </a:lnTo>
                  <a:lnTo>
                    <a:pt x="31" y="92"/>
                  </a:lnTo>
                  <a:lnTo>
                    <a:pt x="31" y="95"/>
                  </a:lnTo>
                  <a:lnTo>
                    <a:pt x="53" y="95"/>
                  </a:lnTo>
                  <a:lnTo>
                    <a:pt x="53" y="92"/>
                  </a:lnTo>
                  <a:lnTo>
                    <a:pt x="62" y="92"/>
                  </a:lnTo>
                  <a:lnTo>
                    <a:pt x="62" y="90"/>
                  </a:lnTo>
                  <a:lnTo>
                    <a:pt x="65" y="90"/>
                  </a:lnTo>
                  <a:lnTo>
                    <a:pt x="65" y="88"/>
                  </a:lnTo>
                  <a:lnTo>
                    <a:pt x="65" y="85"/>
                  </a:lnTo>
                  <a:lnTo>
                    <a:pt x="67" y="85"/>
                  </a:lnTo>
                  <a:lnTo>
                    <a:pt x="67" y="83"/>
                  </a:lnTo>
                  <a:lnTo>
                    <a:pt x="67" y="80"/>
                  </a:lnTo>
                  <a:lnTo>
                    <a:pt x="69" y="80"/>
                  </a:lnTo>
                  <a:lnTo>
                    <a:pt x="69" y="78"/>
                  </a:lnTo>
                  <a:lnTo>
                    <a:pt x="72" y="78"/>
                  </a:lnTo>
                  <a:lnTo>
                    <a:pt x="72" y="76"/>
                  </a:lnTo>
                  <a:lnTo>
                    <a:pt x="74" y="76"/>
                  </a:lnTo>
                  <a:lnTo>
                    <a:pt x="74" y="73"/>
                  </a:lnTo>
                  <a:lnTo>
                    <a:pt x="77" y="73"/>
                  </a:lnTo>
                  <a:lnTo>
                    <a:pt x="77" y="71"/>
                  </a:lnTo>
                  <a:lnTo>
                    <a:pt x="77" y="68"/>
                  </a:lnTo>
                  <a:lnTo>
                    <a:pt x="79" y="68"/>
                  </a:lnTo>
                  <a:lnTo>
                    <a:pt x="79" y="66"/>
                  </a:lnTo>
                  <a:lnTo>
                    <a:pt x="79" y="64"/>
                  </a:lnTo>
                  <a:lnTo>
                    <a:pt x="79" y="61"/>
                  </a:lnTo>
                  <a:close/>
                  <a:moveTo>
                    <a:pt x="180" y="89"/>
                  </a:moveTo>
                  <a:lnTo>
                    <a:pt x="170" y="79"/>
                  </a:lnTo>
                  <a:lnTo>
                    <a:pt x="170" y="14"/>
                  </a:lnTo>
                  <a:lnTo>
                    <a:pt x="156" y="0"/>
                  </a:lnTo>
                  <a:lnTo>
                    <a:pt x="151" y="0"/>
                  </a:lnTo>
                  <a:lnTo>
                    <a:pt x="134" y="5"/>
                  </a:lnTo>
                  <a:lnTo>
                    <a:pt x="120" y="19"/>
                  </a:lnTo>
                  <a:lnTo>
                    <a:pt x="120" y="0"/>
                  </a:lnTo>
                  <a:lnTo>
                    <a:pt x="115" y="0"/>
                  </a:lnTo>
                  <a:lnTo>
                    <a:pt x="91" y="10"/>
                  </a:lnTo>
                  <a:lnTo>
                    <a:pt x="91" y="14"/>
                  </a:lnTo>
                  <a:lnTo>
                    <a:pt x="101" y="14"/>
                  </a:lnTo>
                  <a:lnTo>
                    <a:pt x="105" y="19"/>
                  </a:lnTo>
                  <a:lnTo>
                    <a:pt x="105" y="79"/>
                  </a:lnTo>
                  <a:lnTo>
                    <a:pt x="96" y="89"/>
                  </a:lnTo>
                  <a:lnTo>
                    <a:pt x="129" y="89"/>
                  </a:lnTo>
                  <a:lnTo>
                    <a:pt x="125" y="84"/>
                  </a:lnTo>
                  <a:lnTo>
                    <a:pt x="120" y="84"/>
                  </a:lnTo>
                  <a:lnTo>
                    <a:pt x="120" y="24"/>
                  </a:lnTo>
                  <a:lnTo>
                    <a:pt x="127" y="19"/>
                  </a:lnTo>
                  <a:lnTo>
                    <a:pt x="134" y="14"/>
                  </a:lnTo>
                  <a:lnTo>
                    <a:pt x="146" y="14"/>
                  </a:lnTo>
                  <a:lnTo>
                    <a:pt x="156" y="24"/>
                  </a:lnTo>
                  <a:lnTo>
                    <a:pt x="156" y="84"/>
                  </a:lnTo>
                  <a:lnTo>
                    <a:pt x="151" y="84"/>
                  </a:lnTo>
                  <a:lnTo>
                    <a:pt x="146" y="89"/>
                  </a:lnTo>
                  <a:lnTo>
                    <a:pt x="180" y="89"/>
                  </a:lnTo>
                  <a:close/>
                  <a:moveTo>
                    <a:pt x="336" y="89"/>
                  </a:moveTo>
                  <a:lnTo>
                    <a:pt x="331" y="84"/>
                  </a:lnTo>
                  <a:lnTo>
                    <a:pt x="326" y="84"/>
                  </a:lnTo>
                  <a:lnTo>
                    <a:pt x="326" y="24"/>
                  </a:lnTo>
                  <a:lnTo>
                    <a:pt x="321" y="14"/>
                  </a:lnTo>
                  <a:lnTo>
                    <a:pt x="321" y="10"/>
                  </a:lnTo>
                  <a:lnTo>
                    <a:pt x="317" y="5"/>
                  </a:lnTo>
                  <a:lnTo>
                    <a:pt x="309" y="0"/>
                  </a:lnTo>
                  <a:lnTo>
                    <a:pt x="295" y="0"/>
                  </a:lnTo>
                  <a:lnTo>
                    <a:pt x="290" y="5"/>
                  </a:lnTo>
                  <a:lnTo>
                    <a:pt x="281" y="10"/>
                  </a:lnTo>
                  <a:lnTo>
                    <a:pt x="271" y="19"/>
                  </a:lnTo>
                  <a:lnTo>
                    <a:pt x="271" y="14"/>
                  </a:lnTo>
                  <a:lnTo>
                    <a:pt x="271" y="10"/>
                  </a:lnTo>
                  <a:lnTo>
                    <a:pt x="266" y="5"/>
                  </a:lnTo>
                  <a:lnTo>
                    <a:pt x="257" y="0"/>
                  </a:lnTo>
                  <a:lnTo>
                    <a:pt x="247" y="0"/>
                  </a:lnTo>
                  <a:lnTo>
                    <a:pt x="242" y="5"/>
                  </a:lnTo>
                  <a:lnTo>
                    <a:pt x="237" y="5"/>
                  </a:lnTo>
                  <a:lnTo>
                    <a:pt x="228" y="14"/>
                  </a:lnTo>
                  <a:lnTo>
                    <a:pt x="218" y="19"/>
                  </a:lnTo>
                  <a:lnTo>
                    <a:pt x="218" y="0"/>
                  </a:lnTo>
                  <a:lnTo>
                    <a:pt x="213" y="0"/>
                  </a:lnTo>
                  <a:lnTo>
                    <a:pt x="189" y="10"/>
                  </a:lnTo>
                  <a:lnTo>
                    <a:pt x="189" y="14"/>
                  </a:lnTo>
                  <a:lnTo>
                    <a:pt x="199" y="14"/>
                  </a:lnTo>
                  <a:lnTo>
                    <a:pt x="199" y="19"/>
                  </a:lnTo>
                  <a:lnTo>
                    <a:pt x="204" y="19"/>
                  </a:lnTo>
                  <a:lnTo>
                    <a:pt x="204" y="84"/>
                  </a:lnTo>
                  <a:lnTo>
                    <a:pt x="199" y="84"/>
                  </a:lnTo>
                  <a:lnTo>
                    <a:pt x="194" y="89"/>
                  </a:lnTo>
                  <a:lnTo>
                    <a:pt x="228" y="89"/>
                  </a:lnTo>
                  <a:lnTo>
                    <a:pt x="223" y="84"/>
                  </a:lnTo>
                  <a:lnTo>
                    <a:pt x="218" y="84"/>
                  </a:lnTo>
                  <a:lnTo>
                    <a:pt x="218" y="24"/>
                  </a:lnTo>
                  <a:lnTo>
                    <a:pt x="223" y="19"/>
                  </a:lnTo>
                  <a:lnTo>
                    <a:pt x="233" y="14"/>
                  </a:lnTo>
                  <a:lnTo>
                    <a:pt x="247" y="14"/>
                  </a:lnTo>
                  <a:lnTo>
                    <a:pt x="257" y="24"/>
                  </a:lnTo>
                  <a:lnTo>
                    <a:pt x="257" y="84"/>
                  </a:lnTo>
                  <a:lnTo>
                    <a:pt x="252" y="84"/>
                  </a:lnTo>
                  <a:lnTo>
                    <a:pt x="247" y="89"/>
                  </a:lnTo>
                  <a:lnTo>
                    <a:pt x="281" y="89"/>
                  </a:lnTo>
                  <a:lnTo>
                    <a:pt x="281" y="84"/>
                  </a:lnTo>
                  <a:lnTo>
                    <a:pt x="276" y="84"/>
                  </a:lnTo>
                  <a:lnTo>
                    <a:pt x="276" y="26"/>
                  </a:lnTo>
                  <a:lnTo>
                    <a:pt x="271" y="24"/>
                  </a:lnTo>
                  <a:lnTo>
                    <a:pt x="276" y="24"/>
                  </a:lnTo>
                  <a:lnTo>
                    <a:pt x="281" y="19"/>
                  </a:lnTo>
                  <a:lnTo>
                    <a:pt x="285" y="14"/>
                  </a:lnTo>
                  <a:lnTo>
                    <a:pt x="305" y="14"/>
                  </a:lnTo>
                  <a:lnTo>
                    <a:pt x="309" y="19"/>
                  </a:lnTo>
                  <a:lnTo>
                    <a:pt x="309" y="84"/>
                  </a:lnTo>
                  <a:lnTo>
                    <a:pt x="305" y="89"/>
                  </a:lnTo>
                  <a:lnTo>
                    <a:pt x="336" y="89"/>
                  </a:lnTo>
                  <a:close/>
                  <a:moveTo>
                    <a:pt x="365" y="49"/>
                  </a:moveTo>
                  <a:lnTo>
                    <a:pt x="362" y="49"/>
                  </a:lnTo>
                  <a:lnTo>
                    <a:pt x="362" y="44"/>
                  </a:lnTo>
                  <a:lnTo>
                    <a:pt x="362" y="42"/>
                  </a:lnTo>
                  <a:lnTo>
                    <a:pt x="360" y="42"/>
                  </a:lnTo>
                  <a:lnTo>
                    <a:pt x="360" y="37"/>
                  </a:lnTo>
                  <a:lnTo>
                    <a:pt x="348" y="37"/>
                  </a:lnTo>
                  <a:lnTo>
                    <a:pt x="348" y="42"/>
                  </a:lnTo>
                  <a:lnTo>
                    <a:pt x="348" y="44"/>
                  </a:lnTo>
                  <a:lnTo>
                    <a:pt x="345" y="44"/>
                  </a:lnTo>
                  <a:lnTo>
                    <a:pt x="345" y="49"/>
                  </a:lnTo>
                  <a:lnTo>
                    <a:pt x="345" y="52"/>
                  </a:lnTo>
                  <a:lnTo>
                    <a:pt x="365" y="52"/>
                  </a:lnTo>
                  <a:lnTo>
                    <a:pt x="365" y="49"/>
                  </a:lnTo>
                  <a:close/>
                  <a:moveTo>
                    <a:pt x="365" y="52"/>
                  </a:moveTo>
                  <a:lnTo>
                    <a:pt x="348" y="52"/>
                  </a:lnTo>
                  <a:lnTo>
                    <a:pt x="348" y="56"/>
                  </a:lnTo>
                  <a:lnTo>
                    <a:pt x="365" y="56"/>
                  </a:lnTo>
                  <a:lnTo>
                    <a:pt x="365" y="52"/>
                  </a:lnTo>
                  <a:close/>
                  <a:moveTo>
                    <a:pt x="379" y="76"/>
                  </a:moveTo>
                  <a:lnTo>
                    <a:pt x="377" y="76"/>
                  </a:lnTo>
                  <a:lnTo>
                    <a:pt x="377" y="73"/>
                  </a:lnTo>
                  <a:lnTo>
                    <a:pt x="374" y="73"/>
                  </a:lnTo>
                  <a:lnTo>
                    <a:pt x="374" y="71"/>
                  </a:lnTo>
                  <a:lnTo>
                    <a:pt x="372" y="71"/>
                  </a:lnTo>
                  <a:lnTo>
                    <a:pt x="372" y="68"/>
                  </a:lnTo>
                  <a:lnTo>
                    <a:pt x="369" y="68"/>
                  </a:lnTo>
                  <a:lnTo>
                    <a:pt x="369" y="66"/>
                  </a:lnTo>
                  <a:lnTo>
                    <a:pt x="369" y="64"/>
                  </a:lnTo>
                  <a:lnTo>
                    <a:pt x="367" y="64"/>
                  </a:lnTo>
                  <a:lnTo>
                    <a:pt x="367" y="61"/>
                  </a:lnTo>
                  <a:lnTo>
                    <a:pt x="367" y="56"/>
                  </a:lnTo>
                  <a:lnTo>
                    <a:pt x="348" y="56"/>
                  </a:lnTo>
                  <a:lnTo>
                    <a:pt x="348" y="61"/>
                  </a:lnTo>
                  <a:lnTo>
                    <a:pt x="350" y="61"/>
                  </a:lnTo>
                  <a:lnTo>
                    <a:pt x="350" y="64"/>
                  </a:lnTo>
                  <a:lnTo>
                    <a:pt x="350" y="66"/>
                  </a:lnTo>
                  <a:lnTo>
                    <a:pt x="350" y="68"/>
                  </a:lnTo>
                  <a:lnTo>
                    <a:pt x="353" y="68"/>
                  </a:lnTo>
                  <a:lnTo>
                    <a:pt x="353" y="71"/>
                  </a:lnTo>
                  <a:lnTo>
                    <a:pt x="353" y="73"/>
                  </a:lnTo>
                  <a:lnTo>
                    <a:pt x="355" y="73"/>
                  </a:lnTo>
                  <a:lnTo>
                    <a:pt x="355" y="76"/>
                  </a:lnTo>
                  <a:lnTo>
                    <a:pt x="357" y="76"/>
                  </a:lnTo>
                  <a:lnTo>
                    <a:pt x="357" y="78"/>
                  </a:lnTo>
                  <a:lnTo>
                    <a:pt x="379" y="78"/>
                  </a:lnTo>
                  <a:lnTo>
                    <a:pt x="379" y="76"/>
                  </a:lnTo>
                  <a:close/>
                  <a:moveTo>
                    <a:pt x="422" y="61"/>
                  </a:moveTo>
                  <a:lnTo>
                    <a:pt x="420" y="61"/>
                  </a:lnTo>
                  <a:lnTo>
                    <a:pt x="420" y="59"/>
                  </a:lnTo>
                  <a:lnTo>
                    <a:pt x="417" y="59"/>
                  </a:lnTo>
                  <a:lnTo>
                    <a:pt x="417" y="61"/>
                  </a:lnTo>
                  <a:lnTo>
                    <a:pt x="415" y="61"/>
                  </a:lnTo>
                  <a:lnTo>
                    <a:pt x="415" y="64"/>
                  </a:lnTo>
                  <a:lnTo>
                    <a:pt x="415" y="66"/>
                  </a:lnTo>
                  <a:lnTo>
                    <a:pt x="413" y="66"/>
                  </a:lnTo>
                  <a:lnTo>
                    <a:pt x="413" y="68"/>
                  </a:lnTo>
                  <a:lnTo>
                    <a:pt x="413" y="71"/>
                  </a:lnTo>
                  <a:lnTo>
                    <a:pt x="410" y="71"/>
                  </a:lnTo>
                  <a:lnTo>
                    <a:pt x="410" y="73"/>
                  </a:lnTo>
                  <a:lnTo>
                    <a:pt x="410" y="76"/>
                  </a:lnTo>
                  <a:lnTo>
                    <a:pt x="403" y="76"/>
                  </a:lnTo>
                  <a:lnTo>
                    <a:pt x="403" y="78"/>
                  </a:lnTo>
                  <a:lnTo>
                    <a:pt x="415" y="78"/>
                  </a:lnTo>
                  <a:lnTo>
                    <a:pt x="415" y="76"/>
                  </a:lnTo>
                  <a:lnTo>
                    <a:pt x="417" y="76"/>
                  </a:lnTo>
                  <a:lnTo>
                    <a:pt x="417" y="73"/>
                  </a:lnTo>
                  <a:lnTo>
                    <a:pt x="417" y="71"/>
                  </a:lnTo>
                  <a:lnTo>
                    <a:pt x="420" y="71"/>
                  </a:lnTo>
                  <a:lnTo>
                    <a:pt x="420" y="68"/>
                  </a:lnTo>
                  <a:lnTo>
                    <a:pt x="420" y="66"/>
                  </a:lnTo>
                  <a:lnTo>
                    <a:pt x="422" y="66"/>
                  </a:lnTo>
                  <a:lnTo>
                    <a:pt x="422" y="64"/>
                  </a:lnTo>
                  <a:lnTo>
                    <a:pt x="422" y="61"/>
                  </a:lnTo>
                  <a:close/>
                  <a:moveTo>
                    <a:pt x="422" y="32"/>
                  </a:moveTo>
                  <a:lnTo>
                    <a:pt x="422" y="32"/>
                  </a:lnTo>
                  <a:lnTo>
                    <a:pt x="422" y="30"/>
                  </a:lnTo>
                  <a:lnTo>
                    <a:pt x="422" y="28"/>
                  </a:lnTo>
                  <a:lnTo>
                    <a:pt x="422" y="25"/>
                  </a:lnTo>
                  <a:lnTo>
                    <a:pt x="420" y="25"/>
                  </a:lnTo>
                  <a:lnTo>
                    <a:pt x="420" y="23"/>
                  </a:lnTo>
                  <a:lnTo>
                    <a:pt x="420" y="20"/>
                  </a:lnTo>
                  <a:lnTo>
                    <a:pt x="417" y="20"/>
                  </a:lnTo>
                  <a:lnTo>
                    <a:pt x="417" y="18"/>
                  </a:lnTo>
                  <a:lnTo>
                    <a:pt x="415" y="18"/>
                  </a:lnTo>
                  <a:lnTo>
                    <a:pt x="415" y="16"/>
                  </a:lnTo>
                  <a:lnTo>
                    <a:pt x="415" y="13"/>
                  </a:lnTo>
                  <a:lnTo>
                    <a:pt x="413" y="13"/>
                  </a:lnTo>
                  <a:lnTo>
                    <a:pt x="413" y="11"/>
                  </a:lnTo>
                  <a:lnTo>
                    <a:pt x="408" y="11"/>
                  </a:lnTo>
                  <a:lnTo>
                    <a:pt x="408" y="8"/>
                  </a:lnTo>
                  <a:lnTo>
                    <a:pt x="403" y="8"/>
                  </a:lnTo>
                  <a:lnTo>
                    <a:pt x="403" y="25"/>
                  </a:lnTo>
                  <a:lnTo>
                    <a:pt x="403" y="28"/>
                  </a:lnTo>
                  <a:lnTo>
                    <a:pt x="403" y="30"/>
                  </a:lnTo>
                  <a:lnTo>
                    <a:pt x="403" y="32"/>
                  </a:lnTo>
                  <a:lnTo>
                    <a:pt x="360" y="32"/>
                  </a:lnTo>
                  <a:lnTo>
                    <a:pt x="360" y="30"/>
                  </a:lnTo>
                  <a:lnTo>
                    <a:pt x="362" y="30"/>
                  </a:lnTo>
                  <a:lnTo>
                    <a:pt x="362" y="28"/>
                  </a:lnTo>
                  <a:lnTo>
                    <a:pt x="362" y="25"/>
                  </a:lnTo>
                  <a:lnTo>
                    <a:pt x="365" y="25"/>
                  </a:lnTo>
                  <a:lnTo>
                    <a:pt x="365" y="23"/>
                  </a:lnTo>
                  <a:lnTo>
                    <a:pt x="365" y="20"/>
                  </a:lnTo>
                  <a:lnTo>
                    <a:pt x="367" y="20"/>
                  </a:lnTo>
                  <a:lnTo>
                    <a:pt x="367" y="18"/>
                  </a:lnTo>
                  <a:lnTo>
                    <a:pt x="369" y="18"/>
                  </a:lnTo>
                  <a:lnTo>
                    <a:pt x="369" y="16"/>
                  </a:lnTo>
                  <a:lnTo>
                    <a:pt x="372" y="16"/>
                  </a:lnTo>
                  <a:lnTo>
                    <a:pt x="372" y="13"/>
                  </a:lnTo>
                  <a:lnTo>
                    <a:pt x="374" y="13"/>
                  </a:lnTo>
                  <a:lnTo>
                    <a:pt x="374" y="11"/>
                  </a:lnTo>
                  <a:lnTo>
                    <a:pt x="393" y="11"/>
                  </a:lnTo>
                  <a:lnTo>
                    <a:pt x="393" y="13"/>
                  </a:lnTo>
                  <a:lnTo>
                    <a:pt x="396" y="13"/>
                  </a:lnTo>
                  <a:lnTo>
                    <a:pt x="396" y="16"/>
                  </a:lnTo>
                  <a:lnTo>
                    <a:pt x="398" y="16"/>
                  </a:lnTo>
                  <a:lnTo>
                    <a:pt x="398" y="18"/>
                  </a:lnTo>
                  <a:lnTo>
                    <a:pt x="398" y="20"/>
                  </a:lnTo>
                  <a:lnTo>
                    <a:pt x="398" y="23"/>
                  </a:lnTo>
                  <a:lnTo>
                    <a:pt x="401" y="23"/>
                  </a:lnTo>
                  <a:lnTo>
                    <a:pt x="401" y="25"/>
                  </a:lnTo>
                  <a:lnTo>
                    <a:pt x="403" y="25"/>
                  </a:lnTo>
                  <a:lnTo>
                    <a:pt x="403" y="8"/>
                  </a:lnTo>
                  <a:lnTo>
                    <a:pt x="403" y="6"/>
                  </a:lnTo>
                  <a:lnTo>
                    <a:pt x="398" y="6"/>
                  </a:lnTo>
                  <a:lnTo>
                    <a:pt x="398" y="4"/>
                  </a:lnTo>
                  <a:lnTo>
                    <a:pt x="379" y="4"/>
                  </a:lnTo>
                  <a:lnTo>
                    <a:pt x="379" y="6"/>
                  </a:lnTo>
                  <a:lnTo>
                    <a:pt x="374" y="6"/>
                  </a:lnTo>
                  <a:lnTo>
                    <a:pt x="374" y="8"/>
                  </a:lnTo>
                  <a:lnTo>
                    <a:pt x="369" y="8"/>
                  </a:lnTo>
                  <a:lnTo>
                    <a:pt x="369" y="11"/>
                  </a:lnTo>
                  <a:lnTo>
                    <a:pt x="367" y="11"/>
                  </a:lnTo>
                  <a:lnTo>
                    <a:pt x="367" y="13"/>
                  </a:lnTo>
                  <a:lnTo>
                    <a:pt x="362" y="13"/>
                  </a:lnTo>
                  <a:lnTo>
                    <a:pt x="362" y="16"/>
                  </a:lnTo>
                  <a:lnTo>
                    <a:pt x="360" y="16"/>
                  </a:lnTo>
                  <a:lnTo>
                    <a:pt x="360" y="18"/>
                  </a:lnTo>
                  <a:lnTo>
                    <a:pt x="357" y="18"/>
                  </a:lnTo>
                  <a:lnTo>
                    <a:pt x="357" y="20"/>
                  </a:lnTo>
                  <a:lnTo>
                    <a:pt x="355" y="20"/>
                  </a:lnTo>
                  <a:lnTo>
                    <a:pt x="355" y="23"/>
                  </a:lnTo>
                  <a:lnTo>
                    <a:pt x="355" y="25"/>
                  </a:lnTo>
                  <a:lnTo>
                    <a:pt x="353" y="25"/>
                  </a:lnTo>
                  <a:lnTo>
                    <a:pt x="353" y="28"/>
                  </a:lnTo>
                  <a:lnTo>
                    <a:pt x="350" y="28"/>
                  </a:lnTo>
                  <a:lnTo>
                    <a:pt x="350" y="30"/>
                  </a:lnTo>
                  <a:lnTo>
                    <a:pt x="350" y="32"/>
                  </a:lnTo>
                  <a:lnTo>
                    <a:pt x="350" y="35"/>
                  </a:lnTo>
                  <a:lnTo>
                    <a:pt x="348" y="35"/>
                  </a:lnTo>
                  <a:lnTo>
                    <a:pt x="348" y="37"/>
                  </a:lnTo>
                  <a:lnTo>
                    <a:pt x="422" y="37"/>
                  </a:lnTo>
                  <a:lnTo>
                    <a:pt x="422" y="35"/>
                  </a:lnTo>
                  <a:lnTo>
                    <a:pt x="42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AutoShape 14">
              <a:extLst>
                <a:ext uri="{FF2B5EF4-FFF2-40B4-BE49-F238E27FC236}">
                  <a16:creationId xmlns:a16="http://schemas.microsoft.com/office/drawing/2014/main" xmlns="" id="{11AABC5C-8419-F293-A2D2-A98DBBA7FDD8}"/>
                </a:ext>
              </a:extLst>
            </p:cNvPr>
            <p:cNvSpPr>
              <a:spLocks/>
            </p:cNvSpPr>
            <p:nvPr/>
          </p:nvSpPr>
          <p:spPr bwMode="auto">
            <a:xfrm>
              <a:off x="6334" y="350"/>
              <a:ext cx="226" cy="119"/>
            </a:xfrm>
            <a:custGeom>
              <a:avLst/>
              <a:gdLst>
                <a:gd name="T0" fmla="+- 0 6380 6334"/>
                <a:gd name="T1" fmla="*/ T0 w 226"/>
                <a:gd name="T2" fmla="+- 0 451 351"/>
                <a:gd name="T3" fmla="*/ 451 h 119"/>
                <a:gd name="T4" fmla="+- 0 6375 6334"/>
                <a:gd name="T5" fmla="*/ T4 w 226"/>
                <a:gd name="T6" fmla="+- 0 453 351"/>
                <a:gd name="T7" fmla="*/ 453 h 119"/>
                <a:gd name="T8" fmla="+- 0 6366 6334"/>
                <a:gd name="T9" fmla="*/ T8 w 226"/>
                <a:gd name="T10" fmla="+- 0 455 351"/>
                <a:gd name="T11" fmla="*/ 455 h 119"/>
                <a:gd name="T12" fmla="+- 0 6334 6334"/>
                <a:gd name="T13" fmla="*/ T12 w 226"/>
                <a:gd name="T14" fmla="+- 0 453 351"/>
                <a:gd name="T15" fmla="*/ 453 h 119"/>
                <a:gd name="T16" fmla="+- 0 6337 6334"/>
                <a:gd name="T17" fmla="*/ T16 w 226"/>
                <a:gd name="T18" fmla="+- 0 455 351"/>
                <a:gd name="T19" fmla="*/ 455 h 119"/>
                <a:gd name="T20" fmla="+- 0 6339 6334"/>
                <a:gd name="T21" fmla="*/ T20 w 226"/>
                <a:gd name="T22" fmla="+- 0 458 351"/>
                <a:gd name="T23" fmla="*/ 458 h 119"/>
                <a:gd name="T24" fmla="+- 0 6342 6334"/>
                <a:gd name="T25" fmla="*/ T24 w 226"/>
                <a:gd name="T26" fmla="+- 0 460 351"/>
                <a:gd name="T27" fmla="*/ 460 h 119"/>
                <a:gd name="T28" fmla="+- 0 6344 6334"/>
                <a:gd name="T29" fmla="*/ T28 w 226"/>
                <a:gd name="T30" fmla="+- 0 463 351"/>
                <a:gd name="T31" fmla="*/ 463 h 119"/>
                <a:gd name="T32" fmla="+- 0 6346 6334"/>
                <a:gd name="T33" fmla="*/ T32 w 226"/>
                <a:gd name="T34" fmla="+- 0 465 351"/>
                <a:gd name="T35" fmla="*/ 465 h 119"/>
                <a:gd name="T36" fmla="+- 0 6356 6334"/>
                <a:gd name="T37" fmla="*/ T36 w 226"/>
                <a:gd name="T38" fmla="+- 0 467 351"/>
                <a:gd name="T39" fmla="*/ 467 h 119"/>
                <a:gd name="T40" fmla="+- 0 6366 6334"/>
                <a:gd name="T41" fmla="*/ T40 w 226"/>
                <a:gd name="T42" fmla="+- 0 470 351"/>
                <a:gd name="T43" fmla="*/ 470 h 119"/>
                <a:gd name="T44" fmla="+- 0 6375 6334"/>
                <a:gd name="T45" fmla="*/ T44 w 226"/>
                <a:gd name="T46" fmla="+- 0 467 351"/>
                <a:gd name="T47" fmla="*/ 467 h 119"/>
                <a:gd name="T48" fmla="+- 0 6380 6334"/>
                <a:gd name="T49" fmla="*/ T48 w 226"/>
                <a:gd name="T50" fmla="+- 0 465 351"/>
                <a:gd name="T51" fmla="*/ 465 h 119"/>
                <a:gd name="T52" fmla="+- 0 6390 6334"/>
                <a:gd name="T53" fmla="*/ T52 w 226"/>
                <a:gd name="T54" fmla="+- 0 463 351"/>
                <a:gd name="T55" fmla="*/ 463 h 119"/>
                <a:gd name="T56" fmla="+- 0 6390 6334"/>
                <a:gd name="T57" fmla="*/ T56 w 226"/>
                <a:gd name="T58" fmla="+- 0 458 351"/>
                <a:gd name="T59" fmla="*/ 458 h 119"/>
                <a:gd name="T60" fmla="+- 0 6392 6334"/>
                <a:gd name="T61" fmla="*/ T60 w 226"/>
                <a:gd name="T62" fmla="+- 0 455 351"/>
                <a:gd name="T63" fmla="*/ 455 h 119"/>
                <a:gd name="T64" fmla="+- 0 6392 6334"/>
                <a:gd name="T65" fmla="*/ T64 w 226"/>
                <a:gd name="T66" fmla="+- 0 453 351"/>
                <a:gd name="T67" fmla="*/ 453 h 119"/>
                <a:gd name="T68" fmla="+- 0 6498 6334"/>
                <a:gd name="T69" fmla="*/ T68 w 226"/>
                <a:gd name="T70" fmla="+- 0 464 351"/>
                <a:gd name="T71" fmla="*/ 464 h 119"/>
                <a:gd name="T72" fmla="+- 0 6488 6334"/>
                <a:gd name="T73" fmla="*/ T72 w 226"/>
                <a:gd name="T74" fmla="+- 0 459 351"/>
                <a:gd name="T75" fmla="*/ 459 h 119"/>
                <a:gd name="T76" fmla="+- 0 6474 6334"/>
                <a:gd name="T77" fmla="*/ T76 w 226"/>
                <a:gd name="T78" fmla="+- 0 375 351"/>
                <a:gd name="T79" fmla="*/ 375 h 119"/>
                <a:gd name="T80" fmla="+- 0 6452 6334"/>
                <a:gd name="T81" fmla="*/ T80 w 226"/>
                <a:gd name="T82" fmla="+- 0 380 351"/>
                <a:gd name="T83" fmla="*/ 380 h 119"/>
                <a:gd name="T84" fmla="+- 0 6438 6334"/>
                <a:gd name="T85" fmla="*/ T84 w 226"/>
                <a:gd name="T86" fmla="+- 0 375 351"/>
                <a:gd name="T87" fmla="*/ 375 h 119"/>
                <a:gd name="T88" fmla="+- 0 6409 6334"/>
                <a:gd name="T89" fmla="*/ T88 w 226"/>
                <a:gd name="T90" fmla="+- 0 385 351"/>
                <a:gd name="T91" fmla="*/ 385 h 119"/>
                <a:gd name="T92" fmla="+- 0 6418 6334"/>
                <a:gd name="T93" fmla="*/ T92 w 226"/>
                <a:gd name="T94" fmla="+- 0 389 351"/>
                <a:gd name="T95" fmla="*/ 389 h 119"/>
                <a:gd name="T96" fmla="+- 0 6423 6334"/>
                <a:gd name="T97" fmla="*/ T96 w 226"/>
                <a:gd name="T98" fmla="+- 0 401 351"/>
                <a:gd name="T99" fmla="*/ 401 h 119"/>
                <a:gd name="T100" fmla="+- 0 6418 6334"/>
                <a:gd name="T101" fmla="*/ T100 w 226"/>
                <a:gd name="T102" fmla="+- 0 459 351"/>
                <a:gd name="T103" fmla="*/ 459 h 119"/>
                <a:gd name="T104" fmla="+- 0 6409 6334"/>
                <a:gd name="T105" fmla="*/ T104 w 226"/>
                <a:gd name="T106" fmla="+- 0 464 351"/>
                <a:gd name="T107" fmla="*/ 464 h 119"/>
                <a:gd name="T108" fmla="+- 0 6442 6334"/>
                <a:gd name="T109" fmla="*/ T108 w 226"/>
                <a:gd name="T110" fmla="+- 0 459 351"/>
                <a:gd name="T111" fmla="*/ 459 h 119"/>
                <a:gd name="T112" fmla="+- 0 6438 6334"/>
                <a:gd name="T113" fmla="*/ T112 w 226"/>
                <a:gd name="T114" fmla="+- 0 399 351"/>
                <a:gd name="T115" fmla="*/ 399 h 119"/>
                <a:gd name="T116" fmla="+- 0 6447 6334"/>
                <a:gd name="T117" fmla="*/ T116 w 226"/>
                <a:gd name="T118" fmla="+- 0 389 351"/>
                <a:gd name="T119" fmla="*/ 389 h 119"/>
                <a:gd name="T120" fmla="+- 0 6474 6334"/>
                <a:gd name="T121" fmla="*/ T120 w 226"/>
                <a:gd name="T122" fmla="+- 0 399 351"/>
                <a:gd name="T123" fmla="*/ 399 h 119"/>
                <a:gd name="T124" fmla="+- 0 6464 6334"/>
                <a:gd name="T125" fmla="*/ T124 w 226"/>
                <a:gd name="T126" fmla="+- 0 464 351"/>
                <a:gd name="T127" fmla="*/ 464 h 119"/>
                <a:gd name="T128" fmla="+- 0 6560 6334"/>
                <a:gd name="T129" fmla="*/ T128 w 226"/>
                <a:gd name="T130" fmla="+- 0 449 351"/>
                <a:gd name="T131" fmla="*/ 449 h 119"/>
                <a:gd name="T132" fmla="+- 0 6550 6334"/>
                <a:gd name="T133" fmla="*/ T132 w 226"/>
                <a:gd name="T134" fmla="+- 0 454 351"/>
                <a:gd name="T135" fmla="*/ 454 h 119"/>
                <a:gd name="T136" fmla="+- 0 6536 6334"/>
                <a:gd name="T137" fmla="*/ T136 w 226"/>
                <a:gd name="T138" fmla="+- 0 385 351"/>
                <a:gd name="T139" fmla="*/ 385 h 119"/>
                <a:gd name="T140" fmla="+- 0 6555 6334"/>
                <a:gd name="T141" fmla="*/ T140 w 226"/>
                <a:gd name="T142" fmla="+- 0 380 351"/>
                <a:gd name="T143" fmla="*/ 380 h 119"/>
                <a:gd name="T144" fmla="+- 0 6536 6334"/>
                <a:gd name="T145" fmla="*/ T144 w 226"/>
                <a:gd name="T146" fmla="+- 0 351 351"/>
                <a:gd name="T147" fmla="*/ 351 h 119"/>
                <a:gd name="T148" fmla="+- 0 6526 6334"/>
                <a:gd name="T149" fmla="*/ T148 w 226"/>
                <a:gd name="T150" fmla="+- 0 356 351"/>
                <a:gd name="T151" fmla="*/ 356 h 119"/>
                <a:gd name="T152" fmla="+- 0 6522 6334"/>
                <a:gd name="T153" fmla="*/ T152 w 226"/>
                <a:gd name="T154" fmla="+- 0 370 351"/>
                <a:gd name="T155" fmla="*/ 370 h 119"/>
                <a:gd name="T156" fmla="+- 0 6502 6334"/>
                <a:gd name="T157" fmla="*/ T156 w 226"/>
                <a:gd name="T158" fmla="+- 0 380 351"/>
                <a:gd name="T159" fmla="*/ 380 h 119"/>
                <a:gd name="T160" fmla="+- 0 6517 6334"/>
                <a:gd name="T161" fmla="*/ T160 w 226"/>
                <a:gd name="T162" fmla="+- 0 385 351"/>
                <a:gd name="T163" fmla="*/ 385 h 119"/>
                <a:gd name="T164" fmla="+- 0 6522 6334"/>
                <a:gd name="T165" fmla="*/ T164 w 226"/>
                <a:gd name="T166" fmla="+- 0 449 351"/>
                <a:gd name="T167" fmla="*/ 449 h 119"/>
                <a:gd name="T168" fmla="+- 0 6526 6334"/>
                <a:gd name="T169" fmla="*/ T168 w 226"/>
                <a:gd name="T170" fmla="+- 0 464 351"/>
                <a:gd name="T171" fmla="*/ 464 h 119"/>
                <a:gd name="T172" fmla="+- 0 6536 6334"/>
                <a:gd name="T173" fmla="*/ T172 w 226"/>
                <a:gd name="T174" fmla="+- 0 469 351"/>
                <a:gd name="T175" fmla="*/ 469 h 119"/>
                <a:gd name="T176" fmla="+- 0 6550 6334"/>
                <a:gd name="T177" fmla="*/ T176 w 226"/>
                <a:gd name="T178" fmla="+- 0 464 351"/>
                <a:gd name="T179" fmla="*/ 464 h 119"/>
                <a:gd name="T180" fmla="+- 0 6560 6334"/>
                <a:gd name="T181" fmla="*/ T180 w 226"/>
                <a:gd name="T182" fmla="+- 0 449 351"/>
                <a:gd name="T183" fmla="*/ 449 h 11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Lst>
              <a:rect l="0" t="0" r="r" b="b"/>
              <a:pathLst>
                <a:path w="226" h="119">
                  <a:moveTo>
                    <a:pt x="58" y="100"/>
                  </a:moveTo>
                  <a:lnTo>
                    <a:pt x="46" y="100"/>
                  </a:lnTo>
                  <a:lnTo>
                    <a:pt x="46" y="102"/>
                  </a:lnTo>
                  <a:lnTo>
                    <a:pt x="41" y="102"/>
                  </a:lnTo>
                  <a:lnTo>
                    <a:pt x="41" y="104"/>
                  </a:lnTo>
                  <a:lnTo>
                    <a:pt x="32" y="104"/>
                  </a:lnTo>
                  <a:lnTo>
                    <a:pt x="32" y="102"/>
                  </a:lnTo>
                  <a:lnTo>
                    <a:pt x="0" y="102"/>
                  </a:lnTo>
                  <a:lnTo>
                    <a:pt x="0" y="104"/>
                  </a:lnTo>
                  <a:lnTo>
                    <a:pt x="3" y="104"/>
                  </a:lnTo>
                  <a:lnTo>
                    <a:pt x="3" y="107"/>
                  </a:lnTo>
                  <a:lnTo>
                    <a:pt x="5" y="107"/>
                  </a:lnTo>
                  <a:lnTo>
                    <a:pt x="5" y="109"/>
                  </a:lnTo>
                  <a:lnTo>
                    <a:pt x="8" y="109"/>
                  </a:lnTo>
                  <a:lnTo>
                    <a:pt x="8" y="112"/>
                  </a:lnTo>
                  <a:lnTo>
                    <a:pt x="10" y="112"/>
                  </a:lnTo>
                  <a:lnTo>
                    <a:pt x="10" y="114"/>
                  </a:lnTo>
                  <a:lnTo>
                    <a:pt x="12" y="114"/>
                  </a:lnTo>
                  <a:lnTo>
                    <a:pt x="12" y="116"/>
                  </a:lnTo>
                  <a:lnTo>
                    <a:pt x="22" y="116"/>
                  </a:lnTo>
                  <a:lnTo>
                    <a:pt x="22" y="119"/>
                  </a:lnTo>
                  <a:lnTo>
                    <a:pt x="32" y="119"/>
                  </a:lnTo>
                  <a:lnTo>
                    <a:pt x="32" y="116"/>
                  </a:lnTo>
                  <a:lnTo>
                    <a:pt x="41" y="116"/>
                  </a:lnTo>
                  <a:lnTo>
                    <a:pt x="41" y="114"/>
                  </a:lnTo>
                  <a:lnTo>
                    <a:pt x="46" y="114"/>
                  </a:lnTo>
                  <a:lnTo>
                    <a:pt x="46" y="112"/>
                  </a:lnTo>
                  <a:lnTo>
                    <a:pt x="56" y="112"/>
                  </a:lnTo>
                  <a:lnTo>
                    <a:pt x="56" y="109"/>
                  </a:lnTo>
                  <a:lnTo>
                    <a:pt x="56" y="107"/>
                  </a:lnTo>
                  <a:lnTo>
                    <a:pt x="58" y="107"/>
                  </a:lnTo>
                  <a:lnTo>
                    <a:pt x="58" y="104"/>
                  </a:lnTo>
                  <a:lnTo>
                    <a:pt x="58" y="102"/>
                  </a:lnTo>
                  <a:lnTo>
                    <a:pt x="58" y="100"/>
                  </a:lnTo>
                  <a:close/>
                  <a:moveTo>
                    <a:pt x="164" y="113"/>
                  </a:moveTo>
                  <a:lnTo>
                    <a:pt x="159" y="108"/>
                  </a:lnTo>
                  <a:lnTo>
                    <a:pt x="154" y="108"/>
                  </a:lnTo>
                  <a:lnTo>
                    <a:pt x="154" y="38"/>
                  </a:lnTo>
                  <a:lnTo>
                    <a:pt x="140" y="24"/>
                  </a:lnTo>
                  <a:lnTo>
                    <a:pt x="130" y="24"/>
                  </a:lnTo>
                  <a:lnTo>
                    <a:pt x="118" y="29"/>
                  </a:lnTo>
                  <a:lnTo>
                    <a:pt x="104" y="43"/>
                  </a:lnTo>
                  <a:lnTo>
                    <a:pt x="104" y="24"/>
                  </a:lnTo>
                  <a:lnTo>
                    <a:pt x="99" y="24"/>
                  </a:lnTo>
                  <a:lnTo>
                    <a:pt x="75" y="34"/>
                  </a:lnTo>
                  <a:lnTo>
                    <a:pt x="75" y="38"/>
                  </a:lnTo>
                  <a:lnTo>
                    <a:pt x="84" y="38"/>
                  </a:lnTo>
                  <a:lnTo>
                    <a:pt x="84" y="43"/>
                  </a:lnTo>
                  <a:lnTo>
                    <a:pt x="89" y="50"/>
                  </a:lnTo>
                  <a:lnTo>
                    <a:pt x="89" y="103"/>
                  </a:lnTo>
                  <a:lnTo>
                    <a:pt x="84" y="108"/>
                  </a:lnTo>
                  <a:lnTo>
                    <a:pt x="80" y="108"/>
                  </a:lnTo>
                  <a:lnTo>
                    <a:pt x="75" y="113"/>
                  </a:lnTo>
                  <a:lnTo>
                    <a:pt x="113" y="113"/>
                  </a:lnTo>
                  <a:lnTo>
                    <a:pt x="108" y="108"/>
                  </a:lnTo>
                  <a:lnTo>
                    <a:pt x="104" y="108"/>
                  </a:lnTo>
                  <a:lnTo>
                    <a:pt x="104" y="48"/>
                  </a:lnTo>
                  <a:lnTo>
                    <a:pt x="108" y="43"/>
                  </a:lnTo>
                  <a:lnTo>
                    <a:pt x="113" y="38"/>
                  </a:lnTo>
                  <a:lnTo>
                    <a:pt x="130" y="38"/>
                  </a:lnTo>
                  <a:lnTo>
                    <a:pt x="140" y="48"/>
                  </a:lnTo>
                  <a:lnTo>
                    <a:pt x="140" y="103"/>
                  </a:lnTo>
                  <a:lnTo>
                    <a:pt x="130" y="113"/>
                  </a:lnTo>
                  <a:lnTo>
                    <a:pt x="164" y="113"/>
                  </a:lnTo>
                  <a:close/>
                  <a:moveTo>
                    <a:pt x="226" y="98"/>
                  </a:moveTo>
                  <a:lnTo>
                    <a:pt x="221" y="98"/>
                  </a:lnTo>
                  <a:lnTo>
                    <a:pt x="216" y="103"/>
                  </a:lnTo>
                  <a:lnTo>
                    <a:pt x="202" y="103"/>
                  </a:lnTo>
                  <a:lnTo>
                    <a:pt x="202" y="34"/>
                  </a:lnTo>
                  <a:lnTo>
                    <a:pt x="221" y="34"/>
                  </a:lnTo>
                  <a:lnTo>
                    <a:pt x="221" y="29"/>
                  </a:lnTo>
                  <a:lnTo>
                    <a:pt x="202" y="29"/>
                  </a:lnTo>
                  <a:lnTo>
                    <a:pt x="202" y="0"/>
                  </a:lnTo>
                  <a:lnTo>
                    <a:pt x="197" y="0"/>
                  </a:lnTo>
                  <a:lnTo>
                    <a:pt x="192" y="5"/>
                  </a:lnTo>
                  <a:lnTo>
                    <a:pt x="192" y="10"/>
                  </a:lnTo>
                  <a:lnTo>
                    <a:pt x="188" y="19"/>
                  </a:lnTo>
                  <a:lnTo>
                    <a:pt x="178" y="29"/>
                  </a:lnTo>
                  <a:lnTo>
                    <a:pt x="168" y="29"/>
                  </a:lnTo>
                  <a:lnTo>
                    <a:pt x="168" y="34"/>
                  </a:lnTo>
                  <a:lnTo>
                    <a:pt x="183" y="34"/>
                  </a:lnTo>
                  <a:lnTo>
                    <a:pt x="183" y="94"/>
                  </a:lnTo>
                  <a:lnTo>
                    <a:pt x="188" y="98"/>
                  </a:lnTo>
                  <a:lnTo>
                    <a:pt x="188" y="113"/>
                  </a:lnTo>
                  <a:lnTo>
                    <a:pt x="192" y="113"/>
                  </a:lnTo>
                  <a:lnTo>
                    <a:pt x="197" y="118"/>
                  </a:lnTo>
                  <a:lnTo>
                    <a:pt x="202" y="118"/>
                  </a:lnTo>
                  <a:lnTo>
                    <a:pt x="207" y="113"/>
                  </a:lnTo>
                  <a:lnTo>
                    <a:pt x="216" y="113"/>
                  </a:lnTo>
                  <a:lnTo>
                    <a:pt x="221" y="103"/>
                  </a:lnTo>
                  <a:lnTo>
                    <a:pt x="226"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5">
              <a:extLst>
                <a:ext uri="{FF2B5EF4-FFF2-40B4-BE49-F238E27FC236}">
                  <a16:creationId xmlns:a16="http://schemas.microsoft.com/office/drawing/2014/main" xmlns="" id="{F054F192-9742-D885-19BD-58985CBA9421}"/>
                </a:ext>
              </a:extLst>
            </p:cNvPr>
            <p:cNvSpPr>
              <a:spLocks/>
            </p:cNvSpPr>
            <p:nvPr/>
          </p:nvSpPr>
          <p:spPr bwMode="auto">
            <a:xfrm>
              <a:off x="5532" y="336"/>
              <a:ext cx="113" cy="128"/>
            </a:xfrm>
            <a:custGeom>
              <a:avLst/>
              <a:gdLst>
                <a:gd name="T0" fmla="+- 0 5571 5533"/>
                <a:gd name="T1" fmla="*/ T0 w 113"/>
                <a:gd name="T2" fmla="+- 0 341 337"/>
                <a:gd name="T3" fmla="*/ 341 h 128"/>
                <a:gd name="T4" fmla="+- 0 5571 5533"/>
                <a:gd name="T5" fmla="*/ T4 w 113"/>
                <a:gd name="T6" fmla="+- 0 394 337"/>
                <a:gd name="T7" fmla="*/ 394 h 128"/>
                <a:gd name="T8" fmla="+- 0 5610 5533"/>
                <a:gd name="T9" fmla="*/ T8 w 113"/>
                <a:gd name="T10" fmla="+- 0 394 337"/>
                <a:gd name="T11" fmla="*/ 394 h 128"/>
                <a:gd name="T12" fmla="+- 0 5612 5533"/>
                <a:gd name="T13" fmla="*/ T12 w 113"/>
                <a:gd name="T14" fmla="+- 0 389 337"/>
                <a:gd name="T15" fmla="*/ 389 h 128"/>
                <a:gd name="T16" fmla="+- 0 5617 5533"/>
                <a:gd name="T17" fmla="*/ T16 w 113"/>
                <a:gd name="T18" fmla="+- 0 385 337"/>
                <a:gd name="T19" fmla="*/ 385 h 128"/>
                <a:gd name="T20" fmla="+- 0 5617 5533"/>
                <a:gd name="T21" fmla="*/ T20 w 113"/>
                <a:gd name="T22" fmla="+- 0 375 337"/>
                <a:gd name="T23" fmla="*/ 375 h 128"/>
                <a:gd name="T24" fmla="+- 0 5622 5533"/>
                <a:gd name="T25" fmla="*/ T24 w 113"/>
                <a:gd name="T26" fmla="+- 0 375 337"/>
                <a:gd name="T27" fmla="*/ 375 h 128"/>
                <a:gd name="T28" fmla="+- 0 5622 5533"/>
                <a:gd name="T29" fmla="*/ T28 w 113"/>
                <a:gd name="T30" fmla="+- 0 421 337"/>
                <a:gd name="T31" fmla="*/ 421 h 128"/>
                <a:gd name="T32" fmla="+- 0 5617 5533"/>
                <a:gd name="T33" fmla="*/ T32 w 113"/>
                <a:gd name="T34" fmla="+- 0 421 337"/>
                <a:gd name="T35" fmla="*/ 421 h 128"/>
                <a:gd name="T36" fmla="+- 0 5617 5533"/>
                <a:gd name="T37" fmla="*/ T36 w 113"/>
                <a:gd name="T38" fmla="+- 0 406 337"/>
                <a:gd name="T39" fmla="*/ 406 h 128"/>
                <a:gd name="T40" fmla="+- 0 5612 5533"/>
                <a:gd name="T41" fmla="*/ T40 w 113"/>
                <a:gd name="T42" fmla="+- 0 406 337"/>
                <a:gd name="T43" fmla="*/ 406 h 128"/>
                <a:gd name="T44" fmla="+- 0 5612 5533"/>
                <a:gd name="T45" fmla="*/ T44 w 113"/>
                <a:gd name="T46" fmla="+- 0 401 337"/>
                <a:gd name="T47" fmla="*/ 401 h 128"/>
                <a:gd name="T48" fmla="+- 0 5571 5533"/>
                <a:gd name="T49" fmla="*/ T48 w 113"/>
                <a:gd name="T50" fmla="+- 0 401 337"/>
                <a:gd name="T51" fmla="*/ 401 h 128"/>
                <a:gd name="T52" fmla="+- 0 5571 5533"/>
                <a:gd name="T53" fmla="*/ T52 w 113"/>
                <a:gd name="T54" fmla="+- 0 454 337"/>
                <a:gd name="T55" fmla="*/ 454 h 128"/>
                <a:gd name="T56" fmla="+- 0 5576 5533"/>
                <a:gd name="T57" fmla="*/ T56 w 113"/>
                <a:gd name="T58" fmla="+- 0 459 337"/>
                <a:gd name="T59" fmla="*/ 459 h 128"/>
                <a:gd name="T60" fmla="+- 0 5617 5533"/>
                <a:gd name="T61" fmla="*/ T60 w 113"/>
                <a:gd name="T62" fmla="+- 0 459 337"/>
                <a:gd name="T63" fmla="*/ 459 h 128"/>
                <a:gd name="T64" fmla="+- 0 5626 5533"/>
                <a:gd name="T65" fmla="*/ T64 w 113"/>
                <a:gd name="T66" fmla="+- 0 449 337"/>
                <a:gd name="T67" fmla="*/ 449 h 128"/>
                <a:gd name="T68" fmla="+- 0 5636 5533"/>
                <a:gd name="T69" fmla="*/ T68 w 113"/>
                <a:gd name="T70" fmla="+- 0 445 337"/>
                <a:gd name="T71" fmla="*/ 445 h 128"/>
                <a:gd name="T72" fmla="+- 0 5641 5533"/>
                <a:gd name="T73" fmla="*/ T72 w 113"/>
                <a:gd name="T74" fmla="+- 0 430 337"/>
                <a:gd name="T75" fmla="*/ 430 h 128"/>
                <a:gd name="T76" fmla="+- 0 5646 5533"/>
                <a:gd name="T77" fmla="*/ T76 w 113"/>
                <a:gd name="T78" fmla="+- 0 430 337"/>
                <a:gd name="T79" fmla="*/ 430 h 128"/>
                <a:gd name="T80" fmla="+- 0 5631 5533"/>
                <a:gd name="T81" fmla="*/ T80 w 113"/>
                <a:gd name="T82" fmla="+- 0 464 337"/>
                <a:gd name="T83" fmla="*/ 464 h 128"/>
                <a:gd name="T84" fmla="+- 0 5533 5533"/>
                <a:gd name="T85" fmla="*/ T84 w 113"/>
                <a:gd name="T86" fmla="+- 0 464 337"/>
                <a:gd name="T87" fmla="*/ 464 h 128"/>
                <a:gd name="T88" fmla="+- 0 5542 5533"/>
                <a:gd name="T89" fmla="*/ T88 w 113"/>
                <a:gd name="T90" fmla="+- 0 464 337"/>
                <a:gd name="T91" fmla="*/ 464 h 128"/>
                <a:gd name="T92" fmla="+- 0 5552 5533"/>
                <a:gd name="T93" fmla="*/ T92 w 113"/>
                <a:gd name="T94" fmla="+- 0 454 337"/>
                <a:gd name="T95" fmla="*/ 454 h 128"/>
                <a:gd name="T96" fmla="+- 0 5552 5533"/>
                <a:gd name="T97" fmla="*/ T96 w 113"/>
                <a:gd name="T98" fmla="+- 0 346 337"/>
                <a:gd name="T99" fmla="*/ 346 h 128"/>
                <a:gd name="T100" fmla="+- 0 5547 5533"/>
                <a:gd name="T101" fmla="*/ T100 w 113"/>
                <a:gd name="T102" fmla="+- 0 341 337"/>
                <a:gd name="T103" fmla="*/ 341 h 128"/>
                <a:gd name="T104" fmla="+- 0 5533 5533"/>
                <a:gd name="T105" fmla="*/ T104 w 113"/>
                <a:gd name="T106" fmla="+- 0 341 337"/>
                <a:gd name="T107" fmla="*/ 341 h 128"/>
                <a:gd name="T108" fmla="+- 0 5533 5533"/>
                <a:gd name="T109" fmla="*/ T108 w 113"/>
                <a:gd name="T110" fmla="+- 0 337 337"/>
                <a:gd name="T111" fmla="*/ 337 h 128"/>
                <a:gd name="T112" fmla="+- 0 5631 5533"/>
                <a:gd name="T113" fmla="*/ T112 w 113"/>
                <a:gd name="T114" fmla="+- 0 337 337"/>
                <a:gd name="T115" fmla="*/ 337 h 128"/>
                <a:gd name="T116" fmla="+- 0 5636 5533"/>
                <a:gd name="T117" fmla="*/ T116 w 113"/>
                <a:gd name="T118" fmla="+- 0 365 337"/>
                <a:gd name="T119" fmla="*/ 365 h 128"/>
                <a:gd name="T120" fmla="+- 0 5631 5533"/>
                <a:gd name="T121" fmla="*/ T120 w 113"/>
                <a:gd name="T122" fmla="+- 0 365 337"/>
                <a:gd name="T123" fmla="*/ 365 h 128"/>
                <a:gd name="T124" fmla="+- 0 5626 5533"/>
                <a:gd name="T125" fmla="*/ T124 w 113"/>
                <a:gd name="T126" fmla="+- 0 356 337"/>
                <a:gd name="T127" fmla="*/ 356 h 128"/>
                <a:gd name="T128" fmla="+- 0 5626 5533"/>
                <a:gd name="T129" fmla="*/ T128 w 113"/>
                <a:gd name="T130" fmla="+- 0 351 337"/>
                <a:gd name="T131" fmla="*/ 351 h 128"/>
                <a:gd name="T132" fmla="+- 0 5622 5533"/>
                <a:gd name="T133" fmla="*/ T132 w 113"/>
                <a:gd name="T134" fmla="+- 0 346 337"/>
                <a:gd name="T135" fmla="*/ 346 h 128"/>
                <a:gd name="T136" fmla="+- 0 5617 5533"/>
                <a:gd name="T137" fmla="*/ T136 w 113"/>
                <a:gd name="T138" fmla="+- 0 346 337"/>
                <a:gd name="T139" fmla="*/ 346 h 128"/>
                <a:gd name="T140" fmla="+- 0 5612 5533"/>
                <a:gd name="T141" fmla="*/ T140 w 113"/>
                <a:gd name="T142" fmla="+- 0 341 337"/>
                <a:gd name="T143" fmla="*/ 341 h 128"/>
                <a:gd name="T144" fmla="+- 0 5571 5533"/>
                <a:gd name="T145" fmla="*/ T144 w 113"/>
                <a:gd name="T146" fmla="+- 0 341 337"/>
                <a:gd name="T147" fmla="*/ 341 h 12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113" h="128">
                  <a:moveTo>
                    <a:pt x="38" y="4"/>
                  </a:moveTo>
                  <a:lnTo>
                    <a:pt x="38" y="57"/>
                  </a:lnTo>
                  <a:lnTo>
                    <a:pt x="77" y="57"/>
                  </a:lnTo>
                  <a:lnTo>
                    <a:pt x="79" y="52"/>
                  </a:lnTo>
                  <a:lnTo>
                    <a:pt x="84" y="48"/>
                  </a:lnTo>
                  <a:lnTo>
                    <a:pt x="84" y="38"/>
                  </a:lnTo>
                  <a:lnTo>
                    <a:pt x="89" y="38"/>
                  </a:lnTo>
                  <a:lnTo>
                    <a:pt x="89" y="84"/>
                  </a:lnTo>
                  <a:lnTo>
                    <a:pt x="84" y="84"/>
                  </a:lnTo>
                  <a:lnTo>
                    <a:pt x="84" y="69"/>
                  </a:lnTo>
                  <a:lnTo>
                    <a:pt x="79" y="69"/>
                  </a:lnTo>
                  <a:lnTo>
                    <a:pt x="79" y="64"/>
                  </a:lnTo>
                  <a:lnTo>
                    <a:pt x="38" y="64"/>
                  </a:lnTo>
                  <a:lnTo>
                    <a:pt x="38" y="117"/>
                  </a:lnTo>
                  <a:lnTo>
                    <a:pt x="43" y="122"/>
                  </a:lnTo>
                  <a:lnTo>
                    <a:pt x="84" y="122"/>
                  </a:lnTo>
                  <a:lnTo>
                    <a:pt x="93" y="112"/>
                  </a:lnTo>
                  <a:lnTo>
                    <a:pt x="103" y="108"/>
                  </a:lnTo>
                  <a:lnTo>
                    <a:pt x="108" y="93"/>
                  </a:lnTo>
                  <a:lnTo>
                    <a:pt x="113" y="93"/>
                  </a:lnTo>
                  <a:lnTo>
                    <a:pt x="98" y="127"/>
                  </a:lnTo>
                  <a:lnTo>
                    <a:pt x="0" y="127"/>
                  </a:lnTo>
                  <a:lnTo>
                    <a:pt x="9" y="127"/>
                  </a:lnTo>
                  <a:lnTo>
                    <a:pt x="19" y="117"/>
                  </a:lnTo>
                  <a:lnTo>
                    <a:pt x="19" y="9"/>
                  </a:lnTo>
                  <a:lnTo>
                    <a:pt x="14" y="4"/>
                  </a:lnTo>
                  <a:lnTo>
                    <a:pt x="0" y="4"/>
                  </a:lnTo>
                  <a:lnTo>
                    <a:pt x="0" y="0"/>
                  </a:lnTo>
                  <a:lnTo>
                    <a:pt x="98" y="0"/>
                  </a:lnTo>
                  <a:lnTo>
                    <a:pt x="103" y="28"/>
                  </a:lnTo>
                  <a:lnTo>
                    <a:pt x="98" y="28"/>
                  </a:lnTo>
                  <a:lnTo>
                    <a:pt x="93" y="19"/>
                  </a:lnTo>
                  <a:lnTo>
                    <a:pt x="93" y="14"/>
                  </a:lnTo>
                  <a:lnTo>
                    <a:pt x="89" y="9"/>
                  </a:lnTo>
                  <a:lnTo>
                    <a:pt x="84" y="9"/>
                  </a:lnTo>
                  <a:lnTo>
                    <a:pt x="79" y="4"/>
                  </a:lnTo>
                  <a:lnTo>
                    <a:pt x="38" y="4"/>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Freeform 16">
              <a:extLst>
                <a:ext uri="{FF2B5EF4-FFF2-40B4-BE49-F238E27FC236}">
                  <a16:creationId xmlns:a16="http://schemas.microsoft.com/office/drawing/2014/main" xmlns="" id="{D0285935-1D5F-3873-D9DD-5AB456CE506D}"/>
                </a:ext>
              </a:extLst>
            </p:cNvPr>
            <p:cNvSpPr>
              <a:spLocks/>
            </p:cNvSpPr>
            <p:nvPr/>
          </p:nvSpPr>
          <p:spPr bwMode="auto">
            <a:xfrm>
              <a:off x="5650" y="374"/>
              <a:ext cx="96" cy="89"/>
            </a:xfrm>
            <a:custGeom>
              <a:avLst/>
              <a:gdLst>
                <a:gd name="T0" fmla="+- 0 5679 5650"/>
                <a:gd name="T1" fmla="*/ T0 w 96"/>
                <a:gd name="T2" fmla="+- 0 394 375"/>
                <a:gd name="T3" fmla="*/ 394 h 89"/>
                <a:gd name="T4" fmla="+- 0 5698 5650"/>
                <a:gd name="T5" fmla="*/ T4 w 96"/>
                <a:gd name="T6" fmla="+- 0 380 375"/>
                <a:gd name="T7" fmla="*/ 380 h 89"/>
                <a:gd name="T8" fmla="+- 0 5713 5650"/>
                <a:gd name="T9" fmla="*/ T8 w 96"/>
                <a:gd name="T10" fmla="+- 0 375 375"/>
                <a:gd name="T11" fmla="*/ 375 h 89"/>
                <a:gd name="T12" fmla="+- 0 5718 5650"/>
                <a:gd name="T13" fmla="*/ T12 w 96"/>
                <a:gd name="T14" fmla="+- 0 375 375"/>
                <a:gd name="T15" fmla="*/ 375 h 89"/>
                <a:gd name="T16" fmla="+- 0 5732 5650"/>
                <a:gd name="T17" fmla="*/ T16 w 96"/>
                <a:gd name="T18" fmla="+- 0 389 375"/>
                <a:gd name="T19" fmla="*/ 389 h 89"/>
                <a:gd name="T20" fmla="+- 0 5732 5650"/>
                <a:gd name="T21" fmla="*/ T20 w 96"/>
                <a:gd name="T22" fmla="+- 0 454 375"/>
                <a:gd name="T23" fmla="*/ 454 h 89"/>
                <a:gd name="T24" fmla="+- 0 5742 5650"/>
                <a:gd name="T25" fmla="*/ T24 w 96"/>
                <a:gd name="T26" fmla="+- 0 464 375"/>
                <a:gd name="T27" fmla="*/ 464 h 89"/>
                <a:gd name="T28" fmla="+- 0 5746 5650"/>
                <a:gd name="T29" fmla="*/ T28 w 96"/>
                <a:gd name="T30" fmla="+- 0 464 375"/>
                <a:gd name="T31" fmla="*/ 464 h 89"/>
                <a:gd name="T32" fmla="+- 0 5703 5650"/>
                <a:gd name="T33" fmla="*/ T32 w 96"/>
                <a:gd name="T34" fmla="+- 0 464 375"/>
                <a:gd name="T35" fmla="*/ 464 h 89"/>
                <a:gd name="T36" fmla="+- 0 5713 5650"/>
                <a:gd name="T37" fmla="*/ T36 w 96"/>
                <a:gd name="T38" fmla="+- 0 464 375"/>
                <a:gd name="T39" fmla="*/ 464 h 89"/>
                <a:gd name="T40" fmla="+- 0 5713 5650"/>
                <a:gd name="T41" fmla="*/ T40 w 96"/>
                <a:gd name="T42" fmla="+- 0 459 375"/>
                <a:gd name="T43" fmla="*/ 459 h 89"/>
                <a:gd name="T44" fmla="+- 0 5718 5650"/>
                <a:gd name="T45" fmla="*/ T44 w 96"/>
                <a:gd name="T46" fmla="+- 0 459 375"/>
                <a:gd name="T47" fmla="*/ 459 h 89"/>
                <a:gd name="T48" fmla="+- 0 5718 5650"/>
                <a:gd name="T49" fmla="*/ T48 w 96"/>
                <a:gd name="T50" fmla="+- 0 399 375"/>
                <a:gd name="T51" fmla="*/ 399 h 89"/>
                <a:gd name="T52" fmla="+- 0 5713 5650"/>
                <a:gd name="T53" fmla="*/ T52 w 96"/>
                <a:gd name="T54" fmla="+- 0 394 375"/>
                <a:gd name="T55" fmla="*/ 394 h 89"/>
                <a:gd name="T56" fmla="+- 0 5713 5650"/>
                <a:gd name="T57" fmla="*/ T56 w 96"/>
                <a:gd name="T58" fmla="+- 0 389 375"/>
                <a:gd name="T59" fmla="*/ 389 h 89"/>
                <a:gd name="T60" fmla="+- 0 5694 5650"/>
                <a:gd name="T61" fmla="*/ T60 w 96"/>
                <a:gd name="T62" fmla="+- 0 389 375"/>
                <a:gd name="T63" fmla="*/ 389 h 89"/>
                <a:gd name="T64" fmla="+- 0 5679 5650"/>
                <a:gd name="T65" fmla="*/ T64 w 96"/>
                <a:gd name="T66" fmla="+- 0 399 375"/>
                <a:gd name="T67" fmla="*/ 399 h 89"/>
                <a:gd name="T68" fmla="+- 0 5679 5650"/>
                <a:gd name="T69" fmla="*/ T68 w 96"/>
                <a:gd name="T70" fmla="+- 0 454 375"/>
                <a:gd name="T71" fmla="*/ 454 h 89"/>
                <a:gd name="T72" fmla="+- 0 5689 5650"/>
                <a:gd name="T73" fmla="*/ T72 w 96"/>
                <a:gd name="T74" fmla="+- 0 464 375"/>
                <a:gd name="T75" fmla="*/ 464 h 89"/>
                <a:gd name="T76" fmla="+- 0 5694 5650"/>
                <a:gd name="T77" fmla="*/ T76 w 96"/>
                <a:gd name="T78" fmla="+- 0 464 375"/>
                <a:gd name="T79" fmla="*/ 464 h 89"/>
                <a:gd name="T80" fmla="+- 0 5650 5650"/>
                <a:gd name="T81" fmla="*/ T80 w 96"/>
                <a:gd name="T82" fmla="+- 0 464 375"/>
                <a:gd name="T83" fmla="*/ 464 h 89"/>
                <a:gd name="T84" fmla="+- 0 5655 5650"/>
                <a:gd name="T85" fmla="*/ T84 w 96"/>
                <a:gd name="T86" fmla="+- 0 464 375"/>
                <a:gd name="T87" fmla="*/ 464 h 89"/>
                <a:gd name="T88" fmla="+- 0 5660 5650"/>
                <a:gd name="T89" fmla="*/ T88 w 96"/>
                <a:gd name="T90" fmla="+- 0 459 375"/>
                <a:gd name="T91" fmla="*/ 459 h 89"/>
                <a:gd name="T92" fmla="+- 0 5665 5650"/>
                <a:gd name="T93" fmla="*/ T92 w 96"/>
                <a:gd name="T94" fmla="+- 0 459 375"/>
                <a:gd name="T95" fmla="*/ 459 h 89"/>
                <a:gd name="T96" fmla="+- 0 5665 5650"/>
                <a:gd name="T97" fmla="*/ T96 w 96"/>
                <a:gd name="T98" fmla="+- 0 394 375"/>
                <a:gd name="T99" fmla="*/ 394 h 89"/>
                <a:gd name="T100" fmla="+- 0 5660 5650"/>
                <a:gd name="T101" fmla="*/ T100 w 96"/>
                <a:gd name="T102" fmla="+- 0 389 375"/>
                <a:gd name="T103" fmla="*/ 389 h 89"/>
                <a:gd name="T104" fmla="+- 0 5650 5650"/>
                <a:gd name="T105" fmla="*/ T104 w 96"/>
                <a:gd name="T106" fmla="+- 0 389 375"/>
                <a:gd name="T107" fmla="*/ 389 h 89"/>
                <a:gd name="T108" fmla="+- 0 5650 5650"/>
                <a:gd name="T109" fmla="*/ T108 w 96"/>
                <a:gd name="T110" fmla="+- 0 385 375"/>
                <a:gd name="T111" fmla="*/ 385 h 89"/>
                <a:gd name="T112" fmla="+- 0 5674 5650"/>
                <a:gd name="T113" fmla="*/ T112 w 96"/>
                <a:gd name="T114" fmla="+- 0 375 375"/>
                <a:gd name="T115" fmla="*/ 375 h 89"/>
                <a:gd name="T116" fmla="+- 0 5679 5650"/>
                <a:gd name="T117" fmla="*/ T116 w 96"/>
                <a:gd name="T118" fmla="+- 0 375 375"/>
                <a:gd name="T119" fmla="*/ 375 h 89"/>
                <a:gd name="T120" fmla="+- 0 5679 5650"/>
                <a:gd name="T121" fmla="*/ T120 w 96"/>
                <a:gd name="T122" fmla="+- 0 394 375"/>
                <a:gd name="T123" fmla="*/ 394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Lst>
              <a:rect l="0" t="0" r="r" b="b"/>
              <a:pathLst>
                <a:path w="96" h="89">
                  <a:moveTo>
                    <a:pt x="29" y="19"/>
                  </a:moveTo>
                  <a:lnTo>
                    <a:pt x="48" y="5"/>
                  </a:lnTo>
                  <a:lnTo>
                    <a:pt x="63" y="0"/>
                  </a:lnTo>
                  <a:lnTo>
                    <a:pt x="68" y="0"/>
                  </a:lnTo>
                  <a:lnTo>
                    <a:pt x="82" y="14"/>
                  </a:lnTo>
                  <a:lnTo>
                    <a:pt x="82" y="79"/>
                  </a:lnTo>
                  <a:lnTo>
                    <a:pt x="92" y="89"/>
                  </a:lnTo>
                  <a:lnTo>
                    <a:pt x="96" y="89"/>
                  </a:lnTo>
                  <a:lnTo>
                    <a:pt x="53" y="89"/>
                  </a:lnTo>
                  <a:lnTo>
                    <a:pt x="63" y="89"/>
                  </a:lnTo>
                  <a:lnTo>
                    <a:pt x="63" y="84"/>
                  </a:lnTo>
                  <a:lnTo>
                    <a:pt x="68" y="84"/>
                  </a:lnTo>
                  <a:lnTo>
                    <a:pt x="68" y="24"/>
                  </a:lnTo>
                  <a:lnTo>
                    <a:pt x="63" y="19"/>
                  </a:lnTo>
                  <a:lnTo>
                    <a:pt x="63" y="14"/>
                  </a:lnTo>
                  <a:lnTo>
                    <a:pt x="44" y="14"/>
                  </a:lnTo>
                  <a:lnTo>
                    <a:pt x="29" y="24"/>
                  </a:lnTo>
                  <a:lnTo>
                    <a:pt x="29" y="79"/>
                  </a:lnTo>
                  <a:lnTo>
                    <a:pt x="39" y="89"/>
                  </a:lnTo>
                  <a:lnTo>
                    <a:pt x="44" y="89"/>
                  </a:lnTo>
                  <a:lnTo>
                    <a:pt x="0" y="89"/>
                  </a:lnTo>
                  <a:lnTo>
                    <a:pt x="5" y="89"/>
                  </a:lnTo>
                  <a:lnTo>
                    <a:pt x="10" y="84"/>
                  </a:lnTo>
                  <a:lnTo>
                    <a:pt x="15" y="84"/>
                  </a:lnTo>
                  <a:lnTo>
                    <a:pt x="15" y="19"/>
                  </a:lnTo>
                  <a:lnTo>
                    <a:pt x="10" y="14"/>
                  </a:lnTo>
                  <a:lnTo>
                    <a:pt x="0" y="14"/>
                  </a:lnTo>
                  <a:lnTo>
                    <a:pt x="0" y="10"/>
                  </a:lnTo>
                  <a:lnTo>
                    <a:pt x="24" y="0"/>
                  </a:lnTo>
                  <a:lnTo>
                    <a:pt x="29" y="0"/>
                  </a:lnTo>
                  <a:lnTo>
                    <a:pt x="29" y="19"/>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Freeform 17">
              <a:extLst>
                <a:ext uri="{FF2B5EF4-FFF2-40B4-BE49-F238E27FC236}">
                  <a16:creationId xmlns:a16="http://schemas.microsoft.com/office/drawing/2014/main" xmlns="" id="{CDBBCFBC-E4F9-7AC7-9430-8B2DFE3B2F38}"/>
                </a:ext>
              </a:extLst>
            </p:cNvPr>
            <p:cNvSpPr>
              <a:spLocks/>
            </p:cNvSpPr>
            <p:nvPr/>
          </p:nvSpPr>
          <p:spPr bwMode="auto">
            <a:xfrm>
              <a:off x="5751" y="379"/>
              <a:ext cx="94" cy="89"/>
            </a:xfrm>
            <a:custGeom>
              <a:avLst/>
              <a:gdLst>
                <a:gd name="T0" fmla="+- 0 5751 5751"/>
                <a:gd name="T1" fmla="*/ T0 w 94"/>
                <a:gd name="T2" fmla="+- 0 380 380"/>
                <a:gd name="T3" fmla="*/ 380 h 89"/>
                <a:gd name="T4" fmla="+- 0 5792 5751"/>
                <a:gd name="T5" fmla="*/ T4 w 94"/>
                <a:gd name="T6" fmla="+- 0 380 380"/>
                <a:gd name="T7" fmla="*/ 380 h 89"/>
                <a:gd name="T8" fmla="+- 0 5787 5751"/>
                <a:gd name="T9" fmla="*/ T8 w 94"/>
                <a:gd name="T10" fmla="+- 0 380 380"/>
                <a:gd name="T11" fmla="*/ 380 h 89"/>
                <a:gd name="T12" fmla="+- 0 5782 5751"/>
                <a:gd name="T13" fmla="*/ T12 w 94"/>
                <a:gd name="T14" fmla="+- 0 385 380"/>
                <a:gd name="T15" fmla="*/ 385 h 89"/>
                <a:gd name="T16" fmla="+- 0 5780 5751"/>
                <a:gd name="T17" fmla="*/ T16 w 94"/>
                <a:gd name="T18" fmla="+- 0 385 380"/>
                <a:gd name="T19" fmla="*/ 385 h 89"/>
                <a:gd name="T20" fmla="+- 0 5780 5751"/>
                <a:gd name="T21" fmla="*/ T20 w 94"/>
                <a:gd name="T22" fmla="+- 0 394 380"/>
                <a:gd name="T23" fmla="*/ 394 h 89"/>
                <a:gd name="T24" fmla="+- 0 5782 5751"/>
                <a:gd name="T25" fmla="*/ T24 w 94"/>
                <a:gd name="T26" fmla="+- 0 399 380"/>
                <a:gd name="T27" fmla="*/ 399 h 89"/>
                <a:gd name="T28" fmla="+- 0 5802 5751"/>
                <a:gd name="T29" fmla="*/ T28 w 94"/>
                <a:gd name="T30" fmla="+- 0 445 380"/>
                <a:gd name="T31" fmla="*/ 445 h 89"/>
                <a:gd name="T32" fmla="+- 0 5821 5751"/>
                <a:gd name="T33" fmla="*/ T32 w 94"/>
                <a:gd name="T34" fmla="+- 0 394 380"/>
                <a:gd name="T35" fmla="*/ 394 h 89"/>
                <a:gd name="T36" fmla="+- 0 5826 5751"/>
                <a:gd name="T37" fmla="*/ T36 w 94"/>
                <a:gd name="T38" fmla="+- 0 389 380"/>
                <a:gd name="T39" fmla="*/ 389 h 89"/>
                <a:gd name="T40" fmla="+- 0 5826 5751"/>
                <a:gd name="T41" fmla="*/ T40 w 94"/>
                <a:gd name="T42" fmla="+- 0 385 380"/>
                <a:gd name="T43" fmla="*/ 385 h 89"/>
                <a:gd name="T44" fmla="+- 0 5821 5751"/>
                <a:gd name="T45" fmla="*/ T44 w 94"/>
                <a:gd name="T46" fmla="+- 0 385 380"/>
                <a:gd name="T47" fmla="*/ 385 h 89"/>
                <a:gd name="T48" fmla="+- 0 5816 5751"/>
                <a:gd name="T49" fmla="*/ T48 w 94"/>
                <a:gd name="T50" fmla="+- 0 380 380"/>
                <a:gd name="T51" fmla="*/ 380 h 89"/>
                <a:gd name="T52" fmla="+- 0 5845 5751"/>
                <a:gd name="T53" fmla="*/ T52 w 94"/>
                <a:gd name="T54" fmla="+- 0 380 380"/>
                <a:gd name="T55" fmla="*/ 380 h 89"/>
                <a:gd name="T56" fmla="+- 0 5840 5751"/>
                <a:gd name="T57" fmla="*/ T56 w 94"/>
                <a:gd name="T58" fmla="+- 0 385 380"/>
                <a:gd name="T59" fmla="*/ 385 h 89"/>
                <a:gd name="T60" fmla="+- 0 5835 5751"/>
                <a:gd name="T61" fmla="*/ T60 w 94"/>
                <a:gd name="T62" fmla="+- 0 385 380"/>
                <a:gd name="T63" fmla="*/ 385 h 89"/>
                <a:gd name="T64" fmla="+- 0 5835 5751"/>
                <a:gd name="T65" fmla="*/ T64 w 94"/>
                <a:gd name="T66" fmla="+- 0 389 380"/>
                <a:gd name="T67" fmla="*/ 389 h 89"/>
                <a:gd name="T68" fmla="+- 0 5830 5751"/>
                <a:gd name="T69" fmla="*/ T68 w 94"/>
                <a:gd name="T70" fmla="+- 0 394 380"/>
                <a:gd name="T71" fmla="*/ 394 h 89"/>
                <a:gd name="T72" fmla="+- 0 5802 5751"/>
                <a:gd name="T73" fmla="*/ T72 w 94"/>
                <a:gd name="T74" fmla="+- 0 469 380"/>
                <a:gd name="T75" fmla="*/ 469 h 89"/>
                <a:gd name="T76" fmla="+- 0 5797 5751"/>
                <a:gd name="T77" fmla="*/ T76 w 94"/>
                <a:gd name="T78" fmla="+- 0 469 380"/>
                <a:gd name="T79" fmla="*/ 469 h 89"/>
                <a:gd name="T80" fmla="+- 0 5766 5751"/>
                <a:gd name="T81" fmla="*/ T80 w 94"/>
                <a:gd name="T82" fmla="+- 0 394 380"/>
                <a:gd name="T83" fmla="*/ 394 h 89"/>
                <a:gd name="T84" fmla="+- 0 5766 5751"/>
                <a:gd name="T85" fmla="*/ T84 w 94"/>
                <a:gd name="T86" fmla="+- 0 389 380"/>
                <a:gd name="T87" fmla="*/ 389 h 89"/>
                <a:gd name="T88" fmla="+- 0 5761 5751"/>
                <a:gd name="T89" fmla="*/ T88 w 94"/>
                <a:gd name="T90" fmla="+- 0 389 380"/>
                <a:gd name="T91" fmla="*/ 389 h 89"/>
                <a:gd name="T92" fmla="+- 0 5761 5751"/>
                <a:gd name="T93" fmla="*/ T92 w 94"/>
                <a:gd name="T94" fmla="+- 0 385 380"/>
                <a:gd name="T95" fmla="*/ 385 h 89"/>
                <a:gd name="T96" fmla="+- 0 5756 5751"/>
                <a:gd name="T97" fmla="*/ T96 w 94"/>
                <a:gd name="T98" fmla="+- 0 385 380"/>
                <a:gd name="T99" fmla="*/ 385 h 89"/>
                <a:gd name="T100" fmla="+- 0 5751 5751"/>
                <a:gd name="T101" fmla="*/ T100 w 94"/>
                <a:gd name="T102" fmla="+- 0 380 380"/>
                <a:gd name="T103" fmla="*/ 380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94" h="89">
                  <a:moveTo>
                    <a:pt x="0" y="0"/>
                  </a:moveTo>
                  <a:lnTo>
                    <a:pt x="41" y="0"/>
                  </a:lnTo>
                  <a:lnTo>
                    <a:pt x="36" y="0"/>
                  </a:lnTo>
                  <a:lnTo>
                    <a:pt x="31" y="5"/>
                  </a:lnTo>
                  <a:lnTo>
                    <a:pt x="29" y="5"/>
                  </a:lnTo>
                  <a:lnTo>
                    <a:pt x="29" y="14"/>
                  </a:lnTo>
                  <a:lnTo>
                    <a:pt x="31" y="19"/>
                  </a:lnTo>
                  <a:lnTo>
                    <a:pt x="51" y="65"/>
                  </a:lnTo>
                  <a:lnTo>
                    <a:pt x="70" y="14"/>
                  </a:lnTo>
                  <a:lnTo>
                    <a:pt x="75" y="9"/>
                  </a:lnTo>
                  <a:lnTo>
                    <a:pt x="75" y="5"/>
                  </a:lnTo>
                  <a:lnTo>
                    <a:pt x="70" y="5"/>
                  </a:lnTo>
                  <a:lnTo>
                    <a:pt x="65" y="0"/>
                  </a:lnTo>
                  <a:lnTo>
                    <a:pt x="94" y="0"/>
                  </a:lnTo>
                  <a:lnTo>
                    <a:pt x="89" y="5"/>
                  </a:lnTo>
                  <a:lnTo>
                    <a:pt x="84" y="5"/>
                  </a:lnTo>
                  <a:lnTo>
                    <a:pt x="84" y="9"/>
                  </a:lnTo>
                  <a:lnTo>
                    <a:pt x="79" y="14"/>
                  </a:lnTo>
                  <a:lnTo>
                    <a:pt x="51" y="89"/>
                  </a:lnTo>
                  <a:lnTo>
                    <a:pt x="46" y="89"/>
                  </a:lnTo>
                  <a:lnTo>
                    <a:pt x="15" y="14"/>
                  </a:lnTo>
                  <a:lnTo>
                    <a:pt x="15" y="9"/>
                  </a:lnTo>
                  <a:lnTo>
                    <a:pt x="10" y="9"/>
                  </a:lnTo>
                  <a:lnTo>
                    <a:pt x="10" y="5"/>
                  </a:lnTo>
                  <a:lnTo>
                    <a:pt x="5" y="5"/>
                  </a:lnTo>
                  <a:lnTo>
                    <a:pt x="0"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8" name="Freeform 18">
              <a:extLst>
                <a:ext uri="{FF2B5EF4-FFF2-40B4-BE49-F238E27FC236}">
                  <a16:creationId xmlns:a16="http://schemas.microsoft.com/office/drawing/2014/main" xmlns="" id="{B8363DF4-0CFC-EBEB-FF97-0E09511C32E8}"/>
                </a:ext>
              </a:extLst>
            </p:cNvPr>
            <p:cNvSpPr>
              <a:spLocks/>
            </p:cNvSpPr>
            <p:nvPr/>
          </p:nvSpPr>
          <p:spPr bwMode="auto">
            <a:xfrm>
              <a:off x="5864" y="326"/>
              <a:ext cx="20" cy="24"/>
            </a:xfrm>
            <a:custGeom>
              <a:avLst/>
              <a:gdLst>
                <a:gd name="T0" fmla="+- 0 5874 5864"/>
                <a:gd name="T1" fmla="*/ T0 w 20"/>
                <a:gd name="T2" fmla="+- 0 327 327"/>
                <a:gd name="T3" fmla="*/ 327 h 24"/>
                <a:gd name="T4" fmla="+- 0 5878 5864"/>
                <a:gd name="T5" fmla="*/ T4 w 20"/>
                <a:gd name="T6" fmla="+- 0 332 327"/>
                <a:gd name="T7" fmla="*/ 332 h 24"/>
                <a:gd name="T8" fmla="+- 0 5883 5864"/>
                <a:gd name="T9" fmla="*/ T8 w 20"/>
                <a:gd name="T10" fmla="+- 0 332 327"/>
                <a:gd name="T11" fmla="*/ 332 h 24"/>
                <a:gd name="T12" fmla="+- 0 5883 5864"/>
                <a:gd name="T13" fmla="*/ T12 w 20"/>
                <a:gd name="T14" fmla="+- 0 346 327"/>
                <a:gd name="T15" fmla="*/ 346 h 24"/>
                <a:gd name="T16" fmla="+- 0 5878 5864"/>
                <a:gd name="T17" fmla="*/ T16 w 20"/>
                <a:gd name="T18" fmla="+- 0 346 327"/>
                <a:gd name="T19" fmla="*/ 346 h 24"/>
                <a:gd name="T20" fmla="+- 0 5874 5864"/>
                <a:gd name="T21" fmla="*/ T20 w 20"/>
                <a:gd name="T22" fmla="+- 0 351 327"/>
                <a:gd name="T23" fmla="*/ 351 h 24"/>
                <a:gd name="T24" fmla="+- 0 5874 5864"/>
                <a:gd name="T25" fmla="*/ T24 w 20"/>
                <a:gd name="T26" fmla="+- 0 346 327"/>
                <a:gd name="T27" fmla="*/ 346 h 24"/>
                <a:gd name="T28" fmla="+- 0 5869 5864"/>
                <a:gd name="T29" fmla="*/ T28 w 20"/>
                <a:gd name="T30" fmla="+- 0 346 327"/>
                <a:gd name="T31" fmla="*/ 346 h 24"/>
                <a:gd name="T32" fmla="+- 0 5864 5864"/>
                <a:gd name="T33" fmla="*/ T32 w 20"/>
                <a:gd name="T34" fmla="+- 0 341 327"/>
                <a:gd name="T35" fmla="*/ 341 h 24"/>
                <a:gd name="T36" fmla="+- 0 5864 5864"/>
                <a:gd name="T37" fmla="*/ T36 w 20"/>
                <a:gd name="T38" fmla="+- 0 337 327"/>
                <a:gd name="T39" fmla="*/ 337 h 24"/>
                <a:gd name="T40" fmla="+- 0 5869 5864"/>
                <a:gd name="T41" fmla="*/ T40 w 20"/>
                <a:gd name="T42" fmla="+- 0 332 327"/>
                <a:gd name="T43" fmla="*/ 332 h 24"/>
                <a:gd name="T44" fmla="+- 0 5874 5864"/>
                <a:gd name="T45" fmla="*/ T44 w 20"/>
                <a:gd name="T46" fmla="+- 0 332 327"/>
                <a:gd name="T47" fmla="*/ 332 h 24"/>
                <a:gd name="T48" fmla="+- 0 5874 5864"/>
                <a:gd name="T49" fmla="*/ T48 w 20"/>
                <a:gd name="T50" fmla="+- 0 327 327"/>
                <a:gd name="T51" fmla="*/ 327 h 2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20" h="24">
                  <a:moveTo>
                    <a:pt x="10" y="0"/>
                  </a:moveTo>
                  <a:lnTo>
                    <a:pt x="14" y="5"/>
                  </a:lnTo>
                  <a:lnTo>
                    <a:pt x="19" y="5"/>
                  </a:lnTo>
                  <a:lnTo>
                    <a:pt x="19" y="19"/>
                  </a:lnTo>
                  <a:lnTo>
                    <a:pt x="14" y="19"/>
                  </a:lnTo>
                  <a:lnTo>
                    <a:pt x="10" y="24"/>
                  </a:lnTo>
                  <a:lnTo>
                    <a:pt x="10" y="19"/>
                  </a:lnTo>
                  <a:lnTo>
                    <a:pt x="5" y="19"/>
                  </a:lnTo>
                  <a:lnTo>
                    <a:pt x="0" y="14"/>
                  </a:lnTo>
                  <a:lnTo>
                    <a:pt x="0" y="10"/>
                  </a:lnTo>
                  <a:lnTo>
                    <a:pt x="5" y="5"/>
                  </a:lnTo>
                  <a:lnTo>
                    <a:pt x="10" y="5"/>
                  </a:lnTo>
                  <a:lnTo>
                    <a:pt x="10"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9" name="Freeform 19">
              <a:extLst>
                <a:ext uri="{FF2B5EF4-FFF2-40B4-BE49-F238E27FC236}">
                  <a16:creationId xmlns:a16="http://schemas.microsoft.com/office/drawing/2014/main" xmlns="" id="{2BA2A260-DE22-B335-AB1F-B8D51127A0AD}"/>
                </a:ext>
              </a:extLst>
            </p:cNvPr>
            <p:cNvSpPr>
              <a:spLocks/>
            </p:cNvSpPr>
            <p:nvPr/>
          </p:nvSpPr>
          <p:spPr bwMode="auto">
            <a:xfrm>
              <a:off x="5849" y="374"/>
              <a:ext cx="48" cy="89"/>
            </a:xfrm>
            <a:custGeom>
              <a:avLst/>
              <a:gdLst>
                <a:gd name="T0" fmla="+- 0 5883 5850"/>
                <a:gd name="T1" fmla="*/ T0 w 48"/>
                <a:gd name="T2" fmla="+- 0 375 375"/>
                <a:gd name="T3" fmla="*/ 375 h 89"/>
                <a:gd name="T4" fmla="+- 0 5883 5850"/>
                <a:gd name="T5" fmla="*/ T4 w 48"/>
                <a:gd name="T6" fmla="+- 0 459 375"/>
                <a:gd name="T7" fmla="*/ 459 h 89"/>
                <a:gd name="T8" fmla="+- 0 5888 5850"/>
                <a:gd name="T9" fmla="*/ T8 w 48"/>
                <a:gd name="T10" fmla="+- 0 459 375"/>
                <a:gd name="T11" fmla="*/ 459 h 89"/>
                <a:gd name="T12" fmla="+- 0 5893 5850"/>
                <a:gd name="T13" fmla="*/ T12 w 48"/>
                <a:gd name="T14" fmla="+- 0 464 375"/>
                <a:gd name="T15" fmla="*/ 464 h 89"/>
                <a:gd name="T16" fmla="+- 0 5898 5850"/>
                <a:gd name="T17" fmla="*/ T16 w 48"/>
                <a:gd name="T18" fmla="+- 0 464 375"/>
                <a:gd name="T19" fmla="*/ 464 h 89"/>
                <a:gd name="T20" fmla="+- 0 5854 5850"/>
                <a:gd name="T21" fmla="*/ T20 w 48"/>
                <a:gd name="T22" fmla="+- 0 464 375"/>
                <a:gd name="T23" fmla="*/ 464 h 89"/>
                <a:gd name="T24" fmla="+- 0 5859 5850"/>
                <a:gd name="T25" fmla="*/ T24 w 48"/>
                <a:gd name="T26" fmla="+- 0 464 375"/>
                <a:gd name="T27" fmla="*/ 464 h 89"/>
                <a:gd name="T28" fmla="+- 0 5869 5850"/>
                <a:gd name="T29" fmla="*/ T28 w 48"/>
                <a:gd name="T30" fmla="+- 0 454 375"/>
                <a:gd name="T31" fmla="*/ 454 h 89"/>
                <a:gd name="T32" fmla="+- 0 5869 5850"/>
                <a:gd name="T33" fmla="*/ T32 w 48"/>
                <a:gd name="T34" fmla="+- 0 399 375"/>
                <a:gd name="T35" fmla="*/ 399 h 89"/>
                <a:gd name="T36" fmla="+- 0 5864 5850"/>
                <a:gd name="T37" fmla="*/ T36 w 48"/>
                <a:gd name="T38" fmla="+- 0 394 375"/>
                <a:gd name="T39" fmla="*/ 394 h 89"/>
                <a:gd name="T40" fmla="+- 0 5864 5850"/>
                <a:gd name="T41" fmla="*/ T40 w 48"/>
                <a:gd name="T42" fmla="+- 0 389 375"/>
                <a:gd name="T43" fmla="*/ 389 h 89"/>
                <a:gd name="T44" fmla="+- 0 5854 5850"/>
                <a:gd name="T45" fmla="*/ T44 w 48"/>
                <a:gd name="T46" fmla="+- 0 389 375"/>
                <a:gd name="T47" fmla="*/ 389 h 89"/>
                <a:gd name="T48" fmla="+- 0 5850 5850"/>
                <a:gd name="T49" fmla="*/ T48 w 48"/>
                <a:gd name="T50" fmla="+- 0 385 375"/>
                <a:gd name="T51" fmla="*/ 385 h 89"/>
                <a:gd name="T52" fmla="+- 0 5878 5850"/>
                <a:gd name="T53" fmla="*/ T52 w 48"/>
                <a:gd name="T54" fmla="+- 0 375 375"/>
                <a:gd name="T55" fmla="*/ 375 h 89"/>
                <a:gd name="T56" fmla="+- 0 5883 5850"/>
                <a:gd name="T57" fmla="*/ T56 w 48"/>
                <a:gd name="T58" fmla="+- 0 375 375"/>
                <a:gd name="T59" fmla="*/ 375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48" h="89">
                  <a:moveTo>
                    <a:pt x="33" y="0"/>
                  </a:moveTo>
                  <a:lnTo>
                    <a:pt x="33" y="84"/>
                  </a:lnTo>
                  <a:lnTo>
                    <a:pt x="38" y="84"/>
                  </a:lnTo>
                  <a:lnTo>
                    <a:pt x="43" y="89"/>
                  </a:lnTo>
                  <a:lnTo>
                    <a:pt x="48" y="89"/>
                  </a:lnTo>
                  <a:lnTo>
                    <a:pt x="4" y="89"/>
                  </a:lnTo>
                  <a:lnTo>
                    <a:pt x="9" y="89"/>
                  </a:lnTo>
                  <a:lnTo>
                    <a:pt x="19" y="79"/>
                  </a:lnTo>
                  <a:lnTo>
                    <a:pt x="19" y="24"/>
                  </a:lnTo>
                  <a:lnTo>
                    <a:pt x="14" y="19"/>
                  </a:lnTo>
                  <a:lnTo>
                    <a:pt x="14" y="14"/>
                  </a:lnTo>
                  <a:lnTo>
                    <a:pt x="4" y="14"/>
                  </a:lnTo>
                  <a:lnTo>
                    <a:pt x="0" y="10"/>
                  </a:lnTo>
                  <a:lnTo>
                    <a:pt x="28" y="0"/>
                  </a:lnTo>
                  <a:lnTo>
                    <a:pt x="33"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Freeform 20">
              <a:extLst>
                <a:ext uri="{FF2B5EF4-FFF2-40B4-BE49-F238E27FC236}">
                  <a16:creationId xmlns:a16="http://schemas.microsoft.com/office/drawing/2014/main" xmlns="" id="{4D21AA3B-11CE-ABCB-DE84-707426BC93A2}"/>
                </a:ext>
              </a:extLst>
            </p:cNvPr>
            <p:cNvSpPr>
              <a:spLocks/>
            </p:cNvSpPr>
            <p:nvPr/>
          </p:nvSpPr>
          <p:spPr bwMode="auto">
            <a:xfrm>
              <a:off x="5902" y="374"/>
              <a:ext cx="65" cy="89"/>
            </a:xfrm>
            <a:custGeom>
              <a:avLst/>
              <a:gdLst>
                <a:gd name="T0" fmla="+- 0 5936 5902"/>
                <a:gd name="T1" fmla="*/ T0 w 65"/>
                <a:gd name="T2" fmla="+- 0 375 375"/>
                <a:gd name="T3" fmla="*/ 375 h 89"/>
                <a:gd name="T4" fmla="+- 0 5936 5902"/>
                <a:gd name="T5" fmla="*/ T4 w 65"/>
                <a:gd name="T6" fmla="+- 0 394 375"/>
                <a:gd name="T7" fmla="*/ 394 h 89"/>
                <a:gd name="T8" fmla="+- 0 5946 5902"/>
                <a:gd name="T9" fmla="*/ T8 w 65"/>
                <a:gd name="T10" fmla="+- 0 380 375"/>
                <a:gd name="T11" fmla="*/ 380 h 89"/>
                <a:gd name="T12" fmla="+- 0 5953 5902"/>
                <a:gd name="T13" fmla="*/ T12 w 65"/>
                <a:gd name="T14" fmla="+- 0 375 375"/>
                <a:gd name="T15" fmla="*/ 375 h 89"/>
                <a:gd name="T16" fmla="+- 0 5958 5902"/>
                <a:gd name="T17" fmla="*/ T16 w 65"/>
                <a:gd name="T18" fmla="+- 0 375 375"/>
                <a:gd name="T19" fmla="*/ 375 h 89"/>
                <a:gd name="T20" fmla="+- 0 5967 5902"/>
                <a:gd name="T21" fmla="*/ T20 w 65"/>
                <a:gd name="T22" fmla="+- 0 385 375"/>
                <a:gd name="T23" fmla="*/ 385 h 89"/>
                <a:gd name="T24" fmla="+- 0 5967 5902"/>
                <a:gd name="T25" fmla="*/ T24 w 65"/>
                <a:gd name="T26" fmla="+- 0 389 375"/>
                <a:gd name="T27" fmla="*/ 389 h 89"/>
                <a:gd name="T28" fmla="+- 0 5962 5902"/>
                <a:gd name="T29" fmla="*/ T28 w 65"/>
                <a:gd name="T30" fmla="+- 0 394 375"/>
                <a:gd name="T31" fmla="*/ 394 h 89"/>
                <a:gd name="T32" fmla="+- 0 5953 5902"/>
                <a:gd name="T33" fmla="*/ T32 w 65"/>
                <a:gd name="T34" fmla="+- 0 394 375"/>
                <a:gd name="T35" fmla="*/ 394 h 89"/>
                <a:gd name="T36" fmla="+- 0 5948 5902"/>
                <a:gd name="T37" fmla="*/ T36 w 65"/>
                <a:gd name="T38" fmla="+- 0 389 375"/>
                <a:gd name="T39" fmla="*/ 389 h 89"/>
                <a:gd name="T40" fmla="+- 0 5941 5902"/>
                <a:gd name="T41" fmla="*/ T40 w 65"/>
                <a:gd name="T42" fmla="+- 0 389 375"/>
                <a:gd name="T43" fmla="*/ 389 h 89"/>
                <a:gd name="T44" fmla="+- 0 5941 5902"/>
                <a:gd name="T45" fmla="*/ T44 w 65"/>
                <a:gd name="T46" fmla="+- 0 394 375"/>
                <a:gd name="T47" fmla="*/ 394 h 89"/>
                <a:gd name="T48" fmla="+- 0 5936 5902"/>
                <a:gd name="T49" fmla="*/ T48 w 65"/>
                <a:gd name="T50" fmla="+- 0 401 375"/>
                <a:gd name="T51" fmla="*/ 401 h 89"/>
                <a:gd name="T52" fmla="+- 0 5936 5902"/>
                <a:gd name="T53" fmla="*/ T52 w 65"/>
                <a:gd name="T54" fmla="+- 0 459 375"/>
                <a:gd name="T55" fmla="*/ 459 h 89"/>
                <a:gd name="T56" fmla="+- 0 5941 5902"/>
                <a:gd name="T57" fmla="*/ T56 w 65"/>
                <a:gd name="T58" fmla="+- 0 459 375"/>
                <a:gd name="T59" fmla="*/ 459 h 89"/>
                <a:gd name="T60" fmla="+- 0 5946 5902"/>
                <a:gd name="T61" fmla="*/ T60 w 65"/>
                <a:gd name="T62" fmla="+- 0 464 375"/>
                <a:gd name="T63" fmla="*/ 464 h 89"/>
                <a:gd name="T64" fmla="+- 0 5948 5902"/>
                <a:gd name="T65" fmla="*/ T64 w 65"/>
                <a:gd name="T66" fmla="+- 0 464 375"/>
                <a:gd name="T67" fmla="*/ 464 h 89"/>
                <a:gd name="T68" fmla="+- 0 5902 5902"/>
                <a:gd name="T69" fmla="*/ T68 w 65"/>
                <a:gd name="T70" fmla="+- 0 464 375"/>
                <a:gd name="T71" fmla="*/ 464 h 89"/>
                <a:gd name="T72" fmla="+- 0 5912 5902"/>
                <a:gd name="T73" fmla="*/ T72 w 65"/>
                <a:gd name="T74" fmla="+- 0 464 375"/>
                <a:gd name="T75" fmla="*/ 464 h 89"/>
                <a:gd name="T76" fmla="+- 0 5912 5902"/>
                <a:gd name="T77" fmla="*/ T76 w 65"/>
                <a:gd name="T78" fmla="+- 0 459 375"/>
                <a:gd name="T79" fmla="*/ 459 h 89"/>
                <a:gd name="T80" fmla="+- 0 5917 5902"/>
                <a:gd name="T81" fmla="*/ T80 w 65"/>
                <a:gd name="T82" fmla="+- 0 459 375"/>
                <a:gd name="T83" fmla="*/ 459 h 89"/>
                <a:gd name="T84" fmla="+- 0 5917 5902"/>
                <a:gd name="T85" fmla="*/ T84 w 65"/>
                <a:gd name="T86" fmla="+- 0 389 375"/>
                <a:gd name="T87" fmla="*/ 389 h 89"/>
                <a:gd name="T88" fmla="+- 0 5902 5902"/>
                <a:gd name="T89" fmla="*/ T88 w 65"/>
                <a:gd name="T90" fmla="+- 0 389 375"/>
                <a:gd name="T91" fmla="*/ 389 h 89"/>
                <a:gd name="T92" fmla="+- 0 5902 5902"/>
                <a:gd name="T93" fmla="*/ T92 w 65"/>
                <a:gd name="T94" fmla="+- 0 385 375"/>
                <a:gd name="T95" fmla="*/ 385 h 89"/>
                <a:gd name="T96" fmla="+- 0 5931 5902"/>
                <a:gd name="T97" fmla="*/ T96 w 65"/>
                <a:gd name="T98" fmla="+- 0 375 375"/>
                <a:gd name="T99" fmla="*/ 375 h 89"/>
                <a:gd name="T100" fmla="+- 0 5936 5902"/>
                <a:gd name="T101" fmla="*/ T100 w 65"/>
                <a:gd name="T102" fmla="+- 0 375 375"/>
                <a:gd name="T103" fmla="*/ 375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65" h="89">
                  <a:moveTo>
                    <a:pt x="34" y="0"/>
                  </a:moveTo>
                  <a:lnTo>
                    <a:pt x="34" y="19"/>
                  </a:lnTo>
                  <a:lnTo>
                    <a:pt x="44" y="5"/>
                  </a:lnTo>
                  <a:lnTo>
                    <a:pt x="51" y="0"/>
                  </a:lnTo>
                  <a:lnTo>
                    <a:pt x="56" y="0"/>
                  </a:lnTo>
                  <a:lnTo>
                    <a:pt x="65" y="10"/>
                  </a:lnTo>
                  <a:lnTo>
                    <a:pt x="65" y="14"/>
                  </a:lnTo>
                  <a:lnTo>
                    <a:pt x="60" y="19"/>
                  </a:lnTo>
                  <a:lnTo>
                    <a:pt x="51" y="19"/>
                  </a:lnTo>
                  <a:lnTo>
                    <a:pt x="46" y="14"/>
                  </a:lnTo>
                  <a:lnTo>
                    <a:pt x="39" y="14"/>
                  </a:lnTo>
                  <a:lnTo>
                    <a:pt x="39" y="19"/>
                  </a:lnTo>
                  <a:lnTo>
                    <a:pt x="34" y="26"/>
                  </a:lnTo>
                  <a:lnTo>
                    <a:pt x="34" y="84"/>
                  </a:lnTo>
                  <a:lnTo>
                    <a:pt x="39" y="84"/>
                  </a:lnTo>
                  <a:lnTo>
                    <a:pt x="44" y="89"/>
                  </a:lnTo>
                  <a:lnTo>
                    <a:pt x="46" y="89"/>
                  </a:lnTo>
                  <a:lnTo>
                    <a:pt x="0" y="89"/>
                  </a:lnTo>
                  <a:lnTo>
                    <a:pt x="10" y="89"/>
                  </a:lnTo>
                  <a:lnTo>
                    <a:pt x="10" y="84"/>
                  </a:lnTo>
                  <a:lnTo>
                    <a:pt x="15" y="84"/>
                  </a:lnTo>
                  <a:lnTo>
                    <a:pt x="15" y="14"/>
                  </a:lnTo>
                  <a:lnTo>
                    <a:pt x="0" y="14"/>
                  </a:lnTo>
                  <a:lnTo>
                    <a:pt x="0" y="10"/>
                  </a:lnTo>
                  <a:lnTo>
                    <a:pt x="29" y="0"/>
                  </a:lnTo>
                  <a:lnTo>
                    <a:pt x="34"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Freeform 21">
              <a:extLst>
                <a:ext uri="{FF2B5EF4-FFF2-40B4-BE49-F238E27FC236}">
                  <a16:creationId xmlns:a16="http://schemas.microsoft.com/office/drawing/2014/main" xmlns="" id="{9D7A965A-9975-4216-B76A-4E539203410A}"/>
                </a:ext>
              </a:extLst>
            </p:cNvPr>
            <p:cNvSpPr>
              <a:spLocks/>
            </p:cNvSpPr>
            <p:nvPr/>
          </p:nvSpPr>
          <p:spPr bwMode="auto">
            <a:xfrm>
              <a:off x="5972" y="374"/>
              <a:ext cx="87" cy="94"/>
            </a:xfrm>
            <a:custGeom>
              <a:avLst/>
              <a:gdLst>
                <a:gd name="T0" fmla="+- 0 6015 5972"/>
                <a:gd name="T1" fmla="*/ T0 w 87"/>
                <a:gd name="T2" fmla="+- 0 375 375"/>
                <a:gd name="T3" fmla="*/ 375 h 94"/>
                <a:gd name="T4" fmla="+- 0 6034 5972"/>
                <a:gd name="T5" fmla="*/ T4 w 87"/>
                <a:gd name="T6" fmla="+- 0 380 375"/>
                <a:gd name="T7" fmla="*/ 380 h 94"/>
                <a:gd name="T8" fmla="+- 0 6049 5972"/>
                <a:gd name="T9" fmla="*/ T8 w 87"/>
                <a:gd name="T10" fmla="+- 0 389 375"/>
                <a:gd name="T11" fmla="*/ 389 h 94"/>
                <a:gd name="T12" fmla="+- 0 6058 5972"/>
                <a:gd name="T13" fmla="*/ T12 w 87"/>
                <a:gd name="T14" fmla="+- 0 401 375"/>
                <a:gd name="T15" fmla="*/ 401 h 94"/>
                <a:gd name="T16" fmla="+- 0 6058 5972"/>
                <a:gd name="T17" fmla="*/ T16 w 87"/>
                <a:gd name="T18" fmla="+- 0 430 375"/>
                <a:gd name="T19" fmla="*/ 430 h 94"/>
                <a:gd name="T20" fmla="+- 0 6054 5972"/>
                <a:gd name="T21" fmla="*/ T20 w 87"/>
                <a:gd name="T22" fmla="+- 0 445 375"/>
                <a:gd name="T23" fmla="*/ 445 h 94"/>
                <a:gd name="T24" fmla="+- 0 6044 5972"/>
                <a:gd name="T25" fmla="*/ T24 w 87"/>
                <a:gd name="T26" fmla="+- 0 454 375"/>
                <a:gd name="T27" fmla="*/ 454 h 94"/>
                <a:gd name="T28" fmla="+- 0 6039 5972"/>
                <a:gd name="T29" fmla="*/ T28 w 87"/>
                <a:gd name="T30" fmla="+- 0 464 375"/>
                <a:gd name="T31" fmla="*/ 464 h 94"/>
                <a:gd name="T32" fmla="+- 0 6025 5972"/>
                <a:gd name="T33" fmla="*/ T32 w 87"/>
                <a:gd name="T34" fmla="+- 0 469 375"/>
                <a:gd name="T35" fmla="*/ 469 h 94"/>
                <a:gd name="T36" fmla="+- 0 6015 5972"/>
                <a:gd name="T37" fmla="*/ T36 w 87"/>
                <a:gd name="T38" fmla="+- 0 469 375"/>
                <a:gd name="T39" fmla="*/ 469 h 94"/>
                <a:gd name="T40" fmla="+- 0 5996 5972"/>
                <a:gd name="T41" fmla="*/ T40 w 87"/>
                <a:gd name="T42" fmla="+- 0 464 375"/>
                <a:gd name="T43" fmla="*/ 464 h 94"/>
                <a:gd name="T44" fmla="+- 0 5982 5972"/>
                <a:gd name="T45" fmla="*/ T44 w 87"/>
                <a:gd name="T46" fmla="+- 0 454 375"/>
                <a:gd name="T47" fmla="*/ 454 h 94"/>
                <a:gd name="T48" fmla="+- 0 5977 5972"/>
                <a:gd name="T49" fmla="*/ T48 w 87"/>
                <a:gd name="T50" fmla="+- 0 440 375"/>
                <a:gd name="T51" fmla="*/ 440 h 94"/>
                <a:gd name="T52" fmla="+- 0 5972 5972"/>
                <a:gd name="T53" fmla="*/ T52 w 87"/>
                <a:gd name="T54" fmla="+- 0 421 375"/>
                <a:gd name="T55" fmla="*/ 421 h 94"/>
                <a:gd name="T56" fmla="+- 0 5972 5972"/>
                <a:gd name="T57" fmla="*/ T56 w 87"/>
                <a:gd name="T58" fmla="+- 0 411 375"/>
                <a:gd name="T59" fmla="*/ 411 h 94"/>
                <a:gd name="T60" fmla="+- 0 5977 5972"/>
                <a:gd name="T61" fmla="*/ T60 w 87"/>
                <a:gd name="T62" fmla="+- 0 399 375"/>
                <a:gd name="T63" fmla="*/ 399 h 94"/>
                <a:gd name="T64" fmla="+- 0 5996 5972"/>
                <a:gd name="T65" fmla="*/ T64 w 87"/>
                <a:gd name="T66" fmla="+- 0 380 375"/>
                <a:gd name="T67" fmla="*/ 380 h 94"/>
                <a:gd name="T68" fmla="+- 0 6006 5972"/>
                <a:gd name="T69" fmla="*/ T68 w 87"/>
                <a:gd name="T70" fmla="+- 0 375 375"/>
                <a:gd name="T71" fmla="*/ 375 h 94"/>
                <a:gd name="T72" fmla="+- 0 6015 5972"/>
                <a:gd name="T73" fmla="*/ T72 w 87"/>
                <a:gd name="T74" fmla="+- 0 375 375"/>
                <a:gd name="T75" fmla="*/ 375 h 9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87" h="94">
                  <a:moveTo>
                    <a:pt x="43" y="0"/>
                  </a:moveTo>
                  <a:lnTo>
                    <a:pt x="62" y="5"/>
                  </a:lnTo>
                  <a:lnTo>
                    <a:pt x="77" y="14"/>
                  </a:lnTo>
                  <a:lnTo>
                    <a:pt x="86" y="26"/>
                  </a:lnTo>
                  <a:lnTo>
                    <a:pt x="86" y="55"/>
                  </a:lnTo>
                  <a:lnTo>
                    <a:pt x="82" y="70"/>
                  </a:lnTo>
                  <a:lnTo>
                    <a:pt x="72" y="79"/>
                  </a:lnTo>
                  <a:lnTo>
                    <a:pt x="67" y="89"/>
                  </a:lnTo>
                  <a:lnTo>
                    <a:pt x="53" y="94"/>
                  </a:lnTo>
                  <a:lnTo>
                    <a:pt x="43" y="94"/>
                  </a:lnTo>
                  <a:lnTo>
                    <a:pt x="24" y="89"/>
                  </a:lnTo>
                  <a:lnTo>
                    <a:pt x="10" y="79"/>
                  </a:lnTo>
                  <a:lnTo>
                    <a:pt x="5" y="65"/>
                  </a:lnTo>
                  <a:lnTo>
                    <a:pt x="0" y="46"/>
                  </a:lnTo>
                  <a:lnTo>
                    <a:pt x="0" y="36"/>
                  </a:lnTo>
                  <a:lnTo>
                    <a:pt x="5" y="24"/>
                  </a:lnTo>
                  <a:lnTo>
                    <a:pt x="24" y="5"/>
                  </a:lnTo>
                  <a:lnTo>
                    <a:pt x="34" y="0"/>
                  </a:lnTo>
                  <a:lnTo>
                    <a:pt x="43"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2" name="Freeform 22">
              <a:extLst>
                <a:ext uri="{FF2B5EF4-FFF2-40B4-BE49-F238E27FC236}">
                  <a16:creationId xmlns:a16="http://schemas.microsoft.com/office/drawing/2014/main" xmlns="" id="{EAA3DDA6-CF4B-2DF0-4088-CDCC3755409F}"/>
                </a:ext>
              </a:extLst>
            </p:cNvPr>
            <p:cNvSpPr>
              <a:spLocks/>
            </p:cNvSpPr>
            <p:nvPr/>
          </p:nvSpPr>
          <p:spPr bwMode="auto">
            <a:xfrm>
              <a:off x="5991" y="384"/>
              <a:ext cx="48" cy="80"/>
            </a:xfrm>
            <a:custGeom>
              <a:avLst/>
              <a:gdLst>
                <a:gd name="T0" fmla="+- 0 6010 5991"/>
                <a:gd name="T1" fmla="*/ T0 w 48"/>
                <a:gd name="T2" fmla="+- 0 385 385"/>
                <a:gd name="T3" fmla="*/ 385 h 80"/>
                <a:gd name="T4" fmla="+- 0 6001 5991"/>
                <a:gd name="T5" fmla="*/ T4 w 48"/>
                <a:gd name="T6" fmla="+- 0 385 385"/>
                <a:gd name="T7" fmla="*/ 385 h 80"/>
                <a:gd name="T8" fmla="+- 0 5996 5991"/>
                <a:gd name="T9" fmla="*/ T8 w 48"/>
                <a:gd name="T10" fmla="+- 0 389 385"/>
                <a:gd name="T11" fmla="*/ 389 h 80"/>
                <a:gd name="T12" fmla="+- 0 5996 5991"/>
                <a:gd name="T13" fmla="*/ T12 w 48"/>
                <a:gd name="T14" fmla="+- 0 394 385"/>
                <a:gd name="T15" fmla="*/ 394 h 80"/>
                <a:gd name="T16" fmla="+- 0 5991 5991"/>
                <a:gd name="T17" fmla="*/ T16 w 48"/>
                <a:gd name="T18" fmla="+- 0 401 385"/>
                <a:gd name="T19" fmla="*/ 401 h 80"/>
                <a:gd name="T20" fmla="+- 0 5991 5991"/>
                <a:gd name="T21" fmla="*/ T20 w 48"/>
                <a:gd name="T22" fmla="+- 0 430 385"/>
                <a:gd name="T23" fmla="*/ 430 h 80"/>
                <a:gd name="T24" fmla="+- 0 6006 5991"/>
                <a:gd name="T25" fmla="*/ T24 w 48"/>
                <a:gd name="T26" fmla="+- 0 459 385"/>
                <a:gd name="T27" fmla="*/ 459 h 80"/>
                <a:gd name="T28" fmla="+- 0 6020 5991"/>
                <a:gd name="T29" fmla="*/ T28 w 48"/>
                <a:gd name="T30" fmla="+- 0 464 385"/>
                <a:gd name="T31" fmla="*/ 464 h 80"/>
                <a:gd name="T32" fmla="+- 0 6030 5991"/>
                <a:gd name="T33" fmla="*/ T32 w 48"/>
                <a:gd name="T34" fmla="+- 0 459 385"/>
                <a:gd name="T35" fmla="*/ 459 h 80"/>
                <a:gd name="T36" fmla="+- 0 6034 5991"/>
                <a:gd name="T37" fmla="*/ T36 w 48"/>
                <a:gd name="T38" fmla="+- 0 454 385"/>
                <a:gd name="T39" fmla="*/ 454 h 80"/>
                <a:gd name="T40" fmla="+- 0 6039 5991"/>
                <a:gd name="T41" fmla="*/ T40 w 48"/>
                <a:gd name="T42" fmla="+- 0 445 385"/>
                <a:gd name="T43" fmla="*/ 445 h 80"/>
                <a:gd name="T44" fmla="+- 0 6039 5991"/>
                <a:gd name="T45" fmla="*/ T44 w 48"/>
                <a:gd name="T46" fmla="+- 0 406 385"/>
                <a:gd name="T47" fmla="*/ 406 h 80"/>
                <a:gd name="T48" fmla="+- 0 6030 5991"/>
                <a:gd name="T49" fmla="*/ T48 w 48"/>
                <a:gd name="T50" fmla="+- 0 389 385"/>
                <a:gd name="T51" fmla="*/ 389 h 80"/>
                <a:gd name="T52" fmla="+- 0 6025 5991"/>
                <a:gd name="T53" fmla="*/ T52 w 48"/>
                <a:gd name="T54" fmla="+- 0 385 385"/>
                <a:gd name="T55" fmla="*/ 385 h 80"/>
                <a:gd name="T56" fmla="+- 0 6010 5991"/>
                <a:gd name="T57" fmla="*/ T56 w 48"/>
                <a:gd name="T58" fmla="+- 0 385 385"/>
                <a:gd name="T59" fmla="*/ 385 h 8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48" h="80">
                  <a:moveTo>
                    <a:pt x="19" y="0"/>
                  </a:moveTo>
                  <a:lnTo>
                    <a:pt x="10" y="0"/>
                  </a:lnTo>
                  <a:lnTo>
                    <a:pt x="5" y="4"/>
                  </a:lnTo>
                  <a:lnTo>
                    <a:pt x="5" y="9"/>
                  </a:lnTo>
                  <a:lnTo>
                    <a:pt x="0" y="16"/>
                  </a:lnTo>
                  <a:lnTo>
                    <a:pt x="0" y="45"/>
                  </a:lnTo>
                  <a:lnTo>
                    <a:pt x="15" y="74"/>
                  </a:lnTo>
                  <a:lnTo>
                    <a:pt x="29" y="79"/>
                  </a:lnTo>
                  <a:lnTo>
                    <a:pt x="39" y="74"/>
                  </a:lnTo>
                  <a:lnTo>
                    <a:pt x="43" y="69"/>
                  </a:lnTo>
                  <a:lnTo>
                    <a:pt x="48" y="60"/>
                  </a:lnTo>
                  <a:lnTo>
                    <a:pt x="48" y="21"/>
                  </a:lnTo>
                  <a:lnTo>
                    <a:pt x="39" y="4"/>
                  </a:lnTo>
                  <a:lnTo>
                    <a:pt x="34" y="0"/>
                  </a:lnTo>
                  <a:lnTo>
                    <a:pt x="19"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3" name="Freeform 23">
              <a:extLst>
                <a:ext uri="{FF2B5EF4-FFF2-40B4-BE49-F238E27FC236}">
                  <a16:creationId xmlns:a16="http://schemas.microsoft.com/office/drawing/2014/main" xmlns="" id="{8CC9DDAB-BA42-8832-4CE6-24FFC538001A}"/>
                </a:ext>
              </a:extLst>
            </p:cNvPr>
            <p:cNvSpPr>
              <a:spLocks/>
            </p:cNvSpPr>
            <p:nvPr/>
          </p:nvSpPr>
          <p:spPr bwMode="auto">
            <a:xfrm>
              <a:off x="6068" y="374"/>
              <a:ext cx="94" cy="89"/>
            </a:xfrm>
            <a:custGeom>
              <a:avLst/>
              <a:gdLst>
                <a:gd name="T0" fmla="+- 0 6097 6068"/>
                <a:gd name="T1" fmla="*/ T0 w 94"/>
                <a:gd name="T2" fmla="+- 0 394 375"/>
                <a:gd name="T3" fmla="*/ 394 h 89"/>
                <a:gd name="T4" fmla="+- 0 6111 6068"/>
                <a:gd name="T5" fmla="*/ T4 w 94"/>
                <a:gd name="T6" fmla="+- 0 380 375"/>
                <a:gd name="T7" fmla="*/ 380 h 89"/>
                <a:gd name="T8" fmla="+- 0 6128 6068"/>
                <a:gd name="T9" fmla="*/ T8 w 94"/>
                <a:gd name="T10" fmla="+- 0 375 375"/>
                <a:gd name="T11" fmla="*/ 375 h 89"/>
                <a:gd name="T12" fmla="+- 0 6133 6068"/>
                <a:gd name="T13" fmla="*/ T12 w 94"/>
                <a:gd name="T14" fmla="+- 0 375 375"/>
                <a:gd name="T15" fmla="*/ 375 h 89"/>
                <a:gd name="T16" fmla="+- 0 6147 6068"/>
                <a:gd name="T17" fmla="*/ T16 w 94"/>
                <a:gd name="T18" fmla="+- 0 389 375"/>
                <a:gd name="T19" fmla="*/ 389 h 89"/>
                <a:gd name="T20" fmla="+- 0 6147 6068"/>
                <a:gd name="T21" fmla="*/ T20 w 94"/>
                <a:gd name="T22" fmla="+- 0 454 375"/>
                <a:gd name="T23" fmla="*/ 454 h 89"/>
                <a:gd name="T24" fmla="+- 0 6157 6068"/>
                <a:gd name="T25" fmla="*/ T24 w 94"/>
                <a:gd name="T26" fmla="+- 0 464 375"/>
                <a:gd name="T27" fmla="*/ 464 h 89"/>
                <a:gd name="T28" fmla="+- 0 6162 6068"/>
                <a:gd name="T29" fmla="*/ T28 w 94"/>
                <a:gd name="T30" fmla="+- 0 464 375"/>
                <a:gd name="T31" fmla="*/ 464 h 89"/>
                <a:gd name="T32" fmla="+- 0 6118 6068"/>
                <a:gd name="T33" fmla="*/ T32 w 94"/>
                <a:gd name="T34" fmla="+- 0 464 375"/>
                <a:gd name="T35" fmla="*/ 464 h 89"/>
                <a:gd name="T36" fmla="+- 0 6123 6068"/>
                <a:gd name="T37" fmla="*/ T36 w 94"/>
                <a:gd name="T38" fmla="+- 0 464 375"/>
                <a:gd name="T39" fmla="*/ 464 h 89"/>
                <a:gd name="T40" fmla="+- 0 6128 6068"/>
                <a:gd name="T41" fmla="*/ T40 w 94"/>
                <a:gd name="T42" fmla="+- 0 459 375"/>
                <a:gd name="T43" fmla="*/ 459 h 89"/>
                <a:gd name="T44" fmla="+- 0 6133 6068"/>
                <a:gd name="T45" fmla="*/ T44 w 94"/>
                <a:gd name="T46" fmla="+- 0 459 375"/>
                <a:gd name="T47" fmla="*/ 459 h 89"/>
                <a:gd name="T48" fmla="+- 0 6133 6068"/>
                <a:gd name="T49" fmla="*/ T48 w 94"/>
                <a:gd name="T50" fmla="+- 0 399 375"/>
                <a:gd name="T51" fmla="*/ 399 h 89"/>
                <a:gd name="T52" fmla="+- 0 6123 6068"/>
                <a:gd name="T53" fmla="*/ T52 w 94"/>
                <a:gd name="T54" fmla="+- 0 389 375"/>
                <a:gd name="T55" fmla="*/ 389 h 89"/>
                <a:gd name="T56" fmla="+- 0 6111 6068"/>
                <a:gd name="T57" fmla="*/ T56 w 94"/>
                <a:gd name="T58" fmla="+- 0 389 375"/>
                <a:gd name="T59" fmla="*/ 389 h 89"/>
                <a:gd name="T60" fmla="+- 0 6097 6068"/>
                <a:gd name="T61" fmla="*/ T60 w 94"/>
                <a:gd name="T62" fmla="+- 0 399 375"/>
                <a:gd name="T63" fmla="*/ 399 h 89"/>
                <a:gd name="T64" fmla="+- 0 6097 6068"/>
                <a:gd name="T65" fmla="*/ T64 w 94"/>
                <a:gd name="T66" fmla="+- 0 459 375"/>
                <a:gd name="T67" fmla="*/ 459 h 89"/>
                <a:gd name="T68" fmla="+- 0 6102 6068"/>
                <a:gd name="T69" fmla="*/ T68 w 94"/>
                <a:gd name="T70" fmla="+- 0 459 375"/>
                <a:gd name="T71" fmla="*/ 459 h 89"/>
                <a:gd name="T72" fmla="+- 0 6106 6068"/>
                <a:gd name="T73" fmla="*/ T72 w 94"/>
                <a:gd name="T74" fmla="+- 0 464 375"/>
                <a:gd name="T75" fmla="*/ 464 h 89"/>
                <a:gd name="T76" fmla="+- 0 6111 6068"/>
                <a:gd name="T77" fmla="*/ T76 w 94"/>
                <a:gd name="T78" fmla="+- 0 464 375"/>
                <a:gd name="T79" fmla="*/ 464 h 89"/>
                <a:gd name="T80" fmla="+- 0 6068 6068"/>
                <a:gd name="T81" fmla="*/ T80 w 94"/>
                <a:gd name="T82" fmla="+- 0 464 375"/>
                <a:gd name="T83" fmla="*/ 464 h 89"/>
                <a:gd name="T84" fmla="+- 0 6073 6068"/>
                <a:gd name="T85" fmla="*/ T84 w 94"/>
                <a:gd name="T86" fmla="+- 0 464 375"/>
                <a:gd name="T87" fmla="*/ 464 h 89"/>
                <a:gd name="T88" fmla="+- 0 6082 6068"/>
                <a:gd name="T89" fmla="*/ T88 w 94"/>
                <a:gd name="T90" fmla="+- 0 454 375"/>
                <a:gd name="T91" fmla="*/ 454 h 89"/>
                <a:gd name="T92" fmla="+- 0 6082 6068"/>
                <a:gd name="T93" fmla="*/ T92 w 94"/>
                <a:gd name="T94" fmla="+- 0 394 375"/>
                <a:gd name="T95" fmla="*/ 394 h 89"/>
                <a:gd name="T96" fmla="+- 0 6078 6068"/>
                <a:gd name="T97" fmla="*/ T96 w 94"/>
                <a:gd name="T98" fmla="+- 0 389 375"/>
                <a:gd name="T99" fmla="*/ 389 h 89"/>
                <a:gd name="T100" fmla="+- 0 6068 6068"/>
                <a:gd name="T101" fmla="*/ T100 w 94"/>
                <a:gd name="T102" fmla="+- 0 389 375"/>
                <a:gd name="T103" fmla="*/ 389 h 89"/>
                <a:gd name="T104" fmla="+- 0 6068 6068"/>
                <a:gd name="T105" fmla="*/ T104 w 94"/>
                <a:gd name="T106" fmla="+- 0 385 375"/>
                <a:gd name="T107" fmla="*/ 385 h 89"/>
                <a:gd name="T108" fmla="+- 0 6092 6068"/>
                <a:gd name="T109" fmla="*/ T108 w 94"/>
                <a:gd name="T110" fmla="+- 0 375 375"/>
                <a:gd name="T111" fmla="*/ 375 h 89"/>
                <a:gd name="T112" fmla="+- 0 6097 6068"/>
                <a:gd name="T113" fmla="*/ T112 w 94"/>
                <a:gd name="T114" fmla="+- 0 375 375"/>
                <a:gd name="T115" fmla="*/ 375 h 89"/>
                <a:gd name="T116" fmla="+- 0 6097 6068"/>
                <a:gd name="T117" fmla="*/ T116 w 94"/>
                <a:gd name="T118" fmla="+- 0 394 375"/>
                <a:gd name="T119" fmla="*/ 394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94" h="89">
                  <a:moveTo>
                    <a:pt x="29" y="19"/>
                  </a:moveTo>
                  <a:lnTo>
                    <a:pt x="43" y="5"/>
                  </a:lnTo>
                  <a:lnTo>
                    <a:pt x="60" y="0"/>
                  </a:lnTo>
                  <a:lnTo>
                    <a:pt x="65" y="0"/>
                  </a:lnTo>
                  <a:lnTo>
                    <a:pt x="79" y="14"/>
                  </a:lnTo>
                  <a:lnTo>
                    <a:pt x="79" y="79"/>
                  </a:lnTo>
                  <a:lnTo>
                    <a:pt x="89" y="89"/>
                  </a:lnTo>
                  <a:lnTo>
                    <a:pt x="94" y="89"/>
                  </a:lnTo>
                  <a:lnTo>
                    <a:pt x="50" y="89"/>
                  </a:lnTo>
                  <a:lnTo>
                    <a:pt x="55" y="89"/>
                  </a:lnTo>
                  <a:lnTo>
                    <a:pt x="60" y="84"/>
                  </a:lnTo>
                  <a:lnTo>
                    <a:pt x="65" y="84"/>
                  </a:lnTo>
                  <a:lnTo>
                    <a:pt x="65" y="24"/>
                  </a:lnTo>
                  <a:lnTo>
                    <a:pt x="55" y="14"/>
                  </a:lnTo>
                  <a:lnTo>
                    <a:pt x="43" y="14"/>
                  </a:lnTo>
                  <a:lnTo>
                    <a:pt x="29" y="24"/>
                  </a:lnTo>
                  <a:lnTo>
                    <a:pt x="29" y="84"/>
                  </a:lnTo>
                  <a:lnTo>
                    <a:pt x="34" y="84"/>
                  </a:lnTo>
                  <a:lnTo>
                    <a:pt x="38" y="89"/>
                  </a:lnTo>
                  <a:lnTo>
                    <a:pt x="43" y="89"/>
                  </a:lnTo>
                  <a:lnTo>
                    <a:pt x="0" y="89"/>
                  </a:lnTo>
                  <a:lnTo>
                    <a:pt x="5" y="89"/>
                  </a:lnTo>
                  <a:lnTo>
                    <a:pt x="14" y="79"/>
                  </a:lnTo>
                  <a:lnTo>
                    <a:pt x="14" y="19"/>
                  </a:lnTo>
                  <a:lnTo>
                    <a:pt x="10" y="14"/>
                  </a:lnTo>
                  <a:lnTo>
                    <a:pt x="0" y="14"/>
                  </a:lnTo>
                  <a:lnTo>
                    <a:pt x="0" y="10"/>
                  </a:lnTo>
                  <a:lnTo>
                    <a:pt x="24" y="0"/>
                  </a:lnTo>
                  <a:lnTo>
                    <a:pt x="29" y="0"/>
                  </a:lnTo>
                  <a:lnTo>
                    <a:pt x="29" y="19"/>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4" name="Freeform 24">
              <a:extLst>
                <a:ext uri="{FF2B5EF4-FFF2-40B4-BE49-F238E27FC236}">
                  <a16:creationId xmlns:a16="http://schemas.microsoft.com/office/drawing/2014/main" xmlns="" id="{9671C785-3AFD-EDD3-E82A-E383F07965CC}"/>
                </a:ext>
              </a:extLst>
            </p:cNvPr>
            <p:cNvSpPr>
              <a:spLocks/>
            </p:cNvSpPr>
            <p:nvPr/>
          </p:nvSpPr>
          <p:spPr bwMode="auto">
            <a:xfrm>
              <a:off x="6166" y="374"/>
              <a:ext cx="152" cy="89"/>
            </a:xfrm>
            <a:custGeom>
              <a:avLst/>
              <a:gdLst>
                <a:gd name="T0" fmla="+- 0 6195 6166"/>
                <a:gd name="T1" fmla="*/ T0 w 152"/>
                <a:gd name="T2" fmla="+- 0 394 375"/>
                <a:gd name="T3" fmla="*/ 394 h 89"/>
                <a:gd name="T4" fmla="+- 0 6205 6166"/>
                <a:gd name="T5" fmla="*/ T4 w 152"/>
                <a:gd name="T6" fmla="+- 0 389 375"/>
                <a:gd name="T7" fmla="*/ 389 h 89"/>
                <a:gd name="T8" fmla="+- 0 6214 6166"/>
                <a:gd name="T9" fmla="*/ T8 w 152"/>
                <a:gd name="T10" fmla="+- 0 380 375"/>
                <a:gd name="T11" fmla="*/ 380 h 89"/>
                <a:gd name="T12" fmla="+- 0 6219 6166"/>
                <a:gd name="T13" fmla="*/ T12 w 152"/>
                <a:gd name="T14" fmla="+- 0 380 375"/>
                <a:gd name="T15" fmla="*/ 380 h 89"/>
                <a:gd name="T16" fmla="+- 0 6224 6166"/>
                <a:gd name="T17" fmla="*/ T16 w 152"/>
                <a:gd name="T18" fmla="+- 0 375 375"/>
                <a:gd name="T19" fmla="*/ 375 h 89"/>
                <a:gd name="T20" fmla="+- 0 6234 6166"/>
                <a:gd name="T21" fmla="*/ T20 w 152"/>
                <a:gd name="T22" fmla="+- 0 375 375"/>
                <a:gd name="T23" fmla="*/ 375 h 89"/>
                <a:gd name="T24" fmla="+- 0 6243 6166"/>
                <a:gd name="T25" fmla="*/ T24 w 152"/>
                <a:gd name="T26" fmla="+- 0 380 375"/>
                <a:gd name="T27" fmla="*/ 380 h 89"/>
                <a:gd name="T28" fmla="+- 0 6248 6166"/>
                <a:gd name="T29" fmla="*/ T28 w 152"/>
                <a:gd name="T30" fmla="+- 0 385 375"/>
                <a:gd name="T31" fmla="*/ 385 h 89"/>
                <a:gd name="T32" fmla="+- 0 6248 6166"/>
                <a:gd name="T33" fmla="*/ T32 w 152"/>
                <a:gd name="T34" fmla="+- 0 394 375"/>
                <a:gd name="T35" fmla="*/ 394 h 89"/>
                <a:gd name="T36" fmla="+- 0 6258 6166"/>
                <a:gd name="T37" fmla="*/ T36 w 152"/>
                <a:gd name="T38" fmla="+- 0 385 375"/>
                <a:gd name="T39" fmla="*/ 385 h 89"/>
                <a:gd name="T40" fmla="+- 0 6267 6166"/>
                <a:gd name="T41" fmla="*/ T40 w 152"/>
                <a:gd name="T42" fmla="+- 0 380 375"/>
                <a:gd name="T43" fmla="*/ 380 h 89"/>
                <a:gd name="T44" fmla="+- 0 6272 6166"/>
                <a:gd name="T45" fmla="*/ T44 w 152"/>
                <a:gd name="T46" fmla="+- 0 375 375"/>
                <a:gd name="T47" fmla="*/ 375 h 89"/>
                <a:gd name="T48" fmla="+- 0 6286 6166"/>
                <a:gd name="T49" fmla="*/ T48 w 152"/>
                <a:gd name="T50" fmla="+- 0 375 375"/>
                <a:gd name="T51" fmla="*/ 375 h 89"/>
                <a:gd name="T52" fmla="+- 0 6294 6166"/>
                <a:gd name="T53" fmla="*/ T52 w 152"/>
                <a:gd name="T54" fmla="+- 0 380 375"/>
                <a:gd name="T55" fmla="*/ 380 h 89"/>
                <a:gd name="T56" fmla="+- 0 6298 6166"/>
                <a:gd name="T57" fmla="*/ T56 w 152"/>
                <a:gd name="T58" fmla="+- 0 385 375"/>
                <a:gd name="T59" fmla="*/ 385 h 89"/>
                <a:gd name="T60" fmla="+- 0 6298 6166"/>
                <a:gd name="T61" fmla="*/ T60 w 152"/>
                <a:gd name="T62" fmla="+- 0 389 375"/>
                <a:gd name="T63" fmla="*/ 389 h 89"/>
                <a:gd name="T64" fmla="+- 0 6303 6166"/>
                <a:gd name="T65" fmla="*/ T64 w 152"/>
                <a:gd name="T66" fmla="+- 0 399 375"/>
                <a:gd name="T67" fmla="*/ 399 h 89"/>
                <a:gd name="T68" fmla="+- 0 6303 6166"/>
                <a:gd name="T69" fmla="*/ T68 w 152"/>
                <a:gd name="T70" fmla="+- 0 459 375"/>
                <a:gd name="T71" fmla="*/ 459 h 89"/>
                <a:gd name="T72" fmla="+- 0 6308 6166"/>
                <a:gd name="T73" fmla="*/ T72 w 152"/>
                <a:gd name="T74" fmla="+- 0 459 375"/>
                <a:gd name="T75" fmla="*/ 459 h 89"/>
                <a:gd name="T76" fmla="+- 0 6313 6166"/>
                <a:gd name="T77" fmla="*/ T76 w 152"/>
                <a:gd name="T78" fmla="+- 0 464 375"/>
                <a:gd name="T79" fmla="*/ 464 h 89"/>
                <a:gd name="T80" fmla="+- 0 6318 6166"/>
                <a:gd name="T81" fmla="*/ T80 w 152"/>
                <a:gd name="T82" fmla="+- 0 464 375"/>
                <a:gd name="T83" fmla="*/ 464 h 89"/>
                <a:gd name="T84" fmla="+- 0 6272 6166"/>
                <a:gd name="T85" fmla="*/ T84 w 152"/>
                <a:gd name="T86" fmla="+- 0 464 375"/>
                <a:gd name="T87" fmla="*/ 464 h 89"/>
                <a:gd name="T88" fmla="+- 0 6282 6166"/>
                <a:gd name="T89" fmla="*/ T88 w 152"/>
                <a:gd name="T90" fmla="+- 0 464 375"/>
                <a:gd name="T91" fmla="*/ 464 h 89"/>
                <a:gd name="T92" fmla="+- 0 6286 6166"/>
                <a:gd name="T93" fmla="*/ T92 w 152"/>
                <a:gd name="T94" fmla="+- 0 459 375"/>
                <a:gd name="T95" fmla="*/ 459 h 89"/>
                <a:gd name="T96" fmla="+- 0 6286 6166"/>
                <a:gd name="T97" fmla="*/ T96 w 152"/>
                <a:gd name="T98" fmla="+- 0 394 375"/>
                <a:gd name="T99" fmla="*/ 394 h 89"/>
                <a:gd name="T100" fmla="+- 0 6282 6166"/>
                <a:gd name="T101" fmla="*/ T100 w 152"/>
                <a:gd name="T102" fmla="+- 0 389 375"/>
                <a:gd name="T103" fmla="*/ 389 h 89"/>
                <a:gd name="T104" fmla="+- 0 6262 6166"/>
                <a:gd name="T105" fmla="*/ T104 w 152"/>
                <a:gd name="T106" fmla="+- 0 389 375"/>
                <a:gd name="T107" fmla="*/ 389 h 89"/>
                <a:gd name="T108" fmla="+- 0 6253 6166"/>
                <a:gd name="T109" fmla="*/ T108 w 152"/>
                <a:gd name="T110" fmla="+- 0 399 375"/>
                <a:gd name="T111" fmla="*/ 399 h 89"/>
                <a:gd name="T112" fmla="+- 0 6248 6166"/>
                <a:gd name="T113" fmla="*/ T112 w 152"/>
                <a:gd name="T114" fmla="+- 0 399 375"/>
                <a:gd name="T115" fmla="*/ 399 h 89"/>
                <a:gd name="T116" fmla="+- 0 6253 6166"/>
                <a:gd name="T117" fmla="*/ T116 w 152"/>
                <a:gd name="T118" fmla="+- 0 401 375"/>
                <a:gd name="T119" fmla="*/ 401 h 89"/>
                <a:gd name="T120" fmla="+- 0 6253 6166"/>
                <a:gd name="T121" fmla="*/ T120 w 152"/>
                <a:gd name="T122" fmla="+- 0 459 375"/>
                <a:gd name="T123" fmla="*/ 459 h 89"/>
                <a:gd name="T124" fmla="+- 0 6258 6166"/>
                <a:gd name="T125" fmla="*/ T124 w 152"/>
                <a:gd name="T126" fmla="+- 0 459 375"/>
                <a:gd name="T127" fmla="*/ 459 h 89"/>
                <a:gd name="T128" fmla="+- 0 6258 6166"/>
                <a:gd name="T129" fmla="*/ T128 w 152"/>
                <a:gd name="T130" fmla="+- 0 464 375"/>
                <a:gd name="T131" fmla="*/ 464 h 89"/>
                <a:gd name="T132" fmla="+- 0 6267 6166"/>
                <a:gd name="T133" fmla="*/ T132 w 152"/>
                <a:gd name="T134" fmla="+- 0 464 375"/>
                <a:gd name="T135" fmla="*/ 464 h 89"/>
                <a:gd name="T136" fmla="+- 0 6219 6166"/>
                <a:gd name="T137" fmla="*/ T136 w 152"/>
                <a:gd name="T138" fmla="+- 0 464 375"/>
                <a:gd name="T139" fmla="*/ 464 h 89"/>
                <a:gd name="T140" fmla="+- 0 6224 6166"/>
                <a:gd name="T141" fmla="*/ T140 w 152"/>
                <a:gd name="T142" fmla="+- 0 464 375"/>
                <a:gd name="T143" fmla="*/ 464 h 89"/>
                <a:gd name="T144" fmla="+- 0 6229 6166"/>
                <a:gd name="T145" fmla="*/ T144 w 152"/>
                <a:gd name="T146" fmla="+- 0 459 375"/>
                <a:gd name="T147" fmla="*/ 459 h 89"/>
                <a:gd name="T148" fmla="+- 0 6234 6166"/>
                <a:gd name="T149" fmla="*/ T148 w 152"/>
                <a:gd name="T150" fmla="+- 0 459 375"/>
                <a:gd name="T151" fmla="*/ 459 h 89"/>
                <a:gd name="T152" fmla="+- 0 6234 6166"/>
                <a:gd name="T153" fmla="*/ T152 w 152"/>
                <a:gd name="T154" fmla="+- 0 399 375"/>
                <a:gd name="T155" fmla="*/ 399 h 89"/>
                <a:gd name="T156" fmla="+- 0 6224 6166"/>
                <a:gd name="T157" fmla="*/ T156 w 152"/>
                <a:gd name="T158" fmla="+- 0 389 375"/>
                <a:gd name="T159" fmla="*/ 389 h 89"/>
                <a:gd name="T160" fmla="+- 0 6210 6166"/>
                <a:gd name="T161" fmla="*/ T160 w 152"/>
                <a:gd name="T162" fmla="+- 0 389 375"/>
                <a:gd name="T163" fmla="*/ 389 h 89"/>
                <a:gd name="T164" fmla="+- 0 6200 6166"/>
                <a:gd name="T165" fmla="*/ T164 w 152"/>
                <a:gd name="T166" fmla="+- 0 394 375"/>
                <a:gd name="T167" fmla="*/ 394 h 89"/>
                <a:gd name="T168" fmla="+- 0 6195 6166"/>
                <a:gd name="T169" fmla="*/ T168 w 152"/>
                <a:gd name="T170" fmla="+- 0 399 375"/>
                <a:gd name="T171" fmla="*/ 399 h 89"/>
                <a:gd name="T172" fmla="+- 0 6195 6166"/>
                <a:gd name="T173" fmla="*/ T172 w 152"/>
                <a:gd name="T174" fmla="+- 0 459 375"/>
                <a:gd name="T175" fmla="*/ 459 h 89"/>
                <a:gd name="T176" fmla="+- 0 6200 6166"/>
                <a:gd name="T177" fmla="*/ T176 w 152"/>
                <a:gd name="T178" fmla="+- 0 459 375"/>
                <a:gd name="T179" fmla="*/ 459 h 89"/>
                <a:gd name="T180" fmla="+- 0 6205 6166"/>
                <a:gd name="T181" fmla="*/ T180 w 152"/>
                <a:gd name="T182" fmla="+- 0 464 375"/>
                <a:gd name="T183" fmla="*/ 464 h 89"/>
                <a:gd name="T184" fmla="+- 0 6210 6166"/>
                <a:gd name="T185" fmla="*/ T184 w 152"/>
                <a:gd name="T186" fmla="+- 0 464 375"/>
                <a:gd name="T187" fmla="*/ 464 h 89"/>
                <a:gd name="T188" fmla="+- 0 6166 6166"/>
                <a:gd name="T189" fmla="*/ T188 w 152"/>
                <a:gd name="T190" fmla="+- 0 464 375"/>
                <a:gd name="T191" fmla="*/ 464 h 89"/>
                <a:gd name="T192" fmla="+- 0 6171 6166"/>
                <a:gd name="T193" fmla="*/ T192 w 152"/>
                <a:gd name="T194" fmla="+- 0 464 375"/>
                <a:gd name="T195" fmla="*/ 464 h 89"/>
                <a:gd name="T196" fmla="+- 0 6176 6166"/>
                <a:gd name="T197" fmla="*/ T196 w 152"/>
                <a:gd name="T198" fmla="+- 0 459 375"/>
                <a:gd name="T199" fmla="*/ 459 h 89"/>
                <a:gd name="T200" fmla="+- 0 6181 6166"/>
                <a:gd name="T201" fmla="*/ T200 w 152"/>
                <a:gd name="T202" fmla="+- 0 459 375"/>
                <a:gd name="T203" fmla="*/ 459 h 89"/>
                <a:gd name="T204" fmla="+- 0 6181 6166"/>
                <a:gd name="T205" fmla="*/ T204 w 152"/>
                <a:gd name="T206" fmla="+- 0 394 375"/>
                <a:gd name="T207" fmla="*/ 394 h 89"/>
                <a:gd name="T208" fmla="+- 0 6176 6166"/>
                <a:gd name="T209" fmla="*/ T208 w 152"/>
                <a:gd name="T210" fmla="+- 0 394 375"/>
                <a:gd name="T211" fmla="*/ 394 h 89"/>
                <a:gd name="T212" fmla="+- 0 6176 6166"/>
                <a:gd name="T213" fmla="*/ T212 w 152"/>
                <a:gd name="T214" fmla="+- 0 389 375"/>
                <a:gd name="T215" fmla="*/ 389 h 89"/>
                <a:gd name="T216" fmla="+- 0 6166 6166"/>
                <a:gd name="T217" fmla="*/ T216 w 152"/>
                <a:gd name="T218" fmla="+- 0 389 375"/>
                <a:gd name="T219" fmla="*/ 389 h 89"/>
                <a:gd name="T220" fmla="+- 0 6166 6166"/>
                <a:gd name="T221" fmla="*/ T220 w 152"/>
                <a:gd name="T222" fmla="+- 0 385 375"/>
                <a:gd name="T223" fmla="*/ 385 h 89"/>
                <a:gd name="T224" fmla="+- 0 6190 6166"/>
                <a:gd name="T225" fmla="*/ T224 w 152"/>
                <a:gd name="T226" fmla="+- 0 375 375"/>
                <a:gd name="T227" fmla="*/ 375 h 89"/>
                <a:gd name="T228" fmla="+- 0 6195 6166"/>
                <a:gd name="T229" fmla="*/ T228 w 152"/>
                <a:gd name="T230" fmla="+- 0 375 375"/>
                <a:gd name="T231" fmla="*/ 375 h 89"/>
                <a:gd name="T232" fmla="+- 0 6195 6166"/>
                <a:gd name="T233" fmla="*/ T232 w 152"/>
                <a:gd name="T234" fmla="+- 0 394 375"/>
                <a:gd name="T235" fmla="*/ 394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Lst>
              <a:rect l="0" t="0" r="r" b="b"/>
              <a:pathLst>
                <a:path w="152" h="89">
                  <a:moveTo>
                    <a:pt x="29" y="19"/>
                  </a:moveTo>
                  <a:lnTo>
                    <a:pt x="39" y="14"/>
                  </a:lnTo>
                  <a:lnTo>
                    <a:pt x="48" y="5"/>
                  </a:lnTo>
                  <a:lnTo>
                    <a:pt x="53" y="5"/>
                  </a:lnTo>
                  <a:lnTo>
                    <a:pt x="58" y="0"/>
                  </a:lnTo>
                  <a:lnTo>
                    <a:pt x="68" y="0"/>
                  </a:lnTo>
                  <a:lnTo>
                    <a:pt x="77" y="5"/>
                  </a:lnTo>
                  <a:lnTo>
                    <a:pt x="82" y="10"/>
                  </a:lnTo>
                  <a:lnTo>
                    <a:pt x="82" y="19"/>
                  </a:lnTo>
                  <a:lnTo>
                    <a:pt x="92" y="10"/>
                  </a:lnTo>
                  <a:lnTo>
                    <a:pt x="101" y="5"/>
                  </a:lnTo>
                  <a:lnTo>
                    <a:pt x="106" y="0"/>
                  </a:lnTo>
                  <a:lnTo>
                    <a:pt x="120" y="0"/>
                  </a:lnTo>
                  <a:lnTo>
                    <a:pt x="128" y="5"/>
                  </a:lnTo>
                  <a:lnTo>
                    <a:pt x="132" y="10"/>
                  </a:lnTo>
                  <a:lnTo>
                    <a:pt x="132" y="14"/>
                  </a:lnTo>
                  <a:lnTo>
                    <a:pt x="137" y="24"/>
                  </a:lnTo>
                  <a:lnTo>
                    <a:pt x="137" y="84"/>
                  </a:lnTo>
                  <a:lnTo>
                    <a:pt x="142" y="84"/>
                  </a:lnTo>
                  <a:lnTo>
                    <a:pt x="147" y="89"/>
                  </a:lnTo>
                  <a:lnTo>
                    <a:pt x="152" y="89"/>
                  </a:lnTo>
                  <a:lnTo>
                    <a:pt x="106" y="89"/>
                  </a:lnTo>
                  <a:lnTo>
                    <a:pt x="116" y="89"/>
                  </a:lnTo>
                  <a:lnTo>
                    <a:pt x="120" y="84"/>
                  </a:lnTo>
                  <a:lnTo>
                    <a:pt x="120" y="19"/>
                  </a:lnTo>
                  <a:lnTo>
                    <a:pt x="116" y="14"/>
                  </a:lnTo>
                  <a:lnTo>
                    <a:pt x="96" y="14"/>
                  </a:lnTo>
                  <a:lnTo>
                    <a:pt x="87" y="24"/>
                  </a:lnTo>
                  <a:lnTo>
                    <a:pt x="82" y="24"/>
                  </a:lnTo>
                  <a:lnTo>
                    <a:pt x="87" y="26"/>
                  </a:lnTo>
                  <a:lnTo>
                    <a:pt x="87" y="84"/>
                  </a:lnTo>
                  <a:lnTo>
                    <a:pt x="92" y="84"/>
                  </a:lnTo>
                  <a:lnTo>
                    <a:pt x="92" y="89"/>
                  </a:lnTo>
                  <a:lnTo>
                    <a:pt x="101" y="89"/>
                  </a:lnTo>
                  <a:lnTo>
                    <a:pt x="53" y="89"/>
                  </a:lnTo>
                  <a:lnTo>
                    <a:pt x="58" y="89"/>
                  </a:lnTo>
                  <a:lnTo>
                    <a:pt x="63" y="84"/>
                  </a:lnTo>
                  <a:lnTo>
                    <a:pt x="68" y="84"/>
                  </a:lnTo>
                  <a:lnTo>
                    <a:pt x="68" y="24"/>
                  </a:lnTo>
                  <a:lnTo>
                    <a:pt x="58" y="14"/>
                  </a:lnTo>
                  <a:lnTo>
                    <a:pt x="44" y="14"/>
                  </a:lnTo>
                  <a:lnTo>
                    <a:pt x="34" y="19"/>
                  </a:lnTo>
                  <a:lnTo>
                    <a:pt x="29" y="24"/>
                  </a:lnTo>
                  <a:lnTo>
                    <a:pt x="29" y="84"/>
                  </a:lnTo>
                  <a:lnTo>
                    <a:pt x="34" y="84"/>
                  </a:lnTo>
                  <a:lnTo>
                    <a:pt x="39" y="89"/>
                  </a:lnTo>
                  <a:lnTo>
                    <a:pt x="44" y="89"/>
                  </a:lnTo>
                  <a:lnTo>
                    <a:pt x="0" y="89"/>
                  </a:lnTo>
                  <a:lnTo>
                    <a:pt x="5" y="89"/>
                  </a:lnTo>
                  <a:lnTo>
                    <a:pt x="10" y="84"/>
                  </a:lnTo>
                  <a:lnTo>
                    <a:pt x="15" y="84"/>
                  </a:lnTo>
                  <a:lnTo>
                    <a:pt x="15" y="19"/>
                  </a:lnTo>
                  <a:lnTo>
                    <a:pt x="10" y="19"/>
                  </a:lnTo>
                  <a:lnTo>
                    <a:pt x="10" y="14"/>
                  </a:lnTo>
                  <a:lnTo>
                    <a:pt x="0" y="14"/>
                  </a:lnTo>
                  <a:lnTo>
                    <a:pt x="0" y="10"/>
                  </a:lnTo>
                  <a:lnTo>
                    <a:pt x="24" y="0"/>
                  </a:lnTo>
                  <a:lnTo>
                    <a:pt x="29" y="0"/>
                  </a:lnTo>
                  <a:lnTo>
                    <a:pt x="29" y="19"/>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5" name="Freeform 25">
              <a:extLst>
                <a:ext uri="{FF2B5EF4-FFF2-40B4-BE49-F238E27FC236}">
                  <a16:creationId xmlns:a16="http://schemas.microsoft.com/office/drawing/2014/main" xmlns="" id="{9B0DB021-49E4-B8F2-A5DD-A68FBF97250F}"/>
                </a:ext>
              </a:extLst>
            </p:cNvPr>
            <p:cNvSpPr>
              <a:spLocks/>
            </p:cNvSpPr>
            <p:nvPr/>
          </p:nvSpPr>
          <p:spPr bwMode="auto">
            <a:xfrm>
              <a:off x="6322" y="374"/>
              <a:ext cx="77" cy="94"/>
            </a:xfrm>
            <a:custGeom>
              <a:avLst/>
              <a:gdLst>
                <a:gd name="T0" fmla="+- 0 6337 6322"/>
                <a:gd name="T1" fmla="*/ T0 w 77"/>
                <a:gd name="T2" fmla="+- 0 411 375"/>
                <a:gd name="T3" fmla="*/ 411 h 94"/>
                <a:gd name="T4" fmla="+- 0 6346 6322"/>
                <a:gd name="T5" fmla="*/ T4 w 77"/>
                <a:gd name="T6" fmla="+- 0 440 375"/>
                <a:gd name="T7" fmla="*/ 440 h 94"/>
                <a:gd name="T8" fmla="+- 0 6356 6322"/>
                <a:gd name="T9" fmla="*/ T8 w 77"/>
                <a:gd name="T10" fmla="+- 0 449 375"/>
                <a:gd name="T11" fmla="*/ 449 h 94"/>
                <a:gd name="T12" fmla="+- 0 6370 6322"/>
                <a:gd name="T13" fmla="*/ T12 w 77"/>
                <a:gd name="T14" fmla="+- 0 454 375"/>
                <a:gd name="T15" fmla="*/ 454 h 94"/>
                <a:gd name="T16" fmla="+- 0 6380 6322"/>
                <a:gd name="T17" fmla="*/ T16 w 77"/>
                <a:gd name="T18" fmla="+- 0 449 375"/>
                <a:gd name="T19" fmla="*/ 449 h 94"/>
                <a:gd name="T20" fmla="+- 0 6385 6322"/>
                <a:gd name="T21" fmla="*/ T20 w 77"/>
                <a:gd name="T22" fmla="+- 0 449 375"/>
                <a:gd name="T23" fmla="*/ 449 h 94"/>
                <a:gd name="T24" fmla="+- 0 6394 6322"/>
                <a:gd name="T25" fmla="*/ T24 w 77"/>
                <a:gd name="T26" fmla="+- 0 430 375"/>
                <a:gd name="T27" fmla="*/ 430 h 94"/>
                <a:gd name="T28" fmla="+- 0 6399 6322"/>
                <a:gd name="T29" fmla="*/ T28 w 77"/>
                <a:gd name="T30" fmla="+- 0 435 375"/>
                <a:gd name="T31" fmla="*/ 435 h 94"/>
                <a:gd name="T32" fmla="+- 0 6394 6322"/>
                <a:gd name="T33" fmla="*/ T32 w 77"/>
                <a:gd name="T34" fmla="+- 0 445 375"/>
                <a:gd name="T35" fmla="*/ 445 h 94"/>
                <a:gd name="T36" fmla="+- 0 6390 6322"/>
                <a:gd name="T37" fmla="*/ T36 w 77"/>
                <a:gd name="T38" fmla="+- 0 459 375"/>
                <a:gd name="T39" fmla="*/ 459 h 94"/>
                <a:gd name="T40" fmla="+- 0 6361 6322"/>
                <a:gd name="T41" fmla="*/ T40 w 77"/>
                <a:gd name="T42" fmla="+- 0 469 375"/>
                <a:gd name="T43" fmla="*/ 469 h 94"/>
                <a:gd name="T44" fmla="+- 0 6346 6322"/>
                <a:gd name="T45" fmla="*/ T44 w 77"/>
                <a:gd name="T46" fmla="+- 0 464 375"/>
                <a:gd name="T47" fmla="*/ 464 h 94"/>
                <a:gd name="T48" fmla="+- 0 6337 6322"/>
                <a:gd name="T49" fmla="*/ T48 w 77"/>
                <a:gd name="T50" fmla="+- 0 454 375"/>
                <a:gd name="T51" fmla="*/ 454 h 94"/>
                <a:gd name="T52" fmla="+- 0 6327 6322"/>
                <a:gd name="T53" fmla="*/ T52 w 77"/>
                <a:gd name="T54" fmla="+- 0 440 375"/>
                <a:gd name="T55" fmla="*/ 440 h 94"/>
                <a:gd name="T56" fmla="+- 0 6322 6322"/>
                <a:gd name="T57" fmla="*/ T56 w 77"/>
                <a:gd name="T58" fmla="+- 0 421 375"/>
                <a:gd name="T59" fmla="*/ 421 h 94"/>
                <a:gd name="T60" fmla="+- 0 6327 6322"/>
                <a:gd name="T61" fmla="*/ T60 w 77"/>
                <a:gd name="T62" fmla="+- 0 401 375"/>
                <a:gd name="T63" fmla="*/ 401 h 94"/>
                <a:gd name="T64" fmla="+- 0 6337 6322"/>
                <a:gd name="T65" fmla="*/ T64 w 77"/>
                <a:gd name="T66" fmla="+- 0 389 375"/>
                <a:gd name="T67" fmla="*/ 389 h 94"/>
                <a:gd name="T68" fmla="+- 0 6351 6322"/>
                <a:gd name="T69" fmla="*/ T68 w 77"/>
                <a:gd name="T70" fmla="+- 0 380 375"/>
                <a:gd name="T71" fmla="*/ 380 h 94"/>
                <a:gd name="T72" fmla="+- 0 6366 6322"/>
                <a:gd name="T73" fmla="*/ T72 w 77"/>
                <a:gd name="T74" fmla="+- 0 375 375"/>
                <a:gd name="T75" fmla="*/ 375 h 94"/>
                <a:gd name="T76" fmla="+- 0 6380 6322"/>
                <a:gd name="T77" fmla="*/ T76 w 77"/>
                <a:gd name="T78" fmla="+- 0 380 375"/>
                <a:gd name="T79" fmla="*/ 380 h 94"/>
                <a:gd name="T80" fmla="+- 0 6390 6322"/>
                <a:gd name="T81" fmla="*/ T80 w 77"/>
                <a:gd name="T82" fmla="+- 0 385 375"/>
                <a:gd name="T83" fmla="*/ 385 h 94"/>
                <a:gd name="T84" fmla="+- 0 6399 6322"/>
                <a:gd name="T85" fmla="*/ T84 w 77"/>
                <a:gd name="T86" fmla="+- 0 399 375"/>
                <a:gd name="T87" fmla="*/ 399 h 94"/>
                <a:gd name="T88" fmla="+- 0 6399 6322"/>
                <a:gd name="T89" fmla="*/ T88 w 77"/>
                <a:gd name="T90" fmla="+- 0 411 375"/>
                <a:gd name="T91" fmla="*/ 411 h 94"/>
                <a:gd name="T92" fmla="+- 0 6337 6322"/>
                <a:gd name="T93" fmla="*/ T92 w 77"/>
                <a:gd name="T94" fmla="+- 0 411 375"/>
                <a:gd name="T95" fmla="*/ 411 h 9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Lst>
              <a:rect l="0" t="0" r="r" b="b"/>
              <a:pathLst>
                <a:path w="77" h="94">
                  <a:moveTo>
                    <a:pt x="15" y="36"/>
                  </a:moveTo>
                  <a:lnTo>
                    <a:pt x="24" y="65"/>
                  </a:lnTo>
                  <a:lnTo>
                    <a:pt x="34" y="74"/>
                  </a:lnTo>
                  <a:lnTo>
                    <a:pt x="48" y="79"/>
                  </a:lnTo>
                  <a:lnTo>
                    <a:pt x="58" y="74"/>
                  </a:lnTo>
                  <a:lnTo>
                    <a:pt x="63" y="74"/>
                  </a:lnTo>
                  <a:lnTo>
                    <a:pt x="72" y="55"/>
                  </a:lnTo>
                  <a:lnTo>
                    <a:pt x="77" y="60"/>
                  </a:lnTo>
                  <a:lnTo>
                    <a:pt x="72" y="70"/>
                  </a:lnTo>
                  <a:lnTo>
                    <a:pt x="68" y="84"/>
                  </a:lnTo>
                  <a:lnTo>
                    <a:pt x="39" y="94"/>
                  </a:lnTo>
                  <a:lnTo>
                    <a:pt x="24" y="89"/>
                  </a:lnTo>
                  <a:lnTo>
                    <a:pt x="15" y="79"/>
                  </a:lnTo>
                  <a:lnTo>
                    <a:pt x="5" y="65"/>
                  </a:lnTo>
                  <a:lnTo>
                    <a:pt x="0" y="46"/>
                  </a:lnTo>
                  <a:lnTo>
                    <a:pt x="5" y="26"/>
                  </a:lnTo>
                  <a:lnTo>
                    <a:pt x="15" y="14"/>
                  </a:lnTo>
                  <a:lnTo>
                    <a:pt x="29" y="5"/>
                  </a:lnTo>
                  <a:lnTo>
                    <a:pt x="44" y="0"/>
                  </a:lnTo>
                  <a:lnTo>
                    <a:pt x="58" y="5"/>
                  </a:lnTo>
                  <a:lnTo>
                    <a:pt x="68" y="10"/>
                  </a:lnTo>
                  <a:lnTo>
                    <a:pt x="77" y="24"/>
                  </a:lnTo>
                  <a:lnTo>
                    <a:pt x="77" y="36"/>
                  </a:lnTo>
                  <a:lnTo>
                    <a:pt x="15" y="36"/>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6" name="Freeform 26">
              <a:extLst>
                <a:ext uri="{FF2B5EF4-FFF2-40B4-BE49-F238E27FC236}">
                  <a16:creationId xmlns:a16="http://schemas.microsoft.com/office/drawing/2014/main" xmlns="" id="{AB3ED597-288B-303B-F61B-7DE317D36AD7}"/>
                </a:ext>
              </a:extLst>
            </p:cNvPr>
            <p:cNvSpPr>
              <a:spLocks/>
            </p:cNvSpPr>
            <p:nvPr/>
          </p:nvSpPr>
          <p:spPr bwMode="auto">
            <a:xfrm>
              <a:off x="6336" y="384"/>
              <a:ext cx="44" cy="22"/>
            </a:xfrm>
            <a:custGeom>
              <a:avLst/>
              <a:gdLst>
                <a:gd name="T0" fmla="+- 0 6337 6337"/>
                <a:gd name="T1" fmla="*/ T0 w 44"/>
                <a:gd name="T2" fmla="+- 0 406 385"/>
                <a:gd name="T3" fmla="*/ 406 h 22"/>
                <a:gd name="T4" fmla="+- 0 6380 6337"/>
                <a:gd name="T5" fmla="*/ T4 w 44"/>
                <a:gd name="T6" fmla="+- 0 406 385"/>
                <a:gd name="T7" fmla="*/ 406 h 22"/>
                <a:gd name="T8" fmla="+- 0 6380 6337"/>
                <a:gd name="T9" fmla="*/ T8 w 44"/>
                <a:gd name="T10" fmla="+- 0 399 385"/>
                <a:gd name="T11" fmla="*/ 399 h 22"/>
                <a:gd name="T12" fmla="+- 0 6375 6337"/>
                <a:gd name="T13" fmla="*/ T12 w 44"/>
                <a:gd name="T14" fmla="+- 0 394 385"/>
                <a:gd name="T15" fmla="*/ 394 h 22"/>
                <a:gd name="T16" fmla="+- 0 6375 6337"/>
                <a:gd name="T17" fmla="*/ T16 w 44"/>
                <a:gd name="T18" fmla="+- 0 389 385"/>
                <a:gd name="T19" fmla="*/ 389 h 22"/>
                <a:gd name="T20" fmla="+- 0 6370 6337"/>
                <a:gd name="T21" fmla="*/ T20 w 44"/>
                <a:gd name="T22" fmla="+- 0 385 385"/>
                <a:gd name="T23" fmla="*/ 385 h 22"/>
                <a:gd name="T24" fmla="+- 0 6351 6337"/>
                <a:gd name="T25" fmla="*/ T24 w 44"/>
                <a:gd name="T26" fmla="+- 0 385 385"/>
                <a:gd name="T27" fmla="*/ 385 h 22"/>
                <a:gd name="T28" fmla="+- 0 6342 6337"/>
                <a:gd name="T29" fmla="*/ T28 w 44"/>
                <a:gd name="T30" fmla="+- 0 394 385"/>
                <a:gd name="T31" fmla="*/ 394 h 22"/>
                <a:gd name="T32" fmla="+- 0 6337 6337"/>
                <a:gd name="T33" fmla="*/ T32 w 44"/>
                <a:gd name="T34" fmla="+- 0 406 385"/>
                <a:gd name="T35" fmla="*/ 406 h 2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44" h="22">
                  <a:moveTo>
                    <a:pt x="0" y="21"/>
                  </a:moveTo>
                  <a:lnTo>
                    <a:pt x="43" y="21"/>
                  </a:lnTo>
                  <a:lnTo>
                    <a:pt x="43" y="14"/>
                  </a:lnTo>
                  <a:lnTo>
                    <a:pt x="38" y="9"/>
                  </a:lnTo>
                  <a:lnTo>
                    <a:pt x="38" y="4"/>
                  </a:lnTo>
                  <a:lnTo>
                    <a:pt x="33" y="0"/>
                  </a:lnTo>
                  <a:lnTo>
                    <a:pt x="14" y="0"/>
                  </a:lnTo>
                  <a:lnTo>
                    <a:pt x="5" y="9"/>
                  </a:lnTo>
                  <a:lnTo>
                    <a:pt x="0" y="21"/>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7" name="Freeform 27">
              <a:extLst>
                <a:ext uri="{FF2B5EF4-FFF2-40B4-BE49-F238E27FC236}">
                  <a16:creationId xmlns:a16="http://schemas.microsoft.com/office/drawing/2014/main" xmlns="" id="{C9713D6C-70FE-665A-D816-63AB094044CE}"/>
                </a:ext>
              </a:extLst>
            </p:cNvPr>
            <p:cNvSpPr>
              <a:spLocks/>
            </p:cNvSpPr>
            <p:nvPr/>
          </p:nvSpPr>
          <p:spPr bwMode="auto">
            <a:xfrm>
              <a:off x="6408" y="374"/>
              <a:ext cx="94" cy="89"/>
            </a:xfrm>
            <a:custGeom>
              <a:avLst/>
              <a:gdLst>
                <a:gd name="T0" fmla="+- 0 6438 6409"/>
                <a:gd name="T1" fmla="*/ T0 w 94"/>
                <a:gd name="T2" fmla="+- 0 394 375"/>
                <a:gd name="T3" fmla="*/ 394 h 89"/>
                <a:gd name="T4" fmla="+- 0 6452 6409"/>
                <a:gd name="T5" fmla="*/ T4 w 94"/>
                <a:gd name="T6" fmla="+- 0 380 375"/>
                <a:gd name="T7" fmla="*/ 380 h 89"/>
                <a:gd name="T8" fmla="+- 0 6464 6409"/>
                <a:gd name="T9" fmla="*/ T8 w 94"/>
                <a:gd name="T10" fmla="+- 0 375 375"/>
                <a:gd name="T11" fmla="*/ 375 h 89"/>
                <a:gd name="T12" fmla="+- 0 6474 6409"/>
                <a:gd name="T13" fmla="*/ T12 w 94"/>
                <a:gd name="T14" fmla="+- 0 375 375"/>
                <a:gd name="T15" fmla="*/ 375 h 89"/>
                <a:gd name="T16" fmla="+- 0 6488 6409"/>
                <a:gd name="T17" fmla="*/ T16 w 94"/>
                <a:gd name="T18" fmla="+- 0 389 375"/>
                <a:gd name="T19" fmla="*/ 389 h 89"/>
                <a:gd name="T20" fmla="+- 0 6488 6409"/>
                <a:gd name="T21" fmla="*/ T20 w 94"/>
                <a:gd name="T22" fmla="+- 0 459 375"/>
                <a:gd name="T23" fmla="*/ 459 h 89"/>
                <a:gd name="T24" fmla="+- 0 6493 6409"/>
                <a:gd name="T25" fmla="*/ T24 w 94"/>
                <a:gd name="T26" fmla="+- 0 459 375"/>
                <a:gd name="T27" fmla="*/ 459 h 89"/>
                <a:gd name="T28" fmla="+- 0 6498 6409"/>
                <a:gd name="T29" fmla="*/ T28 w 94"/>
                <a:gd name="T30" fmla="+- 0 464 375"/>
                <a:gd name="T31" fmla="*/ 464 h 89"/>
                <a:gd name="T32" fmla="+- 0 6502 6409"/>
                <a:gd name="T33" fmla="*/ T32 w 94"/>
                <a:gd name="T34" fmla="+- 0 464 375"/>
                <a:gd name="T35" fmla="*/ 464 h 89"/>
                <a:gd name="T36" fmla="+- 0 6459 6409"/>
                <a:gd name="T37" fmla="*/ T36 w 94"/>
                <a:gd name="T38" fmla="+- 0 464 375"/>
                <a:gd name="T39" fmla="*/ 464 h 89"/>
                <a:gd name="T40" fmla="+- 0 6464 6409"/>
                <a:gd name="T41" fmla="*/ T40 w 94"/>
                <a:gd name="T42" fmla="+- 0 464 375"/>
                <a:gd name="T43" fmla="*/ 464 h 89"/>
                <a:gd name="T44" fmla="+- 0 6474 6409"/>
                <a:gd name="T45" fmla="*/ T44 w 94"/>
                <a:gd name="T46" fmla="+- 0 454 375"/>
                <a:gd name="T47" fmla="*/ 454 h 89"/>
                <a:gd name="T48" fmla="+- 0 6474 6409"/>
                <a:gd name="T49" fmla="*/ T48 w 94"/>
                <a:gd name="T50" fmla="+- 0 399 375"/>
                <a:gd name="T51" fmla="*/ 399 h 89"/>
                <a:gd name="T52" fmla="+- 0 6464 6409"/>
                <a:gd name="T53" fmla="*/ T52 w 94"/>
                <a:gd name="T54" fmla="+- 0 389 375"/>
                <a:gd name="T55" fmla="*/ 389 h 89"/>
                <a:gd name="T56" fmla="+- 0 6447 6409"/>
                <a:gd name="T57" fmla="*/ T56 w 94"/>
                <a:gd name="T58" fmla="+- 0 389 375"/>
                <a:gd name="T59" fmla="*/ 389 h 89"/>
                <a:gd name="T60" fmla="+- 0 6438 6409"/>
                <a:gd name="T61" fmla="*/ T60 w 94"/>
                <a:gd name="T62" fmla="+- 0 399 375"/>
                <a:gd name="T63" fmla="*/ 399 h 89"/>
                <a:gd name="T64" fmla="+- 0 6438 6409"/>
                <a:gd name="T65" fmla="*/ T64 w 94"/>
                <a:gd name="T66" fmla="+- 0 459 375"/>
                <a:gd name="T67" fmla="*/ 459 h 89"/>
                <a:gd name="T68" fmla="+- 0 6442 6409"/>
                <a:gd name="T69" fmla="*/ T68 w 94"/>
                <a:gd name="T70" fmla="+- 0 459 375"/>
                <a:gd name="T71" fmla="*/ 459 h 89"/>
                <a:gd name="T72" fmla="+- 0 6447 6409"/>
                <a:gd name="T73" fmla="*/ T72 w 94"/>
                <a:gd name="T74" fmla="+- 0 464 375"/>
                <a:gd name="T75" fmla="*/ 464 h 89"/>
                <a:gd name="T76" fmla="+- 0 6452 6409"/>
                <a:gd name="T77" fmla="*/ T76 w 94"/>
                <a:gd name="T78" fmla="+- 0 464 375"/>
                <a:gd name="T79" fmla="*/ 464 h 89"/>
                <a:gd name="T80" fmla="+- 0 6409 6409"/>
                <a:gd name="T81" fmla="*/ T80 w 94"/>
                <a:gd name="T82" fmla="+- 0 464 375"/>
                <a:gd name="T83" fmla="*/ 464 h 89"/>
                <a:gd name="T84" fmla="+- 0 6414 6409"/>
                <a:gd name="T85" fmla="*/ T84 w 94"/>
                <a:gd name="T86" fmla="+- 0 459 375"/>
                <a:gd name="T87" fmla="*/ 459 h 89"/>
                <a:gd name="T88" fmla="+- 0 6418 6409"/>
                <a:gd name="T89" fmla="*/ T88 w 94"/>
                <a:gd name="T90" fmla="+- 0 459 375"/>
                <a:gd name="T91" fmla="*/ 459 h 89"/>
                <a:gd name="T92" fmla="+- 0 6423 6409"/>
                <a:gd name="T93" fmla="*/ T92 w 94"/>
                <a:gd name="T94" fmla="+- 0 454 375"/>
                <a:gd name="T95" fmla="*/ 454 h 89"/>
                <a:gd name="T96" fmla="+- 0 6423 6409"/>
                <a:gd name="T97" fmla="*/ T96 w 94"/>
                <a:gd name="T98" fmla="+- 0 401 375"/>
                <a:gd name="T99" fmla="*/ 401 h 89"/>
                <a:gd name="T100" fmla="+- 0 6418 6409"/>
                <a:gd name="T101" fmla="*/ T100 w 94"/>
                <a:gd name="T102" fmla="+- 0 394 375"/>
                <a:gd name="T103" fmla="*/ 394 h 89"/>
                <a:gd name="T104" fmla="+- 0 6418 6409"/>
                <a:gd name="T105" fmla="*/ T104 w 94"/>
                <a:gd name="T106" fmla="+- 0 389 375"/>
                <a:gd name="T107" fmla="*/ 389 h 89"/>
                <a:gd name="T108" fmla="+- 0 6409 6409"/>
                <a:gd name="T109" fmla="*/ T108 w 94"/>
                <a:gd name="T110" fmla="+- 0 389 375"/>
                <a:gd name="T111" fmla="*/ 389 h 89"/>
                <a:gd name="T112" fmla="+- 0 6409 6409"/>
                <a:gd name="T113" fmla="*/ T112 w 94"/>
                <a:gd name="T114" fmla="+- 0 385 375"/>
                <a:gd name="T115" fmla="*/ 385 h 89"/>
                <a:gd name="T116" fmla="+- 0 6433 6409"/>
                <a:gd name="T117" fmla="*/ T116 w 94"/>
                <a:gd name="T118" fmla="+- 0 375 375"/>
                <a:gd name="T119" fmla="*/ 375 h 89"/>
                <a:gd name="T120" fmla="+- 0 6438 6409"/>
                <a:gd name="T121" fmla="*/ T120 w 94"/>
                <a:gd name="T122" fmla="+- 0 375 375"/>
                <a:gd name="T123" fmla="*/ 375 h 89"/>
                <a:gd name="T124" fmla="+- 0 6438 6409"/>
                <a:gd name="T125" fmla="*/ T124 w 94"/>
                <a:gd name="T126" fmla="+- 0 394 375"/>
                <a:gd name="T127" fmla="*/ 394 h 8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94" h="89">
                  <a:moveTo>
                    <a:pt x="29" y="19"/>
                  </a:moveTo>
                  <a:lnTo>
                    <a:pt x="43" y="5"/>
                  </a:lnTo>
                  <a:lnTo>
                    <a:pt x="55" y="0"/>
                  </a:lnTo>
                  <a:lnTo>
                    <a:pt x="65" y="0"/>
                  </a:lnTo>
                  <a:lnTo>
                    <a:pt x="79" y="14"/>
                  </a:lnTo>
                  <a:lnTo>
                    <a:pt x="79" y="84"/>
                  </a:lnTo>
                  <a:lnTo>
                    <a:pt x="84" y="84"/>
                  </a:lnTo>
                  <a:lnTo>
                    <a:pt x="89" y="89"/>
                  </a:lnTo>
                  <a:lnTo>
                    <a:pt x="93" y="89"/>
                  </a:lnTo>
                  <a:lnTo>
                    <a:pt x="50" y="89"/>
                  </a:lnTo>
                  <a:lnTo>
                    <a:pt x="55" y="89"/>
                  </a:lnTo>
                  <a:lnTo>
                    <a:pt x="65" y="79"/>
                  </a:lnTo>
                  <a:lnTo>
                    <a:pt x="65" y="24"/>
                  </a:lnTo>
                  <a:lnTo>
                    <a:pt x="55" y="14"/>
                  </a:lnTo>
                  <a:lnTo>
                    <a:pt x="38" y="14"/>
                  </a:lnTo>
                  <a:lnTo>
                    <a:pt x="29" y="24"/>
                  </a:lnTo>
                  <a:lnTo>
                    <a:pt x="29" y="84"/>
                  </a:lnTo>
                  <a:lnTo>
                    <a:pt x="33" y="84"/>
                  </a:lnTo>
                  <a:lnTo>
                    <a:pt x="38" y="89"/>
                  </a:lnTo>
                  <a:lnTo>
                    <a:pt x="43" y="89"/>
                  </a:lnTo>
                  <a:lnTo>
                    <a:pt x="0" y="89"/>
                  </a:lnTo>
                  <a:lnTo>
                    <a:pt x="5" y="84"/>
                  </a:lnTo>
                  <a:lnTo>
                    <a:pt x="9" y="84"/>
                  </a:lnTo>
                  <a:lnTo>
                    <a:pt x="14" y="79"/>
                  </a:lnTo>
                  <a:lnTo>
                    <a:pt x="14" y="26"/>
                  </a:lnTo>
                  <a:lnTo>
                    <a:pt x="9" y="19"/>
                  </a:lnTo>
                  <a:lnTo>
                    <a:pt x="9" y="14"/>
                  </a:lnTo>
                  <a:lnTo>
                    <a:pt x="0" y="14"/>
                  </a:lnTo>
                  <a:lnTo>
                    <a:pt x="0" y="10"/>
                  </a:lnTo>
                  <a:lnTo>
                    <a:pt x="24" y="0"/>
                  </a:lnTo>
                  <a:lnTo>
                    <a:pt x="29" y="0"/>
                  </a:lnTo>
                  <a:lnTo>
                    <a:pt x="29" y="19"/>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8" name="Freeform 28">
              <a:extLst>
                <a:ext uri="{FF2B5EF4-FFF2-40B4-BE49-F238E27FC236}">
                  <a16:creationId xmlns:a16="http://schemas.microsoft.com/office/drawing/2014/main" xmlns="" id="{D78DB25E-D60C-158E-1F53-4CF2908B6804}"/>
                </a:ext>
              </a:extLst>
            </p:cNvPr>
            <p:cNvSpPr>
              <a:spLocks/>
            </p:cNvSpPr>
            <p:nvPr/>
          </p:nvSpPr>
          <p:spPr bwMode="auto">
            <a:xfrm>
              <a:off x="6502" y="350"/>
              <a:ext cx="58" cy="118"/>
            </a:xfrm>
            <a:custGeom>
              <a:avLst/>
              <a:gdLst>
                <a:gd name="T0" fmla="+- 0 6536 6502"/>
                <a:gd name="T1" fmla="*/ T0 w 58"/>
                <a:gd name="T2" fmla="+- 0 351 351"/>
                <a:gd name="T3" fmla="*/ 351 h 118"/>
                <a:gd name="T4" fmla="+- 0 6536 6502"/>
                <a:gd name="T5" fmla="*/ T4 w 58"/>
                <a:gd name="T6" fmla="+- 0 380 351"/>
                <a:gd name="T7" fmla="*/ 380 h 118"/>
                <a:gd name="T8" fmla="+- 0 6555 6502"/>
                <a:gd name="T9" fmla="*/ T8 w 58"/>
                <a:gd name="T10" fmla="+- 0 380 351"/>
                <a:gd name="T11" fmla="*/ 380 h 118"/>
                <a:gd name="T12" fmla="+- 0 6555 6502"/>
                <a:gd name="T13" fmla="*/ T12 w 58"/>
                <a:gd name="T14" fmla="+- 0 385 351"/>
                <a:gd name="T15" fmla="*/ 385 h 118"/>
                <a:gd name="T16" fmla="+- 0 6536 6502"/>
                <a:gd name="T17" fmla="*/ T16 w 58"/>
                <a:gd name="T18" fmla="+- 0 385 351"/>
                <a:gd name="T19" fmla="*/ 385 h 118"/>
                <a:gd name="T20" fmla="+- 0 6536 6502"/>
                <a:gd name="T21" fmla="*/ T20 w 58"/>
                <a:gd name="T22" fmla="+- 0 454 351"/>
                <a:gd name="T23" fmla="*/ 454 h 118"/>
                <a:gd name="T24" fmla="+- 0 6550 6502"/>
                <a:gd name="T25" fmla="*/ T24 w 58"/>
                <a:gd name="T26" fmla="+- 0 454 351"/>
                <a:gd name="T27" fmla="*/ 454 h 118"/>
                <a:gd name="T28" fmla="+- 0 6555 6502"/>
                <a:gd name="T29" fmla="*/ T28 w 58"/>
                <a:gd name="T30" fmla="+- 0 449 351"/>
                <a:gd name="T31" fmla="*/ 449 h 118"/>
                <a:gd name="T32" fmla="+- 0 6560 6502"/>
                <a:gd name="T33" fmla="*/ T32 w 58"/>
                <a:gd name="T34" fmla="+- 0 449 351"/>
                <a:gd name="T35" fmla="*/ 449 h 118"/>
                <a:gd name="T36" fmla="+- 0 6555 6502"/>
                <a:gd name="T37" fmla="*/ T36 w 58"/>
                <a:gd name="T38" fmla="+- 0 454 351"/>
                <a:gd name="T39" fmla="*/ 454 h 118"/>
                <a:gd name="T40" fmla="+- 0 6550 6502"/>
                <a:gd name="T41" fmla="*/ T40 w 58"/>
                <a:gd name="T42" fmla="+- 0 464 351"/>
                <a:gd name="T43" fmla="*/ 464 h 118"/>
                <a:gd name="T44" fmla="+- 0 6541 6502"/>
                <a:gd name="T45" fmla="*/ T44 w 58"/>
                <a:gd name="T46" fmla="+- 0 464 351"/>
                <a:gd name="T47" fmla="*/ 464 h 118"/>
                <a:gd name="T48" fmla="+- 0 6536 6502"/>
                <a:gd name="T49" fmla="*/ T48 w 58"/>
                <a:gd name="T50" fmla="+- 0 469 351"/>
                <a:gd name="T51" fmla="*/ 469 h 118"/>
                <a:gd name="T52" fmla="+- 0 6531 6502"/>
                <a:gd name="T53" fmla="*/ T52 w 58"/>
                <a:gd name="T54" fmla="+- 0 469 351"/>
                <a:gd name="T55" fmla="*/ 469 h 118"/>
                <a:gd name="T56" fmla="+- 0 6526 6502"/>
                <a:gd name="T57" fmla="*/ T56 w 58"/>
                <a:gd name="T58" fmla="+- 0 464 351"/>
                <a:gd name="T59" fmla="*/ 464 h 118"/>
                <a:gd name="T60" fmla="+- 0 6522 6502"/>
                <a:gd name="T61" fmla="*/ T60 w 58"/>
                <a:gd name="T62" fmla="+- 0 464 351"/>
                <a:gd name="T63" fmla="*/ 464 h 118"/>
                <a:gd name="T64" fmla="+- 0 6522 6502"/>
                <a:gd name="T65" fmla="*/ T64 w 58"/>
                <a:gd name="T66" fmla="+- 0 449 351"/>
                <a:gd name="T67" fmla="*/ 449 h 118"/>
                <a:gd name="T68" fmla="+- 0 6517 6502"/>
                <a:gd name="T69" fmla="*/ T68 w 58"/>
                <a:gd name="T70" fmla="+- 0 445 351"/>
                <a:gd name="T71" fmla="*/ 445 h 118"/>
                <a:gd name="T72" fmla="+- 0 6517 6502"/>
                <a:gd name="T73" fmla="*/ T72 w 58"/>
                <a:gd name="T74" fmla="+- 0 385 351"/>
                <a:gd name="T75" fmla="*/ 385 h 118"/>
                <a:gd name="T76" fmla="+- 0 6502 6502"/>
                <a:gd name="T77" fmla="*/ T76 w 58"/>
                <a:gd name="T78" fmla="+- 0 385 351"/>
                <a:gd name="T79" fmla="*/ 385 h 118"/>
                <a:gd name="T80" fmla="+- 0 6502 6502"/>
                <a:gd name="T81" fmla="*/ T80 w 58"/>
                <a:gd name="T82" fmla="+- 0 380 351"/>
                <a:gd name="T83" fmla="*/ 380 h 118"/>
                <a:gd name="T84" fmla="+- 0 6512 6502"/>
                <a:gd name="T85" fmla="*/ T84 w 58"/>
                <a:gd name="T86" fmla="+- 0 380 351"/>
                <a:gd name="T87" fmla="*/ 380 h 118"/>
                <a:gd name="T88" fmla="+- 0 6522 6502"/>
                <a:gd name="T89" fmla="*/ T88 w 58"/>
                <a:gd name="T90" fmla="+- 0 370 351"/>
                <a:gd name="T91" fmla="*/ 370 h 118"/>
                <a:gd name="T92" fmla="+- 0 6526 6502"/>
                <a:gd name="T93" fmla="*/ T92 w 58"/>
                <a:gd name="T94" fmla="+- 0 361 351"/>
                <a:gd name="T95" fmla="*/ 361 h 118"/>
                <a:gd name="T96" fmla="+- 0 6526 6502"/>
                <a:gd name="T97" fmla="*/ T96 w 58"/>
                <a:gd name="T98" fmla="+- 0 356 351"/>
                <a:gd name="T99" fmla="*/ 356 h 118"/>
                <a:gd name="T100" fmla="+- 0 6531 6502"/>
                <a:gd name="T101" fmla="*/ T100 w 58"/>
                <a:gd name="T102" fmla="+- 0 351 351"/>
                <a:gd name="T103" fmla="*/ 351 h 118"/>
                <a:gd name="T104" fmla="+- 0 6536 6502"/>
                <a:gd name="T105" fmla="*/ T104 w 58"/>
                <a:gd name="T106" fmla="+- 0 351 351"/>
                <a:gd name="T107" fmla="*/ 351 h 11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Lst>
              <a:rect l="0" t="0" r="r" b="b"/>
              <a:pathLst>
                <a:path w="58" h="118">
                  <a:moveTo>
                    <a:pt x="34" y="0"/>
                  </a:moveTo>
                  <a:lnTo>
                    <a:pt x="34" y="29"/>
                  </a:lnTo>
                  <a:lnTo>
                    <a:pt x="53" y="29"/>
                  </a:lnTo>
                  <a:lnTo>
                    <a:pt x="53" y="34"/>
                  </a:lnTo>
                  <a:lnTo>
                    <a:pt x="34" y="34"/>
                  </a:lnTo>
                  <a:lnTo>
                    <a:pt x="34" y="103"/>
                  </a:lnTo>
                  <a:lnTo>
                    <a:pt x="48" y="103"/>
                  </a:lnTo>
                  <a:lnTo>
                    <a:pt x="53" y="98"/>
                  </a:lnTo>
                  <a:lnTo>
                    <a:pt x="58" y="98"/>
                  </a:lnTo>
                  <a:lnTo>
                    <a:pt x="53" y="103"/>
                  </a:lnTo>
                  <a:lnTo>
                    <a:pt x="48" y="113"/>
                  </a:lnTo>
                  <a:lnTo>
                    <a:pt x="39" y="113"/>
                  </a:lnTo>
                  <a:lnTo>
                    <a:pt x="34" y="118"/>
                  </a:lnTo>
                  <a:lnTo>
                    <a:pt x="29" y="118"/>
                  </a:lnTo>
                  <a:lnTo>
                    <a:pt x="24" y="113"/>
                  </a:lnTo>
                  <a:lnTo>
                    <a:pt x="20" y="113"/>
                  </a:lnTo>
                  <a:lnTo>
                    <a:pt x="20" y="98"/>
                  </a:lnTo>
                  <a:lnTo>
                    <a:pt x="15" y="94"/>
                  </a:lnTo>
                  <a:lnTo>
                    <a:pt x="15" y="34"/>
                  </a:lnTo>
                  <a:lnTo>
                    <a:pt x="0" y="34"/>
                  </a:lnTo>
                  <a:lnTo>
                    <a:pt x="0" y="29"/>
                  </a:lnTo>
                  <a:lnTo>
                    <a:pt x="10" y="29"/>
                  </a:lnTo>
                  <a:lnTo>
                    <a:pt x="20" y="19"/>
                  </a:lnTo>
                  <a:lnTo>
                    <a:pt x="24" y="10"/>
                  </a:lnTo>
                  <a:lnTo>
                    <a:pt x="24" y="5"/>
                  </a:lnTo>
                  <a:lnTo>
                    <a:pt x="29" y="0"/>
                  </a:lnTo>
                  <a:lnTo>
                    <a:pt x="34" y="0"/>
                  </a:lnTo>
                </a:path>
              </a:pathLst>
            </a:custGeom>
            <a:noFill/>
            <a:ln w="304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53" name="Picture 29">
              <a:extLst>
                <a:ext uri="{FF2B5EF4-FFF2-40B4-BE49-F238E27FC236}">
                  <a16:creationId xmlns:a16="http://schemas.microsoft.com/office/drawing/2014/main" xmlns="" id="{1478C164-A96C-E988-DD32-225D963B4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 y="602"/>
              <a:ext cx="581"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 name="Picture 30">
              <a:extLst>
                <a:ext uri="{FF2B5EF4-FFF2-40B4-BE49-F238E27FC236}">
                  <a16:creationId xmlns:a16="http://schemas.microsoft.com/office/drawing/2014/main" xmlns="" id="{CF733F0C-6239-F536-7D06-348D1A6A4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4" y="1493"/>
              <a:ext cx="756"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 name="TextBox 29">
            <a:extLst>
              <a:ext uri="{FF2B5EF4-FFF2-40B4-BE49-F238E27FC236}">
                <a16:creationId xmlns:a16="http://schemas.microsoft.com/office/drawing/2014/main" xmlns="" id="{D8C89F19-8740-2690-1116-115A44BF29BA}"/>
              </a:ext>
            </a:extLst>
          </p:cNvPr>
          <p:cNvSpPr txBox="1"/>
          <p:nvPr/>
        </p:nvSpPr>
        <p:spPr>
          <a:xfrm>
            <a:off x="1636742" y="5602828"/>
            <a:ext cx="4581330" cy="369332"/>
          </a:xfrm>
          <a:prstGeom prst="rect">
            <a:avLst/>
          </a:prstGeom>
          <a:noFill/>
        </p:spPr>
        <p:txBody>
          <a:bodyPr wrap="square">
            <a:spAutoFit/>
          </a:bodyPr>
          <a:lstStyle/>
          <a:p>
            <a:pPr marL="12065" algn="ctr">
              <a:spcBef>
                <a:spcPts val="495"/>
              </a:spcBef>
              <a:spcAft>
                <a:spcPts val="0"/>
              </a:spcAft>
            </a:pPr>
            <a:r>
              <a:rPr lang="en-US" sz="1800" dirty="0">
                <a:solidFill>
                  <a:schemeClr val="accent5">
                    <a:lumMod val="75000"/>
                  </a:schemeClr>
                </a:solidFill>
                <a:effectLst/>
                <a:latin typeface="Times New Roman" panose="02020603050405020304" pitchFamily="18" charset="0"/>
                <a:ea typeface="Times New Roman" panose="02020603050405020304" pitchFamily="18" charset="0"/>
              </a:rPr>
              <a:t>Fig. 4.2: Strong sustainability aspects</a:t>
            </a:r>
            <a:endParaRPr lang="en-IN" sz="1800" dirty="0">
              <a:solidFill>
                <a:schemeClr val="accent5">
                  <a:lumMod val="75000"/>
                </a:schemeClr>
              </a:solidFill>
              <a:effectLst/>
              <a:latin typeface="Times New Roman" panose="02020603050405020304" pitchFamily="18" charset="0"/>
              <a:ea typeface="Times New Roman" panose="02020603050405020304" pitchFamily="18" charset="0"/>
            </a:endParaRPr>
          </a:p>
        </p:txBody>
      </p:sp>
      <p:sp>
        <p:nvSpPr>
          <p:cNvPr id="32" name="TextBox 31">
            <a:extLst>
              <a:ext uri="{FF2B5EF4-FFF2-40B4-BE49-F238E27FC236}">
                <a16:creationId xmlns:a16="http://schemas.microsoft.com/office/drawing/2014/main" xmlns="" id="{7E2CCC4C-58D0-FA63-C828-00DE6576F153}"/>
              </a:ext>
            </a:extLst>
          </p:cNvPr>
          <p:cNvSpPr txBox="1"/>
          <p:nvPr/>
        </p:nvSpPr>
        <p:spPr>
          <a:xfrm>
            <a:off x="392395" y="885840"/>
            <a:ext cx="4581330" cy="430887"/>
          </a:xfrm>
          <a:prstGeom prst="rect">
            <a:avLst/>
          </a:prstGeom>
          <a:noFill/>
        </p:spPr>
        <p:txBody>
          <a:bodyPr wrap="square">
            <a:spAutoFit/>
          </a:bodyPr>
          <a:lstStyle/>
          <a:p>
            <a:r>
              <a:rPr lang="en-US" sz="2200" b="1" dirty="0">
                <a:solidFill>
                  <a:schemeClr val="accent5">
                    <a:lumMod val="75000"/>
                  </a:schemeClr>
                </a:solidFill>
                <a:effectLst/>
                <a:latin typeface="Times New Roman" panose="02020603050405020304" pitchFamily="18" charset="0"/>
                <a:ea typeface="Times New Roman" panose="02020603050405020304" pitchFamily="18" charset="0"/>
              </a:rPr>
              <a:t>Relationship</a:t>
            </a:r>
            <a:r>
              <a:rPr lang="en-US" sz="2200" b="1" spc="205" dirty="0">
                <a:solidFill>
                  <a:schemeClr val="accent5">
                    <a:lumMod val="75000"/>
                  </a:schemeClr>
                </a:solidFill>
                <a:effectLst/>
                <a:latin typeface="Times New Roman" panose="02020603050405020304" pitchFamily="18" charset="0"/>
                <a:ea typeface="Times New Roman" panose="02020603050405020304" pitchFamily="18" charset="0"/>
              </a:rPr>
              <a:t> </a:t>
            </a:r>
            <a:r>
              <a:rPr lang="en-US" sz="2200" b="1" dirty="0">
                <a:solidFill>
                  <a:schemeClr val="accent5">
                    <a:lumMod val="75000"/>
                  </a:schemeClr>
                </a:solidFill>
                <a:effectLst/>
                <a:latin typeface="Times New Roman" panose="02020603050405020304" pitchFamily="18" charset="0"/>
                <a:ea typeface="Times New Roman" panose="02020603050405020304" pitchFamily="18" charset="0"/>
              </a:rPr>
              <a:t>between</a:t>
            </a:r>
            <a:r>
              <a:rPr lang="en-US" sz="2200" b="1" spc="205" dirty="0">
                <a:solidFill>
                  <a:schemeClr val="accent5">
                    <a:lumMod val="75000"/>
                  </a:schemeClr>
                </a:solidFill>
                <a:effectLst/>
                <a:latin typeface="Times New Roman" panose="02020603050405020304" pitchFamily="18" charset="0"/>
                <a:ea typeface="Times New Roman" panose="02020603050405020304" pitchFamily="18" charset="0"/>
              </a:rPr>
              <a:t> </a:t>
            </a:r>
            <a:r>
              <a:rPr lang="en-US" sz="2200" b="1" dirty="0">
                <a:solidFill>
                  <a:schemeClr val="accent5">
                    <a:lumMod val="75000"/>
                  </a:schemeClr>
                </a:solidFill>
                <a:effectLst/>
                <a:latin typeface="Times New Roman" panose="02020603050405020304" pitchFamily="18" charset="0"/>
                <a:ea typeface="Times New Roman" panose="02020603050405020304" pitchFamily="18" charset="0"/>
              </a:rPr>
              <a:t>these</a:t>
            </a:r>
            <a:r>
              <a:rPr lang="en-US" sz="2200" b="1" spc="205" dirty="0">
                <a:solidFill>
                  <a:schemeClr val="accent5">
                    <a:lumMod val="75000"/>
                  </a:schemeClr>
                </a:solidFill>
                <a:effectLst/>
                <a:latin typeface="Times New Roman" panose="02020603050405020304" pitchFamily="18" charset="0"/>
                <a:ea typeface="Times New Roman" panose="02020603050405020304" pitchFamily="18" charset="0"/>
              </a:rPr>
              <a:t> </a:t>
            </a:r>
            <a:r>
              <a:rPr lang="en-US" sz="2200" b="1" dirty="0">
                <a:solidFill>
                  <a:schemeClr val="accent5">
                    <a:lumMod val="75000"/>
                  </a:schemeClr>
                </a:solidFill>
                <a:effectLst/>
                <a:latin typeface="Times New Roman" panose="02020603050405020304" pitchFamily="18" charset="0"/>
                <a:ea typeface="Times New Roman" panose="02020603050405020304" pitchFamily="18" charset="0"/>
              </a:rPr>
              <a:t>aspects</a:t>
            </a:r>
            <a:endParaRPr lang="en-IN" sz="2200" b="1" dirty="0">
              <a:solidFill>
                <a:schemeClr val="accent5">
                  <a:lumMod val="75000"/>
                </a:schemeClr>
              </a:solidFill>
            </a:endParaRPr>
          </a:p>
        </p:txBody>
      </p:sp>
    </p:spTree>
  </p:cSld>
  <p:clrMapOvr>
    <a:masterClrMapping/>
  </p:clrMapOvr>
  <p:transition spd="slow">
    <p:newsfla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0010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It acknowledges the resource use and waste disposal must occur within the capacity of our planet. </a:t>
            </a:r>
          </a:p>
          <a:p>
            <a:pPr>
              <a:buFont typeface="Wingdings" pitchFamily="2" charset="2"/>
              <a:buChar char="q"/>
            </a:pPr>
            <a:r>
              <a:rPr lang="en-US" sz="2200" dirty="0">
                <a:solidFill>
                  <a:srgbClr val="FF0000"/>
                </a:solidFill>
                <a:latin typeface="Times New Roman" pitchFamily="18" charset="0"/>
                <a:cs typeface="Times New Roman" pitchFamily="18" charset="0"/>
              </a:rPr>
              <a:t>  It encourages a fair trading system that equitably distributes benefits and costs. </a:t>
            </a:r>
          </a:p>
          <a:p>
            <a:pPr>
              <a:buFont typeface="Wingdings" pitchFamily="2" charset="2"/>
              <a:buChar char="q"/>
            </a:pPr>
            <a:r>
              <a:rPr lang="en-US" sz="2200" dirty="0">
                <a:solidFill>
                  <a:srgbClr val="FF0000"/>
                </a:solidFill>
                <a:latin typeface="Times New Roman" pitchFamily="18" charset="0"/>
                <a:cs typeface="Times New Roman" pitchFamily="18" charset="0"/>
              </a:rPr>
              <a:t>  It further encourages innovation and creativity in developments that lead to a sustainable future.</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This model shows how our economy is a subset of our society.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also shows that everything in our economy and everything in our society entirely dependent on our environment.</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This relationship means that any impact (or) change to our environment will impact on society and the economy.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Therefore any sustainability related issue must be considered holistically and </a:t>
            </a:r>
            <a:r>
              <a:rPr lang="en-US" sz="2200" dirty="0" err="1">
                <a:solidFill>
                  <a:srgbClr val="FF0000"/>
                </a:solidFill>
                <a:latin typeface="Times New Roman" pitchFamily="18" charset="0"/>
                <a:cs typeface="Times New Roman" pitchFamily="18" charset="0"/>
              </a:rPr>
              <a:t>recognise</a:t>
            </a:r>
            <a:r>
              <a:rPr lang="en-US" sz="2200" dirty="0">
                <a:solidFill>
                  <a:srgbClr val="FF0000"/>
                </a:solidFill>
                <a:latin typeface="Times New Roman" pitchFamily="18" charset="0"/>
                <a:cs typeface="Times New Roman" pitchFamily="18" charset="0"/>
              </a:rPr>
              <a:t> their interdependence.</a:t>
            </a:r>
          </a:p>
        </p:txBody>
      </p:sp>
    </p:spTree>
  </p:cSld>
  <p:clrMapOvr>
    <a:masterClrMapping/>
  </p:clrMapOvr>
  <p:transition spd="slow">
    <p:newsfla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10245"/>
            <a:ext cx="8229600" cy="5847755"/>
          </a:xfrm>
          <a:prstGeom prst="rect">
            <a:avLst/>
          </a:prstGeom>
        </p:spPr>
        <p:txBody>
          <a:bodyPr wrap="square">
            <a:spAutoFit/>
          </a:bodyPr>
          <a:lstStyle/>
          <a:p>
            <a:r>
              <a:rPr lang="en-US" sz="2200" b="1" i="1" dirty="0">
                <a:solidFill>
                  <a:srgbClr val="D60093"/>
                </a:solidFill>
                <a:latin typeface="Times New Roman" pitchFamily="18" charset="0"/>
                <a:cs typeface="Times New Roman" pitchFamily="18" charset="0"/>
              </a:rPr>
              <a:t>4.4 FROM UNSUSTAINABILITY TO SUSTAINABLITY</a:t>
            </a:r>
          </a:p>
          <a:p>
            <a:endParaRPr lang="en-US" sz="2200" b="1" i="1"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4.4.1 </a:t>
            </a:r>
            <a:r>
              <a:rPr lang="en-US" sz="2200" b="1" i="1" dirty="0" err="1">
                <a:solidFill>
                  <a:srgbClr val="996600"/>
                </a:solidFill>
                <a:latin typeface="Times New Roman" pitchFamily="18" charset="0"/>
                <a:cs typeface="Times New Roman" pitchFamily="18" charset="0"/>
              </a:rPr>
              <a:t>Unsustainability</a:t>
            </a:r>
            <a:endParaRPr lang="en-US" sz="2200" b="1" i="1" dirty="0">
              <a:solidFill>
                <a:srgbClr val="9966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Our ancestors have left a lot of resources for us. </a:t>
            </a:r>
          </a:p>
          <a:p>
            <a:pPr>
              <a:buFont typeface="Wingdings" pitchFamily="2" charset="2"/>
              <a:buChar char="v"/>
            </a:pPr>
            <a:r>
              <a:rPr lang="en-US" sz="2200" dirty="0">
                <a:solidFill>
                  <a:srgbClr val="FF0000"/>
                </a:solidFill>
                <a:latin typeface="Times New Roman" pitchFamily="18" charset="0"/>
                <a:cs typeface="Times New Roman" pitchFamily="18" charset="0"/>
              </a:rPr>
              <a:t>  They used their resources sensibly and not for their greed. </a:t>
            </a:r>
          </a:p>
          <a:p>
            <a:pPr>
              <a:buFont typeface="Wingdings" pitchFamily="2" charset="2"/>
              <a:buChar char="v"/>
            </a:pPr>
            <a:r>
              <a:rPr lang="en-US" sz="2200" dirty="0">
                <a:solidFill>
                  <a:srgbClr val="FF0000"/>
                </a:solidFill>
                <a:latin typeface="Times New Roman" pitchFamily="18" charset="0"/>
                <a:cs typeface="Times New Roman" pitchFamily="18" charset="0"/>
              </a:rPr>
              <a:t>  But we are exploiting limited resources. Instead of using it for our needs, we are exploiting it for our </a:t>
            </a:r>
            <a:r>
              <a:rPr lang="en-US" sz="2200" dirty="0" err="1">
                <a:solidFill>
                  <a:srgbClr val="FF0000"/>
                </a:solidFill>
                <a:latin typeface="Times New Roman" pitchFamily="18" charset="0"/>
                <a:cs typeface="Times New Roman" pitchFamily="18" charset="0"/>
              </a:rPr>
              <a:t>greeds</a:t>
            </a:r>
            <a:r>
              <a:rPr lang="en-US" sz="2200" dirty="0">
                <a:solidFill>
                  <a:srgbClr val="FF0000"/>
                </a:solidFill>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Characteristics of </a:t>
            </a:r>
            <a:r>
              <a:rPr lang="en-US" sz="2200" b="1" dirty="0" err="1">
                <a:latin typeface="Times New Roman" pitchFamily="18" charset="0"/>
                <a:cs typeface="Times New Roman" pitchFamily="18" charset="0"/>
              </a:rPr>
              <a:t>Unsustainability</a:t>
            </a:r>
            <a:r>
              <a:rPr lang="en-US" sz="2200" b="1" dirty="0">
                <a:latin typeface="Times New Roman" pitchFamily="18" charset="0"/>
                <a:cs typeface="Times New Roman" pitchFamily="18" charset="0"/>
              </a:rPr>
              <a:t> </a:t>
            </a:r>
          </a:p>
          <a:p>
            <a:pPr>
              <a:buFont typeface="Wingdings" pitchFamily="2" charset="2"/>
              <a:buChar char="Ø"/>
            </a:pP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Unsustainability</a:t>
            </a:r>
            <a:r>
              <a:rPr lang="en-US" sz="2200" dirty="0">
                <a:solidFill>
                  <a:srgbClr val="FF0000"/>
                </a:solidFill>
                <a:latin typeface="Times New Roman" pitchFamily="18" charset="0"/>
                <a:cs typeface="Times New Roman" pitchFamily="18" charset="0"/>
              </a:rPr>
              <a:t> is one in which we forget our responsibility towards the environment.</a:t>
            </a:r>
          </a:p>
          <a:p>
            <a:pPr>
              <a:buFont typeface="Wingdings" pitchFamily="2" charset="2"/>
              <a:buChar char="Ø"/>
            </a:pPr>
            <a:r>
              <a:rPr lang="en-US" sz="2200" dirty="0">
                <a:solidFill>
                  <a:srgbClr val="FF0000"/>
                </a:solidFill>
                <a:latin typeface="Times New Roman" pitchFamily="18" charset="0"/>
                <a:cs typeface="Times New Roman" pitchFamily="18" charset="0"/>
              </a:rPr>
              <a:t>  In </a:t>
            </a:r>
            <a:r>
              <a:rPr lang="en-US" sz="2200" dirty="0" err="1">
                <a:solidFill>
                  <a:srgbClr val="FF0000"/>
                </a:solidFill>
                <a:latin typeface="Times New Roman" pitchFamily="18" charset="0"/>
                <a:cs typeface="Times New Roman" pitchFamily="18" charset="0"/>
              </a:rPr>
              <a:t>unsustainability</a:t>
            </a:r>
            <a:r>
              <a:rPr lang="en-US" sz="2200" dirty="0">
                <a:solidFill>
                  <a:srgbClr val="FF0000"/>
                </a:solidFill>
                <a:latin typeface="Times New Roman" pitchFamily="18" charset="0"/>
                <a:cs typeface="Times New Roman" pitchFamily="18" charset="0"/>
              </a:rPr>
              <a:t>, we degrade the available resources.</a:t>
            </a:r>
          </a:p>
          <a:p>
            <a:pPr>
              <a:buFont typeface="Wingdings" pitchFamily="2" charset="2"/>
              <a:buChar char="Ø"/>
            </a:pPr>
            <a:r>
              <a:rPr lang="en-US" sz="2200" dirty="0">
                <a:solidFill>
                  <a:srgbClr val="FF0000"/>
                </a:solidFill>
                <a:latin typeface="Times New Roman" pitchFamily="18" charset="0"/>
                <a:cs typeface="Times New Roman" pitchFamily="18" charset="0"/>
              </a:rPr>
              <a:t>  It not at all cares about the needs of future generations.</a:t>
            </a:r>
          </a:p>
          <a:p>
            <a:pPr>
              <a:buFont typeface="Wingdings" pitchFamily="2" charset="2"/>
              <a:buChar char="Ø"/>
            </a:pPr>
            <a:r>
              <a:rPr lang="en-US" sz="2200" dirty="0">
                <a:solidFill>
                  <a:srgbClr val="FF0000"/>
                </a:solidFill>
                <a:latin typeface="Times New Roman" pitchFamily="18" charset="0"/>
                <a:cs typeface="Times New Roman" pitchFamily="18" charset="0"/>
              </a:rPr>
              <a:t>  Unsystematic planning can lead to damage to natural as well as human-made resources.</a:t>
            </a:r>
          </a:p>
          <a:p>
            <a:pPr>
              <a:buFont typeface="Wingdings" pitchFamily="2" charset="2"/>
              <a:buChar char="Ø"/>
            </a:pP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Unsustainability</a:t>
            </a:r>
            <a:r>
              <a:rPr lang="en-US" sz="2200" dirty="0">
                <a:solidFill>
                  <a:srgbClr val="FF0000"/>
                </a:solidFill>
                <a:latin typeface="Times New Roman" pitchFamily="18" charset="0"/>
                <a:cs typeface="Times New Roman" pitchFamily="18" charset="0"/>
              </a:rPr>
              <a:t> leads to extreme degradation of the environment as well as the living organism.</a:t>
            </a:r>
          </a:p>
        </p:txBody>
      </p:sp>
    </p:spTree>
  </p:cSld>
  <p:clrMapOvr>
    <a:masterClrMapping/>
  </p:clrMapOvr>
  <p:transition spd="slow">
    <p:newsfla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001000" cy="5847755"/>
          </a:xfrm>
          <a:prstGeom prst="rect">
            <a:avLst/>
          </a:prstGeom>
        </p:spPr>
        <p:txBody>
          <a:bodyPr wrap="square">
            <a:spAutoFit/>
          </a:bodyPr>
          <a:lstStyle/>
          <a:p>
            <a:r>
              <a:rPr lang="en-US" sz="2200" b="1" dirty="0">
                <a:latin typeface="Times New Roman" pitchFamily="18" charset="0"/>
                <a:cs typeface="Times New Roman" pitchFamily="18" charset="0"/>
              </a:rPr>
              <a:t>Causes for </a:t>
            </a:r>
            <a:r>
              <a:rPr lang="en-US" sz="2200" b="1" dirty="0" err="1">
                <a:latin typeface="Times New Roman" pitchFamily="18" charset="0"/>
                <a:cs typeface="Times New Roman" pitchFamily="18" charset="0"/>
              </a:rPr>
              <a:t>unsustainability</a:t>
            </a:r>
            <a:r>
              <a:rPr lang="en-US" sz="2200" b="1" dirty="0">
                <a:latin typeface="Times New Roman" pitchFamily="18" charset="0"/>
                <a:cs typeface="Times New Roman" pitchFamily="18" charset="0"/>
              </a:rPr>
              <a:t> </a:t>
            </a:r>
          </a:p>
          <a:p>
            <a:pPr marL="514350" indent="-514350">
              <a:buFont typeface="Wingdings" pitchFamily="2" charset="2"/>
              <a:buChar char="v"/>
            </a:pPr>
            <a:r>
              <a:rPr lang="en-US" sz="2200" dirty="0">
                <a:solidFill>
                  <a:srgbClr val="FF0000"/>
                </a:solidFill>
                <a:latin typeface="Times New Roman" pitchFamily="18" charset="0"/>
                <a:cs typeface="Times New Roman" pitchFamily="18" charset="0"/>
              </a:rPr>
              <a:t>Developing countries are responsible for the degradation.</a:t>
            </a:r>
          </a:p>
          <a:p>
            <a:pPr marL="514350" indent="-51435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The rate of increase of National pollution. In this regard, developed countries contribute much more developing countries.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Raising population.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People should look at environment as not only reserve of man but of all living organism.</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People built so many buildings, roads and dams for a luxurious life-style. We neglected the needs of animals and destroy their habitats.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We extract a lot of material from the lithosphere than what we need.</a:t>
            </a:r>
          </a:p>
        </p:txBody>
      </p:sp>
    </p:spTree>
  </p:cSld>
  <p:clrMapOvr>
    <a:masterClrMapping/>
  </p:clrMapOvr>
  <p:transition spd="slow">
    <p:newsfla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8077200" cy="5170646"/>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We create a lot of chemical compounds, which break down in the environment and becomes problematic.</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We cut trees at a faster rate than they can grow, which causes global warming.</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Purchasing and using polythene bags contribute to growth of pollution.</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4.4.2 Characteristics of Sustainability</a:t>
            </a:r>
          </a:p>
          <a:p>
            <a:pPr marL="457200" indent="-457200">
              <a:buFont typeface="Wingdings" pitchFamily="2" charset="2"/>
              <a:buChar char="q"/>
            </a:pPr>
            <a:r>
              <a:rPr lang="en-US" sz="2200" dirty="0">
                <a:solidFill>
                  <a:srgbClr val="FF0000"/>
                </a:solidFill>
                <a:latin typeface="Times New Roman" pitchFamily="18" charset="0"/>
                <a:cs typeface="Times New Roman" pitchFamily="18" charset="0"/>
              </a:rPr>
              <a:t>It reduces emission of greenhouse gases, which will reduce global warming and helps in preserving the environment.</a:t>
            </a:r>
          </a:p>
          <a:p>
            <a:pPr marL="457200" indent="-457200">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uses natural and biodegradable materials for reducing the impact on the environment.</a:t>
            </a:r>
          </a:p>
        </p:txBody>
      </p:sp>
    </p:spTree>
  </p:cSld>
  <p:clrMapOvr>
    <a:masterClrMapping/>
  </p:clrMapOvr>
  <p:transition spd="slow">
    <p:newsfla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696200" cy="5170646"/>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It emphasis on using renewable energy sources such as wind and solar energy.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follows non-polluting construction practices.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protects the natural habitats.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improves the quality of human life.</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a:t>
            </a:r>
            <a:r>
              <a:rPr lang="en-US" sz="2200" dirty="0" err="1">
                <a:solidFill>
                  <a:srgbClr val="FF0000"/>
                </a:solidFill>
                <a:latin typeface="Times New Roman" pitchFamily="18" charset="0"/>
                <a:cs typeface="Times New Roman" pitchFamily="18" charset="0"/>
              </a:rPr>
              <a:t>minimises</a:t>
            </a:r>
            <a:r>
              <a:rPr lang="en-US" sz="2200" dirty="0">
                <a:solidFill>
                  <a:srgbClr val="FF0000"/>
                </a:solidFill>
                <a:latin typeface="Times New Roman" pitchFamily="18" charset="0"/>
                <a:cs typeface="Times New Roman" pitchFamily="18" charset="0"/>
              </a:rPr>
              <a:t> the depletion of natural resources.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teaches us to respect and care for all the life forms.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makes arrangements, so that the future generations are able to meet their own demands.</a:t>
            </a:r>
          </a:p>
        </p:txBody>
      </p:sp>
    </p:spTree>
  </p:cSld>
  <p:clrMapOvr>
    <a:masterClrMapping/>
  </p:clrMapOvr>
  <p:transition spd="slow">
    <p:newsfla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924800" cy="430887"/>
          </a:xfrm>
          <a:prstGeom prst="rect">
            <a:avLst/>
          </a:prstGeom>
        </p:spPr>
        <p:txBody>
          <a:bodyPr wrap="square">
            <a:spAutoFit/>
          </a:bodyPr>
          <a:lstStyle/>
          <a:p>
            <a:r>
              <a:rPr lang="en-US" sz="2200" b="1" dirty="0">
                <a:latin typeface="Times New Roman" pitchFamily="18" charset="0"/>
                <a:cs typeface="Times New Roman" pitchFamily="18" charset="0"/>
              </a:rPr>
              <a:t>Table 4.1 Differences between sustainability and </a:t>
            </a:r>
            <a:r>
              <a:rPr lang="en-US" sz="2200" b="1" dirty="0" err="1">
                <a:latin typeface="Times New Roman" pitchFamily="18" charset="0"/>
                <a:cs typeface="Times New Roman" pitchFamily="18" charset="0"/>
              </a:rPr>
              <a:t>unsustainability</a:t>
            </a:r>
            <a:endParaRPr lang="en-US" sz="2200" dirty="0">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533400" y="1905000"/>
          <a:ext cx="8382000" cy="43891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xmlns="" val="20000"/>
                    </a:ext>
                  </a:extLst>
                </a:gridCol>
                <a:gridCol w="3429000">
                  <a:extLst>
                    <a:ext uri="{9D8B030D-6E8A-4147-A177-3AD203B41FA5}">
                      <a16:colId xmlns:a16="http://schemas.microsoft.com/office/drawing/2014/main" xmlns="" val="20001"/>
                    </a:ext>
                  </a:extLst>
                </a:gridCol>
                <a:gridCol w="3962400">
                  <a:extLst>
                    <a:ext uri="{9D8B030D-6E8A-4147-A177-3AD203B41FA5}">
                      <a16:colId xmlns:a16="http://schemas.microsoft.com/office/drawing/2014/main" xmlns="" val="20002"/>
                    </a:ext>
                  </a:extLst>
                </a:gridCol>
              </a:tblGrid>
              <a:tr h="370840">
                <a:tc>
                  <a:txBody>
                    <a:bodyPr/>
                    <a:lstStyle/>
                    <a:p>
                      <a:r>
                        <a:rPr kumimoji="0" lang="en-US" sz="2200" b="1" kern="1200" baseline="0" dirty="0" err="1">
                          <a:solidFill>
                            <a:srgbClr val="002060"/>
                          </a:solidFill>
                          <a:latin typeface="Times New Roman" pitchFamily="18" charset="0"/>
                          <a:ea typeface="+mn-ea"/>
                          <a:cs typeface="Times New Roman" pitchFamily="18" charset="0"/>
                        </a:rPr>
                        <a:t>S.No</a:t>
                      </a:r>
                      <a:r>
                        <a:rPr kumimoji="0" lang="en-US" sz="2200" b="1" kern="1200" baseline="0" dirty="0">
                          <a:solidFill>
                            <a:srgbClr val="002060"/>
                          </a:solidFill>
                          <a:latin typeface="Times New Roman" pitchFamily="18" charset="0"/>
                          <a:ea typeface="+mn-ea"/>
                          <a:cs typeface="Times New Roman" pitchFamily="18" charset="0"/>
                        </a:rPr>
                        <a:t>.</a:t>
                      </a:r>
                      <a:endParaRPr lang="en-US" sz="2200" dirty="0">
                        <a:solidFill>
                          <a:srgbClr val="002060"/>
                        </a:solidFill>
                        <a:latin typeface="Times New Roman" pitchFamily="18" charset="0"/>
                        <a:cs typeface="Times New Roman" pitchFamily="18" charset="0"/>
                      </a:endParaRPr>
                    </a:p>
                  </a:txBody>
                  <a:tcPr/>
                </a:tc>
                <a:tc>
                  <a:txBody>
                    <a:bodyPr/>
                    <a:lstStyle/>
                    <a:p>
                      <a:r>
                        <a:rPr kumimoji="0" lang="en-US" sz="2200" b="1" kern="1200" baseline="0" dirty="0">
                          <a:solidFill>
                            <a:srgbClr val="002060"/>
                          </a:solidFill>
                          <a:latin typeface="Times New Roman" pitchFamily="18" charset="0"/>
                          <a:ea typeface="+mn-ea"/>
                          <a:cs typeface="Times New Roman" pitchFamily="18" charset="0"/>
                        </a:rPr>
                        <a:t>Sustainability</a:t>
                      </a:r>
                      <a:endParaRPr lang="en-US" sz="2200" dirty="0">
                        <a:solidFill>
                          <a:srgbClr val="002060"/>
                        </a:solidFill>
                        <a:latin typeface="Times New Roman" pitchFamily="18" charset="0"/>
                        <a:cs typeface="Times New Roman" pitchFamily="18" charset="0"/>
                      </a:endParaRPr>
                    </a:p>
                  </a:txBody>
                  <a:tcPr/>
                </a:tc>
                <a:tc>
                  <a:txBody>
                    <a:bodyPr/>
                    <a:lstStyle/>
                    <a:p>
                      <a:r>
                        <a:rPr kumimoji="0" lang="en-US" sz="2200" b="1" kern="1200" baseline="0" dirty="0" err="1">
                          <a:solidFill>
                            <a:srgbClr val="002060"/>
                          </a:solidFill>
                          <a:latin typeface="Times New Roman" pitchFamily="18" charset="0"/>
                          <a:ea typeface="+mn-ea"/>
                          <a:cs typeface="Times New Roman" pitchFamily="18" charset="0"/>
                        </a:rPr>
                        <a:t>Unsustainability</a:t>
                      </a:r>
                      <a:endParaRPr lang="en-US" sz="2200"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xmlns="" val="10000"/>
                  </a:ext>
                </a:extLst>
              </a:tr>
              <a:tr h="370840">
                <a:tc>
                  <a:txBody>
                    <a:bodyPr/>
                    <a:lstStyle/>
                    <a:p>
                      <a:r>
                        <a:rPr lang="en-US" sz="2200" dirty="0">
                          <a:solidFill>
                            <a:srgbClr val="002060"/>
                          </a:solidFill>
                          <a:latin typeface="Times New Roman" pitchFamily="18" charset="0"/>
                          <a:cs typeface="Times New Roman" pitchFamily="18" charset="0"/>
                        </a:rPr>
                        <a:t>1.</a:t>
                      </a:r>
                    </a:p>
                  </a:txBody>
                  <a:tcPr/>
                </a:tc>
                <a:tc>
                  <a:txBody>
                    <a:bodyPr/>
                    <a:lstStyle/>
                    <a:p>
                      <a:r>
                        <a:rPr kumimoji="0" lang="en-US" sz="2200" kern="1200" baseline="0" dirty="0">
                          <a:solidFill>
                            <a:srgbClr val="002060"/>
                          </a:solidFill>
                          <a:latin typeface="Times New Roman" pitchFamily="18" charset="0"/>
                          <a:ea typeface="+mn-ea"/>
                          <a:cs typeface="Times New Roman" pitchFamily="18" charset="0"/>
                        </a:rPr>
                        <a:t>Prevention of natural</a:t>
                      </a:r>
                    </a:p>
                    <a:p>
                      <a:r>
                        <a:rPr kumimoji="0" lang="en-US" sz="2200" kern="1200" baseline="0" dirty="0">
                          <a:solidFill>
                            <a:srgbClr val="002060"/>
                          </a:solidFill>
                          <a:latin typeface="Times New Roman" pitchFamily="18" charset="0"/>
                          <a:ea typeface="+mn-ea"/>
                          <a:cs typeface="Times New Roman" pitchFamily="18" charset="0"/>
                        </a:rPr>
                        <a:t>resources.</a:t>
                      </a:r>
                      <a:endParaRPr lang="en-US" sz="2200" dirty="0">
                        <a:solidFill>
                          <a:srgbClr val="002060"/>
                        </a:solidFill>
                        <a:latin typeface="Times New Roman" pitchFamily="18" charset="0"/>
                        <a:cs typeface="Times New Roman" pitchFamily="18" charset="0"/>
                      </a:endParaRPr>
                    </a:p>
                  </a:txBody>
                  <a:tcPr/>
                </a:tc>
                <a:tc>
                  <a:txBody>
                    <a:bodyPr/>
                    <a:lstStyle/>
                    <a:p>
                      <a:r>
                        <a:rPr kumimoji="0" lang="en-US" sz="2200" kern="1200" baseline="0" dirty="0">
                          <a:solidFill>
                            <a:srgbClr val="002060"/>
                          </a:solidFill>
                          <a:latin typeface="Times New Roman" pitchFamily="18" charset="0"/>
                          <a:ea typeface="+mn-ea"/>
                          <a:cs typeface="Times New Roman" pitchFamily="18" charset="0"/>
                        </a:rPr>
                        <a:t>Exploitation of natural resources is faster than the planet can handle and replenish.</a:t>
                      </a:r>
                      <a:endParaRPr lang="en-US" sz="2200"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xmlns="" val="10001"/>
                  </a:ext>
                </a:extLst>
              </a:tr>
              <a:tr h="370840">
                <a:tc>
                  <a:txBody>
                    <a:bodyPr/>
                    <a:lstStyle/>
                    <a:p>
                      <a:r>
                        <a:rPr lang="en-US" sz="2200" dirty="0">
                          <a:solidFill>
                            <a:srgbClr val="002060"/>
                          </a:solidFill>
                          <a:latin typeface="Times New Roman" pitchFamily="18" charset="0"/>
                          <a:cs typeface="Times New Roman" pitchFamily="18" charset="0"/>
                        </a:rPr>
                        <a:t>2.</a:t>
                      </a:r>
                    </a:p>
                  </a:txBody>
                  <a:tcPr/>
                </a:tc>
                <a:tc>
                  <a:txBody>
                    <a:bodyPr/>
                    <a:lstStyle/>
                    <a:p>
                      <a:r>
                        <a:rPr kumimoji="0" lang="en-US" sz="2200" kern="1200" baseline="0" dirty="0">
                          <a:solidFill>
                            <a:srgbClr val="002060"/>
                          </a:solidFill>
                          <a:latin typeface="Times New Roman" pitchFamily="18" charset="0"/>
                          <a:ea typeface="+mn-ea"/>
                          <a:cs typeface="Times New Roman" pitchFamily="18" charset="0"/>
                        </a:rPr>
                        <a:t>Long-term economic growth without negatively impacting our environment (or) society.</a:t>
                      </a:r>
                      <a:endParaRPr lang="en-US" sz="2200" dirty="0">
                        <a:solidFill>
                          <a:srgbClr val="002060"/>
                        </a:solidFill>
                        <a:latin typeface="Times New Roman" pitchFamily="18" charset="0"/>
                        <a:cs typeface="Times New Roman" pitchFamily="18" charset="0"/>
                      </a:endParaRPr>
                    </a:p>
                  </a:txBody>
                  <a:tcPr/>
                </a:tc>
                <a:tc>
                  <a:txBody>
                    <a:bodyPr/>
                    <a:lstStyle/>
                    <a:p>
                      <a:r>
                        <a:rPr kumimoji="0" lang="en-US" sz="2200" kern="1200" baseline="0" dirty="0">
                          <a:solidFill>
                            <a:srgbClr val="002060"/>
                          </a:solidFill>
                          <a:latin typeface="Times New Roman" pitchFamily="18" charset="0"/>
                          <a:ea typeface="+mn-ea"/>
                          <a:cs typeface="Times New Roman" pitchFamily="18" charset="0"/>
                        </a:rPr>
                        <a:t>Not quantifying ecosystem services and increased vulnerability</a:t>
                      </a:r>
                    </a:p>
                    <a:p>
                      <a:r>
                        <a:rPr kumimoji="0" lang="en-US" sz="2200" kern="1200" baseline="0" dirty="0">
                          <a:solidFill>
                            <a:srgbClr val="002060"/>
                          </a:solidFill>
                          <a:latin typeface="Times New Roman" pitchFamily="18" charset="0"/>
                          <a:ea typeface="+mn-ea"/>
                          <a:cs typeface="Times New Roman" pitchFamily="18" charset="0"/>
                        </a:rPr>
                        <a:t>to crises.</a:t>
                      </a:r>
                      <a:endParaRPr lang="en-US" sz="2200"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xmlns="" val="10002"/>
                  </a:ext>
                </a:extLst>
              </a:tr>
              <a:tr h="370840">
                <a:tc>
                  <a:txBody>
                    <a:bodyPr/>
                    <a:lstStyle/>
                    <a:p>
                      <a:r>
                        <a:rPr lang="en-US" sz="2200" dirty="0">
                          <a:solidFill>
                            <a:srgbClr val="002060"/>
                          </a:solidFill>
                          <a:latin typeface="Times New Roman" pitchFamily="18" charset="0"/>
                          <a:cs typeface="Times New Roman" pitchFamily="18" charset="0"/>
                        </a:rPr>
                        <a:t>3.</a:t>
                      </a:r>
                    </a:p>
                  </a:txBody>
                  <a:tcPr/>
                </a:tc>
                <a:tc>
                  <a:txBody>
                    <a:bodyPr/>
                    <a:lstStyle/>
                    <a:p>
                      <a:r>
                        <a:rPr kumimoji="0" lang="en-US" sz="2200" kern="1200" baseline="0" dirty="0">
                          <a:solidFill>
                            <a:srgbClr val="002060"/>
                          </a:solidFill>
                          <a:latin typeface="Times New Roman" pitchFamily="18" charset="0"/>
                          <a:ea typeface="+mn-ea"/>
                          <a:cs typeface="Times New Roman" pitchFamily="18" charset="0"/>
                        </a:rPr>
                        <a:t>Equality, diversity, social cohesion and democracy.</a:t>
                      </a:r>
                      <a:endParaRPr lang="en-US" sz="2200" dirty="0">
                        <a:solidFill>
                          <a:srgbClr val="002060"/>
                        </a:solidFill>
                        <a:latin typeface="Times New Roman" pitchFamily="18" charset="0"/>
                        <a:cs typeface="Times New Roman" pitchFamily="18" charset="0"/>
                      </a:endParaRPr>
                    </a:p>
                  </a:txBody>
                  <a:tcPr/>
                </a:tc>
                <a:tc>
                  <a:txBody>
                    <a:bodyPr/>
                    <a:lstStyle/>
                    <a:p>
                      <a:r>
                        <a:rPr kumimoji="0" lang="en-US" sz="2200" kern="1200" baseline="0" dirty="0" err="1">
                          <a:solidFill>
                            <a:srgbClr val="002060"/>
                          </a:solidFill>
                          <a:latin typeface="Times New Roman" pitchFamily="18" charset="0"/>
                          <a:ea typeface="+mn-ea"/>
                          <a:cs typeface="Times New Roman" pitchFamily="18" charset="0"/>
                        </a:rPr>
                        <a:t>Labour</a:t>
                      </a:r>
                      <a:r>
                        <a:rPr kumimoji="0" lang="en-US" sz="2200" kern="1200" baseline="0" dirty="0">
                          <a:solidFill>
                            <a:srgbClr val="002060"/>
                          </a:solidFill>
                          <a:latin typeface="Times New Roman" pitchFamily="18" charset="0"/>
                          <a:ea typeface="+mn-ea"/>
                          <a:cs typeface="Times New Roman" pitchFamily="18" charset="0"/>
                        </a:rPr>
                        <a:t> laws, human rights, gender inequality and poor treatment of</a:t>
                      </a:r>
                    </a:p>
                    <a:p>
                      <a:r>
                        <a:rPr kumimoji="0" lang="en-US" sz="2200" kern="1200" baseline="0" dirty="0">
                          <a:solidFill>
                            <a:srgbClr val="002060"/>
                          </a:solidFill>
                          <a:latin typeface="Times New Roman" pitchFamily="18" charset="0"/>
                          <a:ea typeface="+mn-ea"/>
                          <a:cs typeface="Times New Roman" pitchFamily="18" charset="0"/>
                        </a:rPr>
                        <a:t>indigenous people.</a:t>
                      </a:r>
                      <a:endParaRPr lang="en-US" sz="2200" dirty="0">
                        <a:solidFill>
                          <a:srgbClr val="002060"/>
                        </a:solidFill>
                        <a:latin typeface="Times New Roman" pitchFamily="18" charset="0"/>
                        <a:cs typeface="Times New Roman" pitchFamily="18" charset="0"/>
                      </a:endParaRPr>
                    </a:p>
                  </a:txBody>
                  <a:tcPr/>
                </a:tc>
                <a:extLst>
                  <a:ext uri="{0D108BD9-81ED-4DB2-BD59-A6C34878D82A}">
                    <a16:rowId xmlns:a16="http://schemas.microsoft.com/office/drawing/2014/main" xmlns="" val="10003"/>
                  </a:ext>
                </a:extLst>
              </a:tr>
            </a:tbl>
          </a:graphicData>
        </a:graphic>
      </p:graphicFrame>
    </p:spTree>
  </p:cSld>
  <p:clrMapOvr>
    <a:masterClrMapping/>
  </p:clrMapOvr>
  <p:transition spd="slow">
    <p:newsfla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8305800" cy="4493538"/>
          </a:xfrm>
          <a:prstGeom prst="rect">
            <a:avLst/>
          </a:prstGeom>
        </p:spPr>
        <p:txBody>
          <a:bodyPr wrap="square">
            <a:spAutoFit/>
          </a:bodyPr>
          <a:lstStyle/>
          <a:p>
            <a:r>
              <a:rPr lang="en-US" sz="2200" b="1" dirty="0">
                <a:solidFill>
                  <a:srgbClr val="D60093"/>
                </a:solidFill>
                <a:latin typeface="Times New Roman" pitchFamily="18" charset="0"/>
                <a:cs typeface="Times New Roman" pitchFamily="18" charset="0"/>
              </a:rPr>
              <a:t>4.5 MILLENNIUM DEVELOPMENT GOALS</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The Millennium Development Goals (MDGs) were 8 international development goals.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To eradicate extreme poverty and hunger.</a:t>
            </a:r>
          </a:p>
          <a:p>
            <a:pPr lvl="2">
              <a:buFont typeface="Wingdings" pitchFamily="2" charset="2"/>
              <a:buChar char="ü"/>
            </a:pPr>
            <a:r>
              <a:rPr lang="en-US" sz="2200" dirty="0">
                <a:solidFill>
                  <a:srgbClr val="008000"/>
                </a:solidFill>
                <a:latin typeface="Times New Roman" pitchFamily="18" charset="0"/>
                <a:cs typeface="Times New Roman" pitchFamily="18" charset="0"/>
              </a:rPr>
              <a:t>  To achieve universal primary education.</a:t>
            </a:r>
          </a:p>
          <a:p>
            <a:pPr lvl="2">
              <a:buFont typeface="Wingdings" pitchFamily="2" charset="2"/>
              <a:buChar char="ü"/>
            </a:pPr>
            <a:r>
              <a:rPr lang="en-US" sz="2200" dirty="0">
                <a:solidFill>
                  <a:srgbClr val="008000"/>
                </a:solidFill>
                <a:latin typeface="Times New Roman" pitchFamily="18" charset="0"/>
                <a:cs typeface="Times New Roman" pitchFamily="18" charset="0"/>
              </a:rPr>
              <a:t>  To promote gender equality and empower women.</a:t>
            </a:r>
          </a:p>
          <a:p>
            <a:pPr lvl="2">
              <a:buFont typeface="Wingdings" pitchFamily="2" charset="2"/>
              <a:buChar char="ü"/>
            </a:pPr>
            <a:r>
              <a:rPr lang="en-US" sz="2200" dirty="0">
                <a:solidFill>
                  <a:srgbClr val="008000"/>
                </a:solidFill>
                <a:latin typeface="Times New Roman" pitchFamily="18" charset="0"/>
                <a:cs typeface="Times New Roman" pitchFamily="18" charset="0"/>
              </a:rPr>
              <a:t>  To reduce child mortality.</a:t>
            </a:r>
          </a:p>
          <a:p>
            <a:pPr lvl="2">
              <a:buFont typeface="Wingdings" pitchFamily="2" charset="2"/>
              <a:buChar char="ü"/>
            </a:pPr>
            <a:r>
              <a:rPr lang="en-US" sz="2200" dirty="0">
                <a:solidFill>
                  <a:srgbClr val="008000"/>
                </a:solidFill>
                <a:latin typeface="Times New Roman" pitchFamily="18" charset="0"/>
                <a:cs typeface="Times New Roman" pitchFamily="18" charset="0"/>
              </a:rPr>
              <a:t>  To improve maternal health.</a:t>
            </a:r>
          </a:p>
          <a:p>
            <a:pPr lvl="2">
              <a:buFont typeface="Wingdings" pitchFamily="2" charset="2"/>
              <a:buChar char="ü"/>
            </a:pPr>
            <a:r>
              <a:rPr lang="en-US" sz="2200" dirty="0">
                <a:solidFill>
                  <a:srgbClr val="008000"/>
                </a:solidFill>
                <a:latin typeface="Times New Roman" pitchFamily="18" charset="0"/>
                <a:cs typeface="Times New Roman" pitchFamily="18" charset="0"/>
              </a:rPr>
              <a:t>  To combat HIV/AIDS, malaria, and other diseases.</a:t>
            </a:r>
          </a:p>
          <a:p>
            <a:pPr lvl="2">
              <a:buFont typeface="Wingdings" pitchFamily="2" charset="2"/>
              <a:buChar char="ü"/>
            </a:pPr>
            <a:r>
              <a:rPr lang="en-US" sz="2200" dirty="0">
                <a:solidFill>
                  <a:srgbClr val="008000"/>
                </a:solidFill>
                <a:latin typeface="Times New Roman" pitchFamily="18" charset="0"/>
                <a:cs typeface="Times New Roman" pitchFamily="18" charset="0"/>
              </a:rPr>
              <a:t>  To ensure environmental sustainability.</a:t>
            </a:r>
          </a:p>
          <a:p>
            <a:pPr lvl="2">
              <a:buFont typeface="Wingdings" pitchFamily="2" charset="2"/>
              <a:buChar char="ü"/>
            </a:pPr>
            <a:r>
              <a:rPr lang="en-US" sz="2200" dirty="0">
                <a:solidFill>
                  <a:srgbClr val="008000"/>
                </a:solidFill>
                <a:latin typeface="Times New Roman" pitchFamily="18" charset="0"/>
                <a:cs typeface="Times New Roman" pitchFamily="18" charset="0"/>
              </a:rPr>
              <a:t>  To develop a global partnership for development.</a:t>
            </a:r>
          </a:p>
        </p:txBody>
      </p:sp>
    </p:spTree>
  </p:cSld>
  <p:clrMapOvr>
    <a:masterClrMapping/>
  </p:clrMapOvr>
  <p:transition spd="slow">
    <p:newsfla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71600"/>
            <a:ext cx="7696200" cy="4832092"/>
          </a:xfrm>
          <a:prstGeom prst="rect">
            <a:avLst/>
          </a:prstGeom>
        </p:spPr>
        <p:txBody>
          <a:bodyPr wrap="square">
            <a:spAutoFit/>
          </a:bodyPr>
          <a:lstStyle/>
          <a:p>
            <a:r>
              <a:rPr lang="en-US" sz="2200" b="1" dirty="0">
                <a:solidFill>
                  <a:srgbClr val="D60093"/>
                </a:solidFill>
                <a:latin typeface="Times New Roman" pitchFamily="18" charset="0"/>
                <a:cs typeface="Times New Roman" pitchFamily="18" charset="0"/>
              </a:rPr>
              <a:t>4.6 SUSTAINABILITY PROTOCOLS</a:t>
            </a:r>
          </a:p>
          <a:p>
            <a:endParaRPr lang="en-US" sz="2200"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Sustainability protocols are sustainability standard and certifications. </a:t>
            </a:r>
          </a:p>
          <a:p>
            <a:pPr>
              <a:buFont typeface="Wingdings" pitchFamily="2" charset="2"/>
              <a:buChar char="q"/>
            </a:pPr>
            <a:r>
              <a:rPr lang="en-US" sz="2200" dirty="0">
                <a:solidFill>
                  <a:srgbClr val="FF0000"/>
                </a:solidFill>
                <a:latin typeface="Times New Roman" pitchFamily="18" charset="0"/>
                <a:cs typeface="Times New Roman" pitchFamily="18" charset="0"/>
              </a:rPr>
              <a:t>  These are voluntary guidelines used by producers, manufacturers, traders, retailers and service providers to demonstrate their commitment to good environmental, social, ethical and food safety practices.</a:t>
            </a:r>
          </a:p>
          <a:p>
            <a:pPr>
              <a:buFont typeface="Wingdings" pitchFamily="2" charset="2"/>
              <a:buChar char="q"/>
            </a:pPr>
            <a:r>
              <a:rPr lang="en-US" sz="2200" dirty="0">
                <a:solidFill>
                  <a:srgbClr val="FF0000"/>
                </a:solidFill>
                <a:latin typeface="Times New Roman" pitchFamily="18" charset="0"/>
                <a:cs typeface="Times New Roman" pitchFamily="18" charset="0"/>
              </a:rPr>
              <a:t> There are over 400 such standards across the world. </a:t>
            </a:r>
          </a:p>
          <a:p>
            <a:pPr>
              <a:buFont typeface="Wingdings" pitchFamily="2" charset="2"/>
              <a:buChar char="q"/>
            </a:pPr>
            <a:r>
              <a:rPr lang="en-US" sz="2200" dirty="0">
                <a:solidFill>
                  <a:srgbClr val="FF0000"/>
                </a:solidFill>
                <a:latin typeface="Times New Roman" pitchFamily="18" charset="0"/>
                <a:cs typeface="Times New Roman" pitchFamily="18" charset="0"/>
              </a:rPr>
              <a:t>  The sustainability protocols listed below are important because they build awareness and policy support, create clear guideline and goals. </a:t>
            </a:r>
          </a:p>
          <a:p>
            <a:pPr>
              <a:buFont typeface="Wingdings" pitchFamily="2" charset="2"/>
              <a:buChar char="q"/>
            </a:pPr>
            <a:r>
              <a:rPr lang="en-US" sz="2200" dirty="0">
                <a:solidFill>
                  <a:srgbClr val="FF0000"/>
                </a:solidFill>
                <a:latin typeface="Times New Roman" pitchFamily="18" charset="0"/>
                <a:cs typeface="Times New Roman" pitchFamily="18" charset="0"/>
              </a:rPr>
              <a:t>  They have third-party verification and maintain consistency within a portfolio while developing Green economy.</a:t>
            </a:r>
          </a:p>
        </p:txBody>
      </p:sp>
    </p:spTree>
  </p:cSld>
  <p:clrMapOvr>
    <a:masterClrMapping/>
  </p:clrMapOvr>
  <p:transition spd="slow">
    <p:newsfla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71691"/>
            <a:ext cx="8001000" cy="6186309"/>
          </a:xfrm>
          <a:prstGeom prst="rect">
            <a:avLst/>
          </a:prstGeom>
        </p:spPr>
        <p:txBody>
          <a:bodyPr wrap="square">
            <a:spAutoFit/>
          </a:bodyPr>
          <a:lstStyle/>
          <a:p>
            <a:r>
              <a:rPr lang="en-US" sz="2200" b="1" dirty="0">
                <a:latin typeface="Times New Roman" pitchFamily="18" charset="0"/>
                <a:cs typeface="Times New Roman" pitchFamily="18" charset="0"/>
              </a:rPr>
              <a:t>Few sustainability protocols</a:t>
            </a:r>
          </a:p>
          <a:p>
            <a:pPr marL="457200" indent="-457200">
              <a:buFont typeface="Wingdings" pitchFamily="2" charset="2"/>
              <a:buChar char="v"/>
            </a:pPr>
            <a:r>
              <a:rPr lang="en-US" sz="2200" dirty="0">
                <a:solidFill>
                  <a:srgbClr val="FF0000"/>
                </a:solidFill>
                <a:latin typeface="Times New Roman" pitchFamily="18" charset="0"/>
                <a:cs typeface="Times New Roman" pitchFamily="18" charset="0"/>
              </a:rPr>
              <a:t>LEED</a:t>
            </a:r>
          </a:p>
          <a:p>
            <a:pPr marL="457200" indent="-45720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WELL</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Fitwel</a:t>
            </a:r>
            <a:endParaRPr lang="en-US" sz="2200" dirty="0">
              <a:solidFill>
                <a:srgbClr val="FF0000"/>
              </a:solidFill>
              <a:latin typeface="Times New Roman" pitchFamily="18" charset="0"/>
              <a:cs typeface="Times New Roman" pitchFamily="18" charset="0"/>
            </a:endParaRP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Living building challenge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BREAM</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Passive house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National Green Building Standard</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Built green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Evergreen sustainable development standard (ESDS)</a:t>
            </a:r>
          </a:p>
        </p:txBody>
      </p:sp>
    </p:spTree>
  </p:cSld>
  <p:clrMapOvr>
    <a:masterClrMapping/>
  </p:clrMapOvr>
  <p:transition spd="slow">
    <p:newsfla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8153400" cy="5170646"/>
          </a:xfrm>
          <a:prstGeom prst="rect">
            <a:avLst/>
          </a:prstGeom>
        </p:spPr>
        <p:txBody>
          <a:bodyPr wrap="square">
            <a:spAutoFit/>
          </a:bodyPr>
          <a:lstStyle/>
          <a:p>
            <a:pPr marL="457200" indent="-457200">
              <a:buFont typeface="Wingdings" pitchFamily="2" charset="2"/>
              <a:buChar char="q"/>
            </a:pPr>
            <a:r>
              <a:rPr lang="en-US" sz="2200" dirty="0">
                <a:solidFill>
                  <a:srgbClr val="FF0000"/>
                </a:solidFill>
                <a:latin typeface="Times New Roman" pitchFamily="18" charset="0"/>
                <a:cs typeface="Times New Roman" pitchFamily="18" charset="0"/>
              </a:rPr>
              <a:t>Introduction of eco-labels and standards for organic food and other food products.</a:t>
            </a:r>
          </a:p>
          <a:p>
            <a:pPr marL="457200" indent="-457200">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Triple bottom line, it includes a set of practices (or) criteria for how a crop should be sustainably grown (or) a resource should be ethically harvested.</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includes, responsible fishing practices that do not endanger marine biodiversity (or) respect for </a:t>
            </a:r>
            <a:r>
              <a:rPr lang="en-US" sz="2200" dirty="0" err="1">
                <a:solidFill>
                  <a:srgbClr val="FF0000"/>
                </a:solidFill>
                <a:latin typeface="Times New Roman" pitchFamily="18" charset="0"/>
                <a:cs typeface="Times New Roman" pitchFamily="18" charset="0"/>
              </a:rPr>
              <a:t>humanrights</a:t>
            </a:r>
            <a:r>
              <a:rPr lang="en-US" sz="2200" dirty="0">
                <a:solidFill>
                  <a:srgbClr val="FF0000"/>
                </a:solidFill>
                <a:latin typeface="Times New Roman" pitchFamily="18" charset="0"/>
                <a:cs typeface="Times New Roman" pitchFamily="18" charset="0"/>
              </a:rPr>
              <a:t> and the payment of fair wages on a coffee (or) tea plantation.</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Sustainability protocols are accompanied by a verification process (certification) to evaluate that an enterprise complies with a standard as well as a traceability process for certified products to be sold along the supply chain, often resulting in a consumer-facing label.</a:t>
            </a:r>
          </a:p>
        </p:txBody>
      </p:sp>
    </p:spTree>
  </p:cSld>
  <p:clrMapOvr>
    <a:masterClrMapping/>
  </p:clrMapOvr>
  <p:transition spd="slow">
    <p:newsfla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001000" cy="5509200"/>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It also focus on capacity building and working with partners and other organizations to support small holders (or) disadvantages producers to make the social and environmental improvements needed to meet the standard.</a:t>
            </a:r>
          </a:p>
          <a:p>
            <a:endParaRPr lang="en-US" sz="2200" dirty="0">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4.7 SUSTAINABLE DEVELOPMENT</a:t>
            </a:r>
          </a:p>
          <a:p>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Definition</a:t>
            </a:r>
          </a:p>
          <a:p>
            <a:pPr>
              <a:buFont typeface="Wingdings" pitchFamily="2" charset="2"/>
              <a:buChar char="v"/>
            </a:pPr>
            <a:r>
              <a:rPr lang="en-US" sz="2200" dirty="0">
                <a:solidFill>
                  <a:srgbClr val="FF0000"/>
                </a:solidFill>
                <a:latin typeface="Times New Roman" pitchFamily="18" charset="0"/>
                <a:cs typeface="Times New Roman" pitchFamily="18" charset="0"/>
              </a:rPr>
              <a:t>  Sustainable development is the development that meets the needs of the present without compromising the ability of future generations to meet their own needs.</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4.7.1 Aim of true sustainable development</a:t>
            </a:r>
          </a:p>
          <a:p>
            <a:pPr>
              <a:buFont typeface="Wingdings" pitchFamily="2" charset="2"/>
              <a:buChar char="v"/>
            </a:pPr>
            <a:r>
              <a:rPr lang="en-US" sz="2200" dirty="0">
                <a:solidFill>
                  <a:srgbClr val="FF0000"/>
                </a:solidFill>
                <a:latin typeface="Times New Roman" pitchFamily="18" charset="0"/>
                <a:cs typeface="Times New Roman" pitchFamily="18" charset="0"/>
              </a:rPr>
              <a:t>  It aims at optimum use of natural resources with high degree of sustainability, minimum wastage, least generation of toxic by-products and maximum productivity.</a:t>
            </a:r>
          </a:p>
        </p:txBody>
      </p:sp>
    </p:spTree>
  </p:cSld>
  <p:clrMapOvr>
    <a:masterClrMapping/>
  </p:clrMapOvr>
  <p:transition spd="slow">
    <p:newsfla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077200" cy="5509200"/>
          </a:xfrm>
          <a:prstGeom prst="rect">
            <a:avLst/>
          </a:prstGeom>
        </p:spPr>
        <p:txBody>
          <a:bodyPr wrap="square">
            <a:spAutoFit/>
          </a:bodyPr>
          <a:lstStyle/>
          <a:p>
            <a:pPr marL="342900" indent="-342900">
              <a:buAutoNum type="arabicPeriod"/>
            </a:pPr>
            <a:r>
              <a:rPr lang="en-US" sz="2200" b="1" dirty="0">
                <a:solidFill>
                  <a:srgbClr val="000099"/>
                </a:solidFill>
                <a:latin typeface="Times New Roman" pitchFamily="18" charset="0"/>
                <a:cs typeface="Times New Roman" pitchFamily="18" charset="0"/>
              </a:rPr>
              <a:t>Inter - generational equity:</a:t>
            </a:r>
          </a:p>
          <a:p>
            <a:pPr marL="342900" indent="-342900">
              <a:buFont typeface="Wingdings" pitchFamily="2" charset="2"/>
              <a:buChar char="v"/>
            </a:pPr>
            <a:r>
              <a:rPr lang="en-US" sz="2200" dirty="0">
                <a:solidFill>
                  <a:srgbClr val="FF0000"/>
                </a:solidFill>
                <a:latin typeface="Times New Roman" pitchFamily="18" charset="0"/>
                <a:cs typeface="Times New Roman" pitchFamily="18" charset="0"/>
              </a:rPr>
              <a:t>It states that we should hand over a safe, healthy and resourceful environment to our future generations.</a:t>
            </a:r>
          </a:p>
          <a:p>
            <a:pPr marL="342900" indent="-342900"/>
            <a:endParaRPr lang="en-US" sz="2200" dirty="0">
              <a:latin typeface="Times New Roman" pitchFamily="18" charset="0"/>
              <a:cs typeface="Times New Roman" pitchFamily="18" charset="0"/>
            </a:endParaRPr>
          </a:p>
          <a:p>
            <a:r>
              <a:rPr lang="en-US" sz="2200" dirty="0">
                <a:solidFill>
                  <a:srgbClr val="000099"/>
                </a:solidFill>
                <a:latin typeface="Times New Roman" pitchFamily="18" charset="0"/>
                <a:cs typeface="Times New Roman" pitchFamily="18" charset="0"/>
              </a:rPr>
              <a:t>2. </a:t>
            </a:r>
            <a:r>
              <a:rPr lang="en-US" sz="2200" b="1" dirty="0">
                <a:solidFill>
                  <a:srgbClr val="000099"/>
                </a:solidFill>
                <a:latin typeface="Times New Roman" pitchFamily="18" charset="0"/>
                <a:cs typeface="Times New Roman" pitchFamily="18" charset="0"/>
              </a:rPr>
              <a:t>Intra - generational equity: </a:t>
            </a:r>
          </a:p>
          <a:p>
            <a:pPr>
              <a:buFont typeface="Wingdings" pitchFamily="2" charset="2"/>
              <a:buChar char="v"/>
            </a:pPr>
            <a:r>
              <a:rPr lang="en-US" sz="2200" dirty="0">
                <a:solidFill>
                  <a:srgbClr val="FF0000"/>
                </a:solidFill>
                <a:latin typeface="Times New Roman" pitchFamily="18" charset="0"/>
                <a:cs typeface="Times New Roman" pitchFamily="18" charset="0"/>
              </a:rPr>
              <a:t>  It states that the technological development of rich countries should support the economic growth of the poor countries and help in narrowing the wealth gap and lead to sustainability.</a:t>
            </a:r>
          </a:p>
          <a:p>
            <a:endParaRPr lang="en-US" sz="2200" dirty="0">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3. Place more emphasis on pollution prevention and waste reduction.</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4. Recycle and reuse as many of our waste products and resources possible.</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5. Make more goods that last longer and easy to use, recycle and repair.</a:t>
            </a:r>
          </a:p>
        </p:txBody>
      </p:sp>
    </p:spTree>
  </p:cSld>
  <p:clrMapOvr>
    <a:masterClrMapping/>
  </p:clrMapOvr>
  <p:transition spd="slow">
    <p:newsfla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229600" cy="5509200"/>
          </a:xfrm>
          <a:prstGeom prst="rect">
            <a:avLst/>
          </a:prstGeom>
        </p:spPr>
        <p:txBody>
          <a:bodyPr wrap="square">
            <a:spAutoFit/>
          </a:bodyPr>
          <a:lstStyle/>
          <a:p>
            <a:r>
              <a:rPr lang="en-US" sz="2200" dirty="0">
                <a:solidFill>
                  <a:srgbClr val="FF0000"/>
                </a:solidFill>
                <a:latin typeface="Times New Roman" pitchFamily="18" charset="0"/>
                <a:cs typeface="Times New Roman" pitchFamily="18" charset="0"/>
              </a:rPr>
              <a:t>6. Depends on renewable sources of energy (sun, wind, water, bio-mass).</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7. Sustain earths biodiversity.</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8. Earth degrading activities should be discouraged.</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9. Reduce poverty and rate of population growth.</a:t>
            </a:r>
          </a:p>
          <a:p>
            <a:endParaRPr lang="en-US" sz="2200" dirty="0">
              <a:solidFill>
                <a:srgbClr val="FF0000"/>
              </a:solidFill>
              <a:latin typeface="Times New Roman" pitchFamily="18" charset="0"/>
              <a:cs typeface="Times New Roman" pitchFamily="18" charset="0"/>
            </a:endParaRPr>
          </a:p>
          <a:p>
            <a:r>
              <a:rPr lang="en-US" sz="2200" dirty="0">
                <a:solidFill>
                  <a:srgbClr val="FF0000"/>
                </a:solidFill>
                <a:latin typeface="Times New Roman" pitchFamily="18" charset="0"/>
                <a:cs typeface="Times New Roman" pitchFamily="18" charset="0"/>
              </a:rPr>
              <a:t>10. Don’t use high quality energy to do a job.</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4.7.2 Goals of Sustainable Development</a:t>
            </a:r>
          </a:p>
          <a:p>
            <a:pPr>
              <a:buFont typeface="Wingdings" pitchFamily="2" charset="2"/>
              <a:buChar char="Ø"/>
            </a:pPr>
            <a:r>
              <a:rPr lang="en-US" sz="2200" dirty="0">
                <a:solidFill>
                  <a:srgbClr val="FF0000"/>
                </a:solidFill>
                <a:latin typeface="Times New Roman" pitchFamily="18" charset="0"/>
                <a:cs typeface="Times New Roman" pitchFamily="18" charset="0"/>
              </a:rPr>
              <a:t>  There are a total of 17 goals</a:t>
            </a:r>
          </a:p>
          <a:p>
            <a:endParaRPr lang="en-US" sz="2200"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End poverty everywhere, in all its forms.</a:t>
            </a:r>
          </a:p>
          <a:p>
            <a:pPr>
              <a:buFont typeface="Wingdings" pitchFamily="2" charset="2"/>
              <a:buChar char="v"/>
            </a:pPr>
            <a:r>
              <a:rPr lang="en-US" sz="2200" dirty="0">
                <a:solidFill>
                  <a:srgbClr val="FF0000"/>
                </a:solidFill>
                <a:latin typeface="Times New Roman" pitchFamily="18" charset="0"/>
                <a:cs typeface="Times New Roman" pitchFamily="18" charset="0"/>
              </a:rPr>
              <a:t>  End hunger, achieve food security and improved nutrition.</a:t>
            </a:r>
          </a:p>
        </p:txBody>
      </p:sp>
    </p:spTree>
  </p:cSld>
  <p:clrMapOvr>
    <a:masterClrMapping/>
  </p:clrMapOvr>
  <p:transition spd="slow">
    <p:newsfla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153400" cy="5509200"/>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Ensuring good health and promote the well-being of all age groups.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Ensuring inclusive and equitable quality education.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Achieving gender quality and empowering all women and children.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Ensuring the availability and sustainable management of water and sanitation for all.</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Ensuring access to affordable, reliable, clean and modern energy for all.</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Promoting sustainable economic growth.</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Building resilient infrastructure and promoting sustainable </a:t>
            </a:r>
            <a:r>
              <a:rPr lang="en-US" sz="2200" dirty="0" err="1">
                <a:solidFill>
                  <a:srgbClr val="FF0000"/>
                </a:solidFill>
                <a:latin typeface="Times New Roman" pitchFamily="18" charset="0"/>
                <a:cs typeface="Times New Roman" pitchFamily="18" charset="0"/>
              </a:rPr>
              <a:t>industrialisation</a:t>
            </a:r>
            <a:r>
              <a:rPr lang="en-US" sz="2200" dirty="0">
                <a:solidFill>
                  <a:srgbClr val="FF0000"/>
                </a:solidFill>
                <a:latin typeface="Times New Roman" pitchFamily="18" charset="0"/>
                <a:cs typeface="Times New Roman" pitchFamily="18" charset="0"/>
              </a:rPr>
              <a:t>.</a:t>
            </a:r>
          </a:p>
        </p:txBody>
      </p:sp>
    </p:spTree>
  </p:cSld>
  <p:clrMapOvr>
    <a:masterClrMapping/>
  </p:clrMapOvr>
  <p:transition spd="slow">
    <p:newsfla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0600"/>
            <a:ext cx="7772400" cy="5509200"/>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Reducing inequality within and among countries.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Making cities and human settlements inclusive, safe resilient and sustainable.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Ensuring sustainable consumption and production patterns.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Taking urgent action to combat climate change and its impacts.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Conserving and </a:t>
            </a:r>
            <a:r>
              <a:rPr lang="en-US" sz="2200" dirty="0" err="1">
                <a:solidFill>
                  <a:srgbClr val="FF0000"/>
                </a:solidFill>
                <a:latin typeface="Times New Roman" pitchFamily="18" charset="0"/>
                <a:cs typeface="Times New Roman" pitchFamily="18" charset="0"/>
              </a:rPr>
              <a:t>sustainabily</a:t>
            </a:r>
            <a:r>
              <a:rPr lang="en-US" sz="2200" dirty="0">
                <a:solidFill>
                  <a:srgbClr val="FF0000"/>
                </a:solidFill>
                <a:latin typeface="Times New Roman" pitchFamily="18" charset="0"/>
                <a:cs typeface="Times New Roman" pitchFamily="18" charset="0"/>
              </a:rPr>
              <a:t> using the oceans, seas and marine resources for sustainable development.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Protecting, restoring and promoting the sustainable use of terrestrial ecosystems.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Promoting peaceful societies for sustainable development.</a:t>
            </a:r>
          </a:p>
        </p:txBody>
      </p:sp>
    </p:spTree>
  </p:cSld>
  <p:clrMapOvr>
    <a:masterClrMapping/>
  </p:clrMapOvr>
  <p:transition spd="slow">
    <p:newsfla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153400" cy="5170646"/>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Strengthening the means of implementation and </a:t>
            </a:r>
            <a:r>
              <a:rPr lang="en-US" sz="2200" dirty="0" err="1">
                <a:solidFill>
                  <a:srgbClr val="FF0000"/>
                </a:solidFill>
                <a:latin typeface="Times New Roman" pitchFamily="18" charset="0"/>
                <a:cs typeface="Times New Roman" pitchFamily="18" charset="0"/>
              </a:rPr>
              <a:t>revitalising</a:t>
            </a:r>
            <a:r>
              <a:rPr lang="en-US" sz="2200" dirty="0">
                <a:solidFill>
                  <a:srgbClr val="FF0000"/>
                </a:solidFill>
                <a:latin typeface="Times New Roman" pitchFamily="18" charset="0"/>
                <a:cs typeface="Times New Roman" pitchFamily="18" charset="0"/>
              </a:rPr>
              <a:t> the global partnership for sustainable development.</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4.7.3 Sustainable development targets</a:t>
            </a:r>
          </a:p>
          <a:p>
            <a:pPr marL="457200" indent="-457200">
              <a:buFont typeface="Wingdings" pitchFamily="2" charset="2"/>
              <a:buChar char="q"/>
            </a:pPr>
            <a:r>
              <a:rPr lang="en-US" sz="2200" dirty="0">
                <a:solidFill>
                  <a:srgbClr val="FF0000"/>
                </a:solidFill>
                <a:latin typeface="Times New Roman" pitchFamily="18" charset="0"/>
                <a:cs typeface="Times New Roman" pitchFamily="18" charset="0"/>
              </a:rPr>
              <a:t>Eradicate extreme poverty for all the people everywhere.</a:t>
            </a:r>
          </a:p>
          <a:p>
            <a:pPr marL="457200" indent="-457200">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Reduce at least by half the proportion of men, women and children of all ages living in poverty.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Implement nationally appropriate social protection systems and measures for all including floors.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Ensure that all men and women, in particular the poor and the vulnerable, have equal rights to economic resources, natural resources and new technology and financial services.</a:t>
            </a:r>
          </a:p>
        </p:txBody>
      </p:sp>
    </p:spTree>
  </p:cSld>
  <p:clrMapOvr>
    <a:masterClrMapping/>
  </p:clrMapOvr>
  <p:transition spd="slow">
    <p:newsfla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7724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Built the resilience of the poor and those in vulnerable situations and reduce their exposure to climate related events and disasters.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Ensure significant mobilization of resources from a variety of sources from developed countries to less developed countries.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End hunger and ensure access by all people, in particular the poor people and people in vulnerable situations.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End all forms of malnutrition.</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Double the agricultural productivity and income of small scale food producers.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Ensure sustainable food production systems and implement resilient agricultural practices.</a:t>
            </a:r>
          </a:p>
        </p:txBody>
      </p:sp>
    </p:spTree>
  </p:cSld>
  <p:clrMapOvr>
    <a:masterClrMapping/>
  </p:clrMapOvr>
  <p:transition spd="slow">
    <p:newsfla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772400" cy="5170646"/>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Maintain the genetic diversity of seeds, cultivated plants and farmed animals.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Increase investment in rural infrastructure, agricultural research and technological development to enhance agricultural productive capacity.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Correct and prevent trade restrictions and distortions in world agricultural markets.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Adopt measures to ensure the proper functioning of food commodity markets.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Reduce the global maternal mortality ratio to less than 70 per 1,00,000 live births.</a:t>
            </a:r>
          </a:p>
        </p:txBody>
      </p:sp>
    </p:spTree>
  </p:cSld>
  <p:clrMapOvr>
    <a:masterClrMapping/>
  </p:clrMapOvr>
  <p:transition spd="slow">
    <p:newsfla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77724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End preventable deaths of new </a:t>
            </a:r>
            <a:r>
              <a:rPr lang="en-US" sz="2200" dirty="0" err="1">
                <a:solidFill>
                  <a:srgbClr val="FF0000"/>
                </a:solidFill>
                <a:latin typeface="Times New Roman" pitchFamily="18" charset="0"/>
                <a:cs typeface="Times New Roman" pitchFamily="18" charset="0"/>
              </a:rPr>
              <a:t>borns</a:t>
            </a:r>
            <a:r>
              <a:rPr lang="en-US" sz="2200" dirty="0">
                <a:solidFill>
                  <a:srgbClr val="FF0000"/>
                </a:solidFill>
                <a:latin typeface="Times New Roman" pitchFamily="18" charset="0"/>
                <a:cs typeface="Times New Roman" pitchFamily="18" charset="0"/>
              </a:rPr>
              <a:t> and children under 5 years of age.</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End the epidemics of AIDS, tuberculosis, malaria, </a:t>
            </a:r>
            <a:r>
              <a:rPr lang="en-US" sz="2200" dirty="0" err="1">
                <a:solidFill>
                  <a:srgbClr val="FF0000"/>
                </a:solidFill>
                <a:latin typeface="Times New Roman" pitchFamily="18" charset="0"/>
                <a:cs typeface="Times New Roman" pitchFamily="18" charset="0"/>
              </a:rPr>
              <a:t>hepatities</a:t>
            </a:r>
            <a:r>
              <a:rPr lang="en-US" sz="2200" dirty="0">
                <a:solidFill>
                  <a:srgbClr val="FF0000"/>
                </a:solidFill>
                <a:latin typeface="Times New Roman" pitchFamily="18" charset="0"/>
                <a:cs typeface="Times New Roman" pitchFamily="18" charset="0"/>
              </a:rPr>
              <a:t>, water-borne diseases.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Reduce by one third premature mortality from non-communicable diseases through prevention and treatment.</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Strengthen the prevention and treatment of substance abuse like narcotic drug abuse and harmful use of alcohol.</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Halve the number of global death and injuries from road accidents.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Ensure universal access to sexual and reproductive healthcare services like family planning.</a:t>
            </a:r>
          </a:p>
        </p:txBody>
      </p:sp>
    </p:spTree>
  </p:cSld>
  <p:clrMapOvr>
    <a:masterClrMapping/>
  </p:clrMapOvr>
  <p:transition spd="slow">
    <p:newsfla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77724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Achieve universal health coverage including financial risk protection.</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Reduce the number of deaths and illnesses from hazardous chemicals and air, water, soil pollution.</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4.7.4 Sustainable development indicators</a:t>
            </a:r>
          </a:p>
          <a:p>
            <a:pPr marL="457200" indent="-457200">
              <a:buFont typeface="Wingdings" pitchFamily="2" charset="2"/>
              <a:buChar char="Ø"/>
            </a:pPr>
            <a:r>
              <a:rPr lang="en-US" sz="2200" dirty="0">
                <a:solidFill>
                  <a:srgbClr val="FF0000"/>
                </a:solidFill>
                <a:latin typeface="Times New Roman" pitchFamily="18" charset="0"/>
                <a:cs typeface="Times New Roman" pitchFamily="18" charset="0"/>
              </a:rPr>
              <a:t>Proportion of the population living </a:t>
            </a:r>
            <a:r>
              <a:rPr lang="en-US" sz="2200" b="1" dirty="0">
                <a:solidFill>
                  <a:srgbClr val="FF0000"/>
                </a:solidFill>
                <a:latin typeface="Times New Roman" pitchFamily="18" charset="0"/>
                <a:cs typeface="Times New Roman" pitchFamily="18" charset="0"/>
              </a:rPr>
              <a:t>below the international poverty line by sex, age, employment </a:t>
            </a:r>
            <a:r>
              <a:rPr lang="en-US" sz="2200" dirty="0">
                <a:solidFill>
                  <a:srgbClr val="FF0000"/>
                </a:solidFill>
                <a:latin typeface="Times New Roman" pitchFamily="18" charset="0"/>
                <a:cs typeface="Times New Roman" pitchFamily="18" charset="0"/>
              </a:rPr>
              <a:t>status.</a:t>
            </a:r>
          </a:p>
          <a:p>
            <a:pPr marL="457200" indent="-457200">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the population living </a:t>
            </a:r>
            <a:r>
              <a:rPr lang="en-US" sz="2200" b="1" dirty="0">
                <a:solidFill>
                  <a:srgbClr val="FF0000"/>
                </a:solidFill>
                <a:latin typeface="Times New Roman" pitchFamily="18" charset="0"/>
                <a:cs typeface="Times New Roman" pitchFamily="18" charset="0"/>
              </a:rPr>
              <a:t>below the national poverty line by sex and age.</a:t>
            </a:r>
          </a:p>
          <a:p>
            <a:pPr>
              <a:buFont typeface="Wingdings" pitchFamily="2" charset="2"/>
              <a:buChar char="Ø"/>
            </a:pPr>
            <a:endParaRPr lang="en-US" sz="2200" b="1"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population covered by social protection floors.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total adult population with secure tenure rights to land with legally recognized documentation.</a:t>
            </a:r>
          </a:p>
        </p:txBody>
      </p:sp>
    </p:spTree>
  </p:cSld>
  <p:clrMapOvr>
    <a:masterClrMapping/>
  </p:clrMapOvr>
  <p:transition spd="slow">
    <p:newsfla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8001000" cy="5170646"/>
          </a:xfrm>
          <a:prstGeom prst="rect">
            <a:avLst/>
          </a:prstGeom>
        </p:spPr>
        <p:txBody>
          <a:bodyPr wrap="square">
            <a:spAutoFit/>
          </a:bodyPr>
          <a:lstStyle/>
          <a:p>
            <a:pPr>
              <a:buFont typeface="Wingdings" pitchFamily="2" charset="2"/>
              <a:buChar char="Ø"/>
            </a:pPr>
            <a:r>
              <a:rPr lang="en-US" sz="2200" dirty="0">
                <a:solidFill>
                  <a:srgbClr val="FF0000"/>
                </a:solidFill>
                <a:latin typeface="Times New Roman" pitchFamily="18" charset="0"/>
                <a:cs typeface="Times New Roman" pitchFamily="18" charset="0"/>
              </a:rPr>
              <a:t>  Proportion of local governments that adopt and implement local disaster risk reduction strategies in line with national disaster risk reduction strategies.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total government spending on essential services.</a:t>
            </a:r>
          </a:p>
          <a:p>
            <a:pPr>
              <a:buFont typeface="Wingdings" pitchFamily="2" charset="2"/>
              <a:buChar char="Ø"/>
            </a:pPr>
            <a:r>
              <a:rPr lang="en-US" sz="2200" dirty="0">
                <a:solidFill>
                  <a:srgbClr val="FF0000"/>
                </a:solidFill>
                <a:latin typeface="Times New Roman" pitchFamily="18" charset="0"/>
                <a:cs typeface="Times New Roman" pitchFamily="18" charset="0"/>
              </a:rPr>
              <a:t>  Prevalence of under nourishment.</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Prevalence of stunting and mal-nutrition among children and 5 years of age and prevalence of </a:t>
            </a:r>
            <a:r>
              <a:rPr lang="en-US" sz="2200" dirty="0" err="1">
                <a:solidFill>
                  <a:srgbClr val="FF0000"/>
                </a:solidFill>
                <a:latin typeface="Times New Roman" pitchFamily="18" charset="0"/>
                <a:cs typeface="Times New Roman" pitchFamily="18" charset="0"/>
              </a:rPr>
              <a:t>anaemia</a:t>
            </a:r>
            <a:r>
              <a:rPr lang="en-US" sz="2200" dirty="0">
                <a:solidFill>
                  <a:srgbClr val="FF0000"/>
                </a:solidFill>
                <a:latin typeface="Times New Roman" pitchFamily="18" charset="0"/>
                <a:cs typeface="Times New Roman" pitchFamily="18" charset="0"/>
              </a:rPr>
              <a:t> in women aged 15 to 49 years.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Average income of small-scale food producers.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agricultural area under productive and sustainable agricultural practices.</a:t>
            </a:r>
          </a:p>
        </p:txBody>
      </p:sp>
    </p:spTree>
  </p:cSld>
  <p:clrMapOvr>
    <a:masterClrMapping/>
  </p:clrMapOvr>
  <p:transition spd="slow">
    <p:newsfla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848600" cy="5170646"/>
          </a:xfrm>
          <a:prstGeom prst="rect">
            <a:avLst/>
          </a:prstGeom>
        </p:spPr>
        <p:txBody>
          <a:bodyPr wrap="square">
            <a:spAutoFit/>
          </a:bodyPr>
          <a:lstStyle/>
          <a:p>
            <a:pPr>
              <a:buFont typeface="Wingdings" pitchFamily="2" charset="2"/>
              <a:buChar char="Ø"/>
            </a:pPr>
            <a:r>
              <a:rPr lang="en-US" sz="2200" dirty="0">
                <a:solidFill>
                  <a:srgbClr val="FF0000"/>
                </a:solidFill>
                <a:latin typeface="Times New Roman" pitchFamily="18" charset="0"/>
                <a:cs typeface="Times New Roman" pitchFamily="18" charset="0"/>
              </a:rPr>
              <a:t>  Proportion of local breeds classified as being at risk of extinction.</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Total official flows to the agricultural sector.</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Agricultural export subsidies.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Indicator of food price anomalies.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Maternal mortality ratio.</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Under - 5 mortality rate.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Hepatities</a:t>
            </a:r>
            <a:r>
              <a:rPr lang="en-US" sz="2200" dirty="0">
                <a:solidFill>
                  <a:srgbClr val="FF0000"/>
                </a:solidFill>
                <a:latin typeface="Times New Roman" pitchFamily="18" charset="0"/>
                <a:cs typeface="Times New Roman" pitchFamily="18" charset="0"/>
              </a:rPr>
              <a:t> B (or) Tuberculosis incidence per 100,000 population. Malaria incidence (or) HIV infections per 1000 population.</a:t>
            </a:r>
          </a:p>
        </p:txBody>
      </p:sp>
    </p:spTree>
  </p:cSld>
  <p:clrMapOvr>
    <a:masterClrMapping/>
  </p:clrMapOvr>
  <p:transition spd="slow">
    <p:newsfla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772400" cy="4832092"/>
          </a:xfrm>
          <a:prstGeom prst="rect">
            <a:avLst/>
          </a:prstGeom>
        </p:spPr>
        <p:txBody>
          <a:bodyPr wrap="square">
            <a:spAutoFit/>
          </a:bodyPr>
          <a:lstStyle/>
          <a:p>
            <a:pPr>
              <a:buFont typeface="Wingdings" pitchFamily="2" charset="2"/>
              <a:buChar char="Ø"/>
            </a:pPr>
            <a:r>
              <a:rPr lang="en-US" sz="2200" dirty="0">
                <a:solidFill>
                  <a:srgbClr val="FF0000"/>
                </a:solidFill>
                <a:latin typeface="Times New Roman" pitchFamily="18" charset="0"/>
                <a:cs typeface="Times New Roman" pitchFamily="18" charset="0"/>
              </a:rPr>
              <a:t>  Suicide mortality rate.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Alcohol per capital consumption within a calendar year in </a:t>
            </a:r>
            <a:r>
              <a:rPr lang="en-US" sz="2200" dirty="0" err="1">
                <a:solidFill>
                  <a:srgbClr val="FF0000"/>
                </a:solidFill>
                <a:latin typeface="Times New Roman" pitchFamily="18" charset="0"/>
                <a:cs typeface="Times New Roman" pitchFamily="18" charset="0"/>
              </a:rPr>
              <a:t>litres</a:t>
            </a:r>
            <a:r>
              <a:rPr lang="en-US" sz="2200" dirty="0">
                <a:solidFill>
                  <a:srgbClr val="FF0000"/>
                </a:solidFill>
                <a:latin typeface="Times New Roman" pitchFamily="18" charset="0"/>
                <a:cs typeface="Times New Roman" pitchFamily="18" charset="0"/>
              </a:rPr>
              <a:t> of pure alcohol.</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Death rate due to road traffic injuries.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Proportion of women of reproductive age, who have their need for family planning.</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Coverage of essential health services.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Mortality rate due to unsafe water, sanitation and lack of hygiene.</a:t>
            </a:r>
          </a:p>
        </p:txBody>
      </p:sp>
    </p:spTree>
  </p:cSld>
  <p:clrMapOvr>
    <a:masterClrMapping/>
  </p:clrMapOvr>
  <p:transition spd="slow">
    <p:newsfla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6200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4.7.5 Intervention areas of sustainable development goals</a:t>
            </a:r>
          </a:p>
          <a:p>
            <a:pPr>
              <a:buFont typeface="Wingdings" pitchFamily="2" charset="2"/>
              <a:buChar char="v"/>
            </a:pPr>
            <a:r>
              <a:rPr lang="en-US" sz="2200" dirty="0">
                <a:solidFill>
                  <a:srgbClr val="FF0000"/>
                </a:solidFill>
                <a:latin typeface="Times New Roman" pitchFamily="18" charset="0"/>
                <a:cs typeface="Times New Roman" pitchFamily="18" charset="0"/>
              </a:rPr>
              <a:t>  Implementation of sustainable development goals are some what difficult because of the following interventions.</a:t>
            </a:r>
          </a:p>
          <a:p>
            <a:endParaRPr lang="en-US" sz="2200" dirty="0">
              <a:latin typeface="Times New Roman" pitchFamily="18" charset="0"/>
              <a:cs typeface="Times New Roman" pitchFamily="18" charset="0"/>
            </a:endParaRPr>
          </a:p>
          <a:p>
            <a:pPr marL="1371600" lvl="2" indent="-457200">
              <a:buFont typeface="Wingdings" pitchFamily="2" charset="2"/>
              <a:buChar char="ü"/>
            </a:pPr>
            <a:r>
              <a:rPr lang="en-US" sz="2200" dirty="0">
                <a:solidFill>
                  <a:srgbClr val="008000"/>
                </a:solidFill>
                <a:latin typeface="Times New Roman" pitchFamily="18" charset="0"/>
                <a:cs typeface="Times New Roman" pitchFamily="18" charset="0"/>
              </a:rPr>
              <a:t>Climate change.</a:t>
            </a:r>
          </a:p>
          <a:p>
            <a:pPr marL="1371600" lvl="2" indent="-457200">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Use of natural resources.</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Waste production.</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Water pollution.</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Deforestation.</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Over fishing.</a:t>
            </a:r>
          </a:p>
        </p:txBody>
      </p:sp>
    </p:spTree>
  </p:cSld>
  <p:clrMapOvr>
    <a:masterClrMapping/>
  </p:clrMapOvr>
  <p:transition spd="slow">
    <p:newsfla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772400" cy="5170646"/>
          </a:xfrm>
          <a:prstGeom prst="rect">
            <a:avLst/>
          </a:prstGeom>
        </p:spPr>
        <p:txBody>
          <a:bodyPr wrap="square">
            <a:spAutoFit/>
          </a:bodyPr>
          <a:lstStyle/>
          <a:p>
            <a:pPr lvl="2">
              <a:buFont typeface="Wingdings" pitchFamily="2" charset="2"/>
              <a:buChar char="ü"/>
            </a:pPr>
            <a:r>
              <a:rPr lang="en-US" sz="2200" dirty="0">
                <a:solidFill>
                  <a:srgbClr val="008000"/>
                </a:solidFill>
                <a:latin typeface="Times New Roman" pitchFamily="18" charset="0"/>
                <a:cs typeface="Times New Roman" pitchFamily="18" charset="0"/>
              </a:rPr>
              <a:t>  Poverty.</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Ocean acidification.</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Air pollution.</a:t>
            </a:r>
          </a:p>
          <a:p>
            <a:endParaRPr lang="en-US" sz="2200" dirty="0">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4.8 CLIMATE CHANGE</a:t>
            </a:r>
          </a:p>
          <a:p>
            <a:endParaRPr lang="en-US" sz="2200"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Climate change refers to the long-term shifts in temperatures and weather pattern. </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These changes may be natural (through variations in solar cycle) (or) artificial (human activities like burning of fossil fuels like coal, oil and gases).</a:t>
            </a:r>
          </a:p>
          <a:p>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848600" cy="4154984"/>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4.8.1 Causes of climate change</a:t>
            </a:r>
          </a:p>
          <a:p>
            <a:endParaRPr lang="en-US" sz="2200" b="1" i="1" dirty="0">
              <a:latin typeface="Times New Roman" pitchFamily="18" charset="0"/>
              <a:cs typeface="Times New Roman" pitchFamily="18" charset="0"/>
            </a:endParaRPr>
          </a:p>
          <a:p>
            <a:pPr marL="342900" indent="-342900">
              <a:buFont typeface="Wingdings" pitchFamily="2" charset="2"/>
              <a:buChar char="Ø"/>
            </a:pPr>
            <a:r>
              <a:rPr lang="en-US" sz="2200" dirty="0">
                <a:solidFill>
                  <a:srgbClr val="FF0000"/>
                </a:solidFill>
                <a:latin typeface="Times New Roman" pitchFamily="18" charset="0"/>
                <a:cs typeface="Times New Roman" pitchFamily="18" charset="0"/>
              </a:rPr>
              <a:t>Presence of green house gases in the atmosphere increases the global temperature.</a:t>
            </a:r>
          </a:p>
          <a:p>
            <a:pPr marL="342900" indent="-342900">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Depletion of ozone layer also increases the global temperature.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Uneven distribution of rainfall.</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Rotation of earth on its axis.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Seasonal changes.</a:t>
            </a:r>
          </a:p>
        </p:txBody>
      </p:sp>
    </p:spTree>
  </p:cSld>
  <p:clrMapOvr>
    <a:masterClrMapping/>
  </p:clrMapOvr>
  <p:transition spd="slow">
    <p:newsfla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143000"/>
            <a:ext cx="8153400" cy="5509200"/>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4.8.2 Effect (or) Issues of climate change</a:t>
            </a:r>
          </a:p>
          <a:p>
            <a:pPr marL="457200" indent="-457200">
              <a:buFont typeface="Wingdings" pitchFamily="2" charset="2"/>
              <a:buChar char="q"/>
            </a:pPr>
            <a:r>
              <a:rPr lang="en-US" sz="2200" dirty="0">
                <a:solidFill>
                  <a:srgbClr val="FF0000"/>
                </a:solidFill>
                <a:latin typeface="Times New Roman" pitchFamily="18" charset="0"/>
                <a:cs typeface="Times New Roman" pitchFamily="18" charset="0"/>
              </a:rPr>
              <a:t>Even small changes in climatic conditions may disturb agriculture that would lead to migration of animals including humans.</a:t>
            </a:r>
          </a:p>
          <a:p>
            <a:pPr marL="457200" indent="-457200">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Climate change may upset the hydrological cycle, results in floods and droughts in different regions of the world.</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Global pattern of winds and ocean currents also gets disturbed by climate.</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More frequent and intense drought.</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Sea levels gets raised.</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Melting glaciers and warming oceans can directly harm animals and destroy the places they live.</a:t>
            </a:r>
          </a:p>
        </p:txBody>
      </p:sp>
    </p:spTree>
  </p:cSld>
  <p:clrMapOvr>
    <a:masterClrMapping/>
  </p:clrMapOvr>
  <p:transition spd="slow">
    <p:newsfla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83058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Higher temperature increases heat related illnesses and make working outdoors more difficult.</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If conditions are hot wild fires start more easily and spread more rapidly.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As green house concentration increases, global surface temperature also increases.</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4.8.3 Possible solutions to climate change</a:t>
            </a:r>
          </a:p>
          <a:p>
            <a:pPr marL="457200" indent="-457200">
              <a:buFont typeface="Wingdings" pitchFamily="2" charset="2"/>
              <a:buChar char="v"/>
            </a:pPr>
            <a:r>
              <a:rPr lang="en-US" sz="2200" dirty="0">
                <a:solidFill>
                  <a:srgbClr val="FF0000"/>
                </a:solidFill>
                <a:latin typeface="Times New Roman" pitchFamily="18" charset="0"/>
                <a:cs typeface="Times New Roman" pitchFamily="18" charset="0"/>
              </a:rPr>
              <a:t>Burning of fossil fuels like coal, oil and gas must be avoided.</a:t>
            </a:r>
          </a:p>
          <a:p>
            <a:pPr marL="457200" indent="-45720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Renewable energy sources like solar, wind, tidal and geothermal power must be used instead of fossil fuels.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Reducing petrol and diesel vehicles, planes and ships and switching to electric vehicles stop climate change.</a:t>
            </a:r>
          </a:p>
        </p:txBody>
      </p:sp>
    </p:spTree>
  </p:cSld>
  <p:clrMapOvr>
    <a:masterClrMapping/>
  </p:clrMapOvr>
  <p:transition spd="slow">
    <p:newsfla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848600" cy="4832092"/>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Heat our homes in a green way, by insulating walls and roofs and switching away from oil (or) gas boilers to heat pumps.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The best way for individuals to help stop climate change is by reducing their meat and dairy consumption (or) by going fully vegetarian.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Planting more trees in the right place will absorb more carbon from the emissions.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Protect forests, which fight against climate change.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Oceans also absorb large amounts of  CO   from the atmosphere, which helps to keep our climate stable.</a:t>
            </a:r>
          </a:p>
        </p:txBody>
      </p:sp>
      <p:sp>
        <p:nvSpPr>
          <p:cNvPr id="3" name="Rectangle 2"/>
          <p:cNvSpPr/>
          <p:nvPr/>
        </p:nvSpPr>
        <p:spPr>
          <a:xfrm>
            <a:off x="5638800" y="5486400"/>
            <a:ext cx="1524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Tree>
  </p:cSld>
  <p:clrMapOvr>
    <a:masterClrMapping/>
  </p:clrMapOvr>
  <p:transition spd="slow">
    <p:newsfla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7924800" cy="4154984"/>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Reducing overall consumption in more wealthy countries can help put less strain on the planet.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Avoid of using plastics.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Reduce carbon pollution to avoid the worst consequence of climate change.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Provide financial support to developing countries, so people and nature can successfully adapt.</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8077200" cy="5847755"/>
          </a:xfrm>
          <a:prstGeom prst="rect">
            <a:avLst/>
          </a:prstGeom>
        </p:spPr>
        <p:txBody>
          <a:bodyPr wrap="square">
            <a:spAutoFit/>
          </a:bodyPr>
          <a:lstStyle/>
          <a:p>
            <a:r>
              <a:rPr lang="en-US" sz="2200" b="1" i="1" dirty="0">
                <a:solidFill>
                  <a:srgbClr val="D60093"/>
                </a:solidFill>
                <a:latin typeface="Times New Roman" pitchFamily="18" charset="0"/>
                <a:cs typeface="Times New Roman" pitchFamily="18" charset="0"/>
              </a:rPr>
              <a:t>4.9 CASE STUDIES</a:t>
            </a:r>
          </a:p>
          <a:p>
            <a:endParaRPr lang="en-US" sz="2200" b="1" i="1"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4.9.1 Climate change on Chennai, East Coast Road (ECR) and Old </a:t>
            </a:r>
            <a:r>
              <a:rPr lang="en-US" sz="2200" b="1" i="1" dirty="0" err="1">
                <a:solidFill>
                  <a:srgbClr val="996600"/>
                </a:solidFill>
                <a:latin typeface="Times New Roman" pitchFamily="18" charset="0"/>
                <a:cs typeface="Times New Roman" pitchFamily="18" charset="0"/>
              </a:rPr>
              <a:t>Mahabalipuram</a:t>
            </a:r>
            <a:r>
              <a:rPr lang="en-US" sz="2200" b="1" i="1" dirty="0">
                <a:solidFill>
                  <a:srgbClr val="996600"/>
                </a:solidFill>
                <a:latin typeface="Times New Roman" pitchFamily="18" charset="0"/>
                <a:cs typeface="Times New Roman" pitchFamily="18" charset="0"/>
              </a:rPr>
              <a:t> Road (OMR)</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ECR and OMR are the today’s landmark will receive the highest climate impact.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Due to Chennai’s land use patterns, population stress and abuse of natural resources, climate has changed drastically in the last few years.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Climate induced impacts like drought, floods, heavy rains and winds are becoming increasingly evident in the city.</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On one end of the continuum is summer water crises and on the other end is monsoonal flood disasters.</a:t>
            </a:r>
          </a:p>
        </p:txBody>
      </p:sp>
    </p:spTree>
  </p:cSld>
  <p:clrMapOvr>
    <a:masterClrMapping/>
  </p:clrMapOvr>
  <p:transition spd="slow">
    <p:newsfla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8153400" cy="5847755"/>
          </a:xfrm>
          <a:prstGeom prst="rect">
            <a:avLst/>
          </a:prstGeom>
        </p:spPr>
        <p:txBody>
          <a:bodyPr wrap="square">
            <a:spAutoFit/>
          </a:bodyPr>
          <a:lstStyle/>
          <a:p>
            <a:r>
              <a:rPr lang="en-US" sz="2200" b="1" dirty="0">
                <a:latin typeface="Times New Roman" pitchFamily="18" charset="0"/>
                <a:cs typeface="Times New Roman" pitchFamily="18" charset="0"/>
              </a:rPr>
              <a:t>Reason for flood in Chennai</a:t>
            </a:r>
          </a:p>
          <a:p>
            <a:pPr>
              <a:buFont typeface="Wingdings" pitchFamily="2" charset="2"/>
              <a:buChar char="q"/>
            </a:pPr>
            <a:r>
              <a:rPr lang="en-US" sz="2200" dirty="0">
                <a:solidFill>
                  <a:srgbClr val="FF0000"/>
                </a:solidFill>
                <a:latin typeface="Times New Roman" pitchFamily="18" charset="0"/>
                <a:cs typeface="Times New Roman" pitchFamily="18" charset="0"/>
              </a:rPr>
              <a:t>  Increasing population and building / Land use pattern have changed the natural hydrology of the city.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The water which needs to naturally drain into the sea via, the regional watershed are now blocked by buildings and artificial man-made structures.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These are all reason for flood in Chennai city.</a:t>
            </a:r>
          </a:p>
          <a:p>
            <a:r>
              <a:rPr lang="en-US" sz="2200" b="1" dirty="0">
                <a:latin typeface="Times New Roman" pitchFamily="18" charset="0"/>
                <a:cs typeface="Times New Roman" pitchFamily="18" charset="0"/>
              </a:rPr>
              <a:t>Remedy</a:t>
            </a:r>
          </a:p>
          <a:p>
            <a:pPr>
              <a:buFont typeface="Wingdings" pitchFamily="2" charset="2"/>
              <a:buChar char="v"/>
            </a:pPr>
            <a:r>
              <a:rPr lang="en-US" sz="2200" dirty="0">
                <a:solidFill>
                  <a:srgbClr val="FF0000"/>
                </a:solidFill>
                <a:latin typeface="Times New Roman" pitchFamily="18" charset="0"/>
                <a:cs typeface="Times New Roman" pitchFamily="18" charset="0"/>
              </a:rPr>
              <a:t>  Researchers predicts that Chennai’s climate is more unpredictable and aggressive.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Climate change will affect people and the environment.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People need to take action to reduce the emission of green house gases that is the root cause for climate change.</a:t>
            </a:r>
          </a:p>
        </p:txBody>
      </p:sp>
    </p:spTree>
  </p:cSld>
  <p:clrMapOvr>
    <a:masterClrMapping/>
  </p:clrMapOvr>
  <p:transition spd="slow">
    <p:newsfla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7620000" cy="4493538"/>
          </a:xfrm>
          <a:prstGeom prst="rect">
            <a:avLst/>
          </a:prstGeom>
        </p:spPr>
        <p:txBody>
          <a:bodyPr wrap="square">
            <a:spAutoFit/>
          </a:bodyPr>
          <a:lstStyle/>
          <a:p>
            <a:r>
              <a:rPr lang="fr-FR" sz="2200" b="1" i="1" dirty="0">
                <a:solidFill>
                  <a:srgbClr val="996600"/>
                </a:solidFill>
                <a:latin typeface="Times New Roman" pitchFamily="18" charset="0"/>
                <a:cs typeface="Times New Roman" pitchFamily="18" charset="0"/>
              </a:rPr>
              <a:t>4.9.2 </a:t>
            </a:r>
            <a:r>
              <a:rPr lang="fr-FR" sz="2200" b="1" i="1" dirty="0" err="1">
                <a:solidFill>
                  <a:srgbClr val="996600"/>
                </a:solidFill>
                <a:latin typeface="Times New Roman" pitchFamily="18" charset="0"/>
                <a:cs typeface="Times New Roman" pitchFamily="18" charset="0"/>
              </a:rPr>
              <a:t>Climate</a:t>
            </a:r>
            <a:r>
              <a:rPr lang="fr-FR" sz="2200" b="1" i="1" dirty="0">
                <a:solidFill>
                  <a:srgbClr val="996600"/>
                </a:solidFill>
                <a:latin typeface="Times New Roman" pitchFamily="18" charset="0"/>
                <a:cs typeface="Times New Roman" pitchFamily="18" charset="0"/>
              </a:rPr>
              <a:t> change on </a:t>
            </a:r>
            <a:r>
              <a:rPr lang="fr-FR" sz="2200" b="1" i="1" dirty="0" err="1">
                <a:solidFill>
                  <a:srgbClr val="996600"/>
                </a:solidFill>
                <a:latin typeface="Times New Roman" pitchFamily="18" charset="0"/>
                <a:cs typeface="Times New Roman" pitchFamily="18" charset="0"/>
              </a:rPr>
              <a:t>Chennai</a:t>
            </a:r>
            <a:r>
              <a:rPr lang="fr-FR" sz="2200" b="1" i="1" dirty="0">
                <a:solidFill>
                  <a:srgbClr val="996600"/>
                </a:solidFill>
                <a:latin typeface="Times New Roman" pitchFamily="18" charset="0"/>
                <a:cs typeface="Times New Roman" pitchFamily="18" charset="0"/>
              </a:rPr>
              <a:t>, </a:t>
            </a:r>
            <a:r>
              <a:rPr lang="fr-FR" sz="2200" b="1" i="1" dirty="0" err="1">
                <a:solidFill>
                  <a:srgbClr val="996600"/>
                </a:solidFill>
                <a:latin typeface="Times New Roman" pitchFamily="18" charset="0"/>
                <a:cs typeface="Times New Roman" pitchFamily="18" charset="0"/>
              </a:rPr>
              <a:t>Ennore</a:t>
            </a:r>
            <a:endParaRPr lang="fr-FR" sz="2200" b="1" i="1" dirty="0">
              <a:solidFill>
                <a:srgbClr val="996600"/>
              </a:solidFill>
              <a:latin typeface="Times New Roman" pitchFamily="18" charset="0"/>
              <a:cs typeface="Times New Roman" pitchFamily="18" charset="0"/>
            </a:endParaRPr>
          </a:p>
          <a:p>
            <a:endParaRPr lang="fr-FR" sz="2200" b="1" i="1" dirty="0">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Ennore</a:t>
            </a:r>
            <a:r>
              <a:rPr lang="en-US" sz="2200" dirty="0">
                <a:solidFill>
                  <a:srgbClr val="FF0000"/>
                </a:solidFill>
                <a:latin typeface="Times New Roman" pitchFamily="18" charset="0"/>
                <a:cs typeface="Times New Roman" pitchFamily="18" charset="0"/>
              </a:rPr>
              <a:t> thermal power station (ETPS), a 660 MW coal-fired thermal power plant in </a:t>
            </a:r>
            <a:r>
              <a:rPr lang="en-US" sz="2200" dirty="0" err="1">
                <a:solidFill>
                  <a:srgbClr val="FF0000"/>
                </a:solidFill>
                <a:latin typeface="Times New Roman" pitchFamily="18" charset="0"/>
                <a:cs typeface="Times New Roman" pitchFamily="18" charset="0"/>
              </a:rPr>
              <a:t>Ennore</a:t>
            </a:r>
            <a:r>
              <a:rPr lang="en-US" sz="2200" dirty="0">
                <a:solidFill>
                  <a:srgbClr val="FF0000"/>
                </a:solidFill>
                <a:latin typeface="Times New Roman" pitchFamily="18" charset="0"/>
                <a:cs typeface="Times New Roman" pitchFamily="18" charset="0"/>
              </a:rPr>
              <a:t> at north Chennai, CPCL’s oil refinery, Madras Fertilizers Ltd, Tamil Nadu </a:t>
            </a:r>
            <a:r>
              <a:rPr lang="en-US" sz="2200" dirty="0" err="1">
                <a:solidFill>
                  <a:srgbClr val="FF0000"/>
                </a:solidFill>
                <a:latin typeface="Times New Roman" pitchFamily="18" charset="0"/>
                <a:cs typeface="Times New Roman" pitchFamily="18" charset="0"/>
              </a:rPr>
              <a:t>Petroproducts</a:t>
            </a:r>
            <a:r>
              <a:rPr lang="en-US" sz="2200" dirty="0">
                <a:solidFill>
                  <a:srgbClr val="FF0000"/>
                </a:solidFill>
                <a:latin typeface="Times New Roman" pitchFamily="18" charset="0"/>
                <a:cs typeface="Times New Roman" pitchFamily="18" charset="0"/>
              </a:rPr>
              <a:t> Ltd and Madras Petrochemical Ltd.</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These six factories were, operating in violation of prescribed air pollution norms for nearly 60%, responsible for drastic climate change.</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More than 56 </a:t>
            </a:r>
            <a:r>
              <a:rPr lang="en-US" sz="2200" dirty="0" err="1">
                <a:solidFill>
                  <a:srgbClr val="FF0000"/>
                </a:solidFill>
                <a:latin typeface="Times New Roman" pitchFamily="18" charset="0"/>
                <a:cs typeface="Times New Roman" pitchFamily="18" charset="0"/>
              </a:rPr>
              <a:t>lakh</a:t>
            </a:r>
            <a:r>
              <a:rPr lang="en-US" sz="2200" dirty="0">
                <a:solidFill>
                  <a:srgbClr val="FF0000"/>
                </a:solidFill>
                <a:latin typeface="Times New Roman" pitchFamily="18" charset="0"/>
                <a:cs typeface="Times New Roman" pitchFamily="18" charset="0"/>
              </a:rPr>
              <a:t> </a:t>
            </a:r>
            <a:r>
              <a:rPr lang="en-US" sz="2200" dirty="0" err="1">
                <a:solidFill>
                  <a:srgbClr val="FF0000"/>
                </a:solidFill>
                <a:latin typeface="Times New Roman" pitchFamily="18" charset="0"/>
                <a:cs typeface="Times New Roman" pitchFamily="18" charset="0"/>
              </a:rPr>
              <a:t>tonnes</a:t>
            </a:r>
            <a:r>
              <a:rPr lang="en-US" sz="2200" dirty="0">
                <a:solidFill>
                  <a:srgbClr val="FF0000"/>
                </a:solidFill>
                <a:latin typeface="Times New Roman" pitchFamily="18" charset="0"/>
                <a:cs typeface="Times New Roman" pitchFamily="18" charset="0"/>
              </a:rPr>
              <a:t> of coal ash is spread over the river bed with </a:t>
            </a:r>
            <a:r>
              <a:rPr lang="en-US" sz="2200" dirty="0" err="1">
                <a:solidFill>
                  <a:srgbClr val="FF0000"/>
                </a:solidFill>
                <a:latin typeface="Times New Roman" pitchFamily="18" charset="0"/>
                <a:cs typeface="Times New Roman" pitchFamily="18" charset="0"/>
              </a:rPr>
              <a:t>flyash</a:t>
            </a:r>
            <a:r>
              <a:rPr lang="en-US" sz="2200" dirty="0">
                <a:solidFill>
                  <a:srgbClr val="FF0000"/>
                </a:solidFill>
                <a:latin typeface="Times New Roman" pitchFamily="18" charset="0"/>
                <a:cs typeface="Times New Roman" pitchFamily="18" charset="0"/>
              </a:rPr>
              <a:t> deposits ranging in depth from 1 ft to 8 ft.</a:t>
            </a:r>
          </a:p>
        </p:txBody>
      </p:sp>
    </p:spTree>
  </p:cSld>
  <p:clrMapOvr>
    <a:masterClrMapping/>
  </p:clrMapOvr>
  <p:transition spd="slow">
    <p:newsfla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696200" cy="5509200"/>
          </a:xfrm>
          <a:prstGeom prst="rect">
            <a:avLst/>
          </a:prstGeom>
        </p:spPr>
        <p:txBody>
          <a:bodyPr wrap="square">
            <a:spAutoFit/>
          </a:bodyPr>
          <a:lstStyle/>
          <a:p>
            <a:r>
              <a:rPr lang="en-US" sz="2200" b="1" dirty="0">
                <a:latin typeface="Times New Roman" pitchFamily="18" charset="0"/>
                <a:cs typeface="Times New Roman" pitchFamily="18" charset="0"/>
              </a:rPr>
              <a:t>Issues (or) effects</a:t>
            </a:r>
          </a:p>
          <a:p>
            <a:endParaRPr lang="en-US" sz="2200" b="1"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Ground-level  particulate matter pollution due to emissions, from above said 6 factories at around </a:t>
            </a:r>
            <a:r>
              <a:rPr lang="en-US" sz="2200" dirty="0" err="1">
                <a:solidFill>
                  <a:srgbClr val="FF0000"/>
                </a:solidFill>
                <a:latin typeface="Times New Roman" pitchFamily="18" charset="0"/>
                <a:cs typeface="Times New Roman" pitchFamily="18" charset="0"/>
              </a:rPr>
              <a:t>Ennore</a:t>
            </a:r>
            <a:r>
              <a:rPr lang="en-US" sz="2200" dirty="0">
                <a:solidFill>
                  <a:srgbClr val="FF0000"/>
                </a:solidFill>
                <a:latin typeface="Times New Roman" pitchFamily="18" charset="0"/>
                <a:cs typeface="Times New Roman" pitchFamily="18" charset="0"/>
              </a:rPr>
              <a:t>, exceeded the carrying capacity of the area in the vicinity of the plant.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Ground-level  SO    and  NO    pollution exceeded the carrying capacity of the area.</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In </a:t>
            </a:r>
            <a:r>
              <a:rPr lang="en-US" sz="2200" dirty="0" err="1">
                <a:solidFill>
                  <a:srgbClr val="FF0000"/>
                </a:solidFill>
                <a:latin typeface="Times New Roman" pitchFamily="18" charset="0"/>
                <a:cs typeface="Times New Roman" pitchFamily="18" charset="0"/>
              </a:rPr>
              <a:t>Ennore</a:t>
            </a:r>
            <a:r>
              <a:rPr lang="en-US" sz="2200" dirty="0">
                <a:solidFill>
                  <a:srgbClr val="FF0000"/>
                </a:solidFill>
                <a:latin typeface="Times New Roman" pitchFamily="18" charset="0"/>
                <a:cs typeface="Times New Roman" pitchFamily="18" charset="0"/>
              </a:rPr>
              <a:t>, children and women are particularly affected and gynecological problems were particularly reported by respondents.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Natural drainage pattern have been considerably altered due to fly ash pond construction and ash contamination. This will have an impact on local hydrology and flooding.</a:t>
            </a:r>
          </a:p>
          <a:p>
            <a:endParaRPr lang="en-US" sz="2200" dirty="0">
              <a:latin typeface="Times New Roman" pitchFamily="18" charset="0"/>
              <a:cs typeface="Times New Roman" pitchFamily="18" charset="0"/>
            </a:endParaRPr>
          </a:p>
        </p:txBody>
      </p:sp>
      <p:sp>
        <p:nvSpPr>
          <p:cNvPr id="3" name="Rectangle 2"/>
          <p:cNvSpPr/>
          <p:nvPr/>
        </p:nvSpPr>
        <p:spPr>
          <a:xfrm>
            <a:off x="2895600" y="3276600"/>
            <a:ext cx="1524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
        <p:nvSpPr>
          <p:cNvPr id="4" name="Rectangle 3"/>
          <p:cNvSpPr/>
          <p:nvPr/>
        </p:nvSpPr>
        <p:spPr>
          <a:xfrm>
            <a:off x="4114800" y="3276600"/>
            <a:ext cx="1524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Tree>
  </p:cSld>
  <p:clrMapOvr>
    <a:masterClrMapping/>
  </p:clrMapOvr>
  <p:transition spd="slow">
    <p:newsfla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772400" cy="5509200"/>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Climate change </a:t>
            </a:r>
            <a:r>
              <a:rPr lang="en-US" sz="2200" dirty="0" err="1">
                <a:solidFill>
                  <a:srgbClr val="FF0000"/>
                </a:solidFill>
                <a:latin typeface="Times New Roman" pitchFamily="18" charset="0"/>
                <a:cs typeface="Times New Roman" pitchFamily="18" charset="0"/>
              </a:rPr>
              <a:t>manifeasts</a:t>
            </a:r>
            <a:r>
              <a:rPr lang="en-US" sz="2200" dirty="0">
                <a:solidFill>
                  <a:srgbClr val="FF0000"/>
                </a:solidFill>
                <a:latin typeface="Times New Roman" pitchFamily="18" charset="0"/>
                <a:cs typeface="Times New Roman" pitchFamily="18" charset="0"/>
              </a:rPr>
              <a:t> in the form of rising sea levels, increased heat stress, intense rain events and droughts and ocean desertification due to warming seas.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More than 120 million </a:t>
            </a:r>
            <a:r>
              <a:rPr lang="en-US" sz="2200" dirty="0" err="1">
                <a:solidFill>
                  <a:srgbClr val="FF0000"/>
                </a:solidFill>
                <a:latin typeface="Times New Roman" pitchFamily="18" charset="0"/>
                <a:cs typeface="Times New Roman" pitchFamily="18" charset="0"/>
              </a:rPr>
              <a:t>litres</a:t>
            </a:r>
            <a:r>
              <a:rPr lang="en-US" sz="2200" dirty="0">
                <a:solidFill>
                  <a:srgbClr val="FF0000"/>
                </a:solidFill>
                <a:latin typeface="Times New Roman" pitchFamily="18" charset="0"/>
                <a:cs typeface="Times New Roman" pitchFamily="18" charset="0"/>
              </a:rPr>
              <a:t> of hot waste water is discharged daily, from </a:t>
            </a:r>
            <a:r>
              <a:rPr lang="en-US" sz="2200" dirty="0" err="1">
                <a:solidFill>
                  <a:srgbClr val="FF0000"/>
                </a:solidFill>
                <a:latin typeface="Times New Roman" pitchFamily="18" charset="0"/>
                <a:cs typeface="Times New Roman" pitchFamily="18" charset="0"/>
              </a:rPr>
              <a:t>Ennore</a:t>
            </a:r>
            <a:r>
              <a:rPr lang="en-US" sz="2200" dirty="0">
                <a:solidFill>
                  <a:srgbClr val="FF0000"/>
                </a:solidFill>
                <a:latin typeface="Times New Roman" pitchFamily="18" charset="0"/>
                <a:cs typeface="Times New Roman" pitchFamily="18" charset="0"/>
              </a:rPr>
              <a:t> power plant, into the Ocean. Such discharge in an already warming Ocean will create </a:t>
            </a:r>
            <a:r>
              <a:rPr lang="en-US" sz="2200" dirty="0" err="1">
                <a:solidFill>
                  <a:srgbClr val="FF0000"/>
                </a:solidFill>
                <a:latin typeface="Times New Roman" pitchFamily="18" charset="0"/>
                <a:cs typeface="Times New Roman" pitchFamily="18" charset="0"/>
              </a:rPr>
              <a:t>localised</a:t>
            </a:r>
            <a:r>
              <a:rPr lang="en-US" sz="2200" dirty="0">
                <a:solidFill>
                  <a:srgbClr val="FF0000"/>
                </a:solidFill>
                <a:latin typeface="Times New Roman" pitchFamily="18" charset="0"/>
                <a:cs typeface="Times New Roman" pitchFamily="18" charset="0"/>
              </a:rPr>
              <a:t> marine deserts.</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4.10 CARBON CREDIT</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4.10.1 Definition</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 carbon credit is a tradable permit (or) certificate that represents the right to emit a set amount of CO    (or) 1 tone of CO   (or) the equivalent amount of green house gas.</a:t>
            </a:r>
          </a:p>
        </p:txBody>
      </p:sp>
      <p:sp>
        <p:nvSpPr>
          <p:cNvPr id="3" name="Rectangle 2"/>
          <p:cNvSpPr/>
          <p:nvPr/>
        </p:nvSpPr>
        <p:spPr>
          <a:xfrm>
            <a:off x="5791200" y="5943600"/>
            <a:ext cx="2286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
        <p:nvSpPr>
          <p:cNvPr id="4" name="Rectangle 3"/>
          <p:cNvSpPr/>
          <p:nvPr/>
        </p:nvSpPr>
        <p:spPr>
          <a:xfrm>
            <a:off x="8001000" y="5943600"/>
            <a:ext cx="2286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Tree>
  </p:cSld>
  <p:clrMapOvr>
    <a:masterClrMapping/>
  </p:clrMapOvr>
  <p:transition spd="slow">
    <p:newsfla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7848600" cy="5847755"/>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4.10.2 Concept</a:t>
            </a:r>
          </a:p>
          <a:p>
            <a:pPr>
              <a:buFont typeface="Wingdings" pitchFamily="2" charset="2"/>
              <a:buChar char="q"/>
            </a:pPr>
            <a:r>
              <a:rPr lang="en-US" sz="2200" dirty="0">
                <a:solidFill>
                  <a:srgbClr val="FF0000"/>
                </a:solidFill>
                <a:latin typeface="Times New Roman" pitchFamily="18" charset="0"/>
                <a:cs typeface="Times New Roman" pitchFamily="18" charset="0"/>
              </a:rPr>
              <a:t>  Kyoto protocol is an international agreement that aims to manage and reduce carbon dioxide emissions and green house gases.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Kyoto protocol introduced the concept of carbon credits.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According to this, a country should reduce carbon emissions in the atmosphere.</a:t>
            </a:r>
          </a:p>
          <a:p>
            <a:endParaRPr lang="en-US" sz="2200" dirty="0">
              <a:latin typeface="Times New Roman" pitchFamily="18" charset="0"/>
              <a:cs typeface="Times New Roman" pitchFamily="18" charset="0"/>
            </a:endParaRPr>
          </a:p>
          <a:p>
            <a:pPr marL="514350" indent="-514350">
              <a:buFont typeface="Wingdings" pitchFamily="2" charset="2"/>
              <a:buChar char="ü"/>
            </a:pPr>
            <a:r>
              <a:rPr lang="en-US" sz="2200" dirty="0">
                <a:solidFill>
                  <a:srgbClr val="008000"/>
                </a:solidFill>
                <a:latin typeface="Times New Roman" pitchFamily="18" charset="0"/>
                <a:cs typeface="Times New Roman" pitchFamily="18" charset="0"/>
              </a:rPr>
              <a:t>A carbon credit is a tradable certificate that allows its holder to emit green house gases.</a:t>
            </a:r>
          </a:p>
          <a:p>
            <a:pPr marL="514350" indent="-514350">
              <a:buFont typeface="Wingdings" pitchFamily="2" charset="2"/>
              <a:buChar char="ü"/>
            </a:pPr>
            <a:endParaRPr lang="en-US" sz="2200" dirty="0">
              <a:solidFill>
                <a:srgbClr val="008000"/>
              </a:solidFill>
              <a:latin typeface="Times New Roman" pitchFamily="18" charset="0"/>
              <a:cs typeface="Times New Roman" pitchFamily="18" charset="0"/>
            </a:endParaRPr>
          </a:p>
          <a:p>
            <a:pPr>
              <a:buFont typeface="Wingdings" pitchFamily="2" charset="2"/>
              <a:buChar char="ü"/>
            </a:pPr>
            <a:r>
              <a:rPr lang="en-US" sz="2200" dirty="0">
                <a:solidFill>
                  <a:srgbClr val="008000"/>
                </a:solidFill>
                <a:latin typeface="Times New Roman" pitchFamily="18" charset="0"/>
                <a:cs typeface="Times New Roman" pitchFamily="18" charset="0"/>
              </a:rPr>
              <a:t>  One carbon credit is equal to one ton of carbon dioxide.</a:t>
            </a:r>
          </a:p>
          <a:p>
            <a:pPr>
              <a:buFont typeface="Wingdings" pitchFamily="2" charset="2"/>
              <a:buChar char="ü"/>
            </a:pPr>
            <a:endParaRPr lang="en-US" sz="2200" dirty="0">
              <a:solidFill>
                <a:srgbClr val="008000"/>
              </a:solidFill>
              <a:latin typeface="Times New Roman" pitchFamily="18" charset="0"/>
              <a:cs typeface="Times New Roman" pitchFamily="18" charset="0"/>
            </a:endParaRPr>
          </a:p>
          <a:p>
            <a:pPr>
              <a:buFont typeface="Wingdings" pitchFamily="2" charset="2"/>
              <a:buChar char="ü"/>
            </a:pPr>
            <a:r>
              <a:rPr lang="en-US" sz="2200" dirty="0">
                <a:solidFill>
                  <a:srgbClr val="008000"/>
                </a:solidFill>
                <a:latin typeface="Times New Roman" pitchFamily="18" charset="0"/>
                <a:cs typeface="Times New Roman" pitchFamily="18" charset="0"/>
              </a:rPr>
              <a:t>  Countries need to reduce their emissions by 5.2% compared to the numbers recorded.</a:t>
            </a:r>
          </a:p>
        </p:txBody>
      </p:sp>
    </p:spTree>
  </p:cSld>
  <p:clrMapOvr>
    <a:masterClrMapping/>
  </p:clrMapOvr>
  <p:transition spd="slow">
    <p:newsfla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7620000" cy="5509200"/>
          </a:xfrm>
          <a:prstGeom prst="rect">
            <a:avLst/>
          </a:prstGeom>
        </p:spPr>
        <p:txBody>
          <a:bodyPr wrap="square">
            <a:spAutoFit/>
          </a:bodyPr>
          <a:lstStyle/>
          <a:p>
            <a:pPr>
              <a:buFont typeface="Wingdings" pitchFamily="2" charset="2"/>
              <a:buChar char="ü"/>
            </a:pPr>
            <a:r>
              <a:rPr lang="en-US" sz="2200" dirty="0">
                <a:solidFill>
                  <a:srgbClr val="008000"/>
                </a:solidFill>
                <a:latin typeface="Times New Roman" pitchFamily="18" charset="0"/>
                <a:cs typeface="Times New Roman" pitchFamily="18" charset="0"/>
              </a:rPr>
              <a:t>  Countries and companies need to be designed to reduce carbon emissions without the need to buy credits.</a:t>
            </a:r>
          </a:p>
          <a:p>
            <a:pPr>
              <a:buFont typeface="Wingdings" pitchFamily="2" charset="2"/>
              <a:buChar char="ü"/>
            </a:pPr>
            <a:endParaRPr lang="en-US" sz="2200" dirty="0">
              <a:solidFill>
                <a:srgbClr val="008000"/>
              </a:solidFill>
              <a:latin typeface="Times New Roman" pitchFamily="18" charset="0"/>
              <a:cs typeface="Times New Roman" pitchFamily="18" charset="0"/>
            </a:endParaRPr>
          </a:p>
          <a:p>
            <a:pPr>
              <a:buFont typeface="Wingdings" pitchFamily="2" charset="2"/>
              <a:buChar char="ü"/>
            </a:pPr>
            <a:r>
              <a:rPr lang="en-US" sz="2200" dirty="0">
                <a:solidFill>
                  <a:srgbClr val="008000"/>
                </a:solidFill>
                <a:latin typeface="Times New Roman" pitchFamily="18" charset="0"/>
                <a:cs typeface="Times New Roman" pitchFamily="18" charset="0"/>
              </a:rPr>
              <a:t>  Less the purchase, less will be the carbon release into the atmosphere.</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4.10.3 Types of carbon credits</a:t>
            </a:r>
          </a:p>
          <a:p>
            <a:pPr>
              <a:buFont typeface="Wingdings" pitchFamily="2" charset="2"/>
              <a:buChar char="q"/>
            </a:pPr>
            <a:r>
              <a:rPr lang="en-US" sz="2200" dirty="0">
                <a:solidFill>
                  <a:srgbClr val="FF0000"/>
                </a:solidFill>
                <a:latin typeface="Times New Roman" pitchFamily="18" charset="0"/>
                <a:cs typeface="Times New Roman" pitchFamily="18" charset="0"/>
              </a:rPr>
              <a:t>  There are two types of carbon credits.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1. Voluntary emissions reduction (VER)</a:t>
            </a:r>
          </a:p>
          <a:p>
            <a:pPr>
              <a:buFont typeface="Wingdings" pitchFamily="2" charset="2"/>
              <a:buChar char="Ø"/>
            </a:pPr>
            <a:r>
              <a:rPr lang="en-US" sz="2200" dirty="0">
                <a:solidFill>
                  <a:srgbClr val="FF0000"/>
                </a:solidFill>
                <a:latin typeface="Times New Roman" pitchFamily="18" charset="0"/>
                <a:cs typeface="Times New Roman" pitchFamily="18" charset="0"/>
              </a:rPr>
              <a:t>  It is a carbon offset that is exchanged in the over-the-counter (or) voluntary market for credits.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Certified emissions reduction (CER)</a:t>
            </a:r>
          </a:p>
          <a:p>
            <a:pPr>
              <a:buFont typeface="Wingdings" pitchFamily="2" charset="2"/>
              <a:buChar char="Ø"/>
            </a:pPr>
            <a:r>
              <a:rPr lang="en-US" sz="2200" dirty="0">
                <a:solidFill>
                  <a:srgbClr val="FF0000"/>
                </a:solidFill>
                <a:latin typeface="Times New Roman" pitchFamily="18" charset="0"/>
                <a:cs typeface="Times New Roman" pitchFamily="18" charset="0"/>
              </a:rPr>
              <a:t>  It relies on emission credits created through a regulatory frame work with the purpose of off-setting a project’s emissions.</a:t>
            </a:r>
          </a:p>
        </p:txBody>
      </p:sp>
    </p:spTree>
  </p:cSld>
  <p:clrMapOvr>
    <a:masterClrMapping/>
  </p:clrMapOvr>
  <p:transition spd="slow">
    <p:newsfla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66800"/>
            <a:ext cx="77724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4.10.4 How to get carbon credit</a:t>
            </a:r>
          </a:p>
          <a:p>
            <a:endParaRPr lang="en-US" sz="2200" b="1" i="1" dirty="0">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Carbon credits and carbon markets are a component of a national and international attempts to mitigate the growth in concentrations of green house gases (GHGs). </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One carbon credit is equal to one ton of CO   (or)  CO  equivalent gases.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There are many companies, that sell carbon credits to commercial and individual customers who are interested in lowering their carbon foot print.</a:t>
            </a:r>
          </a:p>
          <a:p>
            <a:r>
              <a:rPr lang="en-US" sz="2200" dirty="0">
                <a:solidFill>
                  <a:srgbClr val="FF0000"/>
                </a:solidFill>
                <a:latin typeface="Times New Roman" pitchFamily="18" charset="0"/>
                <a:cs typeface="Times New Roman" pitchFamily="18" charset="0"/>
              </a:rPr>
              <a:t> </a:t>
            </a:r>
          </a:p>
          <a:p>
            <a:pPr>
              <a:buFont typeface="Wingdings" pitchFamily="2" charset="2"/>
              <a:buChar char="v"/>
            </a:pPr>
            <a:r>
              <a:rPr lang="en-US" sz="2200" dirty="0">
                <a:solidFill>
                  <a:srgbClr val="FF0000"/>
                </a:solidFill>
                <a:latin typeface="Times New Roman" pitchFamily="18" charset="0"/>
                <a:cs typeface="Times New Roman" pitchFamily="18" charset="0"/>
              </a:rPr>
              <a:t>  Buyers and sellers can also use an exchange platform to trade, which is like a stock exchange for carbon credits.</a:t>
            </a:r>
          </a:p>
        </p:txBody>
      </p:sp>
      <p:sp>
        <p:nvSpPr>
          <p:cNvPr id="3" name="Rectangle 2"/>
          <p:cNvSpPr/>
          <p:nvPr/>
        </p:nvSpPr>
        <p:spPr>
          <a:xfrm>
            <a:off x="5943600" y="3352800"/>
            <a:ext cx="2286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
        <p:nvSpPr>
          <p:cNvPr id="4" name="Rectangle 3"/>
          <p:cNvSpPr/>
          <p:nvPr/>
        </p:nvSpPr>
        <p:spPr>
          <a:xfrm>
            <a:off x="7086600" y="3352800"/>
            <a:ext cx="228600" cy="45719"/>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imes New Roman" pitchFamily="18" charset="0"/>
                <a:cs typeface="Times New Roman" pitchFamily="18" charset="0"/>
              </a:rPr>
              <a:t>2</a:t>
            </a:r>
          </a:p>
        </p:txBody>
      </p:sp>
    </p:spTree>
  </p:cSld>
  <p:clrMapOvr>
    <a:masterClrMapping/>
  </p:clrMapOvr>
  <p:transition spd="slow">
    <p:newsfla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66800"/>
            <a:ext cx="7924800" cy="5170646"/>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4.10.5 Advantages and Disadvantages of Carbon Credits</a:t>
            </a:r>
          </a:p>
          <a:p>
            <a:endParaRPr lang="en-US" sz="2200" b="1" i="1" dirty="0">
              <a:latin typeface="Times New Roman" pitchFamily="18" charset="0"/>
              <a:cs typeface="Times New Roman" pitchFamily="18" charset="0"/>
            </a:endParaRPr>
          </a:p>
          <a:p>
            <a:r>
              <a:rPr lang="en-US" sz="2200" b="1" dirty="0">
                <a:latin typeface="Times New Roman" pitchFamily="18" charset="0"/>
                <a:cs typeface="Times New Roman" pitchFamily="18" charset="0"/>
              </a:rPr>
              <a:t>Advantages of Carbon Credit</a:t>
            </a:r>
          </a:p>
          <a:p>
            <a:pPr marL="342900" indent="-342900">
              <a:buFont typeface="Wingdings" pitchFamily="2" charset="2"/>
              <a:buChar char="Ø"/>
            </a:pPr>
            <a:r>
              <a:rPr lang="en-US" sz="2200" dirty="0">
                <a:solidFill>
                  <a:srgbClr val="FF0000"/>
                </a:solidFill>
                <a:latin typeface="Times New Roman" pitchFamily="18" charset="0"/>
                <a:cs typeface="Times New Roman" pitchFamily="18" charset="0"/>
              </a:rPr>
              <a:t>Each carbon credit corresponds to one ton of carbon that was not emitted into the atmosphere.</a:t>
            </a:r>
          </a:p>
          <a:p>
            <a:pPr>
              <a:buFont typeface="Wingdings" pitchFamily="2" charset="2"/>
              <a:buChar char="Ø"/>
            </a:pPr>
            <a:r>
              <a:rPr lang="en-US" sz="2200" dirty="0">
                <a:solidFill>
                  <a:srgbClr val="FF0000"/>
                </a:solidFill>
                <a:latin typeface="Times New Roman" pitchFamily="18" charset="0"/>
                <a:cs typeface="Times New Roman" pitchFamily="18" charset="0"/>
              </a:rPr>
              <a:t>  The company that does not have an alternative to reduce its emission finds an advantage in the purchase of this credit.</a:t>
            </a:r>
          </a:p>
          <a:p>
            <a:pPr>
              <a:buFont typeface="Wingdings" pitchFamily="2" charset="2"/>
              <a:buChar char="Ø"/>
            </a:pPr>
            <a:r>
              <a:rPr lang="en-US" sz="2200" dirty="0">
                <a:solidFill>
                  <a:srgbClr val="FF0000"/>
                </a:solidFill>
                <a:latin typeface="Times New Roman" pitchFamily="18" charset="0"/>
                <a:cs typeface="Times New Roman" pitchFamily="18" charset="0"/>
              </a:rPr>
              <a:t>  The purchase of carbon credits by companies that are environmentally conscious is favorable for their image.</a:t>
            </a:r>
          </a:p>
          <a:p>
            <a:pPr>
              <a:buFont typeface="Wingdings" pitchFamily="2" charset="2"/>
              <a:buChar char="Ø"/>
            </a:pPr>
            <a:r>
              <a:rPr lang="en-US" sz="2200" dirty="0">
                <a:solidFill>
                  <a:srgbClr val="FF0000"/>
                </a:solidFill>
                <a:latin typeface="Times New Roman" pitchFamily="18" charset="0"/>
                <a:cs typeface="Times New Roman" pitchFamily="18" charset="0"/>
              </a:rPr>
              <a:t>  Sometimes the company behaves sustainably, but it cannot stop emitting some amount of carbon. In this case, the purchase of credit shows how much the company cares about encouraging sustainable activities.</a:t>
            </a:r>
          </a:p>
          <a:p>
            <a:pPr>
              <a:buFont typeface="Wingdings" pitchFamily="2" charset="2"/>
              <a:buChar char="Ø"/>
            </a:pPr>
            <a:r>
              <a:rPr lang="en-US" sz="2200" dirty="0">
                <a:solidFill>
                  <a:srgbClr val="FF0000"/>
                </a:solidFill>
                <a:latin typeface="Times New Roman" pitchFamily="18" charset="0"/>
                <a:cs typeface="Times New Roman" pitchFamily="18" charset="0"/>
              </a:rPr>
              <a:t>  It enables companies to support </a:t>
            </a:r>
            <a:r>
              <a:rPr lang="en-US" sz="2200" dirty="0" err="1">
                <a:solidFill>
                  <a:srgbClr val="FF0000"/>
                </a:solidFill>
                <a:latin typeface="Times New Roman" pitchFamily="18" charset="0"/>
                <a:cs typeface="Times New Roman" pitchFamily="18" charset="0"/>
              </a:rPr>
              <a:t>decarbonization</a:t>
            </a:r>
            <a:r>
              <a:rPr lang="en-US" sz="2200" dirty="0">
                <a:solidFill>
                  <a:srgbClr val="FF0000"/>
                </a:solidFill>
                <a:latin typeface="Times New Roman" pitchFamily="18" charset="0"/>
                <a:cs typeface="Times New Roman" pitchFamily="18" charset="0"/>
              </a:rPr>
              <a:t> beyond their own carbon footprint.</a:t>
            </a:r>
          </a:p>
        </p:txBody>
      </p:sp>
    </p:spTree>
  </p:cSld>
  <p:clrMapOvr>
    <a:masterClrMapping/>
  </p:clrMapOvr>
  <p:transition spd="slow">
    <p:newsfla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924800" cy="5847755"/>
          </a:xfrm>
          <a:prstGeom prst="rect">
            <a:avLst/>
          </a:prstGeom>
        </p:spPr>
        <p:txBody>
          <a:bodyPr wrap="square">
            <a:spAutoFit/>
          </a:bodyPr>
          <a:lstStyle/>
          <a:p>
            <a:r>
              <a:rPr lang="en-US" sz="2200" b="1" dirty="0">
                <a:latin typeface="Times New Roman" pitchFamily="18" charset="0"/>
                <a:cs typeface="Times New Roman" pitchFamily="18" charset="0"/>
              </a:rPr>
              <a:t>Disadvantages of Carbon Credit</a:t>
            </a:r>
          </a:p>
          <a:p>
            <a:endParaRPr lang="en-US" sz="2200" b="1" dirty="0">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Some institutions and countries can accommodate themselves in the exchange market to continue emitting their greenhouse gases.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Companies do not invest in action to avoid emissions because they are able to buy unlimited credits.</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 reduction of 1 ton of carbon that is 1 credit, will never be enough.</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It is an alternative for emergency needs, not to rest on the fact that the other has saved.</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Main focus of carbon credit is to reduce green house gas emissions, but it is not possible to stop the negative impacts caused by the </a:t>
            </a:r>
            <a:r>
              <a:rPr lang="en-US" sz="2200" dirty="0" err="1">
                <a:solidFill>
                  <a:srgbClr val="FF0000"/>
                </a:solidFill>
                <a:latin typeface="Times New Roman" pitchFamily="18" charset="0"/>
                <a:cs typeface="Times New Roman" pitchFamily="18" charset="0"/>
              </a:rPr>
              <a:t>globle</a:t>
            </a:r>
            <a:r>
              <a:rPr lang="en-US" sz="2200" dirty="0">
                <a:solidFill>
                  <a:srgbClr val="FF0000"/>
                </a:solidFill>
                <a:latin typeface="Times New Roman" pitchFamily="18" charset="0"/>
                <a:cs typeface="Times New Roman" pitchFamily="18" charset="0"/>
              </a:rPr>
              <a:t> warming.</a:t>
            </a:r>
          </a:p>
        </p:txBody>
      </p:sp>
    </p:spTree>
  </p:cSld>
  <p:clrMapOvr>
    <a:masterClrMapping/>
  </p:clrMapOvr>
  <p:transition spd="slow">
    <p:newsfla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077200" cy="5170646"/>
          </a:xfrm>
          <a:prstGeom prst="rect">
            <a:avLst/>
          </a:prstGeom>
        </p:spPr>
        <p:txBody>
          <a:bodyPr wrap="square">
            <a:spAutoFit/>
          </a:bodyPr>
          <a:lstStyle/>
          <a:p>
            <a:r>
              <a:rPr lang="en-US" sz="2200" b="1" dirty="0">
                <a:solidFill>
                  <a:srgbClr val="D60093"/>
                </a:solidFill>
                <a:latin typeface="Times New Roman" pitchFamily="18" charset="0"/>
                <a:cs typeface="Times New Roman" pitchFamily="18" charset="0"/>
              </a:rPr>
              <a:t>4.11 CARBON FOOTPRINT</a:t>
            </a:r>
          </a:p>
          <a:p>
            <a:r>
              <a:rPr lang="en-US" sz="2200" b="1" dirty="0">
                <a:latin typeface="Times New Roman" pitchFamily="18" charset="0"/>
                <a:cs typeface="Times New Roman" pitchFamily="18" charset="0"/>
              </a:rPr>
              <a:t>Definition</a:t>
            </a:r>
          </a:p>
          <a:p>
            <a:r>
              <a:rPr lang="en-US" sz="2200" b="1" i="1" dirty="0">
                <a:solidFill>
                  <a:srgbClr val="008000"/>
                </a:solidFill>
                <a:latin typeface="Times New Roman" pitchFamily="18" charset="0"/>
                <a:cs typeface="Times New Roman" pitchFamily="18" charset="0"/>
              </a:rPr>
              <a:t>It is the total amount of green house gases (including  CO   and CH ) that are generated (emitted) by our direct and indirect activities.</a:t>
            </a:r>
          </a:p>
          <a:p>
            <a:endParaRPr lang="en-US" sz="2200" b="1" i="1" dirty="0">
              <a:latin typeface="Times New Roman" pitchFamily="18" charset="0"/>
              <a:cs typeface="Times New Roman" pitchFamily="18" charset="0"/>
            </a:endParaRPr>
          </a:p>
          <a:p>
            <a:r>
              <a:rPr lang="en-US" sz="2200" b="1" dirty="0">
                <a:latin typeface="Times New Roman" pitchFamily="18" charset="0"/>
                <a:cs typeface="Times New Roman" pitchFamily="18" charset="0"/>
              </a:rPr>
              <a:t>Individual carbon footprint</a:t>
            </a:r>
          </a:p>
          <a:p>
            <a:pPr>
              <a:buFont typeface="Wingdings" pitchFamily="2" charset="2"/>
              <a:buChar char="q"/>
            </a:pPr>
            <a:r>
              <a:rPr lang="en-US" sz="2200" dirty="0">
                <a:solidFill>
                  <a:srgbClr val="FF0000"/>
                </a:solidFill>
                <a:latin typeface="Times New Roman" pitchFamily="18" charset="0"/>
                <a:cs typeface="Times New Roman" pitchFamily="18" charset="0"/>
              </a:rPr>
              <a:t>  It is the sum total of their direct and indirect carbon emissions over the course of a year.</a:t>
            </a:r>
          </a:p>
          <a:p>
            <a:endParaRPr lang="en-US" sz="2200" dirty="0">
              <a:latin typeface="Times New Roman" pitchFamily="18" charset="0"/>
              <a:cs typeface="Times New Roman" pitchFamily="18" charset="0"/>
            </a:endParaRPr>
          </a:p>
          <a:p>
            <a:r>
              <a:rPr lang="en-US" sz="2200" dirty="0">
                <a:solidFill>
                  <a:srgbClr val="008000"/>
                </a:solidFill>
                <a:latin typeface="Times New Roman" pitchFamily="18" charset="0"/>
                <a:cs typeface="Times New Roman" pitchFamily="18" charset="0"/>
              </a:rPr>
              <a:t>i.e., Smaller your carbon                  : better for the future</a:t>
            </a:r>
          </a:p>
          <a:p>
            <a:r>
              <a:rPr lang="en-US" sz="2200" dirty="0">
                <a:solidFill>
                  <a:srgbClr val="008000"/>
                </a:solidFill>
                <a:latin typeface="Times New Roman" pitchFamily="18" charset="0"/>
                <a:cs typeface="Times New Roman" pitchFamily="18" charset="0"/>
              </a:rPr>
              <a:t>Footprint        </a:t>
            </a:r>
          </a:p>
          <a:p>
            <a:r>
              <a:rPr lang="en-US" sz="2200" dirty="0">
                <a:solidFill>
                  <a:srgbClr val="008000"/>
                </a:solidFill>
                <a:latin typeface="Times New Roman" pitchFamily="18" charset="0"/>
                <a:cs typeface="Times New Roman" pitchFamily="18" charset="0"/>
              </a:rPr>
              <a:t>                                           </a:t>
            </a:r>
          </a:p>
          <a:p>
            <a:r>
              <a:rPr lang="en-US" sz="2200" dirty="0">
                <a:solidFill>
                  <a:srgbClr val="008000"/>
                </a:solidFill>
                <a:latin typeface="Times New Roman" pitchFamily="18" charset="0"/>
                <a:cs typeface="Times New Roman" pitchFamily="18" charset="0"/>
              </a:rPr>
              <a:t>Bigger your carbon</a:t>
            </a:r>
          </a:p>
          <a:p>
            <a:r>
              <a:rPr lang="en-US" sz="2200" dirty="0">
                <a:solidFill>
                  <a:srgbClr val="008000"/>
                </a:solidFill>
                <a:latin typeface="Times New Roman" pitchFamily="18" charset="0"/>
                <a:cs typeface="Times New Roman" pitchFamily="18" charset="0"/>
              </a:rPr>
              <a:t>Footprint                                            : Have bigger negative</a:t>
            </a:r>
          </a:p>
          <a:p>
            <a:r>
              <a:rPr lang="en-US" sz="2200" dirty="0">
                <a:solidFill>
                  <a:srgbClr val="008000"/>
                </a:solidFill>
                <a:latin typeface="Times New Roman" pitchFamily="18" charset="0"/>
                <a:cs typeface="Times New Roman" pitchFamily="18" charset="0"/>
              </a:rPr>
              <a:t>                                                              impact in environment</a:t>
            </a:r>
          </a:p>
        </p:txBody>
      </p:sp>
      <p:sp>
        <p:nvSpPr>
          <p:cNvPr id="3" name="Rectangle 2"/>
          <p:cNvSpPr/>
          <p:nvPr/>
        </p:nvSpPr>
        <p:spPr>
          <a:xfrm>
            <a:off x="6934200" y="2057400"/>
            <a:ext cx="2286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8000"/>
                </a:solidFill>
                <a:latin typeface="Times New Roman" pitchFamily="18" charset="0"/>
                <a:cs typeface="Times New Roman" pitchFamily="18" charset="0"/>
              </a:rPr>
              <a:t>2</a:t>
            </a:r>
          </a:p>
        </p:txBody>
      </p:sp>
      <p:sp>
        <p:nvSpPr>
          <p:cNvPr id="5" name="Rectangle 4"/>
          <p:cNvSpPr/>
          <p:nvPr/>
        </p:nvSpPr>
        <p:spPr>
          <a:xfrm>
            <a:off x="8153400" y="2057400"/>
            <a:ext cx="228600" cy="76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8000"/>
                </a:solidFill>
                <a:latin typeface="Times New Roman" pitchFamily="18" charset="0"/>
                <a:cs typeface="Times New Roman" pitchFamily="18" charset="0"/>
              </a:rPr>
              <a:t>4</a:t>
            </a:r>
          </a:p>
        </p:txBody>
      </p:sp>
    </p:spTree>
  </p:cSld>
  <p:clrMapOvr>
    <a:masterClrMapping/>
  </p:clrMapOvr>
  <p:transition spd="slow">
    <p:newsfla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543800" cy="2462213"/>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The average carbon footprint for a person in united state is 16 tons. Globally, the average is closer to 4 tones.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To avoid 2°C rise in global temperatures, the average global carbon footprint per year needs to drop under 2 tons by 2050.</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22530" name="Picture 2" descr="C:\Users\User\AppData\Local\Temp\ksohtml\wps3BBE.tmp.png"/>
          <p:cNvPicPr>
            <a:picLocks noChangeAspect="1" noChangeArrowheads="1"/>
          </p:cNvPicPr>
          <p:nvPr/>
        </p:nvPicPr>
        <p:blipFill>
          <a:blip r:embed="rId2">
            <a:duotone>
              <a:prstClr val="black"/>
              <a:schemeClr val="accent3">
                <a:tint val="45000"/>
                <a:satMod val="400000"/>
              </a:schemeClr>
            </a:duotone>
          </a:blip>
          <a:srcRect/>
          <a:stretch>
            <a:fillRect/>
          </a:stretch>
        </p:blipFill>
        <p:spPr bwMode="auto">
          <a:xfrm>
            <a:off x="685800" y="3124200"/>
            <a:ext cx="7391400" cy="2667000"/>
          </a:xfrm>
          <a:prstGeom prst="rect">
            <a:avLst/>
          </a:prstGeom>
          <a:noFill/>
        </p:spPr>
      </p:pic>
      <p:sp>
        <p:nvSpPr>
          <p:cNvPr id="4" name="Rectangle 3"/>
          <p:cNvSpPr/>
          <p:nvPr/>
        </p:nvSpPr>
        <p:spPr>
          <a:xfrm>
            <a:off x="2667000" y="6172200"/>
            <a:ext cx="3299301" cy="430887"/>
          </a:xfrm>
          <a:prstGeom prst="rect">
            <a:avLst/>
          </a:prstGeom>
        </p:spPr>
        <p:txBody>
          <a:bodyPr wrap="none">
            <a:spAutoFit/>
          </a:bodyPr>
          <a:lstStyle/>
          <a:p>
            <a:r>
              <a:rPr lang="en-US" sz="2200" b="1" dirty="0">
                <a:latin typeface="Times New Roman" pitchFamily="18" charset="0"/>
                <a:cs typeface="Times New Roman" pitchFamily="18" charset="0"/>
              </a:rPr>
              <a:t>Fig. 4.3 Carbon Footprint</a:t>
            </a:r>
            <a:endParaRPr lang="en-US" sz="2200" dirty="0">
              <a:latin typeface="Times New Roman" pitchFamily="18" charset="0"/>
              <a:cs typeface="Times New Roman" pitchFamily="18" charset="0"/>
            </a:endParaRPr>
          </a:p>
        </p:txBody>
      </p:sp>
      <p:pic>
        <p:nvPicPr>
          <p:cNvPr id="22532" name="Picture 4" descr="C:\Users\User\AppData\Local\Temp\ksohtml\wps373D.tmp.png"/>
          <p:cNvPicPr>
            <a:picLocks noChangeAspect="1" noChangeArrowheads="1"/>
          </p:cNvPicPr>
          <p:nvPr/>
        </p:nvPicPr>
        <p:blipFill>
          <a:blip r:embed="rId3"/>
          <a:srcRect/>
          <a:stretch>
            <a:fillRect/>
          </a:stretch>
        </p:blipFill>
        <p:spPr bwMode="auto">
          <a:xfrm>
            <a:off x="1981200" y="5791200"/>
            <a:ext cx="533400" cy="266700"/>
          </a:xfrm>
          <a:prstGeom prst="rect">
            <a:avLst/>
          </a:prstGeom>
          <a:noFill/>
        </p:spPr>
      </p:pic>
    </p:spTree>
  </p:cSld>
  <p:clrMapOvr>
    <a:masterClrMapping/>
  </p:clrMapOvr>
  <p:transition spd="slow">
    <p:newsfla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28343"/>
            <a:ext cx="8001000" cy="5509200"/>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4.11.1 Sources of carbon footprint</a:t>
            </a:r>
          </a:p>
          <a:p>
            <a:pPr marL="914400" lvl="1" indent="-457200">
              <a:buFont typeface="Wingdings" pitchFamily="2" charset="2"/>
              <a:buChar char="ü"/>
            </a:pPr>
            <a:r>
              <a:rPr lang="en-US" sz="2200" dirty="0">
                <a:solidFill>
                  <a:srgbClr val="008000"/>
                </a:solidFill>
                <a:latin typeface="Times New Roman" pitchFamily="18" charset="0"/>
                <a:cs typeface="Times New Roman" pitchFamily="18" charset="0"/>
              </a:rPr>
              <a:t>Climate change.</a:t>
            </a:r>
          </a:p>
          <a:p>
            <a:pPr marL="914400" lvl="1" indent="-457200">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Natural process like </a:t>
            </a:r>
            <a:r>
              <a:rPr lang="en-US" sz="2200" dirty="0" err="1">
                <a:solidFill>
                  <a:srgbClr val="008000"/>
                </a:solidFill>
                <a:latin typeface="Times New Roman" pitchFamily="18" charset="0"/>
                <a:cs typeface="Times New Roman" pitchFamily="18" charset="0"/>
              </a:rPr>
              <a:t>volcanos</a:t>
            </a:r>
            <a:r>
              <a:rPr lang="en-US" sz="2200" dirty="0">
                <a:solidFill>
                  <a:srgbClr val="008000"/>
                </a:solidFill>
                <a:latin typeface="Times New Roman" pitchFamily="18" charset="0"/>
                <a:cs typeface="Times New Roman" pitchFamily="18" charset="0"/>
              </a:rPr>
              <a:t>.</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Green house gases emitted from human activities.</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Pollution released by human beings doing human things.</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Transportation accounted for about 28% of total country.</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Electricity generation accounted for about 28%.</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Industrial activities 22%.</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Heating and cooling in homes and businesses contribute 11%.</a:t>
            </a:r>
          </a:p>
        </p:txBody>
      </p:sp>
    </p:spTree>
  </p:cSld>
  <p:clrMapOvr>
    <a:masterClrMapping/>
  </p:clrMapOvr>
  <p:transition spd="slow">
    <p:newsfla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7848600" cy="5509200"/>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4.11.2 Causes of a carbon footprint</a:t>
            </a:r>
          </a:p>
          <a:p>
            <a:pPr>
              <a:buFont typeface="Wingdings" pitchFamily="2" charset="2"/>
              <a:buChar char="q"/>
            </a:pPr>
            <a:r>
              <a:rPr lang="en-US" sz="2200" dirty="0">
                <a:solidFill>
                  <a:srgbClr val="FF0000"/>
                </a:solidFill>
                <a:latin typeface="Times New Roman" pitchFamily="18" charset="0"/>
                <a:cs typeface="Times New Roman" pitchFamily="18" charset="0"/>
              </a:rPr>
              <a:t>  The major contributors to carbon footprints are</a:t>
            </a:r>
          </a:p>
          <a:p>
            <a:endParaRPr lang="en-US" sz="2200" dirty="0">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food: (especially meat (beef))</a:t>
            </a:r>
          </a:p>
          <a:p>
            <a:pPr lvl="2">
              <a:buFont typeface="Wingdings" pitchFamily="2" charset="2"/>
              <a:buChar char="ü"/>
            </a:pPr>
            <a:r>
              <a:rPr lang="en-US" sz="2200" dirty="0">
                <a:solidFill>
                  <a:srgbClr val="008000"/>
                </a:solidFill>
                <a:latin typeface="Times New Roman" pitchFamily="18" charset="0"/>
                <a:cs typeface="Times New Roman" pitchFamily="18" charset="0"/>
              </a:rPr>
              <a:t>  consumption</a:t>
            </a:r>
          </a:p>
          <a:p>
            <a:pPr lvl="2">
              <a:buFont typeface="Wingdings" pitchFamily="2" charset="2"/>
              <a:buChar char="ü"/>
            </a:pPr>
            <a:r>
              <a:rPr lang="en-US" sz="2200" dirty="0">
                <a:solidFill>
                  <a:srgbClr val="008000"/>
                </a:solidFill>
                <a:latin typeface="Times New Roman" pitchFamily="18" charset="0"/>
                <a:cs typeface="Times New Roman" pitchFamily="18" charset="0"/>
              </a:rPr>
              <a:t>  transportation</a:t>
            </a:r>
          </a:p>
          <a:p>
            <a:pPr lvl="2">
              <a:buFont typeface="Wingdings" pitchFamily="2" charset="2"/>
              <a:buChar char="ü"/>
            </a:pPr>
            <a:r>
              <a:rPr lang="en-US" sz="2200" dirty="0">
                <a:solidFill>
                  <a:srgbClr val="008000"/>
                </a:solidFill>
                <a:latin typeface="Times New Roman" pitchFamily="18" charset="0"/>
                <a:cs typeface="Times New Roman" pitchFamily="18" charset="0"/>
              </a:rPr>
              <a:t>  house hold energy</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4.11.3 How to lower (control) carbon footprint (or) 15 ways to reduce your carbon footprint</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Lowering individual carbon footprint from 16 tons to 2 tons does not happen over night.</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But, by making small changes in our action we can reduce carbon footprint.</a:t>
            </a:r>
          </a:p>
        </p:txBody>
      </p:sp>
    </p:spTree>
  </p:cSld>
  <p:clrMapOvr>
    <a:masterClrMapping/>
  </p:clrMapOvr>
  <p:transition spd="slow">
    <p:newsfla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6962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Once you understand where your emission comes from, you can take steps to reduce your impact.</a:t>
            </a:r>
          </a:p>
          <a:p>
            <a:endParaRPr lang="en-US" sz="2200" dirty="0">
              <a:latin typeface="Times New Roman" pitchFamily="18" charset="0"/>
              <a:cs typeface="Times New Roman" pitchFamily="18" charset="0"/>
            </a:endParaRPr>
          </a:p>
          <a:p>
            <a:pPr marL="1257300" lvl="2" indent="-342900">
              <a:buFont typeface="Wingdings" pitchFamily="2" charset="2"/>
              <a:buChar char="ü"/>
            </a:pPr>
            <a:r>
              <a:rPr lang="en-US" sz="2200" dirty="0">
                <a:solidFill>
                  <a:srgbClr val="008000"/>
                </a:solidFill>
                <a:latin typeface="Times New Roman" pitchFamily="18" charset="0"/>
                <a:cs typeface="Times New Roman" pitchFamily="18" charset="0"/>
              </a:rPr>
              <a:t>Calculate your carbon footprint.</a:t>
            </a:r>
          </a:p>
          <a:p>
            <a:pPr marL="1257300" lvl="2" indent="-342900">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Drive less.</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Switch to an electric (or) hybrid car.</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Travel smart.</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Switch to renewable energy.</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Consider solar panels.</a:t>
            </a:r>
          </a:p>
          <a:p>
            <a:pPr lvl="2">
              <a:buFont typeface="Wingdings" pitchFamily="2" charset="2"/>
              <a:buChar char="ü"/>
            </a:pPr>
            <a:endParaRPr lang="en-US" sz="2200" dirty="0">
              <a:solidFill>
                <a:srgbClr val="008000"/>
              </a:solidFill>
              <a:latin typeface="Times New Roman" pitchFamily="18" charset="0"/>
              <a:cs typeface="Times New Roman" pitchFamily="18" charset="0"/>
            </a:endParaRPr>
          </a:p>
          <a:p>
            <a:pPr lvl="2">
              <a:buFont typeface="Wingdings" pitchFamily="2" charset="2"/>
              <a:buChar char="ü"/>
            </a:pPr>
            <a:r>
              <a:rPr lang="en-US" sz="2200" dirty="0">
                <a:solidFill>
                  <a:srgbClr val="008000"/>
                </a:solidFill>
                <a:latin typeface="Times New Roman" pitchFamily="18" charset="0"/>
                <a:cs typeface="Times New Roman" pitchFamily="18" charset="0"/>
              </a:rPr>
              <a:t>  Make your home more efficient.</a:t>
            </a:r>
          </a:p>
          <a:p>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848600" cy="5509200"/>
          </a:xfrm>
          <a:prstGeom prst="rect">
            <a:avLst/>
          </a:prstGeom>
        </p:spPr>
        <p:txBody>
          <a:bodyPr wrap="square">
            <a:spAutoFit/>
          </a:bodyPr>
          <a:lstStyle/>
          <a:p>
            <a:pPr lvl="1">
              <a:buFont typeface="Wingdings" pitchFamily="2" charset="2"/>
              <a:buChar char="ü"/>
            </a:pPr>
            <a:r>
              <a:rPr lang="en-US" sz="2200" dirty="0">
                <a:solidFill>
                  <a:srgbClr val="008000"/>
                </a:solidFill>
                <a:latin typeface="Times New Roman" pitchFamily="18" charset="0"/>
                <a:cs typeface="Times New Roman" pitchFamily="18" charset="0"/>
              </a:rPr>
              <a:t>  Turn your thermostat just 2 degrees cooler in winter and 2 degrees warmer in summer.</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Get energy efficient appliances.</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Unplug electrical devices when not in use.</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Buy locally - sourced food.</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Start a home garden.</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Eat less meat.</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Don’t waste water.</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Reduce, reuse and recycle.</a:t>
            </a:r>
          </a:p>
        </p:txBody>
      </p:sp>
    </p:spTree>
  </p:cSld>
  <p:clrMapOvr>
    <a:masterClrMapping/>
  </p:clrMapOvr>
  <p:transition spd="slow">
    <p:newsfla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696200" cy="5509200"/>
          </a:xfrm>
          <a:prstGeom prst="rect">
            <a:avLst/>
          </a:prstGeom>
        </p:spPr>
        <p:txBody>
          <a:bodyPr wrap="square">
            <a:spAutoFit/>
          </a:bodyPr>
          <a:lstStyle/>
          <a:p>
            <a:r>
              <a:rPr lang="en-US" sz="2200" b="1" i="1" dirty="0">
                <a:solidFill>
                  <a:srgbClr val="D60093"/>
                </a:solidFill>
                <a:latin typeface="Times New Roman" pitchFamily="18" charset="0"/>
                <a:cs typeface="Times New Roman" pitchFamily="18" charset="0"/>
              </a:rPr>
              <a:t>4.12 ENVIRONMENTAL MANAGEMENT</a:t>
            </a:r>
          </a:p>
          <a:p>
            <a:endParaRPr lang="en-US" sz="2200" b="1" i="1" dirty="0">
              <a:latin typeface="Times New Roman" pitchFamily="18" charset="0"/>
              <a:cs typeface="Times New Roman" pitchFamily="18" charset="0"/>
            </a:endParaRPr>
          </a:p>
          <a:p>
            <a:r>
              <a:rPr lang="en-US" sz="2200" b="1" i="1" dirty="0">
                <a:solidFill>
                  <a:srgbClr val="008000"/>
                </a:solidFill>
                <a:latin typeface="Times New Roman" pitchFamily="18" charset="0"/>
                <a:cs typeface="Times New Roman" pitchFamily="18" charset="0"/>
              </a:rPr>
              <a:t>Environmental management is a set of practices and processes that enable any organization, whether private (or) public, to reduce its environmental impacts and increasing its operating efficiency.</a:t>
            </a:r>
          </a:p>
          <a:p>
            <a:endParaRPr lang="en-US" sz="2200" b="1" i="1"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4.12.1 Objective (or) Aim of EM</a:t>
            </a:r>
          </a:p>
          <a:p>
            <a:pPr marL="342900" indent="-342900">
              <a:buFont typeface="Wingdings" pitchFamily="2" charset="2"/>
              <a:buChar char="v"/>
            </a:pPr>
            <a:r>
              <a:rPr lang="en-US" sz="2200" dirty="0">
                <a:solidFill>
                  <a:srgbClr val="FF0000"/>
                </a:solidFill>
                <a:latin typeface="Times New Roman" pitchFamily="18" charset="0"/>
                <a:cs typeface="Times New Roman" pitchFamily="18" charset="0"/>
              </a:rPr>
              <a:t>To mitigate adverse impacts on various environmental components, which have been identified during the rapid environmental impact assessment study.</a:t>
            </a:r>
          </a:p>
          <a:p>
            <a:pPr marL="342900" indent="-34290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protect environmental resources.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enhance the value of environmental components where possible.</a:t>
            </a:r>
          </a:p>
        </p:txBody>
      </p:sp>
    </p:spTree>
  </p:cSld>
  <p:clrMapOvr>
    <a:masterClrMapping/>
  </p:clrMapOvr>
  <p:transition spd="slow">
    <p:newsfla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143000"/>
            <a:ext cx="7620000" cy="4832092"/>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To monitoring plan to enable evaluation of the success (or) failure of environmental management measures.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carry out reorientation of the plan if found necessary.</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implement the protective and enhancement measures by adopting suitable planning and design criteria for construction of the project.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improve the quality of human life.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prevent and solve environmental problems.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establish limits and standards.</a:t>
            </a:r>
          </a:p>
        </p:txBody>
      </p:sp>
    </p:spTree>
  </p:cSld>
  <p:clrMapOvr>
    <a:masterClrMapping/>
  </p:clrMapOvr>
  <p:transition spd="slow">
    <p:newsfla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19200"/>
            <a:ext cx="7696200" cy="4154984"/>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To warn against threats and identify opportunities.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develop strategy for improving quality of life.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identify new eco-friendly technologies for sustainable development.</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protect the environment from the effects of manufacturing byproducts.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To protect your business from non compliance fines and penalties.</a:t>
            </a:r>
          </a:p>
        </p:txBody>
      </p:sp>
    </p:spTree>
  </p:cSld>
  <p:clrMapOvr>
    <a:masterClrMapping/>
  </p:clrMapOvr>
  <p:transition spd="slow">
    <p:newsfla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848600" cy="5509200"/>
          </a:xfrm>
          <a:prstGeom prst="rect">
            <a:avLst/>
          </a:prstGeom>
        </p:spPr>
        <p:txBody>
          <a:bodyPr wrap="square">
            <a:spAutoFit/>
          </a:bodyPr>
          <a:lstStyle/>
          <a:p>
            <a:r>
              <a:rPr lang="en-US" sz="2200" b="1" i="1" dirty="0">
                <a:solidFill>
                  <a:srgbClr val="996600"/>
                </a:solidFill>
                <a:latin typeface="Times New Roman" pitchFamily="18" charset="0"/>
                <a:cs typeface="Times New Roman" pitchFamily="18" charset="0"/>
              </a:rPr>
              <a:t>4.12.2 Principles of environmental management</a:t>
            </a:r>
          </a:p>
          <a:p>
            <a:pPr>
              <a:buFont typeface="Wingdings" pitchFamily="2" charset="2"/>
              <a:buChar char="Ø"/>
            </a:pPr>
            <a:r>
              <a:rPr lang="en-US" sz="2200" dirty="0">
                <a:solidFill>
                  <a:srgbClr val="FF0000"/>
                </a:solidFill>
                <a:latin typeface="Times New Roman" pitchFamily="18" charset="0"/>
                <a:cs typeface="Times New Roman" pitchFamily="18" charset="0"/>
              </a:rPr>
              <a:t>  There are 7 basic principles, which are some guiding principles of environmental management. </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These principles are helpful in environmental decision making.</a:t>
            </a:r>
          </a:p>
          <a:p>
            <a:endParaRPr lang="en-US" sz="2200" dirty="0">
              <a:latin typeface="Times New Roman" pitchFamily="18" charset="0"/>
              <a:cs typeface="Times New Roman" pitchFamily="18" charset="0"/>
            </a:endParaRPr>
          </a:p>
          <a:p>
            <a:r>
              <a:rPr lang="fr-FR" sz="2200" b="1" dirty="0">
                <a:solidFill>
                  <a:srgbClr val="000099"/>
                </a:solidFill>
                <a:latin typeface="Times New Roman" pitchFamily="18" charset="0"/>
                <a:cs typeface="Times New Roman" pitchFamily="18" charset="0"/>
              </a:rPr>
              <a:t>1. </a:t>
            </a:r>
            <a:r>
              <a:rPr lang="fr-FR" sz="2200" b="1" dirty="0" err="1">
                <a:solidFill>
                  <a:srgbClr val="000099"/>
                </a:solidFill>
                <a:latin typeface="Times New Roman" pitchFamily="18" charset="0"/>
                <a:cs typeface="Times New Roman" pitchFamily="18" charset="0"/>
              </a:rPr>
              <a:t>Polluter</a:t>
            </a:r>
            <a:r>
              <a:rPr lang="fr-FR" sz="2200" b="1" dirty="0">
                <a:solidFill>
                  <a:srgbClr val="000099"/>
                </a:solidFill>
                <a:latin typeface="Times New Roman" pitchFamily="18" charset="0"/>
                <a:cs typeface="Times New Roman" pitchFamily="18" charset="0"/>
              </a:rPr>
              <a:t> pays </a:t>
            </a:r>
            <a:r>
              <a:rPr lang="fr-FR" sz="2200" b="1" dirty="0" err="1">
                <a:solidFill>
                  <a:srgbClr val="000099"/>
                </a:solidFill>
                <a:latin typeface="Times New Roman" pitchFamily="18" charset="0"/>
                <a:cs typeface="Times New Roman" pitchFamily="18" charset="0"/>
              </a:rPr>
              <a:t>principle</a:t>
            </a:r>
            <a:r>
              <a:rPr lang="fr-FR" sz="2200" b="1" dirty="0">
                <a:solidFill>
                  <a:srgbClr val="000099"/>
                </a:solidFill>
                <a:latin typeface="Times New Roman" pitchFamily="18" charset="0"/>
                <a:cs typeface="Times New Roman" pitchFamily="18" charset="0"/>
              </a:rPr>
              <a:t> (PPP)</a:t>
            </a:r>
          </a:p>
          <a:p>
            <a:pPr>
              <a:buFont typeface="Wingdings" pitchFamily="2" charset="2"/>
              <a:buChar char="Ø"/>
            </a:pPr>
            <a:r>
              <a:rPr lang="en-US" sz="2200" dirty="0">
                <a:solidFill>
                  <a:srgbClr val="FF0000"/>
                </a:solidFill>
                <a:latin typeface="Times New Roman" pitchFamily="18" charset="0"/>
                <a:cs typeface="Times New Roman" pitchFamily="18" charset="0"/>
              </a:rPr>
              <a:t>  It states that firms discharge polluting effluent to the environment. </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If measures are adopted to reduce pollution, the cost should be paid by the polluters (firms).</a:t>
            </a:r>
          </a:p>
          <a:p>
            <a:endParaRPr lang="en-US" sz="2200" dirty="0">
              <a:solidFill>
                <a:srgbClr val="000099"/>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2. The user pays principle (UPP)</a:t>
            </a:r>
          </a:p>
          <a:p>
            <a:pPr>
              <a:buFont typeface="Wingdings" pitchFamily="2" charset="2"/>
              <a:buChar char="Ø"/>
            </a:pPr>
            <a:r>
              <a:rPr lang="en-US" sz="2200" dirty="0">
                <a:solidFill>
                  <a:srgbClr val="FF0000"/>
                </a:solidFill>
                <a:latin typeface="Times New Roman" pitchFamily="18" charset="0"/>
                <a:cs typeface="Times New Roman" pitchFamily="18" charset="0"/>
              </a:rPr>
              <a:t>  It states that all resource users should pay the cost of the use of a resource and related services.</a:t>
            </a:r>
          </a:p>
        </p:txBody>
      </p:sp>
    </p:spTree>
  </p:cSld>
  <p:clrMapOvr>
    <a:masterClrMapping/>
  </p:clrMapOvr>
  <p:transition spd="slow">
    <p:newsfla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7543800" cy="4832092"/>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3. The precautionary principle (PP)</a:t>
            </a:r>
          </a:p>
          <a:p>
            <a:pPr>
              <a:buFont typeface="Wingdings" pitchFamily="2" charset="2"/>
              <a:buChar char="Ø"/>
            </a:pPr>
            <a:r>
              <a:rPr lang="en-US" sz="2200" dirty="0">
                <a:solidFill>
                  <a:srgbClr val="FF0000"/>
                </a:solidFill>
                <a:latin typeface="Times New Roman" pitchFamily="18" charset="0"/>
                <a:cs typeface="Times New Roman" pitchFamily="18" charset="0"/>
              </a:rPr>
              <a:t>  It states that a substance (or) activity, posing a threat to the environment, is prevented from adversely affecting the environment.</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4. Principle of effectiveness and efficiency</a:t>
            </a:r>
          </a:p>
          <a:p>
            <a:pPr>
              <a:buFont typeface="Wingdings" pitchFamily="2" charset="2"/>
              <a:buChar char="Ø"/>
            </a:pPr>
            <a:r>
              <a:rPr lang="en-US" sz="2200" dirty="0">
                <a:solidFill>
                  <a:srgbClr val="FF0000"/>
                </a:solidFill>
                <a:latin typeface="Times New Roman" pitchFamily="18" charset="0"/>
                <a:cs typeface="Times New Roman" pitchFamily="18" charset="0"/>
              </a:rPr>
              <a:t>  The efficiency of resource use may be accomplished by the use of policy instruments that create incentive to minimize wasteful use.</a:t>
            </a:r>
          </a:p>
          <a:p>
            <a:endParaRPr lang="en-US" sz="2200" dirty="0">
              <a:solidFill>
                <a:srgbClr val="000099"/>
              </a:solidFill>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5. The principle of responsibility</a:t>
            </a:r>
          </a:p>
          <a:p>
            <a:pPr>
              <a:buFont typeface="Wingdings" pitchFamily="2" charset="2"/>
              <a:buChar char="Ø"/>
            </a:pPr>
            <a:r>
              <a:rPr lang="en-US" sz="2200" dirty="0">
                <a:solidFill>
                  <a:srgbClr val="FF0000"/>
                </a:solidFill>
                <a:latin typeface="Times New Roman" pitchFamily="18" charset="0"/>
                <a:cs typeface="Times New Roman" pitchFamily="18" charset="0"/>
              </a:rPr>
              <a:t>  It is the responsibility of all persons, to use the environmental resources in an ecological sustainable, economically efficient and socially fair manner.</a:t>
            </a:r>
          </a:p>
        </p:txBody>
      </p:sp>
    </p:spTree>
  </p:cSld>
  <p:clrMapOvr>
    <a:masterClrMapping/>
  </p:clrMapOvr>
  <p:transition spd="slow">
    <p:newsfla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0"/>
            <a:ext cx="8077200" cy="4154984"/>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6. The principle of participation</a:t>
            </a:r>
          </a:p>
          <a:p>
            <a:pPr>
              <a:buFont typeface="Wingdings" pitchFamily="2" charset="2"/>
              <a:buChar char="Ø"/>
            </a:pPr>
            <a:r>
              <a:rPr lang="en-US" sz="2200" dirty="0">
                <a:solidFill>
                  <a:srgbClr val="FF0000"/>
                </a:solidFill>
                <a:latin typeface="Times New Roman" pitchFamily="18" charset="0"/>
                <a:cs typeface="Times New Roman" pitchFamily="18" charset="0"/>
              </a:rPr>
              <a:t>  It is the duty of all the persons to participate in collectively environmental decision making activities.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7. The principle of proportionality</a:t>
            </a:r>
          </a:p>
          <a:p>
            <a:pPr>
              <a:buFont typeface="Wingdings" pitchFamily="2" charset="2"/>
              <a:buChar char="Ø"/>
            </a:pPr>
            <a:r>
              <a:rPr lang="en-US" sz="2200" dirty="0">
                <a:solidFill>
                  <a:srgbClr val="FF0000"/>
                </a:solidFill>
                <a:latin typeface="Times New Roman" pitchFamily="18" charset="0"/>
                <a:cs typeface="Times New Roman" pitchFamily="18" charset="0"/>
              </a:rPr>
              <a:t>  It is based on the concept of balance. A balance is to maintain between the economic development on the one hand and environmental protection on the other hand.</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4.12.3 Steps involved in environmental management</a:t>
            </a:r>
          </a:p>
          <a:p>
            <a:endParaRPr lang="en-US" sz="2200" b="1" i="1" dirty="0">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The following 5 steps are involved in environmental management.</a:t>
            </a:r>
          </a:p>
        </p:txBody>
      </p:sp>
    </p:spTree>
  </p:cSld>
  <p:clrMapOvr>
    <a:masterClrMapping/>
  </p:clrMapOvr>
  <p:transition spd="slow">
    <p:newsfla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User\AppData\Local\Temp\ksohtml\wps245A.tmp.png"/>
          <p:cNvPicPr>
            <a:picLocks noChangeAspect="1" noChangeArrowheads="1"/>
          </p:cNvPicPr>
          <p:nvPr/>
        </p:nvPicPr>
        <p:blipFill>
          <a:blip r:embed="rId2">
            <a:duotone>
              <a:prstClr val="black"/>
              <a:schemeClr val="accent4">
                <a:tint val="45000"/>
                <a:satMod val="400000"/>
              </a:schemeClr>
            </a:duotone>
          </a:blip>
          <a:srcRect/>
          <a:stretch>
            <a:fillRect/>
          </a:stretch>
        </p:blipFill>
        <p:spPr bwMode="auto">
          <a:xfrm>
            <a:off x="1676400" y="1752600"/>
            <a:ext cx="4876800" cy="3886200"/>
          </a:xfrm>
          <a:prstGeom prst="rect">
            <a:avLst/>
          </a:prstGeom>
          <a:noFill/>
        </p:spPr>
      </p:pic>
      <p:sp>
        <p:nvSpPr>
          <p:cNvPr id="3" name="Rectangle 2"/>
          <p:cNvSpPr/>
          <p:nvPr/>
        </p:nvSpPr>
        <p:spPr>
          <a:xfrm>
            <a:off x="2286000" y="5867400"/>
            <a:ext cx="4201984" cy="400110"/>
          </a:xfrm>
          <a:prstGeom prst="rect">
            <a:avLst/>
          </a:prstGeom>
        </p:spPr>
        <p:txBody>
          <a:bodyPr wrap="none">
            <a:spAutoFit/>
          </a:bodyPr>
          <a:lstStyle/>
          <a:p>
            <a:r>
              <a:rPr lang="en-US" sz="2000" b="1" dirty="0">
                <a:latin typeface="Times New Roman" pitchFamily="18" charset="0"/>
                <a:cs typeface="Times New Roman" pitchFamily="18" charset="0"/>
              </a:rPr>
              <a:t>Fig. 4.4 Environmental Management</a:t>
            </a:r>
            <a:endParaRPr lang="en-US" sz="2000" dirty="0">
              <a:latin typeface="Times New Roman" pitchFamily="18" charset="0"/>
              <a:cs typeface="Times New Roman" pitchFamily="18" charset="0"/>
            </a:endParaRPr>
          </a:p>
        </p:txBody>
      </p:sp>
      <p:sp>
        <p:nvSpPr>
          <p:cNvPr id="4" name="Rectangle 3"/>
          <p:cNvSpPr/>
          <p:nvPr/>
        </p:nvSpPr>
        <p:spPr>
          <a:xfrm>
            <a:off x="762000" y="990600"/>
            <a:ext cx="1572866" cy="430887"/>
          </a:xfrm>
          <a:prstGeom prst="rect">
            <a:avLst/>
          </a:prstGeom>
        </p:spPr>
        <p:txBody>
          <a:bodyPr wrap="none">
            <a:spAutoFit/>
          </a:bodyPr>
          <a:lstStyle/>
          <a:p>
            <a:r>
              <a:rPr lang="en-US" sz="2200" b="1" dirty="0">
                <a:latin typeface="Times New Roman" pitchFamily="18" charset="0"/>
                <a:cs typeface="Times New Roman" pitchFamily="18" charset="0"/>
              </a:rPr>
              <a:t>Flow Chart</a:t>
            </a:r>
            <a:endParaRPr lang="en-US" sz="2200" dirty="0">
              <a:latin typeface="Times New Roman" pitchFamily="18" charset="0"/>
              <a:cs typeface="Times New Roman" pitchFamily="18" charset="0"/>
            </a:endParaRPr>
          </a:p>
        </p:txBody>
      </p:sp>
    </p:spTree>
  </p:cSld>
  <p:clrMapOvr>
    <a:masterClrMapping/>
  </p:clrMapOvr>
  <p:transition spd="slow">
    <p:newsfla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001000" cy="5509200"/>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Step 1: </a:t>
            </a:r>
            <a:r>
              <a:rPr lang="en-US" sz="2200" b="1" dirty="0">
                <a:solidFill>
                  <a:srgbClr val="008000"/>
                </a:solidFill>
                <a:latin typeface="Times New Roman" pitchFamily="18" charset="0"/>
                <a:cs typeface="Times New Roman" pitchFamily="18" charset="0"/>
              </a:rPr>
              <a:t>Environmental policy</a:t>
            </a:r>
          </a:p>
          <a:p>
            <a:pPr>
              <a:buFont typeface="Wingdings" pitchFamily="2" charset="2"/>
              <a:buChar char="q"/>
            </a:pPr>
            <a:r>
              <a:rPr lang="en-US" sz="2200" dirty="0">
                <a:solidFill>
                  <a:srgbClr val="FF0000"/>
                </a:solidFill>
                <a:latin typeface="Times New Roman" pitchFamily="18" charset="0"/>
                <a:cs typeface="Times New Roman" pitchFamily="18" charset="0"/>
              </a:rPr>
              <a:t>  It is the mission of an organization, which starts with establishing an environmental policy.</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Step 2: </a:t>
            </a:r>
            <a:r>
              <a:rPr lang="en-US" sz="2200" b="1" dirty="0">
                <a:solidFill>
                  <a:srgbClr val="008000"/>
                </a:solidFill>
                <a:latin typeface="Times New Roman" pitchFamily="18" charset="0"/>
                <a:cs typeface="Times New Roman" pitchFamily="18" charset="0"/>
              </a:rPr>
              <a:t>Planning</a:t>
            </a:r>
          </a:p>
          <a:p>
            <a:pPr>
              <a:buFont typeface="Wingdings" pitchFamily="2" charset="2"/>
              <a:buChar char="q"/>
            </a:pPr>
            <a:r>
              <a:rPr lang="en-US" sz="2200" dirty="0">
                <a:solidFill>
                  <a:srgbClr val="FF0000"/>
                </a:solidFill>
                <a:latin typeface="Times New Roman" pitchFamily="18" charset="0"/>
                <a:cs typeface="Times New Roman" pitchFamily="18" charset="0"/>
              </a:rPr>
              <a:t>  It involves identifying the resources, processes, significant impacts and pollution prevention opportunities.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also includes objectives and targets for improvement efforts.</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Step 3</a:t>
            </a:r>
            <a:r>
              <a:rPr lang="en-US" sz="2200" b="1" dirty="0">
                <a:solidFill>
                  <a:srgbClr val="008000"/>
                </a:solidFill>
                <a:latin typeface="Times New Roman" pitchFamily="18" charset="0"/>
                <a:cs typeface="Times New Roman" pitchFamily="18" charset="0"/>
              </a:rPr>
              <a:t>: Implementation</a:t>
            </a:r>
          </a:p>
          <a:p>
            <a:pPr>
              <a:buFont typeface="Wingdings" pitchFamily="2" charset="2"/>
              <a:buChar char="q"/>
            </a:pPr>
            <a:r>
              <a:rPr lang="en-US" sz="2200" dirty="0">
                <a:solidFill>
                  <a:srgbClr val="FF0000"/>
                </a:solidFill>
                <a:latin typeface="Times New Roman" pitchFamily="18" charset="0"/>
                <a:cs typeface="Times New Roman" pitchFamily="18" charset="0"/>
              </a:rPr>
              <a:t> This step consists of defining the structure, responsibilities and programs.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 also develops and implements standard operating procedures and training.</a:t>
            </a:r>
          </a:p>
        </p:txBody>
      </p:sp>
    </p:spTree>
  </p:cSld>
  <p:clrMapOvr>
    <a:masterClrMapping/>
  </p:clrMapOvr>
  <p:transition spd="slow">
    <p:newsfla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010245"/>
            <a:ext cx="7848600" cy="5847755"/>
          </a:xfrm>
          <a:prstGeom prst="rect">
            <a:avLst/>
          </a:prstGeom>
        </p:spPr>
        <p:txBody>
          <a:bodyPr wrap="square">
            <a:spAutoFit/>
          </a:bodyPr>
          <a:lstStyle/>
          <a:p>
            <a:r>
              <a:rPr lang="en-US" sz="2200" b="1" dirty="0">
                <a:solidFill>
                  <a:srgbClr val="000099"/>
                </a:solidFill>
                <a:latin typeface="Times New Roman" pitchFamily="18" charset="0"/>
                <a:cs typeface="Times New Roman" pitchFamily="18" charset="0"/>
              </a:rPr>
              <a:t>Step 4: </a:t>
            </a:r>
            <a:r>
              <a:rPr lang="en-US" sz="2200" b="1" dirty="0">
                <a:solidFill>
                  <a:srgbClr val="008000"/>
                </a:solidFill>
                <a:latin typeface="Times New Roman" pitchFamily="18" charset="0"/>
                <a:cs typeface="Times New Roman" pitchFamily="18" charset="0"/>
              </a:rPr>
              <a:t>Checking and correction</a:t>
            </a:r>
          </a:p>
          <a:p>
            <a:pPr>
              <a:buFont typeface="Wingdings" pitchFamily="2" charset="2"/>
              <a:buChar char="q"/>
            </a:pPr>
            <a:r>
              <a:rPr lang="en-US" sz="2200" dirty="0">
                <a:solidFill>
                  <a:srgbClr val="FF0000"/>
                </a:solidFill>
                <a:latin typeface="Times New Roman" pitchFamily="18" charset="0"/>
                <a:cs typeface="Times New Roman" pitchFamily="18" charset="0"/>
              </a:rPr>
              <a:t>  It includes monitoring and measuring problems identification and corrective and preventive action implementation.</a:t>
            </a:r>
          </a:p>
          <a:p>
            <a:endParaRPr lang="en-US" sz="2200" dirty="0">
              <a:latin typeface="Times New Roman" pitchFamily="18" charset="0"/>
              <a:cs typeface="Times New Roman" pitchFamily="18" charset="0"/>
            </a:endParaRPr>
          </a:p>
          <a:p>
            <a:r>
              <a:rPr lang="en-US" sz="2200" b="1" dirty="0">
                <a:solidFill>
                  <a:srgbClr val="000099"/>
                </a:solidFill>
                <a:latin typeface="Times New Roman" pitchFamily="18" charset="0"/>
                <a:cs typeface="Times New Roman" pitchFamily="18" charset="0"/>
              </a:rPr>
              <a:t>Step 5: </a:t>
            </a:r>
            <a:r>
              <a:rPr lang="en-US" sz="2200" b="1" dirty="0">
                <a:solidFill>
                  <a:srgbClr val="008000"/>
                </a:solidFill>
                <a:latin typeface="Times New Roman" pitchFamily="18" charset="0"/>
                <a:cs typeface="Times New Roman" pitchFamily="18" charset="0"/>
              </a:rPr>
              <a:t>Management review</a:t>
            </a:r>
          </a:p>
          <a:p>
            <a:pPr>
              <a:buFont typeface="Wingdings" pitchFamily="2" charset="2"/>
              <a:buChar char="q"/>
            </a:pPr>
            <a:r>
              <a:rPr lang="en-US" sz="2200" dirty="0">
                <a:solidFill>
                  <a:srgbClr val="FF0000"/>
                </a:solidFill>
                <a:latin typeface="Times New Roman" pitchFamily="18" charset="0"/>
                <a:cs typeface="Times New Roman" pitchFamily="18" charset="0"/>
              </a:rPr>
              <a:t>  It involves modification of environmental management system to ensure solutions on compliance.</a:t>
            </a:r>
          </a:p>
          <a:p>
            <a:pPr>
              <a:buFont typeface="Wingdings" pitchFamily="2" charset="2"/>
              <a:buChar char="q"/>
            </a:pPr>
            <a:r>
              <a:rPr lang="en-US" sz="2200" dirty="0">
                <a:solidFill>
                  <a:srgbClr val="FF0000"/>
                </a:solidFill>
                <a:latin typeface="Times New Roman" pitchFamily="18" charset="0"/>
                <a:cs typeface="Times New Roman" pitchFamily="18" charset="0"/>
              </a:rPr>
              <a:t>  Based on the result of checking and correction, management must take corrective actions.</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4.12.4 Characteristics of environmental management</a:t>
            </a:r>
          </a:p>
          <a:p>
            <a:pPr marL="800100" lvl="1" indent="-342900">
              <a:buFont typeface="Wingdings" pitchFamily="2" charset="2"/>
              <a:buChar char="ü"/>
            </a:pPr>
            <a:r>
              <a:rPr lang="fr-FR" sz="2200" dirty="0" err="1">
                <a:solidFill>
                  <a:srgbClr val="008000"/>
                </a:solidFill>
                <a:latin typeface="Times New Roman" pitchFamily="18" charset="0"/>
                <a:cs typeface="Times New Roman" pitchFamily="18" charset="0"/>
              </a:rPr>
              <a:t>Environmental</a:t>
            </a:r>
            <a:r>
              <a:rPr lang="fr-FR" sz="2200" dirty="0">
                <a:solidFill>
                  <a:srgbClr val="008000"/>
                </a:solidFill>
                <a:latin typeface="Times New Roman" pitchFamily="18" charset="0"/>
                <a:cs typeface="Times New Roman" pitchFamily="18" charset="0"/>
              </a:rPr>
              <a:t> management supports </a:t>
            </a:r>
            <a:r>
              <a:rPr lang="fr-FR" sz="2200" dirty="0" err="1">
                <a:solidFill>
                  <a:srgbClr val="008000"/>
                </a:solidFill>
                <a:latin typeface="Times New Roman" pitchFamily="18" charset="0"/>
                <a:cs typeface="Times New Roman" pitchFamily="18" charset="0"/>
              </a:rPr>
              <a:t>sustainable</a:t>
            </a:r>
            <a:r>
              <a:rPr lang="fr-FR" sz="2200" dirty="0">
                <a:solidFill>
                  <a:srgbClr val="008000"/>
                </a:solidFill>
                <a:latin typeface="Times New Roman" pitchFamily="18" charset="0"/>
                <a:cs typeface="Times New Roman" pitchFamily="18" charset="0"/>
              </a:rPr>
              <a:t> </a:t>
            </a:r>
            <a:r>
              <a:rPr lang="en-US" sz="2200" dirty="0">
                <a:solidFill>
                  <a:srgbClr val="008000"/>
                </a:solidFill>
                <a:latin typeface="Times New Roman" pitchFamily="18" charset="0"/>
                <a:cs typeface="Times New Roman" pitchFamily="18" charset="0"/>
              </a:rPr>
              <a:t>development.</a:t>
            </a:r>
          </a:p>
          <a:p>
            <a:pPr marL="800100" lvl="1" indent="-342900">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It demands the multidisciplinary approach.</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It has to integrate different development view points.</a:t>
            </a:r>
          </a:p>
        </p:txBody>
      </p:sp>
    </p:spTree>
  </p:cSld>
  <p:clrMapOvr>
    <a:masterClrMapping/>
  </p:clrMapOvr>
  <p:transition spd="slow">
    <p:newsfla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7620000" cy="5847755"/>
          </a:xfrm>
          <a:prstGeom prst="rect">
            <a:avLst/>
          </a:prstGeom>
        </p:spPr>
        <p:txBody>
          <a:bodyPr wrap="square">
            <a:spAutoFit/>
          </a:bodyPr>
          <a:lstStyle/>
          <a:p>
            <a:pPr lvl="1">
              <a:buFont typeface="Wingdings" pitchFamily="2" charset="2"/>
              <a:buChar char="ü"/>
            </a:pPr>
            <a:r>
              <a:rPr lang="en-US" sz="2200" dirty="0">
                <a:solidFill>
                  <a:srgbClr val="008000"/>
                </a:solidFill>
                <a:latin typeface="Times New Roman" pitchFamily="18" charset="0"/>
                <a:cs typeface="Times New Roman" pitchFamily="18" charset="0"/>
              </a:rPr>
              <a:t>  It seeks to integrate natural and social science.</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It can extend from short-term to long-term and from local to global level.</a:t>
            </a:r>
          </a:p>
          <a:p>
            <a:pPr lvl="1">
              <a:buFont typeface="Wingdings" pitchFamily="2" charset="2"/>
              <a:buChar char="ü"/>
            </a:pPr>
            <a:endParaRPr lang="en-US" sz="2200" dirty="0">
              <a:solidFill>
                <a:srgbClr val="008000"/>
              </a:solidFill>
              <a:latin typeface="Times New Roman" pitchFamily="18" charset="0"/>
              <a:cs typeface="Times New Roman" pitchFamily="18" charset="0"/>
            </a:endParaRPr>
          </a:p>
          <a:p>
            <a:pPr lvl="1">
              <a:buFont typeface="Wingdings" pitchFamily="2" charset="2"/>
              <a:buChar char="ü"/>
            </a:pPr>
            <a:r>
              <a:rPr lang="en-US" sz="2200" dirty="0">
                <a:solidFill>
                  <a:srgbClr val="008000"/>
                </a:solidFill>
                <a:latin typeface="Times New Roman" pitchFamily="18" charset="0"/>
                <a:cs typeface="Times New Roman" pitchFamily="18" charset="0"/>
              </a:rPr>
              <a:t>  It deals with a world affected by humans.</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4.12.5 Benefits of Environmental Management</a:t>
            </a:r>
          </a:p>
          <a:p>
            <a:pPr marL="342900" indent="-342900">
              <a:buFont typeface="Wingdings" pitchFamily="2" charset="2"/>
              <a:buChar char="v"/>
            </a:pPr>
            <a:r>
              <a:rPr lang="en-US" sz="2200" dirty="0">
                <a:solidFill>
                  <a:srgbClr val="FF0000"/>
                </a:solidFill>
                <a:latin typeface="Times New Roman" pitchFamily="18" charset="0"/>
                <a:cs typeface="Times New Roman" pitchFamily="18" charset="0"/>
              </a:rPr>
              <a:t>Improved environmental performance</a:t>
            </a:r>
          </a:p>
          <a:p>
            <a:pPr marL="342900" indent="-342900">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Enhanced compliance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Pollution prevention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Resource conservation</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Attracts new customers/markets</a:t>
            </a:r>
          </a:p>
        </p:txBody>
      </p:sp>
    </p:spTree>
  </p:cSld>
  <p:clrMapOvr>
    <a:masterClrMapping/>
  </p:clrMapOvr>
  <p:transition spd="slow">
    <p:newsfla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8153400" cy="5170646"/>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Increased efficiency/reduced costs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Enhanced employee morale</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Enhanced image with public, regulators, lenders and investors.</a:t>
            </a:r>
          </a:p>
          <a:p>
            <a:endParaRPr lang="en-US" sz="2200" dirty="0">
              <a:latin typeface="Times New Roman" pitchFamily="18" charset="0"/>
              <a:cs typeface="Times New Roman" pitchFamily="18" charset="0"/>
            </a:endParaRPr>
          </a:p>
          <a:p>
            <a:r>
              <a:rPr lang="en-US" sz="2200" b="1" dirty="0">
                <a:solidFill>
                  <a:srgbClr val="D60093"/>
                </a:solidFill>
                <a:latin typeface="Times New Roman" pitchFamily="18" charset="0"/>
                <a:cs typeface="Times New Roman" pitchFamily="18" charset="0"/>
              </a:rPr>
              <a:t>4.13 CASE STUDTIES</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4.13.1 Electronic waste (E-waste) Recycling, Dell company</a:t>
            </a:r>
          </a:p>
          <a:p>
            <a:pPr>
              <a:buFont typeface="Wingdings" pitchFamily="2" charset="2"/>
              <a:buChar char="q"/>
            </a:pPr>
            <a:r>
              <a:rPr lang="en-US" sz="2200" dirty="0">
                <a:solidFill>
                  <a:srgbClr val="FF0000"/>
                </a:solidFill>
                <a:latin typeface="Times New Roman" pitchFamily="18" charset="0"/>
                <a:cs typeface="Times New Roman" pitchFamily="18" charset="0"/>
              </a:rPr>
              <a:t>  Dell company, through its “legacy of good” </a:t>
            </a:r>
            <a:r>
              <a:rPr lang="en-US" sz="2200" dirty="0" err="1">
                <a:solidFill>
                  <a:srgbClr val="FF0000"/>
                </a:solidFill>
                <a:latin typeface="Times New Roman" pitchFamily="18" charset="0"/>
                <a:cs typeface="Times New Roman" pitchFamily="18" charset="0"/>
              </a:rPr>
              <a:t>programme</a:t>
            </a:r>
            <a:r>
              <a:rPr lang="en-US" sz="2200" dirty="0">
                <a:solidFill>
                  <a:srgbClr val="FF0000"/>
                </a:solidFill>
                <a:latin typeface="Times New Roman" pitchFamily="18" charset="0"/>
                <a:cs typeface="Times New Roman" pitchFamily="18" charset="0"/>
              </a:rPr>
              <a:t>, the technology giant has plan to cut waste, create more eco-friendly products. </a:t>
            </a:r>
          </a:p>
          <a:p>
            <a:pPr>
              <a:buFont typeface="Wingdings" pitchFamily="2" charset="2"/>
              <a:buChar char="q"/>
            </a:pPr>
            <a:r>
              <a:rPr lang="en-US" sz="2200" dirty="0">
                <a:solidFill>
                  <a:srgbClr val="FF0000"/>
                </a:solidFill>
                <a:latin typeface="Times New Roman" pitchFamily="18" charset="0"/>
                <a:cs typeface="Times New Roman" pitchFamily="18" charset="0"/>
              </a:rPr>
              <a:t>  It plans to use 50 m pounds of recycled plastic and other sustainable materials, create 100% recyclable (or) compostable packaging and recover 2 </a:t>
            </a:r>
            <a:r>
              <a:rPr lang="en-US" sz="2200" dirty="0" err="1">
                <a:solidFill>
                  <a:srgbClr val="FF0000"/>
                </a:solidFill>
                <a:latin typeface="Times New Roman" pitchFamily="18" charset="0"/>
                <a:cs typeface="Times New Roman" pitchFamily="18" charset="0"/>
              </a:rPr>
              <a:t>bn</a:t>
            </a:r>
            <a:r>
              <a:rPr lang="en-US" sz="2200" dirty="0">
                <a:solidFill>
                  <a:srgbClr val="FF0000"/>
                </a:solidFill>
                <a:latin typeface="Times New Roman" pitchFamily="18" charset="0"/>
                <a:cs typeface="Times New Roman" pitchFamily="18" charset="0"/>
              </a:rPr>
              <a:t> pounds of electronic waste.</a:t>
            </a:r>
          </a:p>
        </p:txBody>
      </p:sp>
    </p:spTree>
  </p:cSld>
  <p:clrMapOvr>
    <a:masterClrMapping/>
  </p:clrMapOvr>
  <p:transition spd="slow">
    <p:newsfla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295400"/>
            <a:ext cx="7772400" cy="5170646"/>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Dell sourced 4.5 m kilos of recycled plastic to make monitors and desktops.</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Dell eliminated 20 m pounds of packaging waste and generating more than 18 m in cost savings.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Its intention to reduce packaging waste, replacing non biodegradable, oil-base material with organic alternatives such as bamboo and mushrooms.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As a part of its effort to encourage others to see waste as a valuable resource. </a:t>
            </a:r>
          </a:p>
          <a:p>
            <a:pPr>
              <a:buFont typeface="Wingdings" pitchFamily="2" charset="2"/>
              <a:buChar char="q"/>
            </a:pPr>
            <a:endParaRPr lang="en-US" sz="2200" dirty="0">
              <a:solidFill>
                <a:srgbClr val="FF0000"/>
              </a:solidFill>
              <a:latin typeface="Times New Roman" pitchFamily="18" charset="0"/>
              <a:cs typeface="Times New Roman" pitchFamily="18" charset="0"/>
            </a:endParaRPr>
          </a:p>
          <a:p>
            <a:pPr>
              <a:buFont typeface="Wingdings" pitchFamily="2" charset="2"/>
              <a:buChar char="q"/>
            </a:pPr>
            <a:r>
              <a:rPr lang="en-US" sz="2200" dirty="0">
                <a:solidFill>
                  <a:srgbClr val="FF0000"/>
                </a:solidFill>
                <a:latin typeface="Times New Roman" pitchFamily="18" charset="0"/>
                <a:cs typeface="Times New Roman" pitchFamily="18" charset="0"/>
              </a:rPr>
              <a:t>  Finally, the most appropriate environmental management strategy to control environmental pollution is cleaner production.</a:t>
            </a:r>
          </a:p>
        </p:txBody>
      </p:sp>
    </p:spTree>
  </p:cSld>
  <p:clrMapOvr>
    <a:masterClrMapping/>
  </p:clrMapOvr>
  <p:transition spd="slow">
    <p:newsfla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10245"/>
            <a:ext cx="8305800" cy="5847755"/>
          </a:xfrm>
          <a:prstGeom prst="rect">
            <a:avLst/>
          </a:prstGeom>
        </p:spPr>
        <p:txBody>
          <a:bodyPr wrap="square">
            <a:spAutoFit/>
          </a:bodyPr>
          <a:lstStyle/>
          <a:p>
            <a:pPr>
              <a:buFont typeface="Wingdings" pitchFamily="2" charset="2"/>
              <a:buChar char="q"/>
            </a:pPr>
            <a:r>
              <a:rPr lang="en-US" sz="2200" dirty="0">
                <a:solidFill>
                  <a:srgbClr val="FF0000"/>
                </a:solidFill>
                <a:latin typeface="Times New Roman" pitchFamily="18" charset="0"/>
                <a:cs typeface="Times New Roman" pitchFamily="18" charset="0"/>
              </a:rPr>
              <a:t>  So, according to environmental management principles, cleaner production is a proactive approach where companies take preventive measure to reduce waste production at source.</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4.13.2 Biomedical waste management in Nepal</a:t>
            </a:r>
          </a:p>
          <a:p>
            <a:pPr>
              <a:buFont typeface="Wingdings" pitchFamily="2" charset="2"/>
              <a:buChar char="v"/>
            </a:pPr>
            <a:r>
              <a:rPr lang="en-US" sz="2200" dirty="0">
                <a:solidFill>
                  <a:srgbClr val="FF0000"/>
                </a:solidFill>
                <a:latin typeface="Times New Roman" pitchFamily="18" charset="0"/>
                <a:cs typeface="Times New Roman" pitchFamily="18" charset="0"/>
              </a:rPr>
              <a:t> Due to improper environment management techniques, Nepal has many problems with medical waste, which impact adversely the environment including human health. </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Nepal Health Resource council in collaboration with world health organization (WHO) has developed national health care waste management guidelines and training manuals for medical professionals, but it has not been functioning well. </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As a result, many hospitals use small scale incinerators (or) open burn (or) dump the waste in their premises until the garbage pickers comes and dispose in the landfill.</a:t>
            </a:r>
          </a:p>
        </p:txBody>
      </p:sp>
    </p:spTree>
  </p:cSld>
  <p:clrMapOvr>
    <a:masterClrMapping/>
  </p:clrMapOvr>
  <p:transition spd="slow">
    <p:newsfla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10245"/>
            <a:ext cx="7924800" cy="5847755"/>
          </a:xfrm>
          <a:prstGeom prst="rect">
            <a:avLst/>
          </a:prstGeom>
        </p:spPr>
        <p:txBody>
          <a:bodyPr wrap="square">
            <a:spAutoFit/>
          </a:bodyPr>
          <a:lstStyle/>
          <a:p>
            <a:pPr>
              <a:buFont typeface="Wingdings" pitchFamily="2" charset="2"/>
              <a:buChar char="v"/>
            </a:pPr>
            <a:r>
              <a:rPr lang="en-US" sz="2200" dirty="0">
                <a:solidFill>
                  <a:srgbClr val="FF0000"/>
                </a:solidFill>
                <a:latin typeface="Times New Roman" pitchFamily="18" charset="0"/>
                <a:cs typeface="Times New Roman" pitchFamily="18" charset="0"/>
              </a:rPr>
              <a:t> Incinerator facilities, if properly implemented, not only reduce final disposal of waste, but also produce electricity/heat, saving (energy) resources.</a:t>
            </a:r>
          </a:p>
          <a:p>
            <a:pPr>
              <a:buFont typeface="Wingdings" pitchFamily="2" charset="2"/>
              <a:buChar char="v"/>
            </a:pPr>
            <a:endParaRPr lang="en-US" sz="2200" dirty="0">
              <a:solidFill>
                <a:srgbClr val="FF0000"/>
              </a:solidFill>
              <a:latin typeface="Times New Roman" pitchFamily="18" charset="0"/>
              <a:cs typeface="Times New Roman" pitchFamily="18" charset="0"/>
            </a:endParaRPr>
          </a:p>
          <a:p>
            <a:pPr>
              <a:buFont typeface="Wingdings" pitchFamily="2" charset="2"/>
              <a:buChar char="v"/>
            </a:pPr>
            <a:r>
              <a:rPr lang="en-US" sz="2200" dirty="0">
                <a:solidFill>
                  <a:srgbClr val="FF0000"/>
                </a:solidFill>
                <a:latin typeface="Times New Roman" pitchFamily="18" charset="0"/>
                <a:cs typeface="Times New Roman" pitchFamily="18" charset="0"/>
              </a:rPr>
              <a:t> This situation in Nepal is much worsen because it was not properly built and there are residents who could directly be affected by emissions resulted from the smoke around the burning equipment.</a:t>
            </a:r>
          </a:p>
          <a:p>
            <a:endParaRPr lang="en-US" sz="2200" dirty="0">
              <a:latin typeface="Times New Roman" pitchFamily="18" charset="0"/>
              <a:cs typeface="Times New Roman" pitchFamily="18" charset="0"/>
            </a:endParaRPr>
          </a:p>
          <a:p>
            <a:r>
              <a:rPr lang="en-US" sz="2200" b="1" i="1" dirty="0">
                <a:solidFill>
                  <a:srgbClr val="996600"/>
                </a:solidFill>
                <a:latin typeface="Times New Roman" pitchFamily="18" charset="0"/>
                <a:cs typeface="Times New Roman" pitchFamily="18" charset="0"/>
              </a:rPr>
              <a:t>4.13.3 Municipal solid waste management in </a:t>
            </a:r>
            <a:r>
              <a:rPr lang="en-US" sz="2200" b="1" i="1" dirty="0" err="1">
                <a:solidFill>
                  <a:srgbClr val="996600"/>
                </a:solidFill>
                <a:latin typeface="Times New Roman" pitchFamily="18" charset="0"/>
                <a:cs typeface="Times New Roman" pitchFamily="18" charset="0"/>
              </a:rPr>
              <a:t>solapur</a:t>
            </a:r>
            <a:r>
              <a:rPr lang="en-US" sz="2200" b="1" i="1" dirty="0">
                <a:solidFill>
                  <a:srgbClr val="996600"/>
                </a:solidFill>
                <a:latin typeface="Times New Roman" pitchFamily="18" charset="0"/>
                <a:cs typeface="Times New Roman" pitchFamily="18" charset="0"/>
              </a:rPr>
              <a:t> city, Maharashtra, India</a:t>
            </a:r>
          </a:p>
          <a:p>
            <a:pPr>
              <a:buFont typeface="Wingdings" pitchFamily="2" charset="2"/>
              <a:buChar char="Ø"/>
            </a:pPr>
            <a:r>
              <a:rPr lang="en-US" sz="2200" dirty="0">
                <a:solidFill>
                  <a:srgbClr val="FF0000"/>
                </a:solidFill>
                <a:latin typeface="Times New Roman" pitchFamily="18" charset="0"/>
                <a:cs typeface="Times New Roman" pitchFamily="18" charset="0"/>
              </a:rPr>
              <a:t>  Total waste generated in </a:t>
            </a:r>
            <a:r>
              <a:rPr lang="en-US" sz="2200" dirty="0" err="1">
                <a:solidFill>
                  <a:srgbClr val="FF0000"/>
                </a:solidFill>
                <a:latin typeface="Times New Roman" pitchFamily="18" charset="0"/>
                <a:cs typeface="Times New Roman" pitchFamily="18" charset="0"/>
              </a:rPr>
              <a:t>solapur</a:t>
            </a:r>
            <a:r>
              <a:rPr lang="en-US" sz="2200" dirty="0">
                <a:solidFill>
                  <a:srgbClr val="FF0000"/>
                </a:solidFill>
                <a:latin typeface="Times New Roman" pitchFamily="18" charset="0"/>
                <a:cs typeface="Times New Roman" pitchFamily="18" charset="0"/>
              </a:rPr>
              <a:t> corporation area is 420 MT/day, of which 50% is biodegradable, 25% is recyclable, 15.3% is green and 9.9% is debris and slit.</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About 51% of the total solid waste, collected from entire city, is biodegradable.</a:t>
            </a:r>
          </a:p>
        </p:txBody>
      </p:sp>
    </p:spTree>
  </p:cSld>
  <p:clrMapOvr>
    <a:masterClrMapping/>
  </p:clrMapOvr>
  <p:transition spd="slow">
    <p:newsfla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6800"/>
            <a:ext cx="8305800" cy="4832092"/>
          </a:xfrm>
          <a:prstGeom prst="rect">
            <a:avLst/>
          </a:prstGeom>
        </p:spPr>
        <p:txBody>
          <a:bodyPr wrap="square">
            <a:spAutoFit/>
          </a:bodyPr>
          <a:lstStyle/>
          <a:p>
            <a:pPr>
              <a:buFont typeface="Wingdings" pitchFamily="2" charset="2"/>
              <a:buChar char="Ø"/>
            </a:pPr>
            <a:r>
              <a:rPr lang="en-US" sz="2200" dirty="0">
                <a:solidFill>
                  <a:srgbClr val="FF0000"/>
                </a:solidFill>
                <a:latin typeface="Times New Roman" pitchFamily="18" charset="0"/>
                <a:cs typeface="Times New Roman" pitchFamily="18" charset="0"/>
              </a:rPr>
              <a:t> The waste is disposed daily to the landfill site located on </a:t>
            </a:r>
            <a:r>
              <a:rPr lang="en-US" sz="2200" dirty="0" err="1">
                <a:solidFill>
                  <a:srgbClr val="FF0000"/>
                </a:solidFill>
                <a:latin typeface="Times New Roman" pitchFamily="18" charset="0"/>
                <a:cs typeface="Times New Roman" pitchFamily="18" charset="0"/>
              </a:rPr>
              <a:t>Tuljapur</a:t>
            </a:r>
            <a:r>
              <a:rPr lang="en-US" sz="2200" dirty="0">
                <a:solidFill>
                  <a:srgbClr val="FF0000"/>
                </a:solidFill>
                <a:latin typeface="Times New Roman" pitchFamily="18" charset="0"/>
                <a:cs typeface="Times New Roman" pitchFamily="18" charset="0"/>
              </a:rPr>
              <a:t> road and </a:t>
            </a:r>
            <a:r>
              <a:rPr lang="en-US" sz="2200" dirty="0" err="1">
                <a:solidFill>
                  <a:srgbClr val="FF0000"/>
                </a:solidFill>
                <a:latin typeface="Times New Roman" pitchFamily="18" charset="0"/>
                <a:cs typeface="Times New Roman" pitchFamily="18" charset="0"/>
              </a:rPr>
              <a:t>Bhogaon</a:t>
            </a:r>
            <a:r>
              <a:rPr lang="en-US" sz="2200" dirty="0">
                <a:solidFill>
                  <a:srgbClr val="FF0000"/>
                </a:solidFill>
                <a:latin typeface="Times New Roman" pitchFamily="18" charset="0"/>
                <a:cs typeface="Times New Roman" pitchFamily="18" charset="0"/>
              </a:rPr>
              <a:t>. </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 disposal site is open and gives rise to contamination and the treatment process is not followed. </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The landfill sites are not well maintained, which create the threat of groundwater contamination due to </a:t>
            </a:r>
            <a:r>
              <a:rPr lang="en-US" sz="2200" dirty="0" err="1">
                <a:solidFill>
                  <a:srgbClr val="FF0000"/>
                </a:solidFill>
                <a:latin typeface="Times New Roman" pitchFamily="18" charset="0"/>
                <a:cs typeface="Times New Roman" pitchFamily="18" charset="0"/>
              </a:rPr>
              <a:t>leachate</a:t>
            </a:r>
            <a:r>
              <a:rPr lang="en-US" sz="2200" dirty="0">
                <a:solidFill>
                  <a:srgbClr val="FF0000"/>
                </a:solidFill>
                <a:latin typeface="Times New Roman" pitchFamily="18" charset="0"/>
                <a:cs typeface="Times New Roman" pitchFamily="18" charset="0"/>
              </a:rPr>
              <a:t> percolation. </a:t>
            </a:r>
          </a:p>
          <a:p>
            <a:pPr>
              <a:buFont typeface="Wingdings" pitchFamily="2" charset="2"/>
              <a:buChar char="Ø"/>
            </a:pPr>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Most of the waste remains lying down in open causing pollution with the </a:t>
            </a:r>
            <a:r>
              <a:rPr lang="en-US" sz="2200" dirty="0" err="1">
                <a:solidFill>
                  <a:srgbClr val="FF0000"/>
                </a:solidFill>
                <a:latin typeface="Times New Roman" pitchFamily="18" charset="0"/>
                <a:cs typeface="Times New Roman" pitchFamily="18" charset="0"/>
              </a:rPr>
              <a:t>odour</a:t>
            </a:r>
            <a:r>
              <a:rPr lang="en-US" sz="2200" dirty="0">
                <a:solidFill>
                  <a:srgbClr val="FF0000"/>
                </a:solidFill>
                <a:latin typeface="Times New Roman" pitchFamily="18" charset="0"/>
                <a:cs typeface="Times New Roman" pitchFamily="18" charset="0"/>
              </a:rPr>
              <a:t> and smell unless degrades naturally.</a:t>
            </a:r>
          </a:p>
          <a:p>
            <a:endParaRPr lang="en-US" sz="2200" dirty="0">
              <a:solidFill>
                <a:srgbClr val="FF0000"/>
              </a:solidFill>
              <a:latin typeface="Times New Roman" pitchFamily="18" charset="0"/>
              <a:cs typeface="Times New Roman" pitchFamily="18" charset="0"/>
            </a:endParaRPr>
          </a:p>
          <a:p>
            <a:pPr>
              <a:buFont typeface="Wingdings" pitchFamily="2" charset="2"/>
              <a:buChar char="Ø"/>
            </a:pPr>
            <a:r>
              <a:rPr lang="en-US" sz="2200" dirty="0">
                <a:solidFill>
                  <a:srgbClr val="FF0000"/>
                </a:solidFill>
                <a:latin typeface="Times New Roman" pitchFamily="18" charset="0"/>
                <a:cs typeface="Times New Roman" pitchFamily="18" charset="0"/>
              </a:rPr>
              <a:t>  A treatment plant of anaerobic digestion is in progress to extract energy from organic waste generating the biogas.</a:t>
            </a:r>
          </a:p>
        </p:txBody>
      </p:sp>
    </p:spTree>
  </p:cSld>
  <p:clrMapOvr>
    <a:masterClrMapping/>
  </p:clrMapOvr>
  <p:transition spd="slow">
    <p:newsflash/>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431</TotalTime>
  <Words>7513</Words>
  <Application>Microsoft Office PowerPoint</Application>
  <PresentationFormat>On-screen Show (4:3)</PresentationFormat>
  <Paragraphs>974</Paragraphs>
  <Slides>89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Calibri</vt:lpstr>
      <vt:lpstr>Constantia</vt:lpstr>
      <vt:lpstr>Times New Roman</vt:lpstr>
      <vt:lpstr>Wingdings</vt:lpstr>
      <vt:lpstr>Wingdings 2</vt:lpstr>
      <vt:lpstr>Flow</vt:lpstr>
      <vt:lpstr>ENVIRONMENTAL SCIENCES AND SUSTAINABILITY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SIVA</dc:creator>
  <cp:lastModifiedBy>Windows User</cp:lastModifiedBy>
  <cp:revision>39</cp:revision>
  <dcterms:created xsi:type="dcterms:W3CDTF">2023-01-17T15:31:36Z</dcterms:created>
  <dcterms:modified xsi:type="dcterms:W3CDTF">2023-06-20T07:18:59Z</dcterms:modified>
</cp:coreProperties>
</file>