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78" r:id="rId51"/>
    <p:sldId id="379" r:id="rId52"/>
    <p:sldId id="380" r:id="rId53"/>
    <p:sldId id="305" r:id="rId54"/>
    <p:sldId id="306" r:id="rId55"/>
    <p:sldId id="307" r:id="rId56"/>
    <p:sldId id="308" r:id="rId57"/>
    <p:sldId id="309" r:id="rId58"/>
    <p:sldId id="310" r:id="rId59"/>
    <p:sldId id="311" r:id="rId60"/>
    <p:sldId id="312" r:id="rId61"/>
    <p:sldId id="381"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74" r:id="rId80"/>
    <p:sldId id="330" r:id="rId81"/>
    <p:sldId id="375" r:id="rId82"/>
    <p:sldId id="332" r:id="rId83"/>
    <p:sldId id="333" r:id="rId84"/>
    <p:sldId id="376"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77"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000099"/>
    <a:srgbClr val="FF00FF"/>
    <a:srgbClr val="996600"/>
    <a:srgbClr val="00CC99"/>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4" autoAdjust="0"/>
    <p:restoredTop sz="94660"/>
  </p:normalViewPr>
  <p:slideViewPr>
    <p:cSldViewPr>
      <p:cViewPr varScale="1">
        <p:scale>
          <a:sx n="62" d="100"/>
          <a:sy n="62" d="100"/>
        </p:scale>
        <p:origin x="149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EBF613C4-0B3D-4FD0-A254-EBFF3FAF9DB8}" type="datetimeFigureOut">
              <a:rPr lang="en-US" smtClean="0"/>
              <a:pPr/>
              <a:t>5/1/2023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BF613C4-0B3D-4FD0-A254-EBFF3FAF9DB8}" type="datetimeFigureOut">
              <a:rPr lang="en-US" smtClean="0"/>
              <a:pPr/>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BF613C4-0B3D-4FD0-A254-EBFF3FAF9DB8}" type="datetimeFigureOut">
              <a:rPr lang="en-US" smtClean="0"/>
              <a:pPr/>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BF613C4-0B3D-4FD0-A254-EBFF3FAF9DB8}" type="datetimeFigureOut">
              <a:rPr lang="en-US" smtClean="0"/>
              <a:pPr/>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BF613C4-0B3D-4FD0-A254-EBFF3FAF9DB8}" type="datetimeFigureOut">
              <a:rPr lang="en-US" smtClean="0"/>
              <a:pPr/>
              <a:t>5/1/2023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EBF613C4-0B3D-4FD0-A254-EBFF3FAF9DB8}" type="datetimeFigureOut">
              <a:rPr lang="en-US" smtClean="0"/>
              <a:pPr/>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F613C4-0B3D-4FD0-A254-EBFF3FAF9DB8}" type="datetimeFigureOut">
              <a:rPr lang="en-US" smtClean="0"/>
              <a:pPr/>
              <a:t>5/1/2023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BF613C4-0B3D-4FD0-A254-EBFF3FAF9DB8}" type="datetimeFigureOut">
              <a:rPr lang="en-US" smtClean="0"/>
              <a:pPr/>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BF613C4-0B3D-4FD0-A254-EBFF3FAF9DB8}" type="datetimeFigureOut">
              <a:rPr lang="en-US" smtClean="0"/>
              <a:pPr/>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EAC0F5A-B216-48BA-84E4-D74ED1AE12E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BF613C4-0B3D-4FD0-A254-EBFF3FAF9DB8}" type="datetimeFigureOut">
              <a:rPr lang="en-US" smtClean="0"/>
              <a:pPr/>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BF613C4-0B3D-4FD0-A254-EBFF3FAF9DB8}" type="datetimeFigureOut">
              <a:rPr lang="en-US" smtClean="0"/>
              <a:pPr/>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C0F5A-B216-48BA-84E4-D74ED1AE12E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BF613C4-0B3D-4FD0-A254-EBFF3FAF9DB8}" type="datetimeFigureOut">
              <a:rPr lang="en-US" smtClean="0"/>
              <a:pPr/>
              <a:t>5/1/2023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EAC0F5A-B216-48BA-84E4-D74ED1AE12E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5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5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990600"/>
            <a:ext cx="8918448" cy="1828800"/>
          </a:xfrm>
        </p:spPr>
        <p:txBody>
          <a:bodyPr>
            <a:noAutofit/>
          </a:bodyPr>
          <a:lstStyle/>
          <a:p>
            <a:r>
              <a:rPr lang="en-US" sz="4500" dirty="0">
                <a:solidFill>
                  <a:srgbClr val="000099"/>
                </a:solidFill>
                <a:latin typeface="Times New Roman" pitchFamily="18" charset="0"/>
                <a:cs typeface="Times New Roman" pitchFamily="18" charset="0"/>
              </a:rPr>
              <a:t>ENVIRONMENTAL SCIENCES AND SUSTAINABILITY</a:t>
            </a:r>
          </a:p>
        </p:txBody>
      </p:sp>
      <p:sp>
        <p:nvSpPr>
          <p:cNvPr id="3" name="Subtitle 2"/>
          <p:cNvSpPr>
            <a:spLocks noGrp="1"/>
          </p:cNvSpPr>
          <p:nvPr>
            <p:ph type="subTitle" idx="1"/>
          </p:nvPr>
        </p:nvSpPr>
        <p:spPr/>
        <p:txBody>
          <a:bodyPr>
            <a:normAutofit fontScale="92500" lnSpcReduction="10000"/>
          </a:bodyPr>
          <a:lstStyle/>
          <a:p>
            <a:r>
              <a:rPr lang="en-US" dirty="0">
                <a:solidFill>
                  <a:srgbClr val="009900"/>
                </a:solidFill>
              </a:rPr>
              <a:t>By:</a:t>
            </a:r>
          </a:p>
          <a:p>
            <a:r>
              <a:rPr lang="en-US" dirty="0">
                <a:solidFill>
                  <a:srgbClr val="009900"/>
                </a:solidFill>
              </a:rPr>
              <a:t>Dr. A. RAVIKRISHNAN,</a:t>
            </a:r>
          </a:p>
          <a:p>
            <a:r>
              <a:rPr lang="en-US" dirty="0">
                <a:solidFill>
                  <a:srgbClr val="009900"/>
                </a:solidFill>
              </a:rPr>
              <a:t>M.Sc., </a:t>
            </a:r>
            <a:r>
              <a:rPr lang="en-US" dirty="0" err="1">
                <a:solidFill>
                  <a:srgbClr val="009900"/>
                </a:solidFill>
              </a:rPr>
              <a:t>M.Phil.</a:t>
            </a:r>
            <a:r>
              <a:rPr lang="en-US" dirty="0">
                <a:solidFill>
                  <a:srgbClr val="009900"/>
                </a:solidFill>
              </a:rPr>
              <a:t>, M.Ed., Ph.D., MISTE., MILCS.,</a:t>
            </a:r>
          </a:p>
          <a:p>
            <a:r>
              <a:rPr lang="en-US" dirty="0" err="1">
                <a:solidFill>
                  <a:srgbClr val="009900"/>
                </a:solidFill>
              </a:rPr>
              <a:t>Asst.Prof</a:t>
            </a:r>
            <a:r>
              <a:rPr lang="en-US" dirty="0">
                <a:solidFill>
                  <a:srgbClr val="009900"/>
                </a:solidFill>
              </a:rPr>
              <a:t> of Chemistry.</a:t>
            </a:r>
          </a:p>
          <a:p>
            <a:endParaRPr lang="en-US" dirty="0">
              <a:solidFill>
                <a:srgbClr val="009900"/>
              </a:solidFill>
            </a:endParaRPr>
          </a:p>
          <a:p>
            <a:endParaRPr lang="en-US" dirty="0">
              <a:solidFill>
                <a:srgbClr val="009900"/>
              </a:solidFill>
            </a:endParaRPr>
          </a:p>
          <a:p>
            <a:endParaRPr lang="en-US" dirty="0">
              <a:solidFill>
                <a:srgbClr val="0099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001000" cy="5970865"/>
          </a:xfrm>
          <a:prstGeom prst="rect">
            <a:avLst/>
          </a:prstGeom>
        </p:spPr>
        <p:txBody>
          <a:bodyPr wrap="square">
            <a:spAutoFit/>
          </a:bodyPr>
          <a:lstStyle/>
          <a:p>
            <a:r>
              <a:rPr lang="en-US" sz="2200" b="1" dirty="0">
                <a:latin typeface="Times New Roman" pitchFamily="18" charset="0"/>
                <a:cs typeface="Times New Roman" pitchFamily="18" charset="0"/>
              </a:rPr>
              <a:t>                                    </a:t>
            </a:r>
            <a:r>
              <a:rPr lang="en-US" sz="3000" b="1" dirty="0">
                <a:solidFill>
                  <a:srgbClr val="7030A0"/>
                </a:solidFill>
                <a:latin typeface="Times New Roman" pitchFamily="18" charset="0"/>
                <a:cs typeface="Times New Roman" pitchFamily="18" charset="0"/>
              </a:rPr>
              <a:t>Sustainability Practices</a:t>
            </a:r>
          </a:p>
          <a:p>
            <a:endParaRPr lang="en-US" sz="2200" b="1"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5.1 ZERO WASTE</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r>
              <a:rPr lang="en-US" sz="2200" dirty="0">
                <a:solidFill>
                  <a:srgbClr val="002060"/>
                </a:solidFill>
                <a:latin typeface="Times New Roman" pitchFamily="18" charset="0"/>
                <a:cs typeface="Times New Roman" pitchFamily="18" charset="0"/>
              </a:rPr>
              <a:t>Zero waste is a set of principles, focused on waste prevention, that encourages redesigning resource life cycles, so that all products are reused.</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5.1.1 Goal</a:t>
            </a:r>
          </a:p>
          <a:p>
            <a:pPr>
              <a:buFont typeface="Wingdings" pitchFamily="2" charset="2"/>
              <a:buChar char="v"/>
            </a:pPr>
            <a:r>
              <a:rPr lang="en-US" sz="2200" dirty="0">
                <a:solidFill>
                  <a:srgbClr val="002060"/>
                </a:solidFill>
                <a:latin typeface="Times New Roman" pitchFamily="18" charset="0"/>
                <a:cs typeface="Times New Roman" pitchFamily="18" charset="0"/>
              </a:rPr>
              <a:t>  The material should be reused until the optimum level of consumption is reached.</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provides guidelines for continually working towards eliminating waste.</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To avoid sending trash to landfills, incinerators (or) the ocean.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077200" cy="1785104"/>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5.1.2 Concept</a:t>
            </a:r>
          </a:p>
          <a:p>
            <a:pPr>
              <a:buFont typeface="Wingdings" pitchFamily="2" charset="2"/>
              <a:buChar char="q"/>
            </a:pPr>
            <a:r>
              <a:rPr lang="en-US" sz="2200" dirty="0">
                <a:solidFill>
                  <a:srgbClr val="002060"/>
                </a:solidFill>
                <a:latin typeface="Times New Roman" pitchFamily="18" charset="0"/>
                <a:cs typeface="Times New Roman" pitchFamily="18" charset="0"/>
              </a:rPr>
              <a:t>  The conservation of all the resources by means of responsible production, consumption, reuse and recovery of products, packaging and materials without burning and with no discharges to land, water (or) air that threaten the environment (or) human health.</a:t>
            </a:r>
          </a:p>
        </p:txBody>
      </p:sp>
      <p:sp>
        <p:nvSpPr>
          <p:cNvPr id="3" name="Rectangle 2"/>
          <p:cNvSpPr/>
          <p:nvPr/>
        </p:nvSpPr>
        <p:spPr>
          <a:xfrm>
            <a:off x="2895600" y="5867400"/>
            <a:ext cx="3503973" cy="430887"/>
          </a:xfrm>
          <a:prstGeom prst="rect">
            <a:avLst/>
          </a:prstGeom>
        </p:spPr>
        <p:txBody>
          <a:bodyPr wrap="none">
            <a:spAutoFit/>
          </a:bodyPr>
          <a:lstStyle/>
          <a:p>
            <a:r>
              <a:rPr lang="pt-BR" sz="2200" b="1" dirty="0">
                <a:latin typeface="Times New Roman" pitchFamily="18" charset="0"/>
                <a:cs typeface="Times New Roman" pitchFamily="18" charset="0"/>
              </a:rPr>
              <a:t>Fig. 5.1 Logo for zero waste</a:t>
            </a:r>
            <a:endParaRPr lang="en-US" sz="22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A8475ADA-C132-C570-2E4E-5C0FCF8C2832}"/>
              </a:ext>
            </a:extLst>
          </p:cNvPr>
          <p:cNvPicPr>
            <a:picLocks noChangeAspect="1"/>
          </p:cNvPicPr>
          <p:nvPr/>
        </p:nvPicPr>
        <p:blipFill>
          <a:blip r:embed="rId2"/>
          <a:stretch>
            <a:fillRect/>
          </a:stretch>
        </p:blipFill>
        <p:spPr>
          <a:xfrm>
            <a:off x="3429000" y="3810000"/>
            <a:ext cx="1828800" cy="1736591"/>
          </a:xfrm>
          <a:prstGeom prst="rect">
            <a:avLst/>
          </a:prstGeom>
          <a:solidFill>
            <a:schemeClr val="accent2"/>
          </a:solid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38200"/>
            <a:ext cx="8077200" cy="5847755"/>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Examples of zero waste</a:t>
            </a:r>
          </a:p>
          <a:p>
            <a:pPr lvl="3">
              <a:buFont typeface="Wingdings" pitchFamily="2" charset="2"/>
              <a:buChar char="ü"/>
            </a:pPr>
            <a:r>
              <a:rPr lang="en-US" sz="2200" dirty="0">
                <a:solidFill>
                  <a:srgbClr val="C00000"/>
                </a:solidFill>
                <a:latin typeface="Times New Roman" pitchFamily="18" charset="0"/>
                <a:cs typeface="Times New Roman" pitchFamily="18" charset="0"/>
              </a:rPr>
              <a:t>  one - way recyclable glass bottles.</a:t>
            </a:r>
          </a:p>
          <a:p>
            <a:pPr lvl="3">
              <a:buFont typeface="Wingdings" pitchFamily="2" charset="2"/>
              <a:buChar char="ü"/>
            </a:pPr>
            <a:r>
              <a:rPr lang="en-US" sz="2200" dirty="0">
                <a:solidFill>
                  <a:srgbClr val="C00000"/>
                </a:solidFill>
                <a:latin typeface="Times New Roman" pitchFamily="18" charset="0"/>
                <a:cs typeface="Times New Roman" pitchFamily="18" charset="0"/>
              </a:rPr>
              <a:t>  one - way milk bags.</a:t>
            </a:r>
          </a:p>
          <a:p>
            <a:pPr lvl="3">
              <a:buFont typeface="Wingdings" pitchFamily="2" charset="2"/>
              <a:buChar char="ü"/>
            </a:pPr>
            <a:r>
              <a:rPr lang="en-US" sz="2200" dirty="0">
                <a:solidFill>
                  <a:srgbClr val="C00000"/>
                </a:solidFill>
                <a:latin typeface="Times New Roman" pitchFamily="18" charset="0"/>
                <a:cs typeface="Times New Roman" pitchFamily="18" charset="0"/>
              </a:rPr>
              <a:t>  one - way aseptic cartons.</a:t>
            </a:r>
          </a:p>
          <a:p>
            <a:pPr lvl="3">
              <a:buFont typeface="Wingdings" pitchFamily="2" charset="2"/>
              <a:buChar char="ü"/>
            </a:pPr>
            <a:r>
              <a:rPr lang="en-US" sz="2200" dirty="0">
                <a:solidFill>
                  <a:srgbClr val="C00000"/>
                </a:solidFill>
                <a:latin typeface="Times New Roman" pitchFamily="18" charset="0"/>
                <a:cs typeface="Times New Roman" pitchFamily="18" charset="0"/>
              </a:rPr>
              <a:t>  one - way table - top paper board cartons.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5.1.3 Principles of zero waste</a:t>
            </a:r>
          </a:p>
          <a:p>
            <a:endParaRPr lang="en-US" sz="2200" b="1" i="1" dirty="0">
              <a:latin typeface="Times New Roman" pitchFamily="18" charset="0"/>
              <a:cs typeface="Times New Roman" pitchFamily="18" charset="0"/>
            </a:endParaRPr>
          </a:p>
          <a:p>
            <a:r>
              <a:rPr lang="en-US" sz="2200" dirty="0">
                <a:latin typeface="Times New Roman" pitchFamily="18" charset="0"/>
                <a:cs typeface="Times New Roman" pitchFamily="18" charset="0"/>
              </a:rPr>
              <a:t>1. </a:t>
            </a:r>
            <a:r>
              <a:rPr lang="en-US" sz="2200" b="1" dirty="0">
                <a:latin typeface="Times New Roman" pitchFamily="18" charset="0"/>
                <a:cs typeface="Times New Roman" pitchFamily="18" charset="0"/>
              </a:rPr>
              <a:t>Refuse what you don’t need:</a:t>
            </a:r>
          </a:p>
          <a:p>
            <a:pPr>
              <a:buFont typeface="Wingdings" pitchFamily="2" charset="2"/>
              <a:buChar char="Ø"/>
            </a:pPr>
            <a:r>
              <a:rPr lang="en-US" sz="2200" dirty="0">
                <a:solidFill>
                  <a:srgbClr val="002060"/>
                </a:solidFill>
                <a:latin typeface="Times New Roman" pitchFamily="18" charset="0"/>
                <a:cs typeface="Times New Roman" pitchFamily="18" charset="0"/>
              </a:rPr>
              <a:t>  It prevents unwanted items from coming into your home.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2. </a:t>
            </a:r>
            <a:r>
              <a:rPr lang="en-US" sz="2200" b="1" dirty="0">
                <a:latin typeface="Times New Roman" pitchFamily="18" charset="0"/>
                <a:cs typeface="Times New Roman" pitchFamily="18" charset="0"/>
              </a:rPr>
              <a:t>Reduce what you do use:</a:t>
            </a:r>
          </a:p>
          <a:p>
            <a:pPr>
              <a:buFont typeface="Wingdings" pitchFamily="2" charset="2"/>
              <a:buChar char="Ø"/>
            </a:pPr>
            <a:r>
              <a:rPr lang="en-US" sz="2200" dirty="0">
                <a:solidFill>
                  <a:srgbClr val="002060"/>
                </a:solidFill>
                <a:latin typeface="Times New Roman" pitchFamily="18" charset="0"/>
                <a:cs typeface="Times New Roman" pitchFamily="18" charset="0"/>
              </a:rPr>
              <a:t>  It is equal to less waste at the end.</a:t>
            </a:r>
          </a:p>
          <a:p>
            <a:endParaRPr lang="en-US" sz="2200" dirty="0">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3. Reuse whatever you can.</a:t>
            </a:r>
          </a:p>
          <a:p>
            <a:endParaRPr lang="en-US" sz="2200" dirty="0">
              <a:solidFill>
                <a:srgbClr val="002060"/>
              </a:solidFill>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4. Recycle what you can’t refuse (or) reduce.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77200" cy="1785104"/>
          </a:xfrm>
          <a:prstGeom prst="rect">
            <a:avLst/>
          </a:prstGeom>
        </p:spPr>
        <p:txBody>
          <a:bodyPr wrap="square">
            <a:spAutoFit/>
          </a:bodyPr>
          <a:lstStyle/>
          <a:p>
            <a:r>
              <a:rPr lang="en-US" sz="2200" dirty="0">
                <a:latin typeface="Times New Roman" pitchFamily="18" charset="0"/>
                <a:cs typeface="Times New Roman" pitchFamily="18" charset="0"/>
              </a:rPr>
              <a:t>5. </a:t>
            </a:r>
            <a:r>
              <a:rPr lang="en-US" sz="2200" b="1" dirty="0">
                <a:latin typeface="Times New Roman" pitchFamily="18" charset="0"/>
                <a:cs typeface="Times New Roman" pitchFamily="18" charset="0"/>
              </a:rPr>
              <a:t>Regulate of what’s left over:</a:t>
            </a:r>
          </a:p>
          <a:p>
            <a:pPr>
              <a:buFont typeface="Wingdings" pitchFamily="2" charset="2"/>
              <a:buChar char="q"/>
            </a:pPr>
            <a:r>
              <a:rPr lang="en-US" sz="2200" dirty="0">
                <a:solidFill>
                  <a:srgbClr val="002060"/>
                </a:solidFill>
                <a:latin typeface="Times New Roman" pitchFamily="18" charset="0"/>
                <a:cs typeface="Times New Roman" pitchFamily="18" charset="0"/>
              </a:rPr>
              <a:t>  Composting food scraps, paper pieces and wooden (or) bamboo tooth brushes returns nutrients and fiber back to the earth.</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FLOW CHART</a:t>
            </a:r>
          </a:p>
        </p:txBody>
      </p:sp>
      <p:pic>
        <p:nvPicPr>
          <p:cNvPr id="115714" name="Picture 2" descr="C:\Users\User\AppData\Local\Temp\ksohtml\wps8E1F.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447800" y="3048000"/>
            <a:ext cx="5638800" cy="3276600"/>
          </a:xfrm>
          <a:prstGeom prst="rect">
            <a:avLst/>
          </a:prstGeom>
          <a:noFill/>
        </p:spPr>
      </p:pic>
      <p:sp>
        <p:nvSpPr>
          <p:cNvPr id="115715" name="Rectangle 3"/>
          <p:cNvSpPr>
            <a:spLocks noChangeArrowheads="1"/>
          </p:cNvSpPr>
          <p:nvPr/>
        </p:nvSpPr>
        <p:spPr bwMode="auto">
          <a:xfrm>
            <a:off x="2819400" y="6427113"/>
            <a:ext cx="3762056"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5.2 Zero waste Hierarchy</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9248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5.1.4 Steps to achieve zero waste</a:t>
            </a:r>
          </a:p>
          <a:p>
            <a:endParaRPr lang="en-US" sz="2200" b="1" i="1" dirty="0">
              <a:latin typeface="Times New Roman" pitchFamily="18" charset="0"/>
              <a:cs typeface="Times New Roman" pitchFamily="18" charset="0"/>
            </a:endParaRPr>
          </a:p>
          <a:p>
            <a:pPr marL="457200" indent="-457200">
              <a:buFont typeface="Wingdings" pitchFamily="2" charset="2"/>
              <a:buChar char="v"/>
            </a:pPr>
            <a:r>
              <a:rPr lang="en-US" sz="2200" dirty="0">
                <a:solidFill>
                  <a:srgbClr val="002060"/>
                </a:solidFill>
                <a:latin typeface="Times New Roman" pitchFamily="18" charset="0"/>
                <a:cs typeface="Times New Roman" pitchFamily="18" charset="0"/>
              </a:rPr>
              <a:t>Identify the high waste areas of our life-style.</a:t>
            </a:r>
          </a:p>
          <a:p>
            <a:pPr marL="457200" indent="-457200">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Know where to apply the principle of zero waste, if  the waste cannot be removed (or) reduced.</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Substitute single use plastic with eco-friendly zero waste options.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Buy zero waste (or) eco-friendly products.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Support eco-friendly businesses.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Put all your kitchen waste to good use (compositing).</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Reuse, up cycle and re-purpose.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295400"/>
            <a:ext cx="8229600" cy="4493538"/>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5.1.5 Advantages and Disadvantages of zero waste</a:t>
            </a:r>
          </a:p>
          <a:p>
            <a:endParaRPr lang="en-US" sz="2200" b="1" i="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Advantages (or) Benefits</a:t>
            </a:r>
          </a:p>
          <a:p>
            <a:endParaRPr lang="en-US" sz="2200" b="1" dirty="0">
              <a:latin typeface="Times New Roman" pitchFamily="18" charset="0"/>
              <a:cs typeface="Times New Roman" pitchFamily="18" charset="0"/>
            </a:endParaRPr>
          </a:p>
          <a:p>
            <a:pPr marL="400050" indent="-400050">
              <a:buFont typeface="Wingdings" pitchFamily="2" charset="2"/>
              <a:buChar char="v"/>
            </a:pPr>
            <a:r>
              <a:rPr lang="en-US" sz="2200" dirty="0">
                <a:solidFill>
                  <a:srgbClr val="002060"/>
                </a:solidFill>
                <a:latin typeface="Times New Roman" pitchFamily="18" charset="0"/>
                <a:cs typeface="Times New Roman" pitchFamily="18" charset="0"/>
              </a:rPr>
              <a:t>Zero waste reduces our climate impact.</a:t>
            </a:r>
          </a:p>
          <a:p>
            <a:pPr marL="400050" indent="-400050">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conserves resources and minimizes pollution.</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promotes social equity and builds community.</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supports a local circular economy and creates jobs.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Zero waste needs businesses to play a key role.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620000" cy="5170646"/>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Disadvantages (or) problem of zero waste</a:t>
            </a:r>
          </a:p>
          <a:p>
            <a:endParaRPr lang="en-US" sz="2200" b="1" dirty="0">
              <a:latin typeface="Times New Roman" pitchFamily="18" charset="0"/>
              <a:cs typeface="Times New Roman" pitchFamily="18" charset="0"/>
            </a:endParaRPr>
          </a:p>
          <a:p>
            <a:pPr marL="400050" indent="-400050">
              <a:buFont typeface="Wingdings" pitchFamily="2" charset="2"/>
              <a:buChar char="Ø"/>
            </a:pPr>
            <a:r>
              <a:rPr lang="en-US" sz="2200" dirty="0">
                <a:solidFill>
                  <a:srgbClr val="002060"/>
                </a:solidFill>
                <a:latin typeface="Times New Roman" pitchFamily="18" charset="0"/>
                <a:cs typeface="Times New Roman" pitchFamily="18" charset="0"/>
              </a:rPr>
              <a:t>Since zero wastes are solids, it is difficult to store.</a:t>
            </a:r>
          </a:p>
          <a:p>
            <a:pPr marL="400050" indent="-40005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is more expensive.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Zero waste in time-consuming.</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can cause anxiety.</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Zero waste can be misleading.</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can be difficult for a large household.</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Zero waste products are hard to find.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7772400" cy="4832092"/>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5.2 R CONCEPT (OR) 3R CONCEPT (REDUCE,REUSE AND RECYCLE) </a:t>
            </a:r>
          </a:p>
          <a:p>
            <a:r>
              <a:rPr lang="en-US" sz="2200" dirty="0">
                <a:latin typeface="Times New Roman" pitchFamily="18" charset="0"/>
                <a:cs typeface="Times New Roman" pitchFamily="18" charset="0"/>
              </a:rPr>
              <a:t>  </a:t>
            </a:r>
          </a:p>
          <a:p>
            <a:r>
              <a:rPr lang="en-US" sz="2200" b="1" dirty="0">
                <a:solidFill>
                  <a:srgbClr val="00B0F0"/>
                </a:solidFill>
                <a:latin typeface="Times New Roman" pitchFamily="18" charset="0"/>
                <a:cs typeface="Times New Roman" pitchFamily="18" charset="0"/>
              </a:rPr>
              <a:t>Definition</a:t>
            </a:r>
          </a:p>
          <a:p>
            <a:endParaRPr lang="en-US" sz="2200" b="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The principle of reducing waste, reusing and recycling resources and products is often called 3Rs.</a:t>
            </a:r>
          </a:p>
          <a:p>
            <a:endParaRPr lang="en-US" sz="2200" b="1" i="1" dirty="0">
              <a:latin typeface="Times New Roman" pitchFamily="18" charset="0"/>
              <a:cs typeface="Times New Roman" pitchFamily="18" charset="0"/>
            </a:endParaRPr>
          </a:p>
          <a:p>
            <a:r>
              <a:rPr lang="en-US" sz="2200" b="1" dirty="0">
                <a:latin typeface="Times New Roman" pitchFamily="18" charset="0"/>
                <a:cs typeface="Times New Roman" pitchFamily="18" charset="0"/>
              </a:rPr>
              <a:t>1. Reduce</a:t>
            </a:r>
          </a:p>
          <a:p>
            <a:pPr>
              <a:buFont typeface="Wingdings" pitchFamily="2" charset="2"/>
              <a:buChar char="q"/>
            </a:pPr>
            <a:r>
              <a:rPr lang="en-US" sz="2200" dirty="0">
                <a:solidFill>
                  <a:srgbClr val="002060"/>
                </a:solidFill>
                <a:latin typeface="Times New Roman" pitchFamily="18" charset="0"/>
                <a:cs typeface="Times New Roman" pitchFamily="18" charset="0"/>
              </a:rPr>
              <a:t>  Reducing means choosing to use things with care to reduce the amount of waste generated.</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If the usage of raw materials are reduced, the generation of waste also gets reduced.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772400" cy="5509200"/>
          </a:xfrm>
          <a:prstGeom prst="rect">
            <a:avLst/>
          </a:prstGeom>
        </p:spPr>
        <p:txBody>
          <a:bodyPr wrap="square">
            <a:spAutoFit/>
          </a:bodyPr>
          <a:lstStyle/>
          <a:p>
            <a:r>
              <a:rPr lang="en-US" sz="2200" b="1" dirty="0">
                <a:latin typeface="Times New Roman" pitchFamily="18" charset="0"/>
                <a:cs typeface="Times New Roman" pitchFamily="18" charset="0"/>
              </a:rPr>
              <a:t>2. Reuse</a:t>
            </a:r>
          </a:p>
          <a:p>
            <a:pPr>
              <a:buFont typeface="Wingdings" pitchFamily="2" charset="2"/>
              <a:buChar char="q"/>
            </a:pPr>
            <a:r>
              <a:rPr lang="en-US" sz="2200" dirty="0">
                <a:solidFill>
                  <a:srgbClr val="002060"/>
                </a:solidFill>
                <a:latin typeface="Times New Roman" pitchFamily="18" charset="0"/>
                <a:cs typeface="Times New Roman" pitchFamily="18" charset="0"/>
              </a:rPr>
              <a:t>  Reusing involves the repeated use of items (or) parts of items which still have usable aspects.</a:t>
            </a:r>
          </a:p>
          <a:p>
            <a:endParaRPr lang="en-US" sz="2200" dirty="0">
              <a:latin typeface="Times New Roman" pitchFamily="18" charset="0"/>
              <a:cs typeface="Times New Roman" pitchFamily="18" charset="0"/>
            </a:endParaRPr>
          </a:p>
          <a:p>
            <a:pPr marL="342900" indent="-342900">
              <a:buFont typeface="Wingdings" pitchFamily="2" charset="2"/>
              <a:buChar char="Ø"/>
            </a:pPr>
            <a:r>
              <a:rPr lang="en-US" sz="2200" dirty="0">
                <a:solidFill>
                  <a:srgbClr val="002060"/>
                </a:solidFill>
                <a:latin typeface="Times New Roman" pitchFamily="18" charset="0"/>
                <a:cs typeface="Times New Roman" pitchFamily="18" charset="0"/>
              </a:rPr>
              <a:t>The refillable containers, which are discarded after use, can be reused.</a:t>
            </a:r>
          </a:p>
          <a:p>
            <a:pPr marL="342900" indent="-3429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Rubber rings can be made from the discarded cycle tubes, which reduces the waste generation during manufacturing of rubber bands.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3. Recycle</a:t>
            </a:r>
          </a:p>
          <a:p>
            <a:pPr>
              <a:buFont typeface="Wingdings" pitchFamily="2" charset="2"/>
              <a:buChar char="q"/>
            </a:pPr>
            <a:r>
              <a:rPr lang="en-US" sz="2200" dirty="0">
                <a:solidFill>
                  <a:srgbClr val="002060"/>
                </a:solidFill>
                <a:latin typeface="Times New Roman" pitchFamily="18" charset="0"/>
                <a:cs typeface="Times New Roman" pitchFamily="18" charset="0"/>
              </a:rPr>
              <a:t>  Recycling means the use of waste itself as the resources.</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It involves reprocessing of the discarded materials into new useful products.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95400"/>
            <a:ext cx="7620000" cy="4832092"/>
          </a:xfrm>
          <a:prstGeom prst="rect">
            <a:avLst/>
          </a:prstGeom>
        </p:spPr>
        <p:txBody>
          <a:bodyPr wrap="square">
            <a:spAutoFit/>
          </a:bodyPr>
          <a:lstStyle/>
          <a:p>
            <a:r>
              <a:rPr lang="en-US" sz="2200" b="1" dirty="0">
                <a:latin typeface="Times New Roman" pitchFamily="18" charset="0"/>
                <a:cs typeface="Times New Roman" pitchFamily="18" charset="0"/>
              </a:rPr>
              <a:t>Examples</a:t>
            </a:r>
          </a:p>
          <a:p>
            <a:endParaRPr lang="en-US" sz="2200" b="1" dirty="0">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Old </a:t>
            </a:r>
            <a:r>
              <a:rPr lang="en-US" sz="2200" dirty="0" err="1">
                <a:solidFill>
                  <a:srgbClr val="C00000"/>
                </a:solidFill>
                <a:latin typeface="Times New Roman" pitchFamily="18" charset="0"/>
                <a:cs typeface="Times New Roman" pitchFamily="18" charset="0"/>
              </a:rPr>
              <a:t>aluminium</a:t>
            </a:r>
            <a:r>
              <a:rPr lang="en-US" sz="2200" dirty="0">
                <a:solidFill>
                  <a:srgbClr val="C00000"/>
                </a:solidFill>
                <a:latin typeface="Times New Roman" pitchFamily="18" charset="0"/>
                <a:cs typeface="Times New Roman" pitchFamily="18" charset="0"/>
              </a:rPr>
              <a:t> cans and glass bottles are melted and recast into new cans and bottles.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Preparation of cellulose insulation from paper.</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Preparation of fuel pellets from kitchen waste.</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Preparation of automobiles and construction materials from steel cans.</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 above process saves money, energy, raw materials, and reduces pollution.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143000"/>
            <a:ext cx="7848600" cy="2462213"/>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5.2.1 Concept of 3R</a:t>
            </a:r>
          </a:p>
          <a:p>
            <a:pPr>
              <a:buFont typeface="Wingdings" pitchFamily="2" charset="2"/>
              <a:buChar char="v"/>
            </a:pPr>
            <a:r>
              <a:rPr lang="en-US" sz="2200" dirty="0">
                <a:solidFill>
                  <a:srgbClr val="002060"/>
                </a:solidFill>
                <a:latin typeface="Times New Roman" pitchFamily="18" charset="0"/>
                <a:cs typeface="Times New Roman" pitchFamily="18" charset="0"/>
              </a:rPr>
              <a:t>  The concepts of 3R refers to reduce, reuse and recycle, particularly in the topic of production and consumption.</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forces for an increase in the ratio of recyclable materials, further reusing of raw materials and manufacturing wastes and overall reduction in resources and energy used.</a:t>
            </a:r>
          </a:p>
        </p:txBody>
      </p:sp>
      <p:sp>
        <p:nvSpPr>
          <p:cNvPr id="3" name="Rectangle 2"/>
          <p:cNvSpPr/>
          <p:nvPr/>
        </p:nvSpPr>
        <p:spPr>
          <a:xfrm>
            <a:off x="3048000" y="5867400"/>
            <a:ext cx="2560316" cy="430887"/>
          </a:xfrm>
          <a:prstGeom prst="rect">
            <a:avLst/>
          </a:prstGeom>
        </p:spPr>
        <p:txBody>
          <a:bodyPr wrap="none">
            <a:spAutoFit/>
          </a:bodyPr>
          <a:lstStyle/>
          <a:p>
            <a:r>
              <a:rPr lang="en-US" sz="2200" b="1" dirty="0">
                <a:latin typeface="Times New Roman" pitchFamily="18" charset="0"/>
                <a:cs typeface="Times New Roman" pitchFamily="18" charset="0"/>
              </a:rPr>
              <a:t>Fig. 5.3 3R Concept</a:t>
            </a:r>
            <a:endParaRPr lang="en-US" sz="22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7B50C012-EF7C-7E95-09E1-B396552015CF}"/>
              </a:ext>
            </a:extLst>
          </p:cNvPr>
          <p:cNvPicPr>
            <a:picLocks noChangeAspect="1"/>
          </p:cNvPicPr>
          <p:nvPr/>
        </p:nvPicPr>
        <p:blipFill>
          <a:blip r:embed="rId2"/>
          <a:stretch>
            <a:fillRect/>
          </a:stretch>
        </p:blipFill>
        <p:spPr>
          <a:xfrm>
            <a:off x="3429000" y="4038600"/>
            <a:ext cx="1552438" cy="1525439"/>
          </a:xfrm>
          <a:prstGeom prst="rect">
            <a:avLst/>
          </a:prstGeom>
          <a:solidFill>
            <a:schemeClr val="accent2"/>
          </a:solid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8229600" cy="5847755"/>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5.2.2 Principle</a:t>
            </a:r>
          </a:p>
          <a:p>
            <a:pPr>
              <a:buFont typeface="Wingdings" pitchFamily="2" charset="2"/>
              <a:buChar char="q"/>
            </a:pPr>
            <a:r>
              <a:rPr lang="en-US" sz="2200" dirty="0">
                <a:solidFill>
                  <a:srgbClr val="002060"/>
                </a:solidFill>
                <a:latin typeface="Times New Roman" pitchFamily="18" charset="0"/>
                <a:cs typeface="Times New Roman" pitchFamily="18" charset="0"/>
              </a:rPr>
              <a:t>  3R is the order of priority of actions to be taken to reduce the amount of waste generated and to improve overall waste management processes and programs.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5.2.3 Importance of 3 Rs</a:t>
            </a:r>
          </a:p>
          <a:p>
            <a:pPr>
              <a:buFont typeface="Wingdings" pitchFamily="2" charset="2"/>
              <a:buChar char="v"/>
            </a:pPr>
            <a:r>
              <a:rPr lang="en-US" sz="2200" dirty="0">
                <a:solidFill>
                  <a:srgbClr val="002060"/>
                </a:solidFill>
                <a:latin typeface="Times New Roman" pitchFamily="18" charset="0"/>
                <a:cs typeface="Times New Roman" pitchFamily="18" charset="0"/>
              </a:rPr>
              <a:t> The most effective way to reduce the garbage is reducing the amount of solid waste produced.</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By reducing waste at the source, the resources like water and energy can be saved.</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Like reducing, reusing avoids creating waste rather than trying to recycle it once it’s already there.</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Operating a well-run recycling program costs less than waste collection and land filling.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8077200" cy="5847755"/>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Recycling helps families save money because they pay for less disposal costs.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recycling produces less air and water pollution than manufacturing with new materials.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By recycling less materials are sent to landfills, which will keep them for future.</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Proper disposal and recycling will prevent water and soil contamination.</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5.2.4 Advantages and disadvantages of 3 Rs</a:t>
            </a:r>
          </a:p>
          <a:p>
            <a:endParaRPr lang="en-US" sz="2200" b="1" i="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Advantages (or) Benefits of 3 Rs</a:t>
            </a:r>
          </a:p>
          <a:p>
            <a:pPr lvl="2">
              <a:buFont typeface="Wingdings" pitchFamily="2" charset="2"/>
              <a:buChar char="ü"/>
            </a:pPr>
            <a:r>
              <a:rPr lang="en-US" sz="2200" dirty="0">
                <a:solidFill>
                  <a:srgbClr val="C00000"/>
                </a:solidFill>
                <a:latin typeface="Times New Roman" pitchFamily="18" charset="0"/>
                <a:cs typeface="Times New Roman" pitchFamily="18" charset="0"/>
              </a:rPr>
              <a:t>  Reduce greenhouse gas emissions.</a:t>
            </a:r>
          </a:p>
          <a:p>
            <a:pPr lvl="2">
              <a:buFont typeface="Wingdings" pitchFamily="2" charset="2"/>
              <a:buChar char="ü"/>
            </a:pPr>
            <a:r>
              <a:rPr lang="en-US" sz="2200" dirty="0">
                <a:solidFill>
                  <a:srgbClr val="C00000"/>
                </a:solidFill>
                <a:latin typeface="Times New Roman" pitchFamily="18" charset="0"/>
                <a:cs typeface="Times New Roman" pitchFamily="18" charset="0"/>
              </a:rPr>
              <a:t>  Saves energy.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077200" cy="5847755"/>
          </a:xfrm>
          <a:prstGeom prst="rect">
            <a:avLst/>
          </a:prstGeom>
        </p:spPr>
        <p:txBody>
          <a:bodyPr wrap="square">
            <a:spAutoFit/>
          </a:bodyPr>
          <a:lstStyle/>
          <a:p>
            <a:pPr lvl="1">
              <a:buFont typeface="Wingdings" pitchFamily="2" charset="2"/>
              <a:buChar char="ü"/>
            </a:pPr>
            <a:r>
              <a:rPr lang="en-US" sz="2200" dirty="0">
                <a:solidFill>
                  <a:srgbClr val="C00000"/>
                </a:solidFill>
                <a:latin typeface="Times New Roman" pitchFamily="18" charset="0"/>
                <a:cs typeface="Times New Roman" pitchFamily="18" charset="0"/>
              </a:rPr>
              <a:t>  Helps sustain the environment for future generations.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Reduces the amount of waste that will need to be recycled (or) sent to landfills and incinerators.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Save money.</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Prevent pollution.</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Disadvantages of 3 Rs</a:t>
            </a:r>
          </a:p>
          <a:p>
            <a:pPr marL="457200" indent="-457200">
              <a:buFont typeface="Wingdings" pitchFamily="2" charset="2"/>
              <a:buChar char="Ø"/>
            </a:pPr>
            <a:r>
              <a:rPr lang="en-US" sz="2200" dirty="0">
                <a:solidFill>
                  <a:srgbClr val="002060"/>
                </a:solidFill>
                <a:latin typeface="Times New Roman" pitchFamily="18" charset="0"/>
                <a:cs typeface="Times New Roman" pitchFamily="18" charset="0"/>
              </a:rPr>
              <a:t>High upfront capital cost.</a:t>
            </a:r>
          </a:p>
          <a:p>
            <a:pPr marL="457200" indent="-4572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Recycling sites are always unhygienic, unsafe and unsightly.</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Products from recycled waste may not be durable.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Recycling might not be inexpensive.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7848600" cy="5509200"/>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3R is more energy consumption and pollution.</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3R generates pollutants.</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Processing cost is high.</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Quality of resultant product is low.</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5.3 CIRCULAR ECONOMY</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endParaRPr lang="en-US" sz="2200" b="1" dirty="0">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Circular economy </a:t>
            </a:r>
            <a:r>
              <a:rPr lang="en-US" sz="2200" b="1" i="1" dirty="0">
                <a:solidFill>
                  <a:srgbClr val="C00000"/>
                </a:solidFill>
                <a:latin typeface="Times New Roman" pitchFamily="18" charset="0"/>
                <a:cs typeface="Times New Roman" pitchFamily="18" charset="0"/>
              </a:rPr>
              <a:t>is a new production and consumption model that ensures sustainable growth over time. It reduces the consumption of raw materials and recover wastes by recycling (or) giving it a second life as a new product.</a:t>
            </a:r>
            <a:endParaRPr lang="en-US" sz="2200" dirty="0">
              <a:solidFill>
                <a:srgbClr val="C00000"/>
              </a:solidFill>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5324535"/>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5.3.1 Aim (or) Purpose</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Aim of the circular economy is to make the most of the material resources available to us by applying three basic principles reduce, reuse and recycle.</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In this way the life cycle of products is extended, waste is used and a more efficient and sustainable production model is established over time.</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5.3.2 Benefits of circular economy</a:t>
            </a:r>
          </a:p>
          <a:p>
            <a:pPr lvl="3">
              <a:buFont typeface="Wingdings" pitchFamily="2" charset="2"/>
              <a:buChar char="ü"/>
            </a:pPr>
            <a:r>
              <a:rPr lang="en-US" sz="2200" dirty="0">
                <a:solidFill>
                  <a:srgbClr val="C00000"/>
                </a:solidFill>
                <a:latin typeface="Times New Roman" pitchFamily="18" charset="0"/>
                <a:cs typeface="Times New Roman" pitchFamily="18" charset="0"/>
              </a:rPr>
              <a:t>  It protects environment.</a:t>
            </a:r>
          </a:p>
          <a:p>
            <a:pPr lvl="3">
              <a:buFont typeface="Wingdings" pitchFamily="2" charset="2"/>
              <a:buChar char="ü"/>
            </a:pPr>
            <a:r>
              <a:rPr lang="en-US" sz="2200" dirty="0">
                <a:solidFill>
                  <a:srgbClr val="C00000"/>
                </a:solidFill>
                <a:latin typeface="Times New Roman" pitchFamily="18" charset="0"/>
                <a:cs typeface="Times New Roman" pitchFamily="18" charset="0"/>
              </a:rPr>
              <a:t>  Circular economy benefits the local economy.</a:t>
            </a:r>
          </a:p>
          <a:p>
            <a:pPr lvl="3">
              <a:buFont typeface="Wingdings" pitchFamily="2" charset="2"/>
              <a:buChar char="ü"/>
            </a:pPr>
            <a:r>
              <a:rPr lang="en-US" sz="2200" dirty="0">
                <a:solidFill>
                  <a:srgbClr val="C00000"/>
                </a:solidFill>
                <a:latin typeface="Times New Roman" pitchFamily="18" charset="0"/>
                <a:cs typeface="Times New Roman" pitchFamily="18" charset="0"/>
              </a:rPr>
              <a:t>  It drives employment growth.</a:t>
            </a:r>
          </a:p>
          <a:p>
            <a:pPr lvl="3">
              <a:buFont typeface="Wingdings" pitchFamily="2" charset="2"/>
              <a:buChar char="ü"/>
            </a:pPr>
            <a:r>
              <a:rPr lang="en-US" sz="2200" dirty="0">
                <a:solidFill>
                  <a:srgbClr val="C00000"/>
                </a:solidFill>
                <a:latin typeface="Times New Roman" pitchFamily="18" charset="0"/>
                <a:cs typeface="Times New Roman" pitchFamily="18" charset="0"/>
              </a:rPr>
              <a:t>  It promotes resource independence.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ChangeArrowheads="1"/>
          </p:cNvSpPr>
          <p:nvPr/>
        </p:nvSpPr>
        <p:spPr bwMode="auto">
          <a:xfrm>
            <a:off x="2590800" y="5791200"/>
            <a:ext cx="3364511"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5.4 Circular Economy</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grpSp>
        <p:nvGrpSpPr>
          <p:cNvPr id="27" name="Group 27">
            <a:extLst>
              <a:ext uri="{FF2B5EF4-FFF2-40B4-BE49-F238E27FC236}">
                <a16:creationId xmlns:a16="http://schemas.microsoft.com/office/drawing/2014/main" id="{322BC332-A1B7-03E4-FADD-39942D541F01}"/>
              </a:ext>
            </a:extLst>
          </p:cNvPr>
          <p:cNvGrpSpPr>
            <a:grpSpLocks/>
          </p:cNvGrpSpPr>
          <p:nvPr/>
        </p:nvGrpSpPr>
        <p:grpSpPr bwMode="auto">
          <a:xfrm>
            <a:off x="2590800" y="1447800"/>
            <a:ext cx="3810000" cy="3429000"/>
            <a:chOff x="4056" y="252"/>
            <a:chExt cx="4163" cy="4133"/>
          </a:xfrm>
          <a:solidFill>
            <a:schemeClr val="accent2"/>
          </a:solidFill>
        </p:grpSpPr>
        <p:pic>
          <p:nvPicPr>
            <p:cNvPr id="1052" name="Picture 28">
              <a:extLst>
                <a:ext uri="{FF2B5EF4-FFF2-40B4-BE49-F238E27FC236}">
                  <a16:creationId xmlns:a16="http://schemas.microsoft.com/office/drawing/2014/main" id="{D26780A6-EC12-F7EE-234E-30EFF2D6C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6" y="252"/>
              <a:ext cx="4163" cy="41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8" name="AutoShape 29">
              <a:extLst>
                <a:ext uri="{FF2B5EF4-FFF2-40B4-BE49-F238E27FC236}">
                  <a16:creationId xmlns:a16="http://schemas.microsoft.com/office/drawing/2014/main" id="{A2A56BBC-A27F-A1D0-775E-92273D0FBEDD}"/>
                </a:ext>
              </a:extLst>
            </p:cNvPr>
            <p:cNvSpPr>
              <a:spLocks/>
            </p:cNvSpPr>
            <p:nvPr/>
          </p:nvSpPr>
          <p:spPr bwMode="auto">
            <a:xfrm>
              <a:off x="5837" y="2143"/>
              <a:ext cx="504" cy="125"/>
            </a:xfrm>
            <a:custGeom>
              <a:avLst/>
              <a:gdLst>
                <a:gd name="T0" fmla="+- 0 5924 5838"/>
                <a:gd name="T1" fmla="*/ T0 w 504"/>
                <a:gd name="T2" fmla="+- 0 2156 2144"/>
                <a:gd name="T3" fmla="*/ 2156 h 125"/>
                <a:gd name="T4" fmla="+- 0 5845 5838"/>
                <a:gd name="T5" fmla="*/ T4 w 504"/>
                <a:gd name="T6" fmla="+- 0 2180 2144"/>
                <a:gd name="T7" fmla="*/ 2180 h 125"/>
                <a:gd name="T8" fmla="+- 0 5871 5838"/>
                <a:gd name="T9" fmla="*/ T8 w 504"/>
                <a:gd name="T10" fmla="+- 0 2261 2144"/>
                <a:gd name="T11" fmla="*/ 2261 h 125"/>
                <a:gd name="T12" fmla="+- 0 5941 5838"/>
                <a:gd name="T13" fmla="*/ T12 w 504"/>
                <a:gd name="T14" fmla="+- 0 2240 2144"/>
                <a:gd name="T15" fmla="*/ 2240 h 125"/>
                <a:gd name="T16" fmla="+- 0 5888 5838"/>
                <a:gd name="T17" fmla="*/ T16 w 504"/>
                <a:gd name="T18" fmla="+- 0 2259 2144"/>
                <a:gd name="T19" fmla="*/ 2259 h 125"/>
                <a:gd name="T20" fmla="+- 0 5864 5838"/>
                <a:gd name="T21" fmla="*/ T20 w 504"/>
                <a:gd name="T22" fmla="+- 0 2180 2144"/>
                <a:gd name="T23" fmla="*/ 2180 h 125"/>
                <a:gd name="T24" fmla="+- 0 5931 5838"/>
                <a:gd name="T25" fmla="*/ T24 w 504"/>
                <a:gd name="T26" fmla="+- 0 2172 2144"/>
                <a:gd name="T27" fmla="*/ 2172 h 125"/>
                <a:gd name="T28" fmla="+- 0 5977 5838"/>
                <a:gd name="T29" fmla="*/ T28 w 504"/>
                <a:gd name="T30" fmla="+- 0 2147 2144"/>
                <a:gd name="T31" fmla="*/ 2147 h 125"/>
                <a:gd name="T32" fmla="+- 0 5967 5838"/>
                <a:gd name="T33" fmla="*/ T32 w 504"/>
                <a:gd name="T34" fmla="+- 0 2152 2144"/>
                <a:gd name="T35" fmla="*/ 2152 h 125"/>
                <a:gd name="T36" fmla="+- 0 5982 5838"/>
                <a:gd name="T37" fmla="*/ T36 w 504"/>
                <a:gd name="T38" fmla="+- 0 2258 2144"/>
                <a:gd name="T39" fmla="*/ 2258 h 125"/>
                <a:gd name="T40" fmla="+- 0 5982 5838"/>
                <a:gd name="T41" fmla="*/ T40 w 504"/>
                <a:gd name="T42" fmla="+- 0 2188 2144"/>
                <a:gd name="T43" fmla="*/ 2188 h 125"/>
                <a:gd name="T44" fmla="+- 0 5960 5838"/>
                <a:gd name="T45" fmla="*/ T44 w 504"/>
                <a:gd name="T46" fmla="+- 0 2195 2144"/>
                <a:gd name="T47" fmla="*/ 2195 h 125"/>
                <a:gd name="T48" fmla="+- 0 5984 5838"/>
                <a:gd name="T49" fmla="*/ T48 w 504"/>
                <a:gd name="T50" fmla="+- 0 2262 2144"/>
                <a:gd name="T51" fmla="*/ 2262 h 125"/>
                <a:gd name="T52" fmla="+- 0 5970 5838"/>
                <a:gd name="T53" fmla="*/ T52 w 504"/>
                <a:gd name="T54" fmla="+- 0 2162 2144"/>
                <a:gd name="T55" fmla="*/ 2162 h 125"/>
                <a:gd name="T56" fmla="+- 0 5984 5838"/>
                <a:gd name="T57" fmla="*/ T56 w 504"/>
                <a:gd name="T58" fmla="+- 0 2159 2144"/>
                <a:gd name="T59" fmla="*/ 2159 h 125"/>
                <a:gd name="T60" fmla="+- 0 5994 5838"/>
                <a:gd name="T61" fmla="*/ T60 w 504"/>
                <a:gd name="T62" fmla="+- 0 2262 2144"/>
                <a:gd name="T63" fmla="*/ 2262 h 125"/>
                <a:gd name="T64" fmla="+- 0 6027 5838"/>
                <a:gd name="T65" fmla="*/ T64 w 504"/>
                <a:gd name="T66" fmla="+- 0 2187 2144"/>
                <a:gd name="T67" fmla="*/ 2187 h 125"/>
                <a:gd name="T68" fmla="+- 0 6013 5838"/>
                <a:gd name="T69" fmla="*/ T68 w 504"/>
                <a:gd name="T70" fmla="+- 0 2201 2144"/>
                <a:gd name="T71" fmla="*/ 2201 h 125"/>
                <a:gd name="T72" fmla="+- 0 6037 5838"/>
                <a:gd name="T73" fmla="*/ T72 w 504"/>
                <a:gd name="T74" fmla="+- 0 2266 2144"/>
                <a:gd name="T75" fmla="*/ 2266 h 125"/>
                <a:gd name="T76" fmla="+- 0 6030 5838"/>
                <a:gd name="T77" fmla="*/ T76 w 504"/>
                <a:gd name="T78" fmla="+- 0 2204 2144"/>
                <a:gd name="T79" fmla="*/ 2204 h 125"/>
                <a:gd name="T80" fmla="+- 0 6051 5838"/>
                <a:gd name="T81" fmla="*/ T80 w 504"/>
                <a:gd name="T82" fmla="+- 0 2201 2144"/>
                <a:gd name="T83" fmla="*/ 2201 h 125"/>
                <a:gd name="T84" fmla="+- 0 6109 5838"/>
                <a:gd name="T85" fmla="*/ T84 w 504"/>
                <a:gd name="T86" fmla="+- 0 2187 2144"/>
                <a:gd name="T87" fmla="*/ 2187 h 125"/>
                <a:gd name="T88" fmla="+- 0 6080 5838"/>
                <a:gd name="T89" fmla="*/ T88 w 504"/>
                <a:gd name="T90" fmla="+- 0 2266 2144"/>
                <a:gd name="T91" fmla="*/ 2266 h 125"/>
                <a:gd name="T92" fmla="+- 0 6123 5838"/>
                <a:gd name="T93" fmla="*/ T92 w 504"/>
                <a:gd name="T94" fmla="+- 0 2232 2144"/>
                <a:gd name="T95" fmla="*/ 2232 h 125"/>
                <a:gd name="T96" fmla="+- 0 6075 5838"/>
                <a:gd name="T97" fmla="*/ T96 w 504"/>
                <a:gd name="T98" fmla="+- 0 2232 2144"/>
                <a:gd name="T99" fmla="*/ 2232 h 125"/>
                <a:gd name="T100" fmla="+- 0 6104 5838"/>
                <a:gd name="T101" fmla="*/ T100 w 504"/>
                <a:gd name="T102" fmla="+- 0 2194 2144"/>
                <a:gd name="T103" fmla="*/ 2194 h 125"/>
                <a:gd name="T104" fmla="+- 0 6123 5838"/>
                <a:gd name="T105" fmla="*/ T104 w 504"/>
                <a:gd name="T106" fmla="+- 0 2208 2144"/>
                <a:gd name="T107" fmla="*/ 2208 h 125"/>
                <a:gd name="T108" fmla="+- 0 6207 5838"/>
                <a:gd name="T109" fmla="*/ T108 w 504"/>
                <a:gd name="T110" fmla="+- 0 2252 2144"/>
                <a:gd name="T111" fmla="*/ 2252 h 125"/>
                <a:gd name="T112" fmla="+- 0 6190 5838"/>
                <a:gd name="T113" fmla="*/ T112 w 504"/>
                <a:gd name="T114" fmla="+- 0 2194 2144"/>
                <a:gd name="T115" fmla="*/ 2194 h 125"/>
                <a:gd name="T116" fmla="+- 0 6164 5838"/>
                <a:gd name="T117" fmla="*/ T116 w 504"/>
                <a:gd name="T118" fmla="+- 0 2254 2144"/>
                <a:gd name="T119" fmla="*/ 2254 h 125"/>
                <a:gd name="T120" fmla="+- 0 6145 5838"/>
                <a:gd name="T121" fmla="*/ T120 w 504"/>
                <a:gd name="T122" fmla="+- 0 2194 2144"/>
                <a:gd name="T123" fmla="*/ 2194 h 125"/>
                <a:gd name="T124" fmla="+- 0 6159 5838"/>
                <a:gd name="T125" fmla="*/ T124 w 504"/>
                <a:gd name="T126" fmla="+- 0 2268 2144"/>
                <a:gd name="T127" fmla="*/ 2268 h 125"/>
                <a:gd name="T128" fmla="+- 0 6198 5838"/>
                <a:gd name="T129" fmla="*/ T128 w 504"/>
                <a:gd name="T130" fmla="+- 0 2268 2144"/>
                <a:gd name="T131" fmla="*/ 2268 h 125"/>
                <a:gd name="T132" fmla="+- 0 6250 5838"/>
                <a:gd name="T133" fmla="*/ T132 w 504"/>
                <a:gd name="T134" fmla="+- 0 2254 2144"/>
                <a:gd name="T135" fmla="*/ 2254 h 125"/>
                <a:gd name="T136" fmla="+- 0 6234 5838"/>
                <a:gd name="T137" fmla="*/ T136 w 504"/>
                <a:gd name="T138" fmla="+- 0 2156 2144"/>
                <a:gd name="T139" fmla="*/ 2156 h 125"/>
                <a:gd name="T140" fmla="+- 0 6265 5838"/>
                <a:gd name="T141" fmla="*/ T140 w 504"/>
                <a:gd name="T142" fmla="+- 0 2261 2144"/>
                <a:gd name="T143" fmla="*/ 2261 h 125"/>
                <a:gd name="T144" fmla="+- 0 6284 5838"/>
                <a:gd name="T145" fmla="*/ T144 w 504"/>
                <a:gd name="T146" fmla="+- 0 2231 2144"/>
                <a:gd name="T147" fmla="*/ 2231 h 125"/>
                <a:gd name="T148" fmla="+- 0 6274 5838"/>
                <a:gd name="T149" fmla="*/ T148 w 504"/>
                <a:gd name="T150" fmla="+- 0 2238 2144"/>
                <a:gd name="T151" fmla="*/ 2238 h 125"/>
                <a:gd name="T152" fmla="+- 0 6272 5838"/>
                <a:gd name="T153" fmla="*/ T152 w 504"/>
                <a:gd name="T154" fmla="+- 0 2250 2144"/>
                <a:gd name="T155" fmla="*/ 2250 h 125"/>
                <a:gd name="T156" fmla="+- 0 6277 5838"/>
                <a:gd name="T157" fmla="*/ T156 w 504"/>
                <a:gd name="T158" fmla="+- 0 2260 2144"/>
                <a:gd name="T159" fmla="*/ 2260 h 125"/>
                <a:gd name="T160" fmla="+- 0 6291 5838"/>
                <a:gd name="T161" fmla="*/ T160 w 504"/>
                <a:gd name="T162" fmla="+- 0 2253 2144"/>
                <a:gd name="T163" fmla="*/ 2253 h 125"/>
                <a:gd name="T164" fmla="+- 0 6289 5838"/>
                <a:gd name="T165" fmla="*/ T164 w 504"/>
                <a:gd name="T166" fmla="+- 0 2243 2144"/>
                <a:gd name="T167" fmla="*/ 2243 h 125"/>
                <a:gd name="T168" fmla="+- 0 6294 5838"/>
                <a:gd name="T169" fmla="*/ T168 w 504"/>
                <a:gd name="T170" fmla="+- 0 2231 2144"/>
                <a:gd name="T171" fmla="*/ 2231 h 125"/>
                <a:gd name="T172" fmla="+- 0 6330 5838"/>
                <a:gd name="T173" fmla="*/ T172 w 504"/>
                <a:gd name="T174" fmla="+- 0 2200 2144"/>
                <a:gd name="T175" fmla="*/ 2200 h 125"/>
                <a:gd name="T176" fmla="+- 0 6322 5838"/>
                <a:gd name="T177" fmla="*/ T176 w 504"/>
                <a:gd name="T178" fmla="+- 0 2190 2144"/>
                <a:gd name="T179" fmla="*/ 2190 h 125"/>
                <a:gd name="T180" fmla="+- 0 6282 5838"/>
                <a:gd name="T181" fmla="*/ T180 w 504"/>
                <a:gd name="T182" fmla="+- 0 2193 2144"/>
                <a:gd name="T183" fmla="*/ 2193 h 125"/>
                <a:gd name="T184" fmla="+- 0 6277 5838"/>
                <a:gd name="T185" fmla="*/ T184 w 504"/>
                <a:gd name="T186" fmla="+- 0 2202 2144"/>
                <a:gd name="T187" fmla="*/ 2202 h 125"/>
                <a:gd name="T188" fmla="+- 0 6289 5838"/>
                <a:gd name="T189" fmla="*/ T188 w 504"/>
                <a:gd name="T190" fmla="+- 0 2212 2144"/>
                <a:gd name="T191" fmla="*/ 2212 h 125"/>
                <a:gd name="T192" fmla="+- 0 6291 5838"/>
                <a:gd name="T193" fmla="*/ T192 w 504"/>
                <a:gd name="T194" fmla="+- 0 2200 2144"/>
                <a:gd name="T195" fmla="*/ 2200 h 125"/>
                <a:gd name="T196" fmla="+- 0 6296 5838"/>
                <a:gd name="T197" fmla="*/ T196 w 504"/>
                <a:gd name="T198" fmla="+- 0 2190 2144"/>
                <a:gd name="T199" fmla="*/ 2190 h 125"/>
                <a:gd name="T200" fmla="+- 0 6315 5838"/>
                <a:gd name="T201" fmla="*/ T200 w 504"/>
                <a:gd name="T202" fmla="+- 0 2198 2144"/>
                <a:gd name="T203" fmla="*/ 2198 h 125"/>
                <a:gd name="T204" fmla="+- 0 6318 5838"/>
                <a:gd name="T205" fmla="*/ T204 w 504"/>
                <a:gd name="T206" fmla="+- 0 2210 2144"/>
                <a:gd name="T207" fmla="*/ 2210 h 125"/>
                <a:gd name="T208" fmla="+- 0 6301 5838"/>
                <a:gd name="T209" fmla="*/ T208 w 504"/>
                <a:gd name="T210" fmla="+- 0 2224 2144"/>
                <a:gd name="T211" fmla="*/ 2224 h 125"/>
                <a:gd name="T212" fmla="+- 0 6318 5838"/>
                <a:gd name="T213" fmla="*/ T212 w 504"/>
                <a:gd name="T214" fmla="+- 0 2222 2144"/>
                <a:gd name="T215" fmla="*/ 2222 h 125"/>
                <a:gd name="T216" fmla="+- 0 6318 5838"/>
                <a:gd name="T217" fmla="*/ T216 w 504"/>
                <a:gd name="T218" fmla="+- 0 2236 2144"/>
                <a:gd name="T219" fmla="*/ 2236 h 125"/>
                <a:gd name="T220" fmla="+- 0 6318 5838"/>
                <a:gd name="T221" fmla="*/ T220 w 504"/>
                <a:gd name="T222" fmla="+- 0 2250 2144"/>
                <a:gd name="T223" fmla="*/ 2250 h 125"/>
                <a:gd name="T224" fmla="+- 0 6308 5838"/>
                <a:gd name="T225" fmla="*/ T224 w 504"/>
                <a:gd name="T226" fmla="+- 0 2258 2144"/>
                <a:gd name="T227" fmla="*/ 2258 h 125"/>
                <a:gd name="T228" fmla="+- 0 6332 5838"/>
                <a:gd name="T229" fmla="*/ T228 w 504"/>
                <a:gd name="T230" fmla="+- 0 2248 2144"/>
                <a:gd name="T231" fmla="*/ 2248 h 125"/>
                <a:gd name="T232" fmla="+- 0 6332 5838"/>
                <a:gd name="T233" fmla="*/ T232 w 504"/>
                <a:gd name="T234" fmla="+- 0 2234 2144"/>
                <a:gd name="T235" fmla="*/ 2234 h 125"/>
                <a:gd name="T236" fmla="+- 0 6332 5838"/>
                <a:gd name="T237" fmla="*/ T236 w 504"/>
                <a:gd name="T238" fmla="+- 0 2222 2144"/>
                <a:gd name="T239" fmla="*/ 2222 h 125"/>
                <a:gd name="T240" fmla="+- 0 6332 5838"/>
                <a:gd name="T241" fmla="*/ T240 w 504"/>
                <a:gd name="T242" fmla="+- 0 2202 2144"/>
                <a:gd name="T243" fmla="*/ 2202 h 125"/>
                <a:gd name="T244" fmla="+- 0 6342 5838"/>
                <a:gd name="T245" fmla="*/ T244 w 504"/>
                <a:gd name="T246" fmla="+- 0 2255 2144"/>
                <a:gd name="T247" fmla="*/ 2255 h 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Lst>
              <a:rect l="0" t="0" r="r" b="b"/>
              <a:pathLst>
                <a:path w="504" h="125">
                  <a:moveTo>
                    <a:pt x="103" y="43"/>
                  </a:moveTo>
                  <a:lnTo>
                    <a:pt x="100" y="4"/>
                  </a:lnTo>
                  <a:lnTo>
                    <a:pt x="96" y="4"/>
                  </a:lnTo>
                  <a:lnTo>
                    <a:pt x="96" y="7"/>
                  </a:lnTo>
                  <a:lnTo>
                    <a:pt x="93" y="12"/>
                  </a:lnTo>
                  <a:lnTo>
                    <a:pt x="86" y="12"/>
                  </a:lnTo>
                  <a:lnTo>
                    <a:pt x="72" y="4"/>
                  </a:lnTo>
                  <a:lnTo>
                    <a:pt x="60" y="4"/>
                  </a:lnTo>
                  <a:lnTo>
                    <a:pt x="43" y="7"/>
                  </a:lnTo>
                  <a:lnTo>
                    <a:pt x="28" y="12"/>
                  </a:lnTo>
                  <a:lnTo>
                    <a:pt x="19" y="21"/>
                  </a:lnTo>
                  <a:lnTo>
                    <a:pt x="7" y="36"/>
                  </a:lnTo>
                  <a:lnTo>
                    <a:pt x="4" y="50"/>
                  </a:lnTo>
                  <a:lnTo>
                    <a:pt x="0" y="64"/>
                  </a:lnTo>
                  <a:lnTo>
                    <a:pt x="4" y="86"/>
                  </a:lnTo>
                  <a:lnTo>
                    <a:pt x="14" y="103"/>
                  </a:lnTo>
                  <a:lnTo>
                    <a:pt x="21" y="115"/>
                  </a:lnTo>
                  <a:lnTo>
                    <a:pt x="33" y="117"/>
                  </a:lnTo>
                  <a:lnTo>
                    <a:pt x="43" y="124"/>
                  </a:lnTo>
                  <a:lnTo>
                    <a:pt x="57" y="124"/>
                  </a:lnTo>
                  <a:lnTo>
                    <a:pt x="72" y="122"/>
                  </a:lnTo>
                  <a:lnTo>
                    <a:pt x="86" y="117"/>
                  </a:lnTo>
                  <a:lnTo>
                    <a:pt x="96" y="108"/>
                  </a:lnTo>
                  <a:lnTo>
                    <a:pt x="103" y="96"/>
                  </a:lnTo>
                  <a:lnTo>
                    <a:pt x="103" y="93"/>
                  </a:lnTo>
                  <a:lnTo>
                    <a:pt x="93" y="103"/>
                  </a:lnTo>
                  <a:lnTo>
                    <a:pt x="81" y="110"/>
                  </a:lnTo>
                  <a:lnTo>
                    <a:pt x="74" y="115"/>
                  </a:lnTo>
                  <a:lnTo>
                    <a:pt x="64" y="117"/>
                  </a:lnTo>
                  <a:lnTo>
                    <a:pt x="50" y="115"/>
                  </a:lnTo>
                  <a:lnTo>
                    <a:pt x="40" y="110"/>
                  </a:lnTo>
                  <a:lnTo>
                    <a:pt x="33" y="103"/>
                  </a:lnTo>
                  <a:lnTo>
                    <a:pt x="26" y="93"/>
                  </a:lnTo>
                  <a:lnTo>
                    <a:pt x="21" y="81"/>
                  </a:lnTo>
                  <a:lnTo>
                    <a:pt x="21" y="50"/>
                  </a:lnTo>
                  <a:lnTo>
                    <a:pt x="26" y="36"/>
                  </a:lnTo>
                  <a:lnTo>
                    <a:pt x="33" y="26"/>
                  </a:lnTo>
                  <a:lnTo>
                    <a:pt x="40" y="14"/>
                  </a:lnTo>
                  <a:lnTo>
                    <a:pt x="50" y="12"/>
                  </a:lnTo>
                  <a:lnTo>
                    <a:pt x="74" y="12"/>
                  </a:lnTo>
                  <a:lnTo>
                    <a:pt x="86" y="19"/>
                  </a:lnTo>
                  <a:lnTo>
                    <a:pt x="93" y="28"/>
                  </a:lnTo>
                  <a:lnTo>
                    <a:pt x="100" y="43"/>
                  </a:lnTo>
                  <a:lnTo>
                    <a:pt x="103" y="43"/>
                  </a:lnTo>
                  <a:close/>
                  <a:moveTo>
                    <a:pt x="144" y="6"/>
                  </a:moveTo>
                  <a:lnTo>
                    <a:pt x="141" y="6"/>
                  </a:lnTo>
                  <a:lnTo>
                    <a:pt x="141" y="3"/>
                  </a:lnTo>
                  <a:lnTo>
                    <a:pt x="139" y="3"/>
                  </a:lnTo>
                  <a:lnTo>
                    <a:pt x="139" y="1"/>
                  </a:lnTo>
                  <a:lnTo>
                    <a:pt x="132" y="1"/>
                  </a:lnTo>
                  <a:lnTo>
                    <a:pt x="132" y="3"/>
                  </a:lnTo>
                  <a:lnTo>
                    <a:pt x="132" y="6"/>
                  </a:lnTo>
                  <a:lnTo>
                    <a:pt x="132" y="8"/>
                  </a:lnTo>
                  <a:lnTo>
                    <a:pt x="129" y="8"/>
                  </a:lnTo>
                  <a:lnTo>
                    <a:pt x="129" y="10"/>
                  </a:lnTo>
                  <a:lnTo>
                    <a:pt x="144" y="10"/>
                  </a:lnTo>
                  <a:lnTo>
                    <a:pt x="144" y="8"/>
                  </a:lnTo>
                  <a:lnTo>
                    <a:pt x="144" y="6"/>
                  </a:lnTo>
                  <a:close/>
                  <a:moveTo>
                    <a:pt x="146" y="114"/>
                  </a:moveTo>
                  <a:lnTo>
                    <a:pt x="144" y="114"/>
                  </a:lnTo>
                  <a:lnTo>
                    <a:pt x="144" y="54"/>
                  </a:lnTo>
                  <a:lnTo>
                    <a:pt x="144" y="51"/>
                  </a:lnTo>
                  <a:lnTo>
                    <a:pt x="144" y="49"/>
                  </a:lnTo>
                  <a:lnTo>
                    <a:pt x="144" y="46"/>
                  </a:lnTo>
                  <a:lnTo>
                    <a:pt x="144" y="44"/>
                  </a:lnTo>
                  <a:lnTo>
                    <a:pt x="139" y="44"/>
                  </a:lnTo>
                  <a:lnTo>
                    <a:pt x="139" y="46"/>
                  </a:lnTo>
                  <a:lnTo>
                    <a:pt x="129" y="46"/>
                  </a:lnTo>
                  <a:lnTo>
                    <a:pt x="129" y="49"/>
                  </a:lnTo>
                  <a:lnTo>
                    <a:pt x="122" y="49"/>
                  </a:lnTo>
                  <a:lnTo>
                    <a:pt x="122" y="51"/>
                  </a:lnTo>
                  <a:lnTo>
                    <a:pt x="117" y="51"/>
                  </a:lnTo>
                  <a:lnTo>
                    <a:pt x="117" y="54"/>
                  </a:lnTo>
                  <a:lnTo>
                    <a:pt x="129" y="54"/>
                  </a:lnTo>
                  <a:lnTo>
                    <a:pt x="129" y="114"/>
                  </a:lnTo>
                  <a:lnTo>
                    <a:pt x="129" y="118"/>
                  </a:lnTo>
                  <a:lnTo>
                    <a:pt x="146" y="118"/>
                  </a:lnTo>
                  <a:lnTo>
                    <a:pt x="146" y="114"/>
                  </a:lnTo>
                  <a:close/>
                  <a:moveTo>
                    <a:pt x="146" y="10"/>
                  </a:moveTo>
                  <a:lnTo>
                    <a:pt x="129" y="10"/>
                  </a:lnTo>
                  <a:lnTo>
                    <a:pt x="129" y="15"/>
                  </a:lnTo>
                  <a:lnTo>
                    <a:pt x="132" y="15"/>
                  </a:lnTo>
                  <a:lnTo>
                    <a:pt x="132" y="18"/>
                  </a:lnTo>
                  <a:lnTo>
                    <a:pt x="132" y="20"/>
                  </a:lnTo>
                  <a:lnTo>
                    <a:pt x="141" y="20"/>
                  </a:lnTo>
                  <a:lnTo>
                    <a:pt x="141" y="18"/>
                  </a:lnTo>
                  <a:lnTo>
                    <a:pt x="144" y="18"/>
                  </a:lnTo>
                  <a:lnTo>
                    <a:pt x="144" y="15"/>
                  </a:lnTo>
                  <a:lnTo>
                    <a:pt x="146" y="15"/>
                  </a:lnTo>
                  <a:lnTo>
                    <a:pt x="146" y="10"/>
                  </a:lnTo>
                  <a:close/>
                  <a:moveTo>
                    <a:pt x="156" y="118"/>
                  </a:moveTo>
                  <a:lnTo>
                    <a:pt x="117" y="118"/>
                  </a:lnTo>
                  <a:lnTo>
                    <a:pt x="117" y="123"/>
                  </a:lnTo>
                  <a:lnTo>
                    <a:pt x="156" y="123"/>
                  </a:lnTo>
                  <a:lnTo>
                    <a:pt x="156" y="118"/>
                  </a:lnTo>
                  <a:close/>
                  <a:moveTo>
                    <a:pt x="218" y="45"/>
                  </a:moveTo>
                  <a:lnTo>
                    <a:pt x="213" y="43"/>
                  </a:lnTo>
                  <a:lnTo>
                    <a:pt x="206" y="43"/>
                  </a:lnTo>
                  <a:lnTo>
                    <a:pt x="196" y="45"/>
                  </a:lnTo>
                  <a:lnTo>
                    <a:pt x="189" y="60"/>
                  </a:lnTo>
                  <a:lnTo>
                    <a:pt x="189" y="43"/>
                  </a:lnTo>
                  <a:lnTo>
                    <a:pt x="184" y="43"/>
                  </a:lnTo>
                  <a:lnTo>
                    <a:pt x="160" y="50"/>
                  </a:lnTo>
                  <a:lnTo>
                    <a:pt x="160" y="52"/>
                  </a:lnTo>
                  <a:lnTo>
                    <a:pt x="170" y="52"/>
                  </a:lnTo>
                  <a:lnTo>
                    <a:pt x="170" y="57"/>
                  </a:lnTo>
                  <a:lnTo>
                    <a:pt x="175" y="57"/>
                  </a:lnTo>
                  <a:lnTo>
                    <a:pt x="175" y="115"/>
                  </a:lnTo>
                  <a:lnTo>
                    <a:pt x="170" y="115"/>
                  </a:lnTo>
                  <a:lnTo>
                    <a:pt x="170" y="117"/>
                  </a:lnTo>
                  <a:lnTo>
                    <a:pt x="160" y="117"/>
                  </a:lnTo>
                  <a:lnTo>
                    <a:pt x="160" y="122"/>
                  </a:lnTo>
                  <a:lnTo>
                    <a:pt x="199" y="122"/>
                  </a:lnTo>
                  <a:lnTo>
                    <a:pt x="199" y="117"/>
                  </a:lnTo>
                  <a:lnTo>
                    <a:pt x="192" y="117"/>
                  </a:lnTo>
                  <a:lnTo>
                    <a:pt x="192" y="115"/>
                  </a:lnTo>
                  <a:lnTo>
                    <a:pt x="189" y="115"/>
                  </a:lnTo>
                  <a:lnTo>
                    <a:pt x="189" y="67"/>
                  </a:lnTo>
                  <a:lnTo>
                    <a:pt x="192" y="60"/>
                  </a:lnTo>
                  <a:lnTo>
                    <a:pt x="196" y="52"/>
                  </a:lnTo>
                  <a:lnTo>
                    <a:pt x="199" y="52"/>
                  </a:lnTo>
                  <a:lnTo>
                    <a:pt x="204" y="57"/>
                  </a:lnTo>
                  <a:lnTo>
                    <a:pt x="206" y="57"/>
                  </a:lnTo>
                  <a:lnTo>
                    <a:pt x="211" y="60"/>
                  </a:lnTo>
                  <a:lnTo>
                    <a:pt x="213" y="57"/>
                  </a:lnTo>
                  <a:lnTo>
                    <a:pt x="218" y="57"/>
                  </a:lnTo>
                  <a:lnTo>
                    <a:pt x="218" y="45"/>
                  </a:lnTo>
                  <a:close/>
                  <a:moveTo>
                    <a:pt x="288" y="60"/>
                  </a:moveTo>
                  <a:lnTo>
                    <a:pt x="285" y="52"/>
                  </a:lnTo>
                  <a:lnTo>
                    <a:pt x="278" y="45"/>
                  </a:lnTo>
                  <a:lnTo>
                    <a:pt x="271" y="43"/>
                  </a:lnTo>
                  <a:lnTo>
                    <a:pt x="244" y="43"/>
                  </a:lnTo>
                  <a:lnTo>
                    <a:pt x="235" y="52"/>
                  </a:lnTo>
                  <a:lnTo>
                    <a:pt x="225" y="67"/>
                  </a:lnTo>
                  <a:lnTo>
                    <a:pt x="225" y="100"/>
                  </a:lnTo>
                  <a:lnTo>
                    <a:pt x="232" y="115"/>
                  </a:lnTo>
                  <a:lnTo>
                    <a:pt x="242" y="122"/>
                  </a:lnTo>
                  <a:lnTo>
                    <a:pt x="256" y="124"/>
                  </a:lnTo>
                  <a:lnTo>
                    <a:pt x="266" y="122"/>
                  </a:lnTo>
                  <a:lnTo>
                    <a:pt x="278" y="115"/>
                  </a:lnTo>
                  <a:lnTo>
                    <a:pt x="285" y="108"/>
                  </a:lnTo>
                  <a:lnTo>
                    <a:pt x="288" y="93"/>
                  </a:lnTo>
                  <a:lnTo>
                    <a:pt x="285" y="88"/>
                  </a:lnTo>
                  <a:lnTo>
                    <a:pt x="280" y="100"/>
                  </a:lnTo>
                  <a:lnTo>
                    <a:pt x="271" y="110"/>
                  </a:lnTo>
                  <a:lnTo>
                    <a:pt x="264" y="110"/>
                  </a:lnTo>
                  <a:lnTo>
                    <a:pt x="252" y="108"/>
                  </a:lnTo>
                  <a:lnTo>
                    <a:pt x="242" y="100"/>
                  </a:lnTo>
                  <a:lnTo>
                    <a:pt x="237" y="88"/>
                  </a:lnTo>
                  <a:lnTo>
                    <a:pt x="237" y="64"/>
                  </a:lnTo>
                  <a:lnTo>
                    <a:pt x="242" y="52"/>
                  </a:lnTo>
                  <a:lnTo>
                    <a:pt x="249" y="50"/>
                  </a:lnTo>
                  <a:lnTo>
                    <a:pt x="256" y="45"/>
                  </a:lnTo>
                  <a:lnTo>
                    <a:pt x="264" y="45"/>
                  </a:lnTo>
                  <a:lnTo>
                    <a:pt x="266" y="50"/>
                  </a:lnTo>
                  <a:lnTo>
                    <a:pt x="266" y="52"/>
                  </a:lnTo>
                  <a:lnTo>
                    <a:pt x="271" y="57"/>
                  </a:lnTo>
                  <a:lnTo>
                    <a:pt x="271" y="64"/>
                  </a:lnTo>
                  <a:lnTo>
                    <a:pt x="273" y="67"/>
                  </a:lnTo>
                  <a:lnTo>
                    <a:pt x="280" y="67"/>
                  </a:lnTo>
                  <a:lnTo>
                    <a:pt x="285" y="64"/>
                  </a:lnTo>
                  <a:lnTo>
                    <a:pt x="288" y="60"/>
                  </a:lnTo>
                  <a:close/>
                  <a:moveTo>
                    <a:pt x="381" y="110"/>
                  </a:moveTo>
                  <a:lnTo>
                    <a:pt x="376" y="115"/>
                  </a:lnTo>
                  <a:lnTo>
                    <a:pt x="374" y="115"/>
                  </a:lnTo>
                  <a:lnTo>
                    <a:pt x="369" y="110"/>
                  </a:lnTo>
                  <a:lnTo>
                    <a:pt x="369" y="108"/>
                  </a:lnTo>
                  <a:lnTo>
                    <a:pt x="367" y="103"/>
                  </a:lnTo>
                  <a:lnTo>
                    <a:pt x="367" y="43"/>
                  </a:lnTo>
                  <a:lnTo>
                    <a:pt x="340" y="43"/>
                  </a:lnTo>
                  <a:lnTo>
                    <a:pt x="340" y="45"/>
                  </a:lnTo>
                  <a:lnTo>
                    <a:pt x="348" y="45"/>
                  </a:lnTo>
                  <a:lnTo>
                    <a:pt x="352" y="50"/>
                  </a:lnTo>
                  <a:lnTo>
                    <a:pt x="352" y="103"/>
                  </a:lnTo>
                  <a:lnTo>
                    <a:pt x="348" y="108"/>
                  </a:lnTo>
                  <a:lnTo>
                    <a:pt x="340" y="110"/>
                  </a:lnTo>
                  <a:lnTo>
                    <a:pt x="338" y="115"/>
                  </a:lnTo>
                  <a:lnTo>
                    <a:pt x="331" y="115"/>
                  </a:lnTo>
                  <a:lnTo>
                    <a:pt x="326" y="110"/>
                  </a:lnTo>
                  <a:lnTo>
                    <a:pt x="321" y="96"/>
                  </a:lnTo>
                  <a:lnTo>
                    <a:pt x="321" y="43"/>
                  </a:lnTo>
                  <a:lnTo>
                    <a:pt x="295" y="43"/>
                  </a:lnTo>
                  <a:lnTo>
                    <a:pt x="295" y="45"/>
                  </a:lnTo>
                  <a:lnTo>
                    <a:pt x="302" y="45"/>
                  </a:lnTo>
                  <a:lnTo>
                    <a:pt x="307" y="50"/>
                  </a:lnTo>
                  <a:lnTo>
                    <a:pt x="307" y="93"/>
                  </a:lnTo>
                  <a:lnTo>
                    <a:pt x="309" y="103"/>
                  </a:lnTo>
                  <a:lnTo>
                    <a:pt x="309" y="110"/>
                  </a:lnTo>
                  <a:lnTo>
                    <a:pt x="314" y="117"/>
                  </a:lnTo>
                  <a:lnTo>
                    <a:pt x="316" y="122"/>
                  </a:lnTo>
                  <a:lnTo>
                    <a:pt x="321" y="124"/>
                  </a:lnTo>
                  <a:lnTo>
                    <a:pt x="333" y="124"/>
                  </a:lnTo>
                  <a:lnTo>
                    <a:pt x="338" y="122"/>
                  </a:lnTo>
                  <a:lnTo>
                    <a:pt x="345" y="117"/>
                  </a:lnTo>
                  <a:lnTo>
                    <a:pt x="352" y="108"/>
                  </a:lnTo>
                  <a:lnTo>
                    <a:pt x="352" y="124"/>
                  </a:lnTo>
                  <a:lnTo>
                    <a:pt x="360" y="124"/>
                  </a:lnTo>
                  <a:lnTo>
                    <a:pt x="381" y="115"/>
                  </a:lnTo>
                  <a:lnTo>
                    <a:pt x="381" y="110"/>
                  </a:lnTo>
                  <a:close/>
                  <a:moveTo>
                    <a:pt x="427" y="117"/>
                  </a:moveTo>
                  <a:lnTo>
                    <a:pt x="415" y="117"/>
                  </a:lnTo>
                  <a:lnTo>
                    <a:pt x="415" y="115"/>
                  </a:lnTo>
                  <a:lnTo>
                    <a:pt x="412" y="110"/>
                  </a:lnTo>
                  <a:lnTo>
                    <a:pt x="412" y="0"/>
                  </a:lnTo>
                  <a:lnTo>
                    <a:pt x="410" y="0"/>
                  </a:lnTo>
                  <a:lnTo>
                    <a:pt x="388" y="12"/>
                  </a:lnTo>
                  <a:lnTo>
                    <a:pt x="388" y="14"/>
                  </a:lnTo>
                  <a:lnTo>
                    <a:pt x="391" y="12"/>
                  </a:lnTo>
                  <a:lnTo>
                    <a:pt x="396" y="12"/>
                  </a:lnTo>
                  <a:lnTo>
                    <a:pt x="398" y="14"/>
                  </a:lnTo>
                  <a:lnTo>
                    <a:pt x="398" y="117"/>
                  </a:lnTo>
                  <a:lnTo>
                    <a:pt x="388" y="117"/>
                  </a:lnTo>
                  <a:lnTo>
                    <a:pt x="388" y="122"/>
                  </a:lnTo>
                  <a:lnTo>
                    <a:pt x="427" y="122"/>
                  </a:lnTo>
                  <a:lnTo>
                    <a:pt x="427" y="117"/>
                  </a:lnTo>
                  <a:close/>
                  <a:moveTo>
                    <a:pt x="463" y="82"/>
                  </a:moveTo>
                  <a:lnTo>
                    <a:pt x="451" y="82"/>
                  </a:lnTo>
                  <a:lnTo>
                    <a:pt x="451" y="85"/>
                  </a:lnTo>
                  <a:lnTo>
                    <a:pt x="448" y="85"/>
                  </a:lnTo>
                  <a:lnTo>
                    <a:pt x="448" y="87"/>
                  </a:lnTo>
                  <a:lnTo>
                    <a:pt x="446" y="87"/>
                  </a:lnTo>
                  <a:lnTo>
                    <a:pt x="446" y="90"/>
                  </a:lnTo>
                  <a:lnTo>
                    <a:pt x="444" y="90"/>
                  </a:lnTo>
                  <a:lnTo>
                    <a:pt x="444" y="92"/>
                  </a:lnTo>
                  <a:lnTo>
                    <a:pt x="439" y="92"/>
                  </a:lnTo>
                  <a:lnTo>
                    <a:pt x="439" y="94"/>
                  </a:lnTo>
                  <a:lnTo>
                    <a:pt x="436" y="94"/>
                  </a:lnTo>
                  <a:lnTo>
                    <a:pt x="436" y="97"/>
                  </a:lnTo>
                  <a:lnTo>
                    <a:pt x="436" y="99"/>
                  </a:lnTo>
                  <a:lnTo>
                    <a:pt x="436" y="102"/>
                  </a:lnTo>
                  <a:lnTo>
                    <a:pt x="434" y="102"/>
                  </a:lnTo>
                  <a:lnTo>
                    <a:pt x="434" y="104"/>
                  </a:lnTo>
                  <a:lnTo>
                    <a:pt x="434" y="106"/>
                  </a:lnTo>
                  <a:lnTo>
                    <a:pt x="434" y="109"/>
                  </a:lnTo>
                  <a:lnTo>
                    <a:pt x="436" y="109"/>
                  </a:lnTo>
                  <a:lnTo>
                    <a:pt x="436" y="111"/>
                  </a:lnTo>
                  <a:lnTo>
                    <a:pt x="436" y="114"/>
                  </a:lnTo>
                  <a:lnTo>
                    <a:pt x="439" y="114"/>
                  </a:lnTo>
                  <a:lnTo>
                    <a:pt x="439" y="116"/>
                  </a:lnTo>
                  <a:lnTo>
                    <a:pt x="458" y="116"/>
                  </a:lnTo>
                  <a:lnTo>
                    <a:pt x="458" y="114"/>
                  </a:lnTo>
                  <a:lnTo>
                    <a:pt x="456" y="114"/>
                  </a:lnTo>
                  <a:lnTo>
                    <a:pt x="456" y="111"/>
                  </a:lnTo>
                  <a:lnTo>
                    <a:pt x="453" y="111"/>
                  </a:lnTo>
                  <a:lnTo>
                    <a:pt x="453" y="109"/>
                  </a:lnTo>
                  <a:lnTo>
                    <a:pt x="453" y="106"/>
                  </a:lnTo>
                  <a:lnTo>
                    <a:pt x="451" y="106"/>
                  </a:lnTo>
                  <a:lnTo>
                    <a:pt x="451" y="104"/>
                  </a:lnTo>
                  <a:lnTo>
                    <a:pt x="451" y="102"/>
                  </a:lnTo>
                  <a:lnTo>
                    <a:pt x="451" y="99"/>
                  </a:lnTo>
                  <a:lnTo>
                    <a:pt x="451" y="97"/>
                  </a:lnTo>
                  <a:lnTo>
                    <a:pt x="451" y="94"/>
                  </a:lnTo>
                  <a:lnTo>
                    <a:pt x="451" y="92"/>
                  </a:lnTo>
                  <a:lnTo>
                    <a:pt x="451" y="90"/>
                  </a:lnTo>
                  <a:lnTo>
                    <a:pt x="456" y="90"/>
                  </a:lnTo>
                  <a:lnTo>
                    <a:pt x="456" y="87"/>
                  </a:lnTo>
                  <a:lnTo>
                    <a:pt x="458" y="87"/>
                  </a:lnTo>
                  <a:lnTo>
                    <a:pt x="458" y="85"/>
                  </a:lnTo>
                  <a:lnTo>
                    <a:pt x="463" y="85"/>
                  </a:lnTo>
                  <a:lnTo>
                    <a:pt x="463" y="82"/>
                  </a:lnTo>
                  <a:close/>
                  <a:moveTo>
                    <a:pt x="494" y="56"/>
                  </a:moveTo>
                  <a:lnTo>
                    <a:pt x="492" y="56"/>
                  </a:lnTo>
                  <a:lnTo>
                    <a:pt x="492" y="54"/>
                  </a:lnTo>
                  <a:lnTo>
                    <a:pt x="487" y="54"/>
                  </a:lnTo>
                  <a:lnTo>
                    <a:pt x="487" y="51"/>
                  </a:lnTo>
                  <a:lnTo>
                    <a:pt x="487" y="49"/>
                  </a:lnTo>
                  <a:lnTo>
                    <a:pt x="484" y="49"/>
                  </a:lnTo>
                  <a:lnTo>
                    <a:pt x="484" y="46"/>
                  </a:lnTo>
                  <a:lnTo>
                    <a:pt x="477" y="46"/>
                  </a:lnTo>
                  <a:lnTo>
                    <a:pt x="477" y="44"/>
                  </a:lnTo>
                  <a:lnTo>
                    <a:pt x="456" y="44"/>
                  </a:lnTo>
                  <a:lnTo>
                    <a:pt x="456" y="46"/>
                  </a:lnTo>
                  <a:lnTo>
                    <a:pt x="444" y="46"/>
                  </a:lnTo>
                  <a:lnTo>
                    <a:pt x="444" y="49"/>
                  </a:lnTo>
                  <a:lnTo>
                    <a:pt x="444" y="51"/>
                  </a:lnTo>
                  <a:lnTo>
                    <a:pt x="441" y="51"/>
                  </a:lnTo>
                  <a:lnTo>
                    <a:pt x="441" y="54"/>
                  </a:lnTo>
                  <a:lnTo>
                    <a:pt x="441" y="56"/>
                  </a:lnTo>
                  <a:lnTo>
                    <a:pt x="439" y="56"/>
                  </a:lnTo>
                  <a:lnTo>
                    <a:pt x="439" y="58"/>
                  </a:lnTo>
                  <a:lnTo>
                    <a:pt x="439" y="61"/>
                  </a:lnTo>
                  <a:lnTo>
                    <a:pt x="436" y="61"/>
                  </a:lnTo>
                  <a:lnTo>
                    <a:pt x="436" y="63"/>
                  </a:lnTo>
                  <a:lnTo>
                    <a:pt x="436" y="66"/>
                  </a:lnTo>
                  <a:lnTo>
                    <a:pt x="436" y="68"/>
                  </a:lnTo>
                  <a:lnTo>
                    <a:pt x="451" y="68"/>
                  </a:lnTo>
                  <a:lnTo>
                    <a:pt x="451" y="66"/>
                  </a:lnTo>
                  <a:lnTo>
                    <a:pt x="451" y="63"/>
                  </a:lnTo>
                  <a:lnTo>
                    <a:pt x="451" y="61"/>
                  </a:lnTo>
                  <a:lnTo>
                    <a:pt x="451" y="58"/>
                  </a:lnTo>
                  <a:lnTo>
                    <a:pt x="453" y="58"/>
                  </a:lnTo>
                  <a:lnTo>
                    <a:pt x="453" y="56"/>
                  </a:lnTo>
                  <a:lnTo>
                    <a:pt x="456" y="56"/>
                  </a:lnTo>
                  <a:lnTo>
                    <a:pt x="456" y="54"/>
                  </a:lnTo>
                  <a:lnTo>
                    <a:pt x="456" y="51"/>
                  </a:lnTo>
                  <a:lnTo>
                    <a:pt x="458" y="51"/>
                  </a:lnTo>
                  <a:lnTo>
                    <a:pt x="458" y="49"/>
                  </a:lnTo>
                  <a:lnTo>
                    <a:pt x="458" y="46"/>
                  </a:lnTo>
                  <a:lnTo>
                    <a:pt x="470" y="46"/>
                  </a:lnTo>
                  <a:lnTo>
                    <a:pt x="470" y="49"/>
                  </a:lnTo>
                  <a:lnTo>
                    <a:pt x="475" y="49"/>
                  </a:lnTo>
                  <a:lnTo>
                    <a:pt x="475" y="51"/>
                  </a:lnTo>
                  <a:lnTo>
                    <a:pt x="477" y="51"/>
                  </a:lnTo>
                  <a:lnTo>
                    <a:pt x="477" y="54"/>
                  </a:lnTo>
                  <a:lnTo>
                    <a:pt x="477" y="56"/>
                  </a:lnTo>
                  <a:lnTo>
                    <a:pt x="477" y="58"/>
                  </a:lnTo>
                  <a:lnTo>
                    <a:pt x="477" y="61"/>
                  </a:lnTo>
                  <a:lnTo>
                    <a:pt x="477" y="63"/>
                  </a:lnTo>
                  <a:lnTo>
                    <a:pt x="480" y="63"/>
                  </a:lnTo>
                  <a:lnTo>
                    <a:pt x="480" y="66"/>
                  </a:lnTo>
                  <a:lnTo>
                    <a:pt x="480" y="75"/>
                  </a:lnTo>
                  <a:lnTo>
                    <a:pt x="472" y="75"/>
                  </a:lnTo>
                  <a:lnTo>
                    <a:pt x="472" y="78"/>
                  </a:lnTo>
                  <a:lnTo>
                    <a:pt x="468" y="78"/>
                  </a:lnTo>
                  <a:lnTo>
                    <a:pt x="468" y="80"/>
                  </a:lnTo>
                  <a:lnTo>
                    <a:pt x="463" y="80"/>
                  </a:lnTo>
                  <a:lnTo>
                    <a:pt x="463" y="82"/>
                  </a:lnTo>
                  <a:lnTo>
                    <a:pt x="470" y="82"/>
                  </a:lnTo>
                  <a:lnTo>
                    <a:pt x="470" y="80"/>
                  </a:lnTo>
                  <a:lnTo>
                    <a:pt x="475" y="80"/>
                  </a:lnTo>
                  <a:lnTo>
                    <a:pt x="475" y="78"/>
                  </a:lnTo>
                  <a:lnTo>
                    <a:pt x="480" y="78"/>
                  </a:lnTo>
                  <a:lnTo>
                    <a:pt x="480" y="80"/>
                  </a:lnTo>
                  <a:lnTo>
                    <a:pt x="480" y="82"/>
                  </a:lnTo>
                  <a:lnTo>
                    <a:pt x="480" y="85"/>
                  </a:lnTo>
                  <a:lnTo>
                    <a:pt x="480" y="87"/>
                  </a:lnTo>
                  <a:lnTo>
                    <a:pt x="480" y="90"/>
                  </a:lnTo>
                  <a:lnTo>
                    <a:pt x="480" y="92"/>
                  </a:lnTo>
                  <a:lnTo>
                    <a:pt x="480" y="94"/>
                  </a:lnTo>
                  <a:lnTo>
                    <a:pt x="480" y="97"/>
                  </a:lnTo>
                  <a:lnTo>
                    <a:pt x="480" y="99"/>
                  </a:lnTo>
                  <a:lnTo>
                    <a:pt x="480" y="102"/>
                  </a:lnTo>
                  <a:lnTo>
                    <a:pt x="480" y="104"/>
                  </a:lnTo>
                  <a:lnTo>
                    <a:pt x="480" y="106"/>
                  </a:lnTo>
                  <a:lnTo>
                    <a:pt x="477" y="106"/>
                  </a:lnTo>
                  <a:lnTo>
                    <a:pt x="477" y="109"/>
                  </a:lnTo>
                  <a:lnTo>
                    <a:pt x="472" y="109"/>
                  </a:lnTo>
                  <a:lnTo>
                    <a:pt x="472" y="111"/>
                  </a:lnTo>
                  <a:lnTo>
                    <a:pt x="470" y="111"/>
                  </a:lnTo>
                  <a:lnTo>
                    <a:pt x="470" y="114"/>
                  </a:lnTo>
                  <a:lnTo>
                    <a:pt x="494" y="114"/>
                  </a:lnTo>
                  <a:lnTo>
                    <a:pt x="494" y="111"/>
                  </a:lnTo>
                  <a:lnTo>
                    <a:pt x="494" y="109"/>
                  </a:lnTo>
                  <a:lnTo>
                    <a:pt x="494" y="106"/>
                  </a:lnTo>
                  <a:lnTo>
                    <a:pt x="494" y="104"/>
                  </a:lnTo>
                  <a:lnTo>
                    <a:pt x="494" y="102"/>
                  </a:lnTo>
                  <a:lnTo>
                    <a:pt x="494" y="99"/>
                  </a:lnTo>
                  <a:lnTo>
                    <a:pt x="494" y="97"/>
                  </a:lnTo>
                  <a:lnTo>
                    <a:pt x="494" y="94"/>
                  </a:lnTo>
                  <a:lnTo>
                    <a:pt x="494" y="92"/>
                  </a:lnTo>
                  <a:lnTo>
                    <a:pt x="494" y="90"/>
                  </a:lnTo>
                  <a:lnTo>
                    <a:pt x="494" y="87"/>
                  </a:lnTo>
                  <a:lnTo>
                    <a:pt x="494" y="85"/>
                  </a:lnTo>
                  <a:lnTo>
                    <a:pt x="494" y="82"/>
                  </a:lnTo>
                  <a:lnTo>
                    <a:pt x="494" y="80"/>
                  </a:lnTo>
                  <a:lnTo>
                    <a:pt x="494" y="78"/>
                  </a:lnTo>
                  <a:lnTo>
                    <a:pt x="494" y="75"/>
                  </a:lnTo>
                  <a:lnTo>
                    <a:pt x="494" y="66"/>
                  </a:lnTo>
                  <a:lnTo>
                    <a:pt x="494" y="63"/>
                  </a:lnTo>
                  <a:lnTo>
                    <a:pt x="494" y="61"/>
                  </a:lnTo>
                  <a:lnTo>
                    <a:pt x="494" y="58"/>
                  </a:lnTo>
                  <a:lnTo>
                    <a:pt x="494" y="56"/>
                  </a:lnTo>
                  <a:close/>
                  <a:moveTo>
                    <a:pt x="504" y="111"/>
                  </a:moveTo>
                  <a:lnTo>
                    <a:pt x="499" y="111"/>
                  </a:lnTo>
                  <a:lnTo>
                    <a:pt x="499" y="114"/>
                  </a:lnTo>
                  <a:lnTo>
                    <a:pt x="504" y="114"/>
                  </a:lnTo>
                  <a:lnTo>
                    <a:pt x="504" y="1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9" name="AutoShape 30">
              <a:extLst>
                <a:ext uri="{FF2B5EF4-FFF2-40B4-BE49-F238E27FC236}">
                  <a16:creationId xmlns:a16="http://schemas.microsoft.com/office/drawing/2014/main" id="{0153261D-C740-3281-D763-BA40A338D1C4}"/>
                </a:ext>
              </a:extLst>
            </p:cNvPr>
            <p:cNvSpPr>
              <a:spLocks/>
            </p:cNvSpPr>
            <p:nvPr/>
          </p:nvSpPr>
          <p:spPr bwMode="auto">
            <a:xfrm>
              <a:off x="5789" y="2186"/>
              <a:ext cx="615" cy="274"/>
            </a:xfrm>
            <a:custGeom>
              <a:avLst/>
              <a:gdLst>
                <a:gd name="T0" fmla="+- 0 5871 5790"/>
                <a:gd name="T1" fmla="*/ T0 w 615"/>
                <a:gd name="T2" fmla="+- 0 2451 2187"/>
                <a:gd name="T3" fmla="*/ 2451 h 274"/>
                <a:gd name="T4" fmla="+- 0 5857 5790"/>
                <a:gd name="T5" fmla="*/ T4 w 615"/>
                <a:gd name="T6" fmla="+- 0 2403 2187"/>
                <a:gd name="T7" fmla="*/ 2403 h 274"/>
                <a:gd name="T8" fmla="+- 0 5866 5790"/>
                <a:gd name="T9" fmla="*/ T8 w 615"/>
                <a:gd name="T10" fmla="+- 0 2379 2187"/>
                <a:gd name="T11" fmla="*/ 2379 h 274"/>
                <a:gd name="T12" fmla="+- 0 5821 5790"/>
                <a:gd name="T13" fmla="*/ T12 w 615"/>
                <a:gd name="T14" fmla="+- 0 2350 2187"/>
                <a:gd name="T15" fmla="*/ 2350 h 274"/>
                <a:gd name="T16" fmla="+- 0 5874 5790"/>
                <a:gd name="T17" fmla="*/ T16 w 615"/>
                <a:gd name="T18" fmla="+- 0 2369 2187"/>
                <a:gd name="T19" fmla="*/ 2369 h 274"/>
                <a:gd name="T20" fmla="+- 0 5799 5790"/>
                <a:gd name="T21" fmla="*/ T20 w 615"/>
                <a:gd name="T22" fmla="+- 0 2348 2187"/>
                <a:gd name="T23" fmla="*/ 2348 h 274"/>
                <a:gd name="T24" fmla="+- 0 5802 5790"/>
                <a:gd name="T25" fmla="*/ T24 w 615"/>
                <a:gd name="T26" fmla="+- 0 2451 2187"/>
                <a:gd name="T27" fmla="*/ 2451 h 274"/>
                <a:gd name="T28" fmla="+- 0 5888 5790"/>
                <a:gd name="T29" fmla="*/ T28 w 615"/>
                <a:gd name="T30" fmla="+- 0 2429 2187"/>
                <a:gd name="T31" fmla="*/ 2429 h 274"/>
                <a:gd name="T32" fmla="+- 0 5946 5790"/>
                <a:gd name="T33" fmla="*/ T32 w 615"/>
                <a:gd name="T34" fmla="+- 0 2446 2187"/>
                <a:gd name="T35" fmla="*/ 2446 h 274"/>
                <a:gd name="T36" fmla="+- 0 5910 5790"/>
                <a:gd name="T37" fmla="*/ T36 w 615"/>
                <a:gd name="T38" fmla="+- 0 2410 2187"/>
                <a:gd name="T39" fmla="*/ 2410 h 274"/>
                <a:gd name="T40" fmla="+- 0 5934 5790"/>
                <a:gd name="T41" fmla="*/ T40 w 615"/>
                <a:gd name="T42" fmla="+- 0 2386 2187"/>
                <a:gd name="T43" fmla="*/ 2386 h 274"/>
                <a:gd name="T44" fmla="+- 0 5946 5790"/>
                <a:gd name="T45" fmla="*/ T44 w 615"/>
                <a:gd name="T46" fmla="+- 0 2400 2187"/>
                <a:gd name="T47" fmla="*/ 2400 h 274"/>
                <a:gd name="T48" fmla="+- 0 5953 5790"/>
                <a:gd name="T49" fmla="*/ T48 w 615"/>
                <a:gd name="T50" fmla="+- 0 2381 2187"/>
                <a:gd name="T51" fmla="*/ 2381 h 274"/>
                <a:gd name="T52" fmla="+- 0 5898 5790"/>
                <a:gd name="T53" fmla="*/ T52 w 615"/>
                <a:gd name="T54" fmla="+- 0 2403 2187"/>
                <a:gd name="T55" fmla="*/ 2403 h 274"/>
                <a:gd name="T56" fmla="+- 0 5931 5790"/>
                <a:gd name="T57" fmla="*/ T56 w 615"/>
                <a:gd name="T58" fmla="+- 0 2460 2187"/>
                <a:gd name="T59" fmla="*/ 2460 h 274"/>
                <a:gd name="T60" fmla="+- 0 6049 5790"/>
                <a:gd name="T61" fmla="*/ T60 w 615"/>
                <a:gd name="T62" fmla="+- 0 2404 2187"/>
                <a:gd name="T63" fmla="*/ 2404 h 274"/>
                <a:gd name="T64" fmla="+- 0 6044 5790"/>
                <a:gd name="T65" fmla="*/ T64 w 615"/>
                <a:gd name="T66" fmla="+- 0 2399 2187"/>
                <a:gd name="T67" fmla="*/ 2399 h 274"/>
                <a:gd name="T68" fmla="+- 0 6039 5790"/>
                <a:gd name="T69" fmla="*/ T68 w 615"/>
                <a:gd name="T70" fmla="+- 0 2392 2187"/>
                <a:gd name="T71" fmla="*/ 2392 h 274"/>
                <a:gd name="T72" fmla="+- 0 6032 5790"/>
                <a:gd name="T73" fmla="*/ T72 w 615"/>
                <a:gd name="T74" fmla="+- 0 2387 2187"/>
                <a:gd name="T75" fmla="*/ 2387 h 274"/>
                <a:gd name="T76" fmla="+- 0 6020 5790"/>
                <a:gd name="T77" fmla="*/ T76 w 615"/>
                <a:gd name="T78" fmla="+- 0 2380 2187"/>
                <a:gd name="T79" fmla="*/ 2380 h 274"/>
                <a:gd name="T80" fmla="+- 0 5991 5790"/>
                <a:gd name="T81" fmla="*/ T80 w 615"/>
                <a:gd name="T82" fmla="+- 0 2385 2187"/>
                <a:gd name="T83" fmla="*/ 2385 h 274"/>
                <a:gd name="T84" fmla="+- 0 5984 5790"/>
                <a:gd name="T85" fmla="*/ T84 w 615"/>
                <a:gd name="T86" fmla="+- 0 2392 2187"/>
                <a:gd name="T87" fmla="*/ 2392 h 274"/>
                <a:gd name="T88" fmla="+- 0 5982 5790"/>
                <a:gd name="T89" fmla="*/ T88 w 615"/>
                <a:gd name="T90" fmla="+- 0 2402 2187"/>
                <a:gd name="T91" fmla="*/ 2402 h 274"/>
                <a:gd name="T92" fmla="+- 0 5979 5790"/>
                <a:gd name="T93" fmla="*/ T92 w 615"/>
                <a:gd name="T94" fmla="+- 0 2411 2187"/>
                <a:gd name="T95" fmla="*/ 2411 h 274"/>
                <a:gd name="T96" fmla="+- 0 5974 5790"/>
                <a:gd name="T97" fmla="*/ T96 w 615"/>
                <a:gd name="T98" fmla="+- 0 2418 2187"/>
                <a:gd name="T99" fmla="*/ 2418 h 274"/>
                <a:gd name="T100" fmla="+- 0 5977 5790"/>
                <a:gd name="T101" fmla="*/ T100 w 615"/>
                <a:gd name="T102" fmla="+- 0 2428 2187"/>
                <a:gd name="T103" fmla="*/ 2428 h 274"/>
                <a:gd name="T104" fmla="+- 0 5979 5790"/>
                <a:gd name="T105" fmla="*/ T104 w 615"/>
                <a:gd name="T106" fmla="+- 0 2438 2187"/>
                <a:gd name="T107" fmla="*/ 2438 h 274"/>
                <a:gd name="T108" fmla="+- 0 5984 5790"/>
                <a:gd name="T109" fmla="*/ T108 w 615"/>
                <a:gd name="T110" fmla="+- 0 2445 2187"/>
                <a:gd name="T111" fmla="*/ 2445 h 274"/>
                <a:gd name="T112" fmla="+- 0 5998 5790"/>
                <a:gd name="T113" fmla="*/ T112 w 615"/>
                <a:gd name="T114" fmla="+- 0 2447 2187"/>
                <a:gd name="T115" fmla="*/ 2447 h 274"/>
                <a:gd name="T116" fmla="+- 0 5996 5790"/>
                <a:gd name="T117" fmla="*/ T116 w 615"/>
                <a:gd name="T118" fmla="+- 0 2440 2187"/>
                <a:gd name="T119" fmla="*/ 2440 h 274"/>
                <a:gd name="T120" fmla="+- 0 5994 5790"/>
                <a:gd name="T121" fmla="*/ T120 w 615"/>
                <a:gd name="T122" fmla="+- 0 2435 2187"/>
                <a:gd name="T123" fmla="*/ 2435 h 274"/>
                <a:gd name="T124" fmla="+- 0 5991 5790"/>
                <a:gd name="T125" fmla="*/ T124 w 615"/>
                <a:gd name="T126" fmla="+- 0 2426 2187"/>
                <a:gd name="T127" fmla="*/ 2426 h 274"/>
                <a:gd name="T128" fmla="+- 0 5991 5790"/>
                <a:gd name="T129" fmla="*/ T128 w 615"/>
                <a:gd name="T130" fmla="+- 0 2414 2187"/>
                <a:gd name="T131" fmla="*/ 2414 h 274"/>
                <a:gd name="T132" fmla="+- 0 5991 5790"/>
                <a:gd name="T133" fmla="*/ T132 w 615"/>
                <a:gd name="T134" fmla="+- 0 2402 2187"/>
                <a:gd name="T135" fmla="*/ 2402 h 274"/>
                <a:gd name="T136" fmla="+- 0 5994 5790"/>
                <a:gd name="T137" fmla="*/ T136 w 615"/>
                <a:gd name="T138" fmla="+- 0 2392 2187"/>
                <a:gd name="T139" fmla="*/ 2392 h 274"/>
                <a:gd name="T140" fmla="+- 0 6001 5790"/>
                <a:gd name="T141" fmla="*/ T140 w 615"/>
                <a:gd name="T142" fmla="+- 0 2385 2187"/>
                <a:gd name="T143" fmla="*/ 2385 h 274"/>
                <a:gd name="T144" fmla="+- 0 6013 5790"/>
                <a:gd name="T145" fmla="*/ T144 w 615"/>
                <a:gd name="T146" fmla="+- 0 2385 2187"/>
                <a:gd name="T147" fmla="*/ 2385 h 274"/>
                <a:gd name="T148" fmla="+- 0 6018 5790"/>
                <a:gd name="T149" fmla="*/ T148 w 615"/>
                <a:gd name="T150" fmla="+- 0 2392 2187"/>
                <a:gd name="T151" fmla="*/ 2392 h 274"/>
                <a:gd name="T152" fmla="+- 0 6025 5790"/>
                <a:gd name="T153" fmla="*/ T152 w 615"/>
                <a:gd name="T154" fmla="+- 0 2397 2187"/>
                <a:gd name="T155" fmla="*/ 2397 h 274"/>
                <a:gd name="T156" fmla="+- 0 6027 5790"/>
                <a:gd name="T157" fmla="*/ T156 w 615"/>
                <a:gd name="T158" fmla="+- 0 2406 2187"/>
                <a:gd name="T159" fmla="*/ 2406 h 274"/>
                <a:gd name="T160" fmla="+- 0 6032 5790"/>
                <a:gd name="T161" fmla="*/ T160 w 615"/>
                <a:gd name="T162" fmla="+- 0 2414 2187"/>
                <a:gd name="T163" fmla="*/ 2414 h 274"/>
                <a:gd name="T164" fmla="+- 0 6034 5790"/>
                <a:gd name="T165" fmla="*/ T164 w 615"/>
                <a:gd name="T166" fmla="+- 0 2423 2187"/>
                <a:gd name="T167" fmla="*/ 2423 h 274"/>
                <a:gd name="T168" fmla="+- 0 6032 5790"/>
                <a:gd name="T169" fmla="*/ T168 w 615"/>
                <a:gd name="T170" fmla="+- 0 2433 2187"/>
                <a:gd name="T171" fmla="*/ 2433 h 274"/>
                <a:gd name="T172" fmla="+- 0 6030 5790"/>
                <a:gd name="T173" fmla="*/ T172 w 615"/>
                <a:gd name="T174" fmla="+- 0 2442 2187"/>
                <a:gd name="T175" fmla="*/ 2442 h 274"/>
                <a:gd name="T176" fmla="+- 0 6039 5790"/>
                <a:gd name="T177" fmla="*/ T176 w 615"/>
                <a:gd name="T178" fmla="+- 0 2445 2187"/>
                <a:gd name="T179" fmla="*/ 2445 h 274"/>
                <a:gd name="T180" fmla="+- 0 6046 5790"/>
                <a:gd name="T181" fmla="*/ T180 w 615"/>
                <a:gd name="T182" fmla="+- 0 2440 2187"/>
                <a:gd name="T183" fmla="*/ 2440 h 274"/>
                <a:gd name="T184" fmla="+- 0 6049 5790"/>
                <a:gd name="T185" fmla="*/ T184 w 615"/>
                <a:gd name="T186" fmla="+- 0 2433 2187"/>
                <a:gd name="T187" fmla="*/ 2433 h 274"/>
                <a:gd name="T188" fmla="+- 0 6049 5790"/>
                <a:gd name="T189" fmla="*/ T188 w 615"/>
                <a:gd name="T190" fmla="+- 0 2421 2187"/>
                <a:gd name="T191" fmla="*/ 2421 h 274"/>
                <a:gd name="T192" fmla="+- 0 6049 5790"/>
                <a:gd name="T193" fmla="*/ T192 w 615"/>
                <a:gd name="T194" fmla="+- 0 2409 2187"/>
                <a:gd name="T195" fmla="*/ 2409 h 274"/>
                <a:gd name="T196" fmla="+- 0 6303 5790"/>
                <a:gd name="T197" fmla="*/ T196 w 615"/>
                <a:gd name="T198" fmla="+- 0 2260 2187"/>
                <a:gd name="T199" fmla="*/ 2260 h 274"/>
                <a:gd name="T200" fmla="+- 0 6277 5790"/>
                <a:gd name="T201" fmla="*/ T200 w 615"/>
                <a:gd name="T202" fmla="+- 0 2262 2187"/>
                <a:gd name="T203" fmla="*/ 2262 h 274"/>
                <a:gd name="T204" fmla="+- 0 6286 5790"/>
                <a:gd name="T205" fmla="*/ T204 w 615"/>
                <a:gd name="T206" fmla="+- 0 2267 2187"/>
                <a:gd name="T207" fmla="*/ 2267 h 274"/>
                <a:gd name="T208" fmla="+- 0 6303 5790"/>
                <a:gd name="T209" fmla="*/ T208 w 615"/>
                <a:gd name="T210" fmla="+- 0 2265 2187"/>
                <a:gd name="T211" fmla="*/ 2265 h 274"/>
                <a:gd name="T212" fmla="+- 0 6315 5790"/>
                <a:gd name="T213" fmla="*/ T212 w 615"/>
                <a:gd name="T214" fmla="+- 0 2260 2187"/>
                <a:gd name="T215" fmla="*/ 2260 h 274"/>
                <a:gd name="T216" fmla="+- 0 6332 5790"/>
                <a:gd name="T217" fmla="*/ T216 w 615"/>
                <a:gd name="T218" fmla="+- 0 2260 2187"/>
                <a:gd name="T219" fmla="*/ 2260 h 274"/>
                <a:gd name="T220" fmla="+- 0 6318 5790"/>
                <a:gd name="T221" fmla="*/ T220 w 615"/>
                <a:gd name="T222" fmla="+- 0 2265 2187"/>
                <a:gd name="T223" fmla="*/ 2265 h 274"/>
                <a:gd name="T224" fmla="+- 0 6337 5790"/>
                <a:gd name="T225" fmla="*/ T224 w 615"/>
                <a:gd name="T226" fmla="+- 0 2267 2187"/>
                <a:gd name="T227" fmla="*/ 2267 h 274"/>
                <a:gd name="T228" fmla="+- 0 6339 5790"/>
                <a:gd name="T229" fmla="*/ T228 w 615"/>
                <a:gd name="T230" fmla="+- 0 2260 2187"/>
                <a:gd name="T231" fmla="*/ 2260 h 274"/>
                <a:gd name="T232" fmla="+- 0 6392 5790"/>
                <a:gd name="T233" fmla="*/ T232 w 615"/>
                <a:gd name="T234" fmla="+- 0 2187 2187"/>
                <a:gd name="T235" fmla="*/ 2187 h 274"/>
                <a:gd name="T236" fmla="+- 0 6346 5790"/>
                <a:gd name="T237" fmla="*/ T236 w 615"/>
                <a:gd name="T238" fmla="+- 0 2194 2187"/>
                <a:gd name="T239" fmla="*/ 2194 h 274"/>
                <a:gd name="T240" fmla="+- 0 6346 5790"/>
                <a:gd name="T241" fmla="*/ T240 w 615"/>
                <a:gd name="T242" fmla="+- 0 2261 2187"/>
                <a:gd name="T243" fmla="*/ 2261 h 274"/>
                <a:gd name="T244" fmla="+- 0 6370 5790"/>
                <a:gd name="T245" fmla="*/ T244 w 615"/>
                <a:gd name="T246" fmla="+- 0 2254 2187"/>
                <a:gd name="T247" fmla="*/ 2254 h 274"/>
                <a:gd name="T248" fmla="+- 0 6390 5790"/>
                <a:gd name="T249" fmla="*/ T248 w 615"/>
                <a:gd name="T250" fmla="+- 0 2201 2187"/>
                <a:gd name="T251" fmla="*/ 2201 h 27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 ang="0">
                  <a:pos x="T249" y="T251"/>
                </a:cxn>
              </a:cxnLst>
              <a:rect l="0" t="0" r="r" b="b"/>
              <a:pathLst>
                <a:path w="615" h="274">
                  <a:moveTo>
                    <a:pt x="98" y="242"/>
                  </a:moveTo>
                  <a:lnTo>
                    <a:pt x="96" y="242"/>
                  </a:lnTo>
                  <a:lnTo>
                    <a:pt x="88" y="252"/>
                  </a:lnTo>
                  <a:lnTo>
                    <a:pt x="84" y="259"/>
                  </a:lnTo>
                  <a:lnTo>
                    <a:pt x="81" y="264"/>
                  </a:lnTo>
                  <a:lnTo>
                    <a:pt x="33" y="264"/>
                  </a:lnTo>
                  <a:lnTo>
                    <a:pt x="31" y="259"/>
                  </a:lnTo>
                  <a:lnTo>
                    <a:pt x="31" y="213"/>
                  </a:lnTo>
                  <a:lnTo>
                    <a:pt x="62" y="213"/>
                  </a:lnTo>
                  <a:lnTo>
                    <a:pt x="67" y="216"/>
                  </a:lnTo>
                  <a:lnTo>
                    <a:pt x="69" y="216"/>
                  </a:lnTo>
                  <a:lnTo>
                    <a:pt x="74" y="221"/>
                  </a:lnTo>
                  <a:lnTo>
                    <a:pt x="74" y="230"/>
                  </a:lnTo>
                  <a:lnTo>
                    <a:pt x="76" y="230"/>
                  </a:lnTo>
                  <a:lnTo>
                    <a:pt x="76" y="192"/>
                  </a:lnTo>
                  <a:lnTo>
                    <a:pt x="74" y="192"/>
                  </a:lnTo>
                  <a:lnTo>
                    <a:pt x="74" y="199"/>
                  </a:lnTo>
                  <a:lnTo>
                    <a:pt x="69" y="206"/>
                  </a:lnTo>
                  <a:lnTo>
                    <a:pt x="31" y="206"/>
                  </a:lnTo>
                  <a:lnTo>
                    <a:pt x="31" y="163"/>
                  </a:lnTo>
                  <a:lnTo>
                    <a:pt x="74" y="163"/>
                  </a:lnTo>
                  <a:lnTo>
                    <a:pt x="76" y="168"/>
                  </a:lnTo>
                  <a:lnTo>
                    <a:pt x="81" y="168"/>
                  </a:lnTo>
                  <a:lnTo>
                    <a:pt x="84" y="175"/>
                  </a:lnTo>
                  <a:lnTo>
                    <a:pt x="84" y="182"/>
                  </a:lnTo>
                  <a:lnTo>
                    <a:pt x="88" y="182"/>
                  </a:lnTo>
                  <a:lnTo>
                    <a:pt x="88" y="156"/>
                  </a:lnTo>
                  <a:lnTo>
                    <a:pt x="0" y="156"/>
                  </a:lnTo>
                  <a:lnTo>
                    <a:pt x="0" y="161"/>
                  </a:lnTo>
                  <a:lnTo>
                    <a:pt x="9" y="161"/>
                  </a:lnTo>
                  <a:lnTo>
                    <a:pt x="12" y="163"/>
                  </a:lnTo>
                  <a:lnTo>
                    <a:pt x="12" y="168"/>
                  </a:lnTo>
                  <a:lnTo>
                    <a:pt x="16" y="177"/>
                  </a:lnTo>
                  <a:lnTo>
                    <a:pt x="16" y="257"/>
                  </a:lnTo>
                  <a:lnTo>
                    <a:pt x="12" y="264"/>
                  </a:lnTo>
                  <a:lnTo>
                    <a:pt x="9" y="266"/>
                  </a:lnTo>
                  <a:lnTo>
                    <a:pt x="0" y="266"/>
                  </a:lnTo>
                  <a:lnTo>
                    <a:pt x="0" y="271"/>
                  </a:lnTo>
                  <a:lnTo>
                    <a:pt x="88" y="271"/>
                  </a:lnTo>
                  <a:lnTo>
                    <a:pt x="98" y="242"/>
                  </a:lnTo>
                  <a:close/>
                  <a:moveTo>
                    <a:pt x="172" y="242"/>
                  </a:moveTo>
                  <a:lnTo>
                    <a:pt x="170" y="242"/>
                  </a:lnTo>
                  <a:lnTo>
                    <a:pt x="165" y="249"/>
                  </a:lnTo>
                  <a:lnTo>
                    <a:pt x="163" y="257"/>
                  </a:lnTo>
                  <a:lnTo>
                    <a:pt x="156" y="259"/>
                  </a:lnTo>
                  <a:lnTo>
                    <a:pt x="144" y="259"/>
                  </a:lnTo>
                  <a:lnTo>
                    <a:pt x="136" y="257"/>
                  </a:lnTo>
                  <a:lnTo>
                    <a:pt x="127" y="249"/>
                  </a:lnTo>
                  <a:lnTo>
                    <a:pt x="122" y="237"/>
                  </a:lnTo>
                  <a:lnTo>
                    <a:pt x="120" y="223"/>
                  </a:lnTo>
                  <a:lnTo>
                    <a:pt x="122" y="213"/>
                  </a:lnTo>
                  <a:lnTo>
                    <a:pt x="127" y="201"/>
                  </a:lnTo>
                  <a:lnTo>
                    <a:pt x="134" y="199"/>
                  </a:lnTo>
                  <a:lnTo>
                    <a:pt x="141" y="194"/>
                  </a:lnTo>
                  <a:lnTo>
                    <a:pt x="144" y="199"/>
                  </a:lnTo>
                  <a:lnTo>
                    <a:pt x="148" y="199"/>
                  </a:lnTo>
                  <a:lnTo>
                    <a:pt x="151" y="201"/>
                  </a:lnTo>
                  <a:lnTo>
                    <a:pt x="151" y="206"/>
                  </a:lnTo>
                  <a:lnTo>
                    <a:pt x="156" y="209"/>
                  </a:lnTo>
                  <a:lnTo>
                    <a:pt x="156" y="213"/>
                  </a:lnTo>
                  <a:lnTo>
                    <a:pt x="158" y="216"/>
                  </a:lnTo>
                  <a:lnTo>
                    <a:pt x="165" y="216"/>
                  </a:lnTo>
                  <a:lnTo>
                    <a:pt x="170" y="213"/>
                  </a:lnTo>
                  <a:lnTo>
                    <a:pt x="170" y="201"/>
                  </a:lnTo>
                  <a:lnTo>
                    <a:pt x="163" y="194"/>
                  </a:lnTo>
                  <a:lnTo>
                    <a:pt x="156" y="192"/>
                  </a:lnTo>
                  <a:lnTo>
                    <a:pt x="144" y="192"/>
                  </a:lnTo>
                  <a:lnTo>
                    <a:pt x="129" y="194"/>
                  </a:lnTo>
                  <a:lnTo>
                    <a:pt x="120" y="201"/>
                  </a:lnTo>
                  <a:lnTo>
                    <a:pt x="108" y="216"/>
                  </a:lnTo>
                  <a:lnTo>
                    <a:pt x="105" y="230"/>
                  </a:lnTo>
                  <a:lnTo>
                    <a:pt x="108" y="249"/>
                  </a:lnTo>
                  <a:lnTo>
                    <a:pt x="115" y="264"/>
                  </a:lnTo>
                  <a:lnTo>
                    <a:pt x="127" y="271"/>
                  </a:lnTo>
                  <a:lnTo>
                    <a:pt x="141" y="273"/>
                  </a:lnTo>
                  <a:lnTo>
                    <a:pt x="151" y="271"/>
                  </a:lnTo>
                  <a:lnTo>
                    <a:pt x="158" y="266"/>
                  </a:lnTo>
                  <a:lnTo>
                    <a:pt x="170" y="257"/>
                  </a:lnTo>
                  <a:lnTo>
                    <a:pt x="172" y="242"/>
                  </a:lnTo>
                  <a:close/>
                  <a:moveTo>
                    <a:pt x="259" y="217"/>
                  </a:moveTo>
                  <a:lnTo>
                    <a:pt x="256" y="217"/>
                  </a:lnTo>
                  <a:lnTo>
                    <a:pt x="256" y="215"/>
                  </a:lnTo>
                  <a:lnTo>
                    <a:pt x="256" y="212"/>
                  </a:lnTo>
                  <a:lnTo>
                    <a:pt x="254" y="212"/>
                  </a:lnTo>
                  <a:lnTo>
                    <a:pt x="254" y="210"/>
                  </a:lnTo>
                  <a:lnTo>
                    <a:pt x="252" y="210"/>
                  </a:lnTo>
                  <a:lnTo>
                    <a:pt x="252" y="207"/>
                  </a:lnTo>
                  <a:lnTo>
                    <a:pt x="249" y="207"/>
                  </a:lnTo>
                  <a:lnTo>
                    <a:pt x="249" y="205"/>
                  </a:lnTo>
                  <a:lnTo>
                    <a:pt x="247" y="205"/>
                  </a:lnTo>
                  <a:lnTo>
                    <a:pt x="247" y="203"/>
                  </a:lnTo>
                  <a:lnTo>
                    <a:pt x="244" y="203"/>
                  </a:lnTo>
                  <a:lnTo>
                    <a:pt x="244" y="200"/>
                  </a:lnTo>
                  <a:lnTo>
                    <a:pt x="242" y="200"/>
                  </a:lnTo>
                  <a:lnTo>
                    <a:pt x="242" y="198"/>
                  </a:lnTo>
                  <a:lnTo>
                    <a:pt x="237" y="198"/>
                  </a:lnTo>
                  <a:lnTo>
                    <a:pt x="237" y="195"/>
                  </a:lnTo>
                  <a:lnTo>
                    <a:pt x="230" y="195"/>
                  </a:lnTo>
                  <a:lnTo>
                    <a:pt x="230" y="193"/>
                  </a:lnTo>
                  <a:lnTo>
                    <a:pt x="211" y="193"/>
                  </a:lnTo>
                  <a:lnTo>
                    <a:pt x="211" y="195"/>
                  </a:lnTo>
                  <a:lnTo>
                    <a:pt x="204" y="195"/>
                  </a:lnTo>
                  <a:lnTo>
                    <a:pt x="204" y="198"/>
                  </a:lnTo>
                  <a:lnTo>
                    <a:pt x="201" y="198"/>
                  </a:lnTo>
                  <a:lnTo>
                    <a:pt x="201" y="200"/>
                  </a:lnTo>
                  <a:lnTo>
                    <a:pt x="196" y="200"/>
                  </a:lnTo>
                  <a:lnTo>
                    <a:pt x="196" y="203"/>
                  </a:lnTo>
                  <a:lnTo>
                    <a:pt x="194" y="203"/>
                  </a:lnTo>
                  <a:lnTo>
                    <a:pt x="194" y="205"/>
                  </a:lnTo>
                  <a:lnTo>
                    <a:pt x="194" y="207"/>
                  </a:lnTo>
                  <a:lnTo>
                    <a:pt x="194" y="210"/>
                  </a:lnTo>
                  <a:lnTo>
                    <a:pt x="192" y="210"/>
                  </a:lnTo>
                  <a:lnTo>
                    <a:pt x="192" y="212"/>
                  </a:lnTo>
                  <a:lnTo>
                    <a:pt x="192" y="215"/>
                  </a:lnTo>
                  <a:lnTo>
                    <a:pt x="192" y="217"/>
                  </a:lnTo>
                  <a:lnTo>
                    <a:pt x="192" y="219"/>
                  </a:lnTo>
                  <a:lnTo>
                    <a:pt x="189" y="219"/>
                  </a:lnTo>
                  <a:lnTo>
                    <a:pt x="189" y="222"/>
                  </a:lnTo>
                  <a:lnTo>
                    <a:pt x="189" y="224"/>
                  </a:lnTo>
                  <a:lnTo>
                    <a:pt x="187" y="224"/>
                  </a:lnTo>
                  <a:lnTo>
                    <a:pt x="187" y="227"/>
                  </a:lnTo>
                  <a:lnTo>
                    <a:pt x="187" y="229"/>
                  </a:lnTo>
                  <a:lnTo>
                    <a:pt x="187" y="231"/>
                  </a:lnTo>
                  <a:lnTo>
                    <a:pt x="184" y="231"/>
                  </a:lnTo>
                  <a:lnTo>
                    <a:pt x="184" y="234"/>
                  </a:lnTo>
                  <a:lnTo>
                    <a:pt x="184" y="236"/>
                  </a:lnTo>
                  <a:lnTo>
                    <a:pt x="184" y="239"/>
                  </a:lnTo>
                  <a:lnTo>
                    <a:pt x="184" y="241"/>
                  </a:lnTo>
                  <a:lnTo>
                    <a:pt x="187" y="241"/>
                  </a:lnTo>
                  <a:lnTo>
                    <a:pt x="187" y="243"/>
                  </a:lnTo>
                  <a:lnTo>
                    <a:pt x="187" y="246"/>
                  </a:lnTo>
                  <a:lnTo>
                    <a:pt x="187" y="248"/>
                  </a:lnTo>
                  <a:lnTo>
                    <a:pt x="189" y="248"/>
                  </a:lnTo>
                  <a:lnTo>
                    <a:pt x="189" y="251"/>
                  </a:lnTo>
                  <a:lnTo>
                    <a:pt x="189" y="253"/>
                  </a:lnTo>
                  <a:lnTo>
                    <a:pt x="192" y="253"/>
                  </a:lnTo>
                  <a:lnTo>
                    <a:pt x="192" y="255"/>
                  </a:lnTo>
                  <a:lnTo>
                    <a:pt x="192" y="258"/>
                  </a:lnTo>
                  <a:lnTo>
                    <a:pt x="194" y="258"/>
                  </a:lnTo>
                  <a:lnTo>
                    <a:pt x="194" y="260"/>
                  </a:lnTo>
                  <a:lnTo>
                    <a:pt x="194" y="263"/>
                  </a:lnTo>
                  <a:lnTo>
                    <a:pt x="211" y="263"/>
                  </a:lnTo>
                  <a:lnTo>
                    <a:pt x="211" y="260"/>
                  </a:lnTo>
                  <a:lnTo>
                    <a:pt x="208" y="260"/>
                  </a:lnTo>
                  <a:lnTo>
                    <a:pt x="208" y="258"/>
                  </a:lnTo>
                  <a:lnTo>
                    <a:pt x="208" y="255"/>
                  </a:lnTo>
                  <a:lnTo>
                    <a:pt x="206" y="255"/>
                  </a:lnTo>
                  <a:lnTo>
                    <a:pt x="206" y="253"/>
                  </a:lnTo>
                  <a:lnTo>
                    <a:pt x="206" y="251"/>
                  </a:lnTo>
                  <a:lnTo>
                    <a:pt x="204" y="251"/>
                  </a:lnTo>
                  <a:lnTo>
                    <a:pt x="204" y="248"/>
                  </a:lnTo>
                  <a:lnTo>
                    <a:pt x="204" y="246"/>
                  </a:lnTo>
                  <a:lnTo>
                    <a:pt x="201" y="246"/>
                  </a:lnTo>
                  <a:lnTo>
                    <a:pt x="201" y="243"/>
                  </a:lnTo>
                  <a:lnTo>
                    <a:pt x="201" y="241"/>
                  </a:lnTo>
                  <a:lnTo>
                    <a:pt x="201" y="239"/>
                  </a:lnTo>
                  <a:lnTo>
                    <a:pt x="201" y="236"/>
                  </a:lnTo>
                  <a:lnTo>
                    <a:pt x="201" y="234"/>
                  </a:lnTo>
                  <a:lnTo>
                    <a:pt x="201" y="231"/>
                  </a:lnTo>
                  <a:lnTo>
                    <a:pt x="201" y="229"/>
                  </a:lnTo>
                  <a:lnTo>
                    <a:pt x="201" y="227"/>
                  </a:lnTo>
                  <a:lnTo>
                    <a:pt x="201" y="224"/>
                  </a:lnTo>
                  <a:lnTo>
                    <a:pt x="201" y="222"/>
                  </a:lnTo>
                  <a:lnTo>
                    <a:pt x="201" y="219"/>
                  </a:lnTo>
                  <a:lnTo>
                    <a:pt x="201" y="217"/>
                  </a:lnTo>
                  <a:lnTo>
                    <a:pt x="201" y="215"/>
                  </a:lnTo>
                  <a:lnTo>
                    <a:pt x="201" y="212"/>
                  </a:lnTo>
                  <a:lnTo>
                    <a:pt x="201" y="210"/>
                  </a:lnTo>
                  <a:lnTo>
                    <a:pt x="201" y="207"/>
                  </a:lnTo>
                  <a:lnTo>
                    <a:pt x="204" y="207"/>
                  </a:lnTo>
                  <a:lnTo>
                    <a:pt x="204" y="205"/>
                  </a:lnTo>
                  <a:lnTo>
                    <a:pt x="204" y="203"/>
                  </a:lnTo>
                  <a:lnTo>
                    <a:pt x="208" y="203"/>
                  </a:lnTo>
                  <a:lnTo>
                    <a:pt x="208" y="200"/>
                  </a:lnTo>
                  <a:lnTo>
                    <a:pt x="211" y="200"/>
                  </a:lnTo>
                  <a:lnTo>
                    <a:pt x="211" y="198"/>
                  </a:lnTo>
                  <a:lnTo>
                    <a:pt x="216" y="198"/>
                  </a:lnTo>
                  <a:lnTo>
                    <a:pt x="216" y="195"/>
                  </a:lnTo>
                  <a:lnTo>
                    <a:pt x="218" y="195"/>
                  </a:lnTo>
                  <a:lnTo>
                    <a:pt x="218" y="198"/>
                  </a:lnTo>
                  <a:lnTo>
                    <a:pt x="223" y="198"/>
                  </a:lnTo>
                  <a:lnTo>
                    <a:pt x="223" y="200"/>
                  </a:lnTo>
                  <a:lnTo>
                    <a:pt x="225" y="200"/>
                  </a:lnTo>
                  <a:lnTo>
                    <a:pt x="225" y="203"/>
                  </a:lnTo>
                  <a:lnTo>
                    <a:pt x="228" y="203"/>
                  </a:lnTo>
                  <a:lnTo>
                    <a:pt x="228" y="205"/>
                  </a:lnTo>
                  <a:lnTo>
                    <a:pt x="230" y="205"/>
                  </a:lnTo>
                  <a:lnTo>
                    <a:pt x="230" y="207"/>
                  </a:lnTo>
                  <a:lnTo>
                    <a:pt x="232" y="207"/>
                  </a:lnTo>
                  <a:lnTo>
                    <a:pt x="232" y="210"/>
                  </a:lnTo>
                  <a:lnTo>
                    <a:pt x="235" y="210"/>
                  </a:lnTo>
                  <a:lnTo>
                    <a:pt x="235" y="212"/>
                  </a:lnTo>
                  <a:lnTo>
                    <a:pt x="235" y="215"/>
                  </a:lnTo>
                  <a:lnTo>
                    <a:pt x="237" y="215"/>
                  </a:lnTo>
                  <a:lnTo>
                    <a:pt x="237" y="217"/>
                  </a:lnTo>
                  <a:lnTo>
                    <a:pt x="237" y="219"/>
                  </a:lnTo>
                  <a:lnTo>
                    <a:pt x="240" y="219"/>
                  </a:lnTo>
                  <a:lnTo>
                    <a:pt x="240" y="222"/>
                  </a:lnTo>
                  <a:lnTo>
                    <a:pt x="240" y="224"/>
                  </a:lnTo>
                  <a:lnTo>
                    <a:pt x="240" y="227"/>
                  </a:lnTo>
                  <a:lnTo>
                    <a:pt x="242" y="227"/>
                  </a:lnTo>
                  <a:lnTo>
                    <a:pt x="242" y="229"/>
                  </a:lnTo>
                  <a:lnTo>
                    <a:pt x="242" y="231"/>
                  </a:lnTo>
                  <a:lnTo>
                    <a:pt x="242" y="234"/>
                  </a:lnTo>
                  <a:lnTo>
                    <a:pt x="242" y="236"/>
                  </a:lnTo>
                  <a:lnTo>
                    <a:pt x="244" y="236"/>
                  </a:lnTo>
                  <a:lnTo>
                    <a:pt x="244" y="239"/>
                  </a:lnTo>
                  <a:lnTo>
                    <a:pt x="244" y="241"/>
                  </a:lnTo>
                  <a:lnTo>
                    <a:pt x="244" y="243"/>
                  </a:lnTo>
                  <a:lnTo>
                    <a:pt x="242" y="243"/>
                  </a:lnTo>
                  <a:lnTo>
                    <a:pt x="242" y="246"/>
                  </a:lnTo>
                  <a:lnTo>
                    <a:pt x="242" y="248"/>
                  </a:lnTo>
                  <a:lnTo>
                    <a:pt x="242" y="251"/>
                  </a:lnTo>
                  <a:lnTo>
                    <a:pt x="240" y="251"/>
                  </a:lnTo>
                  <a:lnTo>
                    <a:pt x="240" y="253"/>
                  </a:lnTo>
                  <a:lnTo>
                    <a:pt x="240" y="255"/>
                  </a:lnTo>
                  <a:lnTo>
                    <a:pt x="240" y="258"/>
                  </a:lnTo>
                  <a:lnTo>
                    <a:pt x="237" y="258"/>
                  </a:lnTo>
                  <a:lnTo>
                    <a:pt x="237" y="260"/>
                  </a:lnTo>
                  <a:lnTo>
                    <a:pt x="249" y="260"/>
                  </a:lnTo>
                  <a:lnTo>
                    <a:pt x="249" y="258"/>
                  </a:lnTo>
                  <a:lnTo>
                    <a:pt x="252" y="258"/>
                  </a:lnTo>
                  <a:lnTo>
                    <a:pt x="252" y="255"/>
                  </a:lnTo>
                  <a:lnTo>
                    <a:pt x="254" y="255"/>
                  </a:lnTo>
                  <a:lnTo>
                    <a:pt x="254" y="253"/>
                  </a:lnTo>
                  <a:lnTo>
                    <a:pt x="256" y="253"/>
                  </a:lnTo>
                  <a:lnTo>
                    <a:pt x="256" y="251"/>
                  </a:lnTo>
                  <a:lnTo>
                    <a:pt x="256" y="248"/>
                  </a:lnTo>
                  <a:lnTo>
                    <a:pt x="259" y="248"/>
                  </a:lnTo>
                  <a:lnTo>
                    <a:pt x="259" y="246"/>
                  </a:lnTo>
                  <a:lnTo>
                    <a:pt x="259" y="243"/>
                  </a:lnTo>
                  <a:lnTo>
                    <a:pt x="259" y="241"/>
                  </a:lnTo>
                  <a:lnTo>
                    <a:pt x="259" y="239"/>
                  </a:lnTo>
                  <a:lnTo>
                    <a:pt x="259" y="236"/>
                  </a:lnTo>
                  <a:lnTo>
                    <a:pt x="259" y="234"/>
                  </a:lnTo>
                  <a:lnTo>
                    <a:pt x="259" y="231"/>
                  </a:lnTo>
                  <a:lnTo>
                    <a:pt x="259" y="229"/>
                  </a:lnTo>
                  <a:lnTo>
                    <a:pt x="259" y="227"/>
                  </a:lnTo>
                  <a:lnTo>
                    <a:pt x="259" y="224"/>
                  </a:lnTo>
                  <a:lnTo>
                    <a:pt x="259" y="222"/>
                  </a:lnTo>
                  <a:lnTo>
                    <a:pt x="259" y="219"/>
                  </a:lnTo>
                  <a:lnTo>
                    <a:pt x="259" y="217"/>
                  </a:lnTo>
                  <a:close/>
                  <a:moveTo>
                    <a:pt x="525" y="71"/>
                  </a:moveTo>
                  <a:lnTo>
                    <a:pt x="513" y="71"/>
                  </a:lnTo>
                  <a:lnTo>
                    <a:pt x="513" y="73"/>
                  </a:lnTo>
                  <a:lnTo>
                    <a:pt x="506" y="73"/>
                  </a:lnTo>
                  <a:lnTo>
                    <a:pt x="506" y="71"/>
                  </a:lnTo>
                  <a:lnTo>
                    <a:pt x="487" y="71"/>
                  </a:lnTo>
                  <a:lnTo>
                    <a:pt x="487" y="73"/>
                  </a:lnTo>
                  <a:lnTo>
                    <a:pt x="487" y="75"/>
                  </a:lnTo>
                  <a:lnTo>
                    <a:pt x="489" y="75"/>
                  </a:lnTo>
                  <a:lnTo>
                    <a:pt x="489" y="78"/>
                  </a:lnTo>
                  <a:lnTo>
                    <a:pt x="494" y="78"/>
                  </a:lnTo>
                  <a:lnTo>
                    <a:pt x="494" y="80"/>
                  </a:lnTo>
                  <a:lnTo>
                    <a:pt x="496" y="80"/>
                  </a:lnTo>
                  <a:lnTo>
                    <a:pt x="496" y="83"/>
                  </a:lnTo>
                  <a:lnTo>
                    <a:pt x="506" y="83"/>
                  </a:lnTo>
                  <a:lnTo>
                    <a:pt x="506" y="80"/>
                  </a:lnTo>
                  <a:lnTo>
                    <a:pt x="513" y="80"/>
                  </a:lnTo>
                  <a:lnTo>
                    <a:pt x="513" y="78"/>
                  </a:lnTo>
                  <a:lnTo>
                    <a:pt x="518" y="78"/>
                  </a:lnTo>
                  <a:lnTo>
                    <a:pt x="518" y="75"/>
                  </a:lnTo>
                  <a:lnTo>
                    <a:pt x="520" y="75"/>
                  </a:lnTo>
                  <a:lnTo>
                    <a:pt x="520" y="73"/>
                  </a:lnTo>
                  <a:lnTo>
                    <a:pt x="525" y="73"/>
                  </a:lnTo>
                  <a:lnTo>
                    <a:pt x="525" y="71"/>
                  </a:lnTo>
                  <a:close/>
                  <a:moveTo>
                    <a:pt x="552" y="71"/>
                  </a:moveTo>
                  <a:lnTo>
                    <a:pt x="547" y="71"/>
                  </a:lnTo>
                  <a:lnTo>
                    <a:pt x="547" y="73"/>
                  </a:lnTo>
                  <a:lnTo>
                    <a:pt x="542" y="73"/>
                  </a:lnTo>
                  <a:lnTo>
                    <a:pt x="542" y="71"/>
                  </a:lnTo>
                  <a:lnTo>
                    <a:pt x="528" y="71"/>
                  </a:lnTo>
                  <a:lnTo>
                    <a:pt x="528" y="73"/>
                  </a:lnTo>
                  <a:lnTo>
                    <a:pt x="528" y="75"/>
                  </a:lnTo>
                  <a:lnTo>
                    <a:pt x="528" y="78"/>
                  </a:lnTo>
                  <a:lnTo>
                    <a:pt x="528" y="80"/>
                  </a:lnTo>
                  <a:lnTo>
                    <a:pt x="532" y="80"/>
                  </a:lnTo>
                  <a:lnTo>
                    <a:pt x="532" y="83"/>
                  </a:lnTo>
                  <a:lnTo>
                    <a:pt x="547" y="83"/>
                  </a:lnTo>
                  <a:lnTo>
                    <a:pt x="547" y="80"/>
                  </a:lnTo>
                  <a:lnTo>
                    <a:pt x="547" y="78"/>
                  </a:lnTo>
                  <a:lnTo>
                    <a:pt x="549" y="78"/>
                  </a:lnTo>
                  <a:lnTo>
                    <a:pt x="549" y="75"/>
                  </a:lnTo>
                  <a:lnTo>
                    <a:pt x="549" y="73"/>
                  </a:lnTo>
                  <a:lnTo>
                    <a:pt x="552" y="73"/>
                  </a:lnTo>
                  <a:lnTo>
                    <a:pt x="552" y="71"/>
                  </a:lnTo>
                  <a:close/>
                  <a:moveTo>
                    <a:pt x="614" y="2"/>
                  </a:moveTo>
                  <a:lnTo>
                    <a:pt x="609" y="0"/>
                  </a:lnTo>
                  <a:lnTo>
                    <a:pt x="602" y="0"/>
                  </a:lnTo>
                  <a:lnTo>
                    <a:pt x="592" y="2"/>
                  </a:lnTo>
                  <a:lnTo>
                    <a:pt x="580" y="17"/>
                  </a:lnTo>
                  <a:lnTo>
                    <a:pt x="580" y="0"/>
                  </a:lnTo>
                  <a:lnTo>
                    <a:pt x="578" y="0"/>
                  </a:lnTo>
                  <a:lnTo>
                    <a:pt x="556" y="7"/>
                  </a:lnTo>
                  <a:lnTo>
                    <a:pt x="556" y="9"/>
                  </a:lnTo>
                  <a:lnTo>
                    <a:pt x="566" y="9"/>
                  </a:lnTo>
                  <a:lnTo>
                    <a:pt x="566" y="72"/>
                  </a:lnTo>
                  <a:lnTo>
                    <a:pt x="564" y="74"/>
                  </a:lnTo>
                  <a:lnTo>
                    <a:pt x="556" y="74"/>
                  </a:lnTo>
                  <a:lnTo>
                    <a:pt x="556" y="79"/>
                  </a:lnTo>
                  <a:lnTo>
                    <a:pt x="595" y="79"/>
                  </a:lnTo>
                  <a:lnTo>
                    <a:pt x="595" y="74"/>
                  </a:lnTo>
                  <a:lnTo>
                    <a:pt x="588" y="74"/>
                  </a:lnTo>
                  <a:lnTo>
                    <a:pt x="580" y="67"/>
                  </a:lnTo>
                  <a:lnTo>
                    <a:pt x="580" y="24"/>
                  </a:lnTo>
                  <a:lnTo>
                    <a:pt x="588" y="17"/>
                  </a:lnTo>
                  <a:lnTo>
                    <a:pt x="592" y="9"/>
                  </a:lnTo>
                  <a:lnTo>
                    <a:pt x="595" y="9"/>
                  </a:lnTo>
                  <a:lnTo>
                    <a:pt x="600" y="14"/>
                  </a:lnTo>
                  <a:lnTo>
                    <a:pt x="602" y="14"/>
                  </a:lnTo>
                  <a:lnTo>
                    <a:pt x="607" y="17"/>
                  </a:lnTo>
                  <a:lnTo>
                    <a:pt x="614" y="9"/>
                  </a:lnTo>
                  <a:lnTo>
                    <a:pt x="61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0" name="AutoShape 31">
              <a:extLst>
                <a:ext uri="{FF2B5EF4-FFF2-40B4-BE49-F238E27FC236}">
                  <a16:creationId xmlns:a16="http://schemas.microsoft.com/office/drawing/2014/main" id="{A1681087-ECD9-34E9-8A9A-DA6AE61CEEAA}"/>
                </a:ext>
              </a:extLst>
            </p:cNvPr>
            <p:cNvSpPr>
              <a:spLocks/>
            </p:cNvSpPr>
            <p:nvPr/>
          </p:nvSpPr>
          <p:spPr bwMode="auto">
            <a:xfrm>
              <a:off x="5984" y="2378"/>
              <a:ext cx="238" cy="83"/>
            </a:xfrm>
            <a:custGeom>
              <a:avLst/>
              <a:gdLst>
                <a:gd name="T0" fmla="+- 0 6025 5984"/>
                <a:gd name="T1" fmla="*/ T0 w 238"/>
                <a:gd name="T2" fmla="+- 0 2450 2379"/>
                <a:gd name="T3" fmla="*/ 2450 h 83"/>
                <a:gd name="T4" fmla="+- 0 6006 5984"/>
                <a:gd name="T5" fmla="*/ T4 w 238"/>
                <a:gd name="T6" fmla="+- 0 2452 2379"/>
                <a:gd name="T7" fmla="*/ 2452 h 83"/>
                <a:gd name="T8" fmla="+- 0 6001 5984"/>
                <a:gd name="T9" fmla="*/ T8 w 238"/>
                <a:gd name="T10" fmla="+- 0 2447 2379"/>
                <a:gd name="T11" fmla="*/ 2447 h 83"/>
                <a:gd name="T12" fmla="+- 0 5986 5984"/>
                <a:gd name="T13" fmla="*/ T12 w 238"/>
                <a:gd name="T14" fmla="+- 0 2452 2379"/>
                <a:gd name="T15" fmla="*/ 2452 h 83"/>
                <a:gd name="T16" fmla="+- 0 5991 5984"/>
                <a:gd name="T17" fmla="*/ T16 w 238"/>
                <a:gd name="T18" fmla="+- 0 2459 2379"/>
                <a:gd name="T19" fmla="*/ 2459 h 83"/>
                <a:gd name="T20" fmla="+- 0 6022 5984"/>
                <a:gd name="T21" fmla="*/ T20 w 238"/>
                <a:gd name="T22" fmla="+- 0 2459 2379"/>
                <a:gd name="T23" fmla="*/ 2459 h 83"/>
                <a:gd name="T24" fmla="+- 0 6030 5984"/>
                <a:gd name="T25" fmla="*/ T24 w 238"/>
                <a:gd name="T26" fmla="+- 0 2454 2379"/>
                <a:gd name="T27" fmla="*/ 2454 h 83"/>
                <a:gd name="T28" fmla="+- 0 6034 5984"/>
                <a:gd name="T29" fmla="*/ T28 w 238"/>
                <a:gd name="T30" fmla="+- 0 2450 2379"/>
                <a:gd name="T31" fmla="*/ 2450 h 83"/>
                <a:gd name="T32" fmla="+- 0 6133 5984"/>
                <a:gd name="T33" fmla="*/ T32 w 238"/>
                <a:gd name="T34" fmla="+- 0 2453 2379"/>
                <a:gd name="T35" fmla="*/ 2453 h 83"/>
                <a:gd name="T36" fmla="+- 0 6123 5984"/>
                <a:gd name="T37" fmla="*/ T36 w 238"/>
                <a:gd name="T38" fmla="+- 0 2386 2379"/>
                <a:gd name="T39" fmla="*/ 2386 h 83"/>
                <a:gd name="T40" fmla="+- 0 6082 5984"/>
                <a:gd name="T41" fmla="*/ T40 w 238"/>
                <a:gd name="T42" fmla="+- 0 2393 2379"/>
                <a:gd name="T43" fmla="*/ 2393 h 83"/>
                <a:gd name="T44" fmla="+- 0 6058 5984"/>
                <a:gd name="T45" fmla="*/ T44 w 238"/>
                <a:gd name="T46" fmla="+- 0 2388 2379"/>
                <a:gd name="T47" fmla="*/ 2388 h 83"/>
                <a:gd name="T48" fmla="+- 0 6066 5984"/>
                <a:gd name="T49" fmla="*/ T48 w 238"/>
                <a:gd name="T50" fmla="+- 0 2453 2379"/>
                <a:gd name="T51" fmla="*/ 2453 h 83"/>
                <a:gd name="T52" fmla="+- 0 6094 5984"/>
                <a:gd name="T53" fmla="*/ T52 w 238"/>
                <a:gd name="T54" fmla="+- 0 2453 2379"/>
                <a:gd name="T55" fmla="*/ 2453 h 83"/>
                <a:gd name="T56" fmla="+- 0 6094 5984"/>
                <a:gd name="T57" fmla="*/ T56 w 238"/>
                <a:gd name="T58" fmla="+- 0 2388 2379"/>
                <a:gd name="T59" fmla="*/ 2388 h 83"/>
                <a:gd name="T60" fmla="+- 0 6116 5984"/>
                <a:gd name="T61" fmla="*/ T60 w 238"/>
                <a:gd name="T62" fmla="+- 0 2451 2379"/>
                <a:gd name="T63" fmla="*/ 2451 h 83"/>
                <a:gd name="T64" fmla="+- 0 6102 5984"/>
                <a:gd name="T65" fmla="*/ T64 w 238"/>
                <a:gd name="T66" fmla="+- 0 2458 2379"/>
                <a:gd name="T67" fmla="*/ 2458 h 83"/>
                <a:gd name="T68" fmla="+- 0 6222 5984"/>
                <a:gd name="T69" fmla="*/ T68 w 238"/>
                <a:gd name="T70" fmla="+- 0 2406 2379"/>
                <a:gd name="T71" fmla="*/ 2406 h 83"/>
                <a:gd name="T72" fmla="+- 0 6219 5984"/>
                <a:gd name="T73" fmla="*/ T72 w 238"/>
                <a:gd name="T74" fmla="+- 0 2402 2379"/>
                <a:gd name="T75" fmla="*/ 2402 h 83"/>
                <a:gd name="T76" fmla="+- 0 6214 5984"/>
                <a:gd name="T77" fmla="*/ T76 w 238"/>
                <a:gd name="T78" fmla="+- 0 2397 2379"/>
                <a:gd name="T79" fmla="*/ 2397 h 83"/>
                <a:gd name="T80" fmla="+- 0 6210 5984"/>
                <a:gd name="T81" fmla="*/ T80 w 238"/>
                <a:gd name="T82" fmla="+- 0 2392 2379"/>
                <a:gd name="T83" fmla="*/ 2392 h 83"/>
                <a:gd name="T84" fmla="+- 0 6205 5984"/>
                <a:gd name="T85" fmla="*/ T84 w 238"/>
                <a:gd name="T86" fmla="+- 0 2387 2379"/>
                <a:gd name="T87" fmla="*/ 2387 h 83"/>
                <a:gd name="T88" fmla="+- 0 6193 5984"/>
                <a:gd name="T89" fmla="*/ T88 w 238"/>
                <a:gd name="T90" fmla="+- 0 2382 2379"/>
                <a:gd name="T91" fmla="*/ 2382 h 83"/>
                <a:gd name="T92" fmla="+- 0 6164 5984"/>
                <a:gd name="T93" fmla="*/ T92 w 238"/>
                <a:gd name="T94" fmla="+- 0 2382 2379"/>
                <a:gd name="T95" fmla="*/ 2382 h 83"/>
                <a:gd name="T96" fmla="+- 0 6162 5984"/>
                <a:gd name="T97" fmla="*/ T96 w 238"/>
                <a:gd name="T98" fmla="+- 0 2390 2379"/>
                <a:gd name="T99" fmla="*/ 2390 h 83"/>
                <a:gd name="T100" fmla="+- 0 6157 5984"/>
                <a:gd name="T101" fmla="*/ T100 w 238"/>
                <a:gd name="T102" fmla="+- 0 2394 2379"/>
                <a:gd name="T103" fmla="*/ 2394 h 83"/>
                <a:gd name="T104" fmla="+- 0 6154 5984"/>
                <a:gd name="T105" fmla="*/ T104 w 238"/>
                <a:gd name="T106" fmla="+- 0 2402 2379"/>
                <a:gd name="T107" fmla="*/ 2402 h 83"/>
                <a:gd name="T108" fmla="+- 0 6152 5984"/>
                <a:gd name="T109" fmla="*/ T108 w 238"/>
                <a:gd name="T110" fmla="+- 0 2409 2379"/>
                <a:gd name="T111" fmla="*/ 2409 h 83"/>
                <a:gd name="T112" fmla="+- 0 6147 5984"/>
                <a:gd name="T113" fmla="*/ T112 w 238"/>
                <a:gd name="T114" fmla="+- 0 2414 2379"/>
                <a:gd name="T115" fmla="*/ 2414 h 83"/>
                <a:gd name="T116" fmla="+- 0 6147 5984"/>
                <a:gd name="T117" fmla="*/ T116 w 238"/>
                <a:gd name="T118" fmla="+- 0 2423 2379"/>
                <a:gd name="T119" fmla="*/ 2423 h 83"/>
                <a:gd name="T120" fmla="+- 0 6150 5984"/>
                <a:gd name="T121" fmla="*/ T120 w 238"/>
                <a:gd name="T122" fmla="+- 0 2430 2379"/>
                <a:gd name="T123" fmla="*/ 2430 h 83"/>
                <a:gd name="T124" fmla="+- 0 6154 5984"/>
                <a:gd name="T125" fmla="*/ T124 w 238"/>
                <a:gd name="T126" fmla="+- 0 2435 2379"/>
                <a:gd name="T127" fmla="*/ 2435 h 83"/>
                <a:gd name="T128" fmla="+- 0 6157 5984"/>
                <a:gd name="T129" fmla="*/ T128 w 238"/>
                <a:gd name="T130" fmla="+- 0 2442 2379"/>
                <a:gd name="T131" fmla="*/ 2442 h 83"/>
                <a:gd name="T132" fmla="+- 0 6159 5984"/>
                <a:gd name="T133" fmla="*/ T132 w 238"/>
                <a:gd name="T134" fmla="+- 0 2450 2379"/>
                <a:gd name="T135" fmla="*/ 2450 h 83"/>
                <a:gd name="T136" fmla="+- 0 6178 5984"/>
                <a:gd name="T137" fmla="*/ T136 w 238"/>
                <a:gd name="T138" fmla="+- 0 2454 2379"/>
                <a:gd name="T139" fmla="*/ 2454 h 83"/>
                <a:gd name="T140" fmla="+- 0 6171 5984"/>
                <a:gd name="T141" fmla="*/ T140 w 238"/>
                <a:gd name="T142" fmla="+- 0 2450 2379"/>
                <a:gd name="T143" fmla="*/ 2450 h 83"/>
                <a:gd name="T144" fmla="+- 0 6169 5984"/>
                <a:gd name="T145" fmla="*/ T144 w 238"/>
                <a:gd name="T146" fmla="+- 0 2442 2379"/>
                <a:gd name="T147" fmla="*/ 2442 h 83"/>
                <a:gd name="T148" fmla="+- 0 6166 5984"/>
                <a:gd name="T149" fmla="*/ T148 w 238"/>
                <a:gd name="T150" fmla="+- 0 2435 2379"/>
                <a:gd name="T151" fmla="*/ 2435 h 83"/>
                <a:gd name="T152" fmla="+- 0 6164 5984"/>
                <a:gd name="T153" fmla="*/ T152 w 238"/>
                <a:gd name="T154" fmla="+- 0 2430 2379"/>
                <a:gd name="T155" fmla="*/ 2430 h 83"/>
                <a:gd name="T156" fmla="+- 0 6162 5984"/>
                <a:gd name="T157" fmla="*/ T156 w 238"/>
                <a:gd name="T158" fmla="+- 0 2423 2379"/>
                <a:gd name="T159" fmla="*/ 2423 h 83"/>
                <a:gd name="T160" fmla="+- 0 6162 5984"/>
                <a:gd name="T161" fmla="*/ T160 w 238"/>
                <a:gd name="T162" fmla="+- 0 2414 2379"/>
                <a:gd name="T163" fmla="*/ 2414 h 83"/>
                <a:gd name="T164" fmla="+- 0 6164 5984"/>
                <a:gd name="T165" fmla="*/ T164 w 238"/>
                <a:gd name="T166" fmla="+- 0 2409 2379"/>
                <a:gd name="T167" fmla="*/ 2409 h 83"/>
                <a:gd name="T168" fmla="+- 0 6164 5984"/>
                <a:gd name="T169" fmla="*/ T168 w 238"/>
                <a:gd name="T170" fmla="+- 0 2399 2379"/>
                <a:gd name="T171" fmla="*/ 2399 h 83"/>
                <a:gd name="T172" fmla="+- 0 6166 5984"/>
                <a:gd name="T173" fmla="*/ T172 w 238"/>
                <a:gd name="T174" fmla="+- 0 2392 2379"/>
                <a:gd name="T175" fmla="*/ 2392 h 83"/>
                <a:gd name="T176" fmla="+- 0 6171 5984"/>
                <a:gd name="T177" fmla="*/ T176 w 238"/>
                <a:gd name="T178" fmla="+- 0 2387 2379"/>
                <a:gd name="T179" fmla="*/ 2387 h 83"/>
                <a:gd name="T180" fmla="+- 0 6178 5984"/>
                <a:gd name="T181" fmla="*/ T180 w 238"/>
                <a:gd name="T182" fmla="+- 0 2382 2379"/>
                <a:gd name="T183" fmla="*/ 2382 h 83"/>
                <a:gd name="T184" fmla="+- 0 6188 5984"/>
                <a:gd name="T185" fmla="*/ T184 w 238"/>
                <a:gd name="T186" fmla="+- 0 2387 2379"/>
                <a:gd name="T187" fmla="*/ 2387 h 83"/>
                <a:gd name="T188" fmla="+- 0 6193 5984"/>
                <a:gd name="T189" fmla="*/ T188 w 238"/>
                <a:gd name="T190" fmla="+- 0 2392 2379"/>
                <a:gd name="T191" fmla="*/ 2392 h 83"/>
                <a:gd name="T192" fmla="+- 0 6198 5984"/>
                <a:gd name="T193" fmla="*/ T192 w 238"/>
                <a:gd name="T194" fmla="+- 0 2397 2379"/>
                <a:gd name="T195" fmla="*/ 2397 h 83"/>
                <a:gd name="T196" fmla="+- 0 6202 5984"/>
                <a:gd name="T197" fmla="*/ T196 w 238"/>
                <a:gd name="T198" fmla="+- 0 2402 2379"/>
                <a:gd name="T199" fmla="*/ 2402 h 83"/>
                <a:gd name="T200" fmla="+- 0 6205 5984"/>
                <a:gd name="T201" fmla="*/ T200 w 238"/>
                <a:gd name="T202" fmla="+- 0 2409 2379"/>
                <a:gd name="T203" fmla="*/ 2409 h 83"/>
                <a:gd name="T204" fmla="+- 0 6205 5984"/>
                <a:gd name="T205" fmla="*/ T204 w 238"/>
                <a:gd name="T206" fmla="+- 0 2418 2379"/>
                <a:gd name="T207" fmla="*/ 2418 h 83"/>
                <a:gd name="T208" fmla="+- 0 6207 5984"/>
                <a:gd name="T209" fmla="*/ T208 w 238"/>
                <a:gd name="T210" fmla="+- 0 2426 2379"/>
                <a:gd name="T211" fmla="*/ 2426 h 83"/>
                <a:gd name="T212" fmla="+- 0 6207 5984"/>
                <a:gd name="T213" fmla="*/ T212 w 238"/>
                <a:gd name="T214" fmla="+- 0 2435 2379"/>
                <a:gd name="T215" fmla="*/ 2435 h 83"/>
                <a:gd name="T216" fmla="+- 0 6205 5984"/>
                <a:gd name="T217" fmla="*/ T216 w 238"/>
                <a:gd name="T218" fmla="+- 0 2442 2379"/>
                <a:gd name="T219" fmla="*/ 2442 h 83"/>
                <a:gd name="T220" fmla="+- 0 6200 5984"/>
                <a:gd name="T221" fmla="*/ T220 w 238"/>
                <a:gd name="T222" fmla="+- 0 2447 2379"/>
                <a:gd name="T223" fmla="*/ 2447 h 83"/>
                <a:gd name="T224" fmla="+- 0 6198 5984"/>
                <a:gd name="T225" fmla="*/ T224 w 238"/>
                <a:gd name="T226" fmla="+- 0 2454 2379"/>
                <a:gd name="T227" fmla="*/ 2454 h 83"/>
                <a:gd name="T228" fmla="+- 0 6210 5984"/>
                <a:gd name="T229" fmla="*/ T228 w 238"/>
                <a:gd name="T230" fmla="+- 0 2450 2379"/>
                <a:gd name="T231" fmla="*/ 2450 h 83"/>
                <a:gd name="T232" fmla="+- 0 6214 5984"/>
                <a:gd name="T233" fmla="*/ T232 w 238"/>
                <a:gd name="T234" fmla="+- 0 2445 2379"/>
                <a:gd name="T235" fmla="*/ 2445 h 83"/>
                <a:gd name="T236" fmla="+- 0 6219 5984"/>
                <a:gd name="T237" fmla="*/ T236 w 238"/>
                <a:gd name="T238" fmla="+- 0 2440 2379"/>
                <a:gd name="T239" fmla="*/ 2440 h 83"/>
                <a:gd name="T240" fmla="+- 0 6222 5984"/>
                <a:gd name="T241" fmla="*/ T240 w 238"/>
                <a:gd name="T242" fmla="+- 0 2433 2379"/>
                <a:gd name="T243" fmla="*/ 2433 h 83"/>
                <a:gd name="T244" fmla="+- 0 6222 5984"/>
                <a:gd name="T245" fmla="*/ T244 w 238"/>
                <a:gd name="T246" fmla="+- 0 2423 2379"/>
                <a:gd name="T247" fmla="*/ 2423 h 83"/>
                <a:gd name="T248" fmla="+- 0 6222 5984"/>
                <a:gd name="T249" fmla="*/ T248 w 238"/>
                <a:gd name="T250" fmla="+- 0 2414 2379"/>
                <a:gd name="T251" fmla="*/ 2414 h 8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 ang="0">
                  <a:pos x="T249" y="T251"/>
                </a:cxn>
              </a:cxnLst>
              <a:rect l="0" t="0" r="r" b="b"/>
              <a:pathLst>
                <a:path w="238" h="83">
                  <a:moveTo>
                    <a:pt x="53" y="68"/>
                  </a:moveTo>
                  <a:lnTo>
                    <a:pt x="43" y="68"/>
                  </a:lnTo>
                  <a:lnTo>
                    <a:pt x="43" y="71"/>
                  </a:lnTo>
                  <a:lnTo>
                    <a:pt x="41" y="71"/>
                  </a:lnTo>
                  <a:lnTo>
                    <a:pt x="41" y="73"/>
                  </a:lnTo>
                  <a:lnTo>
                    <a:pt x="41" y="75"/>
                  </a:lnTo>
                  <a:lnTo>
                    <a:pt x="22" y="75"/>
                  </a:lnTo>
                  <a:lnTo>
                    <a:pt x="22" y="73"/>
                  </a:lnTo>
                  <a:lnTo>
                    <a:pt x="19" y="73"/>
                  </a:lnTo>
                  <a:lnTo>
                    <a:pt x="19" y="71"/>
                  </a:lnTo>
                  <a:lnTo>
                    <a:pt x="17" y="71"/>
                  </a:lnTo>
                  <a:lnTo>
                    <a:pt x="17" y="68"/>
                  </a:lnTo>
                  <a:lnTo>
                    <a:pt x="0" y="68"/>
                  </a:lnTo>
                  <a:lnTo>
                    <a:pt x="0" y="71"/>
                  </a:lnTo>
                  <a:lnTo>
                    <a:pt x="0" y="73"/>
                  </a:lnTo>
                  <a:lnTo>
                    <a:pt x="2" y="73"/>
                  </a:lnTo>
                  <a:lnTo>
                    <a:pt x="2" y="75"/>
                  </a:lnTo>
                  <a:lnTo>
                    <a:pt x="2" y="78"/>
                  </a:lnTo>
                  <a:lnTo>
                    <a:pt x="7" y="78"/>
                  </a:lnTo>
                  <a:lnTo>
                    <a:pt x="7" y="80"/>
                  </a:lnTo>
                  <a:lnTo>
                    <a:pt x="10" y="80"/>
                  </a:lnTo>
                  <a:lnTo>
                    <a:pt x="10" y="83"/>
                  </a:lnTo>
                  <a:lnTo>
                    <a:pt x="38" y="83"/>
                  </a:lnTo>
                  <a:lnTo>
                    <a:pt x="38" y="80"/>
                  </a:lnTo>
                  <a:lnTo>
                    <a:pt x="43" y="80"/>
                  </a:lnTo>
                  <a:lnTo>
                    <a:pt x="43" y="78"/>
                  </a:lnTo>
                  <a:lnTo>
                    <a:pt x="46" y="78"/>
                  </a:lnTo>
                  <a:lnTo>
                    <a:pt x="46" y="75"/>
                  </a:lnTo>
                  <a:lnTo>
                    <a:pt x="48" y="75"/>
                  </a:lnTo>
                  <a:lnTo>
                    <a:pt x="48" y="73"/>
                  </a:lnTo>
                  <a:lnTo>
                    <a:pt x="50" y="73"/>
                  </a:lnTo>
                  <a:lnTo>
                    <a:pt x="50" y="71"/>
                  </a:lnTo>
                  <a:lnTo>
                    <a:pt x="53" y="71"/>
                  </a:lnTo>
                  <a:lnTo>
                    <a:pt x="53" y="68"/>
                  </a:lnTo>
                  <a:close/>
                  <a:moveTo>
                    <a:pt x="156" y="74"/>
                  </a:moveTo>
                  <a:lnTo>
                    <a:pt x="149" y="74"/>
                  </a:lnTo>
                  <a:lnTo>
                    <a:pt x="146" y="72"/>
                  </a:lnTo>
                  <a:lnTo>
                    <a:pt x="146" y="17"/>
                  </a:lnTo>
                  <a:lnTo>
                    <a:pt x="142" y="14"/>
                  </a:lnTo>
                  <a:lnTo>
                    <a:pt x="139" y="7"/>
                  </a:lnTo>
                  <a:lnTo>
                    <a:pt x="132" y="0"/>
                  </a:lnTo>
                  <a:lnTo>
                    <a:pt x="125" y="0"/>
                  </a:lnTo>
                  <a:lnTo>
                    <a:pt x="113" y="2"/>
                  </a:lnTo>
                  <a:lnTo>
                    <a:pt x="98" y="14"/>
                  </a:lnTo>
                  <a:lnTo>
                    <a:pt x="98" y="0"/>
                  </a:lnTo>
                  <a:lnTo>
                    <a:pt x="96" y="0"/>
                  </a:lnTo>
                  <a:lnTo>
                    <a:pt x="72" y="7"/>
                  </a:lnTo>
                  <a:lnTo>
                    <a:pt x="74" y="9"/>
                  </a:lnTo>
                  <a:lnTo>
                    <a:pt x="82" y="9"/>
                  </a:lnTo>
                  <a:lnTo>
                    <a:pt x="86" y="14"/>
                  </a:lnTo>
                  <a:lnTo>
                    <a:pt x="86" y="67"/>
                  </a:lnTo>
                  <a:lnTo>
                    <a:pt x="82" y="74"/>
                  </a:lnTo>
                  <a:lnTo>
                    <a:pt x="74" y="74"/>
                  </a:lnTo>
                  <a:lnTo>
                    <a:pt x="74" y="79"/>
                  </a:lnTo>
                  <a:lnTo>
                    <a:pt x="110" y="79"/>
                  </a:lnTo>
                  <a:lnTo>
                    <a:pt x="110" y="74"/>
                  </a:lnTo>
                  <a:lnTo>
                    <a:pt x="103" y="74"/>
                  </a:lnTo>
                  <a:lnTo>
                    <a:pt x="98" y="72"/>
                  </a:lnTo>
                  <a:lnTo>
                    <a:pt x="98" y="21"/>
                  </a:lnTo>
                  <a:lnTo>
                    <a:pt x="110" y="9"/>
                  </a:lnTo>
                  <a:lnTo>
                    <a:pt x="125" y="9"/>
                  </a:lnTo>
                  <a:lnTo>
                    <a:pt x="127" y="14"/>
                  </a:lnTo>
                  <a:lnTo>
                    <a:pt x="132" y="21"/>
                  </a:lnTo>
                  <a:lnTo>
                    <a:pt x="132" y="72"/>
                  </a:lnTo>
                  <a:lnTo>
                    <a:pt x="127" y="72"/>
                  </a:lnTo>
                  <a:lnTo>
                    <a:pt x="127" y="74"/>
                  </a:lnTo>
                  <a:lnTo>
                    <a:pt x="118" y="74"/>
                  </a:lnTo>
                  <a:lnTo>
                    <a:pt x="118" y="79"/>
                  </a:lnTo>
                  <a:lnTo>
                    <a:pt x="156" y="79"/>
                  </a:lnTo>
                  <a:lnTo>
                    <a:pt x="156" y="74"/>
                  </a:lnTo>
                  <a:close/>
                  <a:moveTo>
                    <a:pt x="238" y="27"/>
                  </a:moveTo>
                  <a:lnTo>
                    <a:pt x="238" y="27"/>
                  </a:lnTo>
                  <a:lnTo>
                    <a:pt x="238" y="25"/>
                  </a:lnTo>
                  <a:lnTo>
                    <a:pt x="235" y="25"/>
                  </a:lnTo>
                  <a:lnTo>
                    <a:pt x="235" y="23"/>
                  </a:lnTo>
                  <a:lnTo>
                    <a:pt x="235" y="20"/>
                  </a:lnTo>
                  <a:lnTo>
                    <a:pt x="233" y="20"/>
                  </a:lnTo>
                  <a:lnTo>
                    <a:pt x="233" y="18"/>
                  </a:lnTo>
                  <a:lnTo>
                    <a:pt x="230" y="18"/>
                  </a:lnTo>
                  <a:lnTo>
                    <a:pt x="230" y="15"/>
                  </a:lnTo>
                  <a:lnTo>
                    <a:pt x="228" y="15"/>
                  </a:lnTo>
                  <a:lnTo>
                    <a:pt x="228" y="13"/>
                  </a:lnTo>
                  <a:lnTo>
                    <a:pt x="226" y="13"/>
                  </a:lnTo>
                  <a:lnTo>
                    <a:pt x="226" y="11"/>
                  </a:lnTo>
                  <a:lnTo>
                    <a:pt x="223" y="11"/>
                  </a:lnTo>
                  <a:lnTo>
                    <a:pt x="223" y="8"/>
                  </a:lnTo>
                  <a:lnTo>
                    <a:pt x="221" y="8"/>
                  </a:lnTo>
                  <a:lnTo>
                    <a:pt x="221" y="6"/>
                  </a:lnTo>
                  <a:lnTo>
                    <a:pt x="216" y="6"/>
                  </a:lnTo>
                  <a:lnTo>
                    <a:pt x="216" y="3"/>
                  </a:lnTo>
                  <a:lnTo>
                    <a:pt x="209" y="3"/>
                  </a:lnTo>
                  <a:lnTo>
                    <a:pt x="209" y="1"/>
                  </a:lnTo>
                  <a:lnTo>
                    <a:pt x="192" y="1"/>
                  </a:lnTo>
                  <a:lnTo>
                    <a:pt x="192" y="3"/>
                  </a:lnTo>
                  <a:lnTo>
                    <a:pt x="180" y="3"/>
                  </a:lnTo>
                  <a:lnTo>
                    <a:pt x="180" y="6"/>
                  </a:lnTo>
                  <a:lnTo>
                    <a:pt x="178" y="6"/>
                  </a:lnTo>
                  <a:lnTo>
                    <a:pt x="178" y="8"/>
                  </a:lnTo>
                  <a:lnTo>
                    <a:pt x="178" y="11"/>
                  </a:lnTo>
                  <a:lnTo>
                    <a:pt x="175" y="11"/>
                  </a:lnTo>
                  <a:lnTo>
                    <a:pt x="175" y="13"/>
                  </a:lnTo>
                  <a:lnTo>
                    <a:pt x="175" y="15"/>
                  </a:lnTo>
                  <a:lnTo>
                    <a:pt x="173" y="15"/>
                  </a:lnTo>
                  <a:lnTo>
                    <a:pt x="173" y="18"/>
                  </a:lnTo>
                  <a:lnTo>
                    <a:pt x="173" y="20"/>
                  </a:lnTo>
                  <a:lnTo>
                    <a:pt x="170" y="20"/>
                  </a:lnTo>
                  <a:lnTo>
                    <a:pt x="170" y="23"/>
                  </a:lnTo>
                  <a:lnTo>
                    <a:pt x="170" y="25"/>
                  </a:lnTo>
                  <a:lnTo>
                    <a:pt x="168" y="25"/>
                  </a:lnTo>
                  <a:lnTo>
                    <a:pt x="168" y="27"/>
                  </a:lnTo>
                  <a:lnTo>
                    <a:pt x="168" y="30"/>
                  </a:lnTo>
                  <a:lnTo>
                    <a:pt x="166" y="30"/>
                  </a:lnTo>
                  <a:lnTo>
                    <a:pt x="166" y="32"/>
                  </a:lnTo>
                  <a:lnTo>
                    <a:pt x="163" y="32"/>
                  </a:lnTo>
                  <a:lnTo>
                    <a:pt x="163" y="35"/>
                  </a:lnTo>
                  <a:lnTo>
                    <a:pt x="163" y="37"/>
                  </a:lnTo>
                  <a:lnTo>
                    <a:pt x="163" y="39"/>
                  </a:lnTo>
                  <a:lnTo>
                    <a:pt x="163" y="42"/>
                  </a:lnTo>
                  <a:lnTo>
                    <a:pt x="163" y="44"/>
                  </a:lnTo>
                  <a:lnTo>
                    <a:pt x="163" y="47"/>
                  </a:lnTo>
                  <a:lnTo>
                    <a:pt x="166" y="47"/>
                  </a:lnTo>
                  <a:lnTo>
                    <a:pt x="166" y="49"/>
                  </a:lnTo>
                  <a:lnTo>
                    <a:pt x="166" y="51"/>
                  </a:lnTo>
                  <a:lnTo>
                    <a:pt x="168" y="51"/>
                  </a:lnTo>
                  <a:lnTo>
                    <a:pt x="168" y="54"/>
                  </a:lnTo>
                  <a:lnTo>
                    <a:pt x="168" y="56"/>
                  </a:lnTo>
                  <a:lnTo>
                    <a:pt x="170" y="56"/>
                  </a:lnTo>
                  <a:lnTo>
                    <a:pt x="170" y="59"/>
                  </a:lnTo>
                  <a:lnTo>
                    <a:pt x="170" y="61"/>
                  </a:lnTo>
                  <a:lnTo>
                    <a:pt x="173" y="61"/>
                  </a:lnTo>
                  <a:lnTo>
                    <a:pt x="173" y="63"/>
                  </a:lnTo>
                  <a:lnTo>
                    <a:pt x="173" y="66"/>
                  </a:lnTo>
                  <a:lnTo>
                    <a:pt x="175" y="66"/>
                  </a:lnTo>
                  <a:lnTo>
                    <a:pt x="175" y="68"/>
                  </a:lnTo>
                  <a:lnTo>
                    <a:pt x="175" y="71"/>
                  </a:lnTo>
                  <a:lnTo>
                    <a:pt x="175" y="73"/>
                  </a:lnTo>
                  <a:lnTo>
                    <a:pt x="178" y="73"/>
                  </a:lnTo>
                  <a:lnTo>
                    <a:pt x="178" y="75"/>
                  </a:lnTo>
                  <a:lnTo>
                    <a:pt x="194" y="75"/>
                  </a:lnTo>
                  <a:lnTo>
                    <a:pt x="194" y="73"/>
                  </a:lnTo>
                  <a:lnTo>
                    <a:pt x="192" y="73"/>
                  </a:lnTo>
                  <a:lnTo>
                    <a:pt x="192" y="71"/>
                  </a:lnTo>
                  <a:lnTo>
                    <a:pt x="187" y="71"/>
                  </a:lnTo>
                  <a:lnTo>
                    <a:pt x="187" y="68"/>
                  </a:lnTo>
                  <a:lnTo>
                    <a:pt x="185" y="68"/>
                  </a:lnTo>
                  <a:lnTo>
                    <a:pt x="185" y="66"/>
                  </a:lnTo>
                  <a:lnTo>
                    <a:pt x="185" y="63"/>
                  </a:lnTo>
                  <a:lnTo>
                    <a:pt x="182" y="63"/>
                  </a:lnTo>
                  <a:lnTo>
                    <a:pt x="182" y="61"/>
                  </a:lnTo>
                  <a:lnTo>
                    <a:pt x="182" y="59"/>
                  </a:lnTo>
                  <a:lnTo>
                    <a:pt x="182" y="56"/>
                  </a:lnTo>
                  <a:lnTo>
                    <a:pt x="180" y="56"/>
                  </a:lnTo>
                  <a:lnTo>
                    <a:pt x="180" y="54"/>
                  </a:lnTo>
                  <a:lnTo>
                    <a:pt x="180" y="51"/>
                  </a:lnTo>
                  <a:lnTo>
                    <a:pt x="180" y="49"/>
                  </a:lnTo>
                  <a:lnTo>
                    <a:pt x="180" y="47"/>
                  </a:lnTo>
                  <a:lnTo>
                    <a:pt x="180" y="44"/>
                  </a:lnTo>
                  <a:lnTo>
                    <a:pt x="178" y="44"/>
                  </a:lnTo>
                  <a:lnTo>
                    <a:pt x="178" y="42"/>
                  </a:lnTo>
                  <a:lnTo>
                    <a:pt x="178" y="39"/>
                  </a:lnTo>
                  <a:lnTo>
                    <a:pt x="178" y="37"/>
                  </a:lnTo>
                  <a:lnTo>
                    <a:pt x="178" y="35"/>
                  </a:lnTo>
                  <a:lnTo>
                    <a:pt x="178" y="32"/>
                  </a:lnTo>
                  <a:lnTo>
                    <a:pt x="180" y="32"/>
                  </a:lnTo>
                  <a:lnTo>
                    <a:pt x="180" y="30"/>
                  </a:lnTo>
                  <a:lnTo>
                    <a:pt x="180" y="27"/>
                  </a:lnTo>
                  <a:lnTo>
                    <a:pt x="180" y="25"/>
                  </a:lnTo>
                  <a:lnTo>
                    <a:pt x="180" y="23"/>
                  </a:lnTo>
                  <a:lnTo>
                    <a:pt x="180" y="20"/>
                  </a:lnTo>
                  <a:lnTo>
                    <a:pt x="180" y="18"/>
                  </a:lnTo>
                  <a:lnTo>
                    <a:pt x="182" y="18"/>
                  </a:lnTo>
                  <a:lnTo>
                    <a:pt x="182" y="15"/>
                  </a:lnTo>
                  <a:lnTo>
                    <a:pt x="182" y="13"/>
                  </a:lnTo>
                  <a:lnTo>
                    <a:pt x="185" y="13"/>
                  </a:lnTo>
                  <a:lnTo>
                    <a:pt x="185" y="11"/>
                  </a:lnTo>
                  <a:lnTo>
                    <a:pt x="187" y="11"/>
                  </a:lnTo>
                  <a:lnTo>
                    <a:pt x="187" y="8"/>
                  </a:lnTo>
                  <a:lnTo>
                    <a:pt x="190" y="8"/>
                  </a:lnTo>
                  <a:lnTo>
                    <a:pt x="190" y="6"/>
                  </a:lnTo>
                  <a:lnTo>
                    <a:pt x="194" y="6"/>
                  </a:lnTo>
                  <a:lnTo>
                    <a:pt x="194" y="3"/>
                  </a:lnTo>
                  <a:lnTo>
                    <a:pt x="199" y="3"/>
                  </a:lnTo>
                  <a:lnTo>
                    <a:pt x="199" y="6"/>
                  </a:lnTo>
                  <a:lnTo>
                    <a:pt x="204" y="6"/>
                  </a:lnTo>
                  <a:lnTo>
                    <a:pt x="204" y="8"/>
                  </a:lnTo>
                  <a:lnTo>
                    <a:pt x="206" y="8"/>
                  </a:lnTo>
                  <a:lnTo>
                    <a:pt x="206" y="11"/>
                  </a:lnTo>
                  <a:lnTo>
                    <a:pt x="209" y="11"/>
                  </a:lnTo>
                  <a:lnTo>
                    <a:pt x="209" y="13"/>
                  </a:lnTo>
                  <a:lnTo>
                    <a:pt x="211" y="13"/>
                  </a:lnTo>
                  <a:lnTo>
                    <a:pt x="211" y="15"/>
                  </a:lnTo>
                  <a:lnTo>
                    <a:pt x="214" y="15"/>
                  </a:lnTo>
                  <a:lnTo>
                    <a:pt x="214" y="18"/>
                  </a:lnTo>
                  <a:lnTo>
                    <a:pt x="216" y="18"/>
                  </a:lnTo>
                  <a:lnTo>
                    <a:pt x="216" y="20"/>
                  </a:lnTo>
                  <a:lnTo>
                    <a:pt x="216" y="23"/>
                  </a:lnTo>
                  <a:lnTo>
                    <a:pt x="218" y="23"/>
                  </a:lnTo>
                  <a:lnTo>
                    <a:pt x="218" y="25"/>
                  </a:lnTo>
                  <a:lnTo>
                    <a:pt x="218" y="27"/>
                  </a:lnTo>
                  <a:lnTo>
                    <a:pt x="221" y="27"/>
                  </a:lnTo>
                  <a:lnTo>
                    <a:pt x="221" y="30"/>
                  </a:lnTo>
                  <a:lnTo>
                    <a:pt x="221" y="32"/>
                  </a:lnTo>
                  <a:lnTo>
                    <a:pt x="221" y="35"/>
                  </a:lnTo>
                  <a:lnTo>
                    <a:pt x="221" y="37"/>
                  </a:lnTo>
                  <a:lnTo>
                    <a:pt x="221" y="39"/>
                  </a:lnTo>
                  <a:lnTo>
                    <a:pt x="223" y="39"/>
                  </a:lnTo>
                  <a:lnTo>
                    <a:pt x="223" y="42"/>
                  </a:lnTo>
                  <a:lnTo>
                    <a:pt x="223" y="44"/>
                  </a:lnTo>
                  <a:lnTo>
                    <a:pt x="223" y="47"/>
                  </a:lnTo>
                  <a:lnTo>
                    <a:pt x="223" y="49"/>
                  </a:lnTo>
                  <a:lnTo>
                    <a:pt x="223" y="51"/>
                  </a:lnTo>
                  <a:lnTo>
                    <a:pt x="223" y="54"/>
                  </a:lnTo>
                  <a:lnTo>
                    <a:pt x="223" y="56"/>
                  </a:lnTo>
                  <a:lnTo>
                    <a:pt x="221" y="56"/>
                  </a:lnTo>
                  <a:lnTo>
                    <a:pt x="221" y="59"/>
                  </a:lnTo>
                  <a:lnTo>
                    <a:pt x="221" y="61"/>
                  </a:lnTo>
                  <a:lnTo>
                    <a:pt x="221" y="63"/>
                  </a:lnTo>
                  <a:lnTo>
                    <a:pt x="218" y="63"/>
                  </a:lnTo>
                  <a:lnTo>
                    <a:pt x="218" y="66"/>
                  </a:lnTo>
                  <a:lnTo>
                    <a:pt x="218" y="68"/>
                  </a:lnTo>
                  <a:lnTo>
                    <a:pt x="216" y="68"/>
                  </a:lnTo>
                  <a:lnTo>
                    <a:pt x="216" y="71"/>
                  </a:lnTo>
                  <a:lnTo>
                    <a:pt x="216" y="73"/>
                  </a:lnTo>
                  <a:lnTo>
                    <a:pt x="214" y="73"/>
                  </a:lnTo>
                  <a:lnTo>
                    <a:pt x="214" y="75"/>
                  </a:lnTo>
                  <a:lnTo>
                    <a:pt x="223" y="75"/>
                  </a:lnTo>
                  <a:lnTo>
                    <a:pt x="223" y="73"/>
                  </a:lnTo>
                  <a:lnTo>
                    <a:pt x="226" y="73"/>
                  </a:lnTo>
                  <a:lnTo>
                    <a:pt x="226" y="71"/>
                  </a:lnTo>
                  <a:lnTo>
                    <a:pt x="228" y="71"/>
                  </a:lnTo>
                  <a:lnTo>
                    <a:pt x="228" y="68"/>
                  </a:lnTo>
                  <a:lnTo>
                    <a:pt x="230" y="68"/>
                  </a:lnTo>
                  <a:lnTo>
                    <a:pt x="230" y="66"/>
                  </a:lnTo>
                  <a:lnTo>
                    <a:pt x="233" y="66"/>
                  </a:lnTo>
                  <a:lnTo>
                    <a:pt x="233" y="63"/>
                  </a:lnTo>
                  <a:lnTo>
                    <a:pt x="235" y="63"/>
                  </a:lnTo>
                  <a:lnTo>
                    <a:pt x="235" y="61"/>
                  </a:lnTo>
                  <a:lnTo>
                    <a:pt x="235" y="59"/>
                  </a:lnTo>
                  <a:lnTo>
                    <a:pt x="238" y="59"/>
                  </a:lnTo>
                  <a:lnTo>
                    <a:pt x="238" y="56"/>
                  </a:lnTo>
                  <a:lnTo>
                    <a:pt x="238" y="54"/>
                  </a:lnTo>
                  <a:lnTo>
                    <a:pt x="238" y="51"/>
                  </a:lnTo>
                  <a:lnTo>
                    <a:pt x="238" y="49"/>
                  </a:lnTo>
                  <a:lnTo>
                    <a:pt x="238" y="47"/>
                  </a:lnTo>
                  <a:lnTo>
                    <a:pt x="238" y="44"/>
                  </a:lnTo>
                  <a:lnTo>
                    <a:pt x="238" y="42"/>
                  </a:lnTo>
                  <a:lnTo>
                    <a:pt x="238" y="39"/>
                  </a:lnTo>
                  <a:lnTo>
                    <a:pt x="238" y="37"/>
                  </a:lnTo>
                  <a:lnTo>
                    <a:pt x="238" y="35"/>
                  </a:lnTo>
                  <a:lnTo>
                    <a:pt x="238" y="32"/>
                  </a:lnTo>
                  <a:lnTo>
                    <a:pt x="238" y="30"/>
                  </a:lnTo>
                  <a:lnTo>
                    <a:pt x="23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1" name="AutoShape 32">
              <a:extLst>
                <a:ext uri="{FF2B5EF4-FFF2-40B4-BE49-F238E27FC236}">
                  <a16:creationId xmlns:a16="http://schemas.microsoft.com/office/drawing/2014/main" id="{9798F848-46E7-8740-D60C-4B2D1732D81C}"/>
                </a:ext>
              </a:extLst>
            </p:cNvPr>
            <p:cNvSpPr>
              <a:spLocks/>
            </p:cNvSpPr>
            <p:nvPr/>
          </p:nvSpPr>
          <p:spPr bwMode="auto">
            <a:xfrm>
              <a:off x="6161" y="2378"/>
              <a:ext cx="288" cy="118"/>
            </a:xfrm>
            <a:custGeom>
              <a:avLst/>
              <a:gdLst>
                <a:gd name="T0" fmla="+- 0 6198 6162"/>
                <a:gd name="T1" fmla="*/ T0 w 288"/>
                <a:gd name="T2" fmla="+- 0 2452 2379"/>
                <a:gd name="T3" fmla="*/ 2452 h 118"/>
                <a:gd name="T4" fmla="+- 0 6162 6162"/>
                <a:gd name="T5" fmla="*/ T4 w 288"/>
                <a:gd name="T6" fmla="+- 0 2454 2379"/>
                <a:gd name="T7" fmla="*/ 2454 h 118"/>
                <a:gd name="T8" fmla="+- 0 6166 6162"/>
                <a:gd name="T9" fmla="*/ T8 w 288"/>
                <a:gd name="T10" fmla="+- 0 2457 2379"/>
                <a:gd name="T11" fmla="*/ 2457 h 118"/>
                <a:gd name="T12" fmla="+- 0 6169 6162"/>
                <a:gd name="T13" fmla="*/ T12 w 288"/>
                <a:gd name="T14" fmla="+- 0 2459 2379"/>
                <a:gd name="T15" fmla="*/ 2459 h 118"/>
                <a:gd name="T16" fmla="+- 0 6195 6162"/>
                <a:gd name="T17" fmla="*/ T16 w 288"/>
                <a:gd name="T18" fmla="+- 0 2462 2379"/>
                <a:gd name="T19" fmla="*/ 2462 h 118"/>
                <a:gd name="T20" fmla="+- 0 6200 6162"/>
                <a:gd name="T21" fmla="*/ T20 w 288"/>
                <a:gd name="T22" fmla="+- 0 2459 2379"/>
                <a:gd name="T23" fmla="*/ 2459 h 118"/>
                <a:gd name="T24" fmla="+- 0 6205 6162"/>
                <a:gd name="T25" fmla="*/ T24 w 288"/>
                <a:gd name="T26" fmla="+- 0 2457 2379"/>
                <a:gd name="T27" fmla="*/ 2457 h 118"/>
                <a:gd name="T28" fmla="+- 0 6207 6162"/>
                <a:gd name="T29" fmla="*/ T28 w 288"/>
                <a:gd name="T30" fmla="+- 0 2454 2379"/>
                <a:gd name="T31" fmla="*/ 2454 h 118"/>
                <a:gd name="T32" fmla="+- 0 6363 6162"/>
                <a:gd name="T33" fmla="*/ T32 w 288"/>
                <a:gd name="T34" fmla="+- 0 2453 2379"/>
                <a:gd name="T35" fmla="*/ 2453 h 118"/>
                <a:gd name="T36" fmla="+- 0 6354 6162"/>
                <a:gd name="T37" fmla="*/ T36 w 288"/>
                <a:gd name="T38" fmla="+- 0 2451 2379"/>
                <a:gd name="T39" fmla="*/ 2451 h 118"/>
                <a:gd name="T40" fmla="+- 0 6349 6162"/>
                <a:gd name="T41" fmla="*/ T40 w 288"/>
                <a:gd name="T42" fmla="+- 0 2393 2379"/>
                <a:gd name="T43" fmla="*/ 2393 h 118"/>
                <a:gd name="T44" fmla="+- 0 6342 6162"/>
                <a:gd name="T45" fmla="*/ T44 w 288"/>
                <a:gd name="T46" fmla="+- 0 2381 2379"/>
                <a:gd name="T47" fmla="*/ 2381 h 118"/>
                <a:gd name="T48" fmla="+- 0 6325 6162"/>
                <a:gd name="T49" fmla="*/ T48 w 288"/>
                <a:gd name="T50" fmla="+- 0 2379 2379"/>
                <a:gd name="T51" fmla="*/ 2379 h 118"/>
                <a:gd name="T52" fmla="+- 0 6310 6162"/>
                <a:gd name="T53" fmla="*/ T52 w 288"/>
                <a:gd name="T54" fmla="+- 0 2386 2379"/>
                <a:gd name="T55" fmla="*/ 2386 h 118"/>
                <a:gd name="T56" fmla="+- 0 6301 6162"/>
                <a:gd name="T57" fmla="*/ T56 w 288"/>
                <a:gd name="T58" fmla="+- 0 2386 2379"/>
                <a:gd name="T59" fmla="*/ 2386 h 118"/>
                <a:gd name="T60" fmla="+- 0 6289 6162"/>
                <a:gd name="T61" fmla="*/ T60 w 288"/>
                <a:gd name="T62" fmla="+- 0 2379 2379"/>
                <a:gd name="T63" fmla="*/ 2379 h 118"/>
                <a:gd name="T64" fmla="+- 0 6265 6162"/>
                <a:gd name="T65" fmla="*/ T64 w 288"/>
                <a:gd name="T66" fmla="+- 0 2388 2379"/>
                <a:gd name="T67" fmla="*/ 2388 h 118"/>
                <a:gd name="T68" fmla="+- 0 6258 6162"/>
                <a:gd name="T69" fmla="*/ T68 w 288"/>
                <a:gd name="T70" fmla="+- 0 2379 2379"/>
                <a:gd name="T71" fmla="*/ 2379 h 118"/>
                <a:gd name="T72" fmla="+- 0 6229 6162"/>
                <a:gd name="T73" fmla="*/ T72 w 288"/>
                <a:gd name="T74" fmla="+- 0 2386 2379"/>
                <a:gd name="T75" fmla="*/ 2386 h 118"/>
                <a:gd name="T76" fmla="+- 0 6241 6162"/>
                <a:gd name="T77" fmla="*/ T76 w 288"/>
                <a:gd name="T78" fmla="+- 0 2388 2379"/>
                <a:gd name="T79" fmla="*/ 2388 h 118"/>
                <a:gd name="T80" fmla="+- 0 6243 6162"/>
                <a:gd name="T81" fmla="*/ T80 w 288"/>
                <a:gd name="T82" fmla="+- 0 2451 2379"/>
                <a:gd name="T83" fmla="*/ 2451 h 118"/>
                <a:gd name="T84" fmla="+- 0 6234 6162"/>
                <a:gd name="T85" fmla="*/ T84 w 288"/>
                <a:gd name="T86" fmla="+- 0 2453 2379"/>
                <a:gd name="T87" fmla="*/ 2453 h 118"/>
                <a:gd name="T88" fmla="+- 0 6267 6162"/>
                <a:gd name="T89" fmla="*/ T88 w 288"/>
                <a:gd name="T90" fmla="+- 0 2458 2379"/>
                <a:gd name="T91" fmla="*/ 2458 h 118"/>
                <a:gd name="T92" fmla="+- 0 6260 6162"/>
                <a:gd name="T93" fmla="*/ T92 w 288"/>
                <a:gd name="T94" fmla="+- 0 2453 2379"/>
                <a:gd name="T95" fmla="*/ 2453 h 118"/>
                <a:gd name="T96" fmla="+- 0 6258 6162"/>
                <a:gd name="T97" fmla="*/ T96 w 288"/>
                <a:gd name="T98" fmla="+- 0 2400 2379"/>
                <a:gd name="T99" fmla="*/ 2400 h 118"/>
                <a:gd name="T100" fmla="+- 0 6267 6162"/>
                <a:gd name="T101" fmla="*/ T100 w 288"/>
                <a:gd name="T102" fmla="+- 0 2388 2379"/>
                <a:gd name="T103" fmla="*/ 2388 h 118"/>
                <a:gd name="T104" fmla="+- 0 6286 6162"/>
                <a:gd name="T105" fmla="*/ T104 w 288"/>
                <a:gd name="T106" fmla="+- 0 2393 2379"/>
                <a:gd name="T107" fmla="*/ 2393 h 118"/>
                <a:gd name="T108" fmla="+- 0 6289 6162"/>
                <a:gd name="T109" fmla="*/ T108 w 288"/>
                <a:gd name="T110" fmla="+- 0 2451 2379"/>
                <a:gd name="T111" fmla="*/ 2451 h 118"/>
                <a:gd name="T112" fmla="+- 0 6279 6162"/>
                <a:gd name="T113" fmla="*/ T112 w 288"/>
                <a:gd name="T114" fmla="+- 0 2453 2379"/>
                <a:gd name="T115" fmla="*/ 2453 h 118"/>
                <a:gd name="T116" fmla="+- 0 6318 6162"/>
                <a:gd name="T117" fmla="*/ T116 w 288"/>
                <a:gd name="T118" fmla="+- 0 2458 2379"/>
                <a:gd name="T119" fmla="*/ 2458 h 118"/>
                <a:gd name="T120" fmla="+- 0 6308 6162"/>
                <a:gd name="T121" fmla="*/ T120 w 288"/>
                <a:gd name="T122" fmla="+- 0 2453 2379"/>
                <a:gd name="T123" fmla="*/ 2453 h 118"/>
                <a:gd name="T124" fmla="+- 0 6303 6162"/>
                <a:gd name="T125" fmla="*/ T124 w 288"/>
                <a:gd name="T126" fmla="+- 0 2400 2379"/>
                <a:gd name="T127" fmla="*/ 2400 h 118"/>
                <a:gd name="T128" fmla="+- 0 6332 6162"/>
                <a:gd name="T129" fmla="*/ T128 w 288"/>
                <a:gd name="T130" fmla="+- 0 2388 2379"/>
                <a:gd name="T131" fmla="*/ 2388 h 118"/>
                <a:gd name="T132" fmla="+- 0 6337 6162"/>
                <a:gd name="T133" fmla="*/ T132 w 288"/>
                <a:gd name="T134" fmla="+- 0 2453 2379"/>
                <a:gd name="T135" fmla="*/ 2453 h 118"/>
                <a:gd name="T136" fmla="+- 0 6325 6162"/>
                <a:gd name="T137" fmla="*/ T136 w 288"/>
                <a:gd name="T138" fmla="+- 0 2458 2379"/>
                <a:gd name="T139" fmla="*/ 2458 h 118"/>
                <a:gd name="T140" fmla="+- 0 6363 6162"/>
                <a:gd name="T141" fmla="*/ T140 w 288"/>
                <a:gd name="T142" fmla="+- 0 2453 2379"/>
                <a:gd name="T143" fmla="*/ 2453 h 118"/>
                <a:gd name="T144" fmla="+- 0 6426 6162"/>
                <a:gd name="T145" fmla="*/ T144 w 288"/>
                <a:gd name="T146" fmla="+- 0 2379 2379"/>
                <a:gd name="T147" fmla="*/ 2379 h 118"/>
                <a:gd name="T148" fmla="+- 0 6428 6162"/>
                <a:gd name="T149" fmla="*/ T148 w 288"/>
                <a:gd name="T150" fmla="+- 0 2381 2379"/>
                <a:gd name="T151" fmla="*/ 2381 h 118"/>
                <a:gd name="T152" fmla="+- 0 6433 6162"/>
                <a:gd name="T153" fmla="*/ T152 w 288"/>
                <a:gd name="T154" fmla="+- 0 2393 2379"/>
                <a:gd name="T155" fmla="*/ 2393 h 118"/>
                <a:gd name="T156" fmla="+- 0 6397 6162"/>
                <a:gd name="T157" fmla="*/ T156 w 288"/>
                <a:gd name="T158" fmla="+- 0 2396 2379"/>
                <a:gd name="T159" fmla="*/ 2396 h 118"/>
                <a:gd name="T160" fmla="+- 0 6392 6162"/>
                <a:gd name="T161" fmla="*/ T160 w 288"/>
                <a:gd name="T162" fmla="+- 0 2386 2379"/>
                <a:gd name="T163" fmla="*/ 2386 h 118"/>
                <a:gd name="T164" fmla="+- 0 6399 6162"/>
                <a:gd name="T165" fmla="*/ T164 w 288"/>
                <a:gd name="T166" fmla="+- 0 2381 2379"/>
                <a:gd name="T167" fmla="*/ 2381 h 118"/>
                <a:gd name="T168" fmla="+- 0 6363 6162"/>
                <a:gd name="T169" fmla="*/ T168 w 288"/>
                <a:gd name="T170" fmla="+- 0 2379 2379"/>
                <a:gd name="T171" fmla="*/ 2379 h 118"/>
                <a:gd name="T172" fmla="+- 0 6368 6162"/>
                <a:gd name="T173" fmla="*/ T172 w 288"/>
                <a:gd name="T174" fmla="+- 0 2386 2379"/>
                <a:gd name="T175" fmla="*/ 2386 h 118"/>
                <a:gd name="T176" fmla="+- 0 6375 6162"/>
                <a:gd name="T177" fmla="*/ T176 w 288"/>
                <a:gd name="T178" fmla="+- 0 2388 2379"/>
                <a:gd name="T179" fmla="*/ 2388 h 118"/>
                <a:gd name="T180" fmla="+- 0 6378 6162"/>
                <a:gd name="T181" fmla="*/ T180 w 288"/>
                <a:gd name="T182" fmla="+- 0 2396 2379"/>
                <a:gd name="T183" fmla="*/ 2396 h 118"/>
                <a:gd name="T184" fmla="+- 0 6399 6162"/>
                <a:gd name="T185" fmla="*/ T184 w 288"/>
                <a:gd name="T186" fmla="+- 0 2468 2379"/>
                <a:gd name="T187" fmla="*/ 2468 h 118"/>
                <a:gd name="T188" fmla="+- 0 6392 6162"/>
                <a:gd name="T189" fmla="*/ T188 w 288"/>
                <a:gd name="T190" fmla="+- 0 2482 2379"/>
                <a:gd name="T191" fmla="*/ 2482 h 118"/>
                <a:gd name="T192" fmla="+- 0 6385 6162"/>
                <a:gd name="T193" fmla="*/ T192 w 288"/>
                <a:gd name="T194" fmla="+- 0 2477 2379"/>
                <a:gd name="T195" fmla="*/ 2477 h 118"/>
                <a:gd name="T196" fmla="+- 0 6368 6162"/>
                <a:gd name="T197" fmla="*/ T196 w 288"/>
                <a:gd name="T198" fmla="+- 0 2482 2379"/>
                <a:gd name="T199" fmla="*/ 2482 h 118"/>
                <a:gd name="T200" fmla="+- 0 6370 6162"/>
                <a:gd name="T201" fmla="*/ T200 w 288"/>
                <a:gd name="T202" fmla="+- 0 2489 2379"/>
                <a:gd name="T203" fmla="*/ 2489 h 118"/>
                <a:gd name="T204" fmla="+- 0 6375 6162"/>
                <a:gd name="T205" fmla="*/ T204 w 288"/>
                <a:gd name="T206" fmla="+- 0 2496 2379"/>
                <a:gd name="T207" fmla="*/ 2496 h 118"/>
                <a:gd name="T208" fmla="+- 0 6385 6162"/>
                <a:gd name="T209" fmla="*/ T208 w 288"/>
                <a:gd name="T210" fmla="+- 0 2492 2379"/>
                <a:gd name="T211" fmla="*/ 2492 h 118"/>
                <a:gd name="T212" fmla="+- 0 6399 6162"/>
                <a:gd name="T213" fmla="*/ T212 w 288"/>
                <a:gd name="T214" fmla="+- 0 2482 2379"/>
                <a:gd name="T215" fmla="*/ 2482 h 118"/>
                <a:gd name="T216" fmla="+- 0 6438 6162"/>
                <a:gd name="T217" fmla="*/ T216 w 288"/>
                <a:gd name="T218" fmla="+- 0 2396 2379"/>
                <a:gd name="T219" fmla="*/ 2396 h 118"/>
                <a:gd name="T220" fmla="+- 0 6442 6162"/>
                <a:gd name="T221" fmla="*/ T220 w 288"/>
                <a:gd name="T222" fmla="+- 0 2388 2379"/>
                <a:gd name="T223" fmla="*/ 2388 h 118"/>
                <a:gd name="T224" fmla="+- 0 6445 6162"/>
                <a:gd name="T225" fmla="*/ T224 w 288"/>
                <a:gd name="T226" fmla="+- 0 2386 2379"/>
                <a:gd name="T227" fmla="*/ 2386 h 118"/>
                <a:gd name="T228" fmla="+- 0 6450 6162"/>
                <a:gd name="T229" fmla="*/ T228 w 288"/>
                <a:gd name="T230" fmla="+- 0 2381 2379"/>
                <a:gd name="T231" fmla="*/ 2381 h 11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Lst>
              <a:rect l="0" t="0" r="r" b="b"/>
              <a:pathLst>
                <a:path w="288" h="118">
                  <a:moveTo>
                    <a:pt x="45" y="73"/>
                  </a:moveTo>
                  <a:lnTo>
                    <a:pt x="36" y="73"/>
                  </a:lnTo>
                  <a:lnTo>
                    <a:pt x="36" y="75"/>
                  </a:lnTo>
                  <a:lnTo>
                    <a:pt x="0" y="75"/>
                  </a:lnTo>
                  <a:lnTo>
                    <a:pt x="0" y="78"/>
                  </a:lnTo>
                  <a:lnTo>
                    <a:pt x="4" y="78"/>
                  </a:lnTo>
                  <a:lnTo>
                    <a:pt x="4" y="80"/>
                  </a:lnTo>
                  <a:lnTo>
                    <a:pt x="7" y="80"/>
                  </a:lnTo>
                  <a:lnTo>
                    <a:pt x="7" y="83"/>
                  </a:lnTo>
                  <a:lnTo>
                    <a:pt x="33" y="83"/>
                  </a:lnTo>
                  <a:lnTo>
                    <a:pt x="33" y="80"/>
                  </a:lnTo>
                  <a:lnTo>
                    <a:pt x="38" y="80"/>
                  </a:lnTo>
                  <a:lnTo>
                    <a:pt x="38" y="78"/>
                  </a:lnTo>
                  <a:lnTo>
                    <a:pt x="43" y="78"/>
                  </a:lnTo>
                  <a:lnTo>
                    <a:pt x="43" y="75"/>
                  </a:lnTo>
                  <a:lnTo>
                    <a:pt x="45" y="75"/>
                  </a:lnTo>
                  <a:lnTo>
                    <a:pt x="45" y="73"/>
                  </a:lnTo>
                  <a:close/>
                  <a:moveTo>
                    <a:pt x="201" y="74"/>
                  </a:moveTo>
                  <a:lnTo>
                    <a:pt x="192" y="74"/>
                  </a:lnTo>
                  <a:lnTo>
                    <a:pt x="192" y="72"/>
                  </a:lnTo>
                  <a:lnTo>
                    <a:pt x="187" y="67"/>
                  </a:lnTo>
                  <a:lnTo>
                    <a:pt x="187" y="14"/>
                  </a:lnTo>
                  <a:lnTo>
                    <a:pt x="184" y="7"/>
                  </a:lnTo>
                  <a:lnTo>
                    <a:pt x="180" y="2"/>
                  </a:lnTo>
                  <a:lnTo>
                    <a:pt x="175" y="0"/>
                  </a:lnTo>
                  <a:lnTo>
                    <a:pt x="163" y="0"/>
                  </a:lnTo>
                  <a:lnTo>
                    <a:pt x="156" y="2"/>
                  </a:lnTo>
                  <a:lnTo>
                    <a:pt x="148" y="7"/>
                  </a:lnTo>
                  <a:lnTo>
                    <a:pt x="141" y="14"/>
                  </a:lnTo>
                  <a:lnTo>
                    <a:pt x="139" y="7"/>
                  </a:lnTo>
                  <a:lnTo>
                    <a:pt x="134" y="2"/>
                  </a:lnTo>
                  <a:lnTo>
                    <a:pt x="127" y="0"/>
                  </a:lnTo>
                  <a:lnTo>
                    <a:pt x="112" y="0"/>
                  </a:lnTo>
                  <a:lnTo>
                    <a:pt x="103" y="9"/>
                  </a:lnTo>
                  <a:lnTo>
                    <a:pt x="96" y="14"/>
                  </a:lnTo>
                  <a:lnTo>
                    <a:pt x="96" y="0"/>
                  </a:lnTo>
                  <a:lnTo>
                    <a:pt x="91" y="0"/>
                  </a:lnTo>
                  <a:lnTo>
                    <a:pt x="67" y="7"/>
                  </a:lnTo>
                  <a:lnTo>
                    <a:pt x="72" y="9"/>
                  </a:lnTo>
                  <a:lnTo>
                    <a:pt x="79" y="9"/>
                  </a:lnTo>
                  <a:lnTo>
                    <a:pt x="81" y="14"/>
                  </a:lnTo>
                  <a:lnTo>
                    <a:pt x="81" y="72"/>
                  </a:lnTo>
                  <a:lnTo>
                    <a:pt x="79" y="74"/>
                  </a:lnTo>
                  <a:lnTo>
                    <a:pt x="72" y="74"/>
                  </a:lnTo>
                  <a:lnTo>
                    <a:pt x="72" y="79"/>
                  </a:lnTo>
                  <a:lnTo>
                    <a:pt x="105" y="79"/>
                  </a:lnTo>
                  <a:lnTo>
                    <a:pt x="105" y="74"/>
                  </a:lnTo>
                  <a:lnTo>
                    <a:pt x="98" y="74"/>
                  </a:lnTo>
                  <a:lnTo>
                    <a:pt x="96" y="72"/>
                  </a:lnTo>
                  <a:lnTo>
                    <a:pt x="96" y="21"/>
                  </a:lnTo>
                  <a:lnTo>
                    <a:pt x="98" y="14"/>
                  </a:lnTo>
                  <a:lnTo>
                    <a:pt x="105" y="9"/>
                  </a:lnTo>
                  <a:lnTo>
                    <a:pt x="120" y="9"/>
                  </a:lnTo>
                  <a:lnTo>
                    <a:pt x="124" y="14"/>
                  </a:lnTo>
                  <a:lnTo>
                    <a:pt x="127" y="21"/>
                  </a:lnTo>
                  <a:lnTo>
                    <a:pt x="127" y="72"/>
                  </a:lnTo>
                  <a:lnTo>
                    <a:pt x="124" y="74"/>
                  </a:lnTo>
                  <a:lnTo>
                    <a:pt x="117" y="74"/>
                  </a:lnTo>
                  <a:lnTo>
                    <a:pt x="117" y="79"/>
                  </a:lnTo>
                  <a:lnTo>
                    <a:pt x="156" y="79"/>
                  </a:lnTo>
                  <a:lnTo>
                    <a:pt x="156" y="74"/>
                  </a:lnTo>
                  <a:lnTo>
                    <a:pt x="146" y="74"/>
                  </a:lnTo>
                  <a:lnTo>
                    <a:pt x="141" y="72"/>
                  </a:lnTo>
                  <a:lnTo>
                    <a:pt x="141" y="21"/>
                  </a:lnTo>
                  <a:lnTo>
                    <a:pt x="153" y="9"/>
                  </a:lnTo>
                  <a:lnTo>
                    <a:pt x="170" y="9"/>
                  </a:lnTo>
                  <a:lnTo>
                    <a:pt x="175" y="14"/>
                  </a:lnTo>
                  <a:lnTo>
                    <a:pt x="175" y="74"/>
                  </a:lnTo>
                  <a:lnTo>
                    <a:pt x="163" y="74"/>
                  </a:lnTo>
                  <a:lnTo>
                    <a:pt x="163" y="79"/>
                  </a:lnTo>
                  <a:lnTo>
                    <a:pt x="201" y="79"/>
                  </a:lnTo>
                  <a:lnTo>
                    <a:pt x="201" y="74"/>
                  </a:lnTo>
                  <a:close/>
                  <a:moveTo>
                    <a:pt x="288" y="0"/>
                  </a:moveTo>
                  <a:lnTo>
                    <a:pt x="264" y="0"/>
                  </a:lnTo>
                  <a:lnTo>
                    <a:pt x="264" y="2"/>
                  </a:lnTo>
                  <a:lnTo>
                    <a:pt x="266" y="2"/>
                  </a:lnTo>
                  <a:lnTo>
                    <a:pt x="271" y="7"/>
                  </a:lnTo>
                  <a:lnTo>
                    <a:pt x="271" y="14"/>
                  </a:lnTo>
                  <a:lnTo>
                    <a:pt x="252" y="57"/>
                  </a:lnTo>
                  <a:lnTo>
                    <a:pt x="235" y="17"/>
                  </a:lnTo>
                  <a:lnTo>
                    <a:pt x="230" y="14"/>
                  </a:lnTo>
                  <a:lnTo>
                    <a:pt x="230" y="7"/>
                  </a:lnTo>
                  <a:lnTo>
                    <a:pt x="235" y="2"/>
                  </a:lnTo>
                  <a:lnTo>
                    <a:pt x="237" y="2"/>
                  </a:lnTo>
                  <a:lnTo>
                    <a:pt x="237" y="0"/>
                  </a:lnTo>
                  <a:lnTo>
                    <a:pt x="201" y="0"/>
                  </a:lnTo>
                  <a:lnTo>
                    <a:pt x="201" y="2"/>
                  </a:lnTo>
                  <a:lnTo>
                    <a:pt x="206" y="7"/>
                  </a:lnTo>
                  <a:lnTo>
                    <a:pt x="208" y="7"/>
                  </a:lnTo>
                  <a:lnTo>
                    <a:pt x="213" y="9"/>
                  </a:lnTo>
                  <a:lnTo>
                    <a:pt x="216" y="14"/>
                  </a:lnTo>
                  <a:lnTo>
                    <a:pt x="216" y="17"/>
                  </a:lnTo>
                  <a:lnTo>
                    <a:pt x="244" y="74"/>
                  </a:lnTo>
                  <a:lnTo>
                    <a:pt x="237" y="89"/>
                  </a:lnTo>
                  <a:lnTo>
                    <a:pt x="237" y="96"/>
                  </a:lnTo>
                  <a:lnTo>
                    <a:pt x="230" y="103"/>
                  </a:lnTo>
                  <a:lnTo>
                    <a:pt x="228" y="103"/>
                  </a:lnTo>
                  <a:lnTo>
                    <a:pt x="223" y="98"/>
                  </a:lnTo>
                  <a:lnTo>
                    <a:pt x="208" y="98"/>
                  </a:lnTo>
                  <a:lnTo>
                    <a:pt x="206" y="103"/>
                  </a:lnTo>
                  <a:lnTo>
                    <a:pt x="206" y="105"/>
                  </a:lnTo>
                  <a:lnTo>
                    <a:pt x="208" y="110"/>
                  </a:lnTo>
                  <a:lnTo>
                    <a:pt x="208" y="113"/>
                  </a:lnTo>
                  <a:lnTo>
                    <a:pt x="213" y="117"/>
                  </a:lnTo>
                  <a:lnTo>
                    <a:pt x="220" y="117"/>
                  </a:lnTo>
                  <a:lnTo>
                    <a:pt x="223" y="113"/>
                  </a:lnTo>
                  <a:lnTo>
                    <a:pt x="235" y="110"/>
                  </a:lnTo>
                  <a:lnTo>
                    <a:pt x="237" y="103"/>
                  </a:lnTo>
                  <a:lnTo>
                    <a:pt x="244" y="91"/>
                  </a:lnTo>
                  <a:lnTo>
                    <a:pt x="276" y="17"/>
                  </a:lnTo>
                  <a:lnTo>
                    <a:pt x="276" y="9"/>
                  </a:lnTo>
                  <a:lnTo>
                    <a:pt x="280" y="9"/>
                  </a:lnTo>
                  <a:lnTo>
                    <a:pt x="280" y="7"/>
                  </a:lnTo>
                  <a:lnTo>
                    <a:pt x="283" y="7"/>
                  </a:lnTo>
                  <a:lnTo>
                    <a:pt x="283" y="2"/>
                  </a:lnTo>
                  <a:lnTo>
                    <a:pt x="288" y="2"/>
                  </a:lnTo>
                  <a:lnTo>
                    <a:pt x="2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2" name="Freeform 33">
              <a:extLst>
                <a:ext uri="{FF2B5EF4-FFF2-40B4-BE49-F238E27FC236}">
                  <a16:creationId xmlns:a16="http://schemas.microsoft.com/office/drawing/2014/main" id="{62F96524-FC70-6295-EB15-3D917DF7E8AC}"/>
                </a:ext>
              </a:extLst>
            </p:cNvPr>
            <p:cNvSpPr>
              <a:spLocks/>
            </p:cNvSpPr>
            <p:nvPr/>
          </p:nvSpPr>
          <p:spPr bwMode="auto">
            <a:xfrm>
              <a:off x="5837" y="2148"/>
              <a:ext cx="104" cy="120"/>
            </a:xfrm>
            <a:custGeom>
              <a:avLst/>
              <a:gdLst>
                <a:gd name="T0" fmla="+- 0 5938 5838"/>
                <a:gd name="T1" fmla="*/ T0 w 104"/>
                <a:gd name="T2" fmla="+- 0 2148 2148"/>
                <a:gd name="T3" fmla="*/ 2148 h 120"/>
                <a:gd name="T4" fmla="+- 0 5941 5838"/>
                <a:gd name="T5" fmla="*/ T4 w 104"/>
                <a:gd name="T6" fmla="+- 0 2187 2148"/>
                <a:gd name="T7" fmla="*/ 2187 h 120"/>
                <a:gd name="T8" fmla="+- 0 5938 5838"/>
                <a:gd name="T9" fmla="*/ T8 w 104"/>
                <a:gd name="T10" fmla="+- 0 2187 2148"/>
                <a:gd name="T11" fmla="*/ 2187 h 120"/>
                <a:gd name="T12" fmla="+- 0 5931 5838"/>
                <a:gd name="T13" fmla="*/ T12 w 104"/>
                <a:gd name="T14" fmla="+- 0 2172 2148"/>
                <a:gd name="T15" fmla="*/ 2172 h 120"/>
                <a:gd name="T16" fmla="+- 0 5924 5838"/>
                <a:gd name="T17" fmla="*/ T16 w 104"/>
                <a:gd name="T18" fmla="+- 0 2163 2148"/>
                <a:gd name="T19" fmla="*/ 2163 h 120"/>
                <a:gd name="T20" fmla="+- 0 5912 5838"/>
                <a:gd name="T21" fmla="*/ T20 w 104"/>
                <a:gd name="T22" fmla="+- 0 2156 2148"/>
                <a:gd name="T23" fmla="*/ 2156 h 120"/>
                <a:gd name="T24" fmla="+- 0 5888 5838"/>
                <a:gd name="T25" fmla="*/ T24 w 104"/>
                <a:gd name="T26" fmla="+- 0 2156 2148"/>
                <a:gd name="T27" fmla="*/ 2156 h 120"/>
                <a:gd name="T28" fmla="+- 0 5878 5838"/>
                <a:gd name="T29" fmla="*/ T28 w 104"/>
                <a:gd name="T30" fmla="+- 0 2158 2148"/>
                <a:gd name="T31" fmla="*/ 2158 h 120"/>
                <a:gd name="T32" fmla="+- 0 5871 5838"/>
                <a:gd name="T33" fmla="*/ T32 w 104"/>
                <a:gd name="T34" fmla="+- 0 2170 2148"/>
                <a:gd name="T35" fmla="*/ 2170 h 120"/>
                <a:gd name="T36" fmla="+- 0 5864 5838"/>
                <a:gd name="T37" fmla="*/ T36 w 104"/>
                <a:gd name="T38" fmla="+- 0 2180 2148"/>
                <a:gd name="T39" fmla="*/ 2180 h 120"/>
                <a:gd name="T40" fmla="+- 0 5859 5838"/>
                <a:gd name="T41" fmla="*/ T40 w 104"/>
                <a:gd name="T42" fmla="+- 0 2194 2148"/>
                <a:gd name="T43" fmla="*/ 2194 h 120"/>
                <a:gd name="T44" fmla="+- 0 5859 5838"/>
                <a:gd name="T45" fmla="*/ T44 w 104"/>
                <a:gd name="T46" fmla="+- 0 2225 2148"/>
                <a:gd name="T47" fmla="*/ 2225 h 120"/>
                <a:gd name="T48" fmla="+- 0 5902 5838"/>
                <a:gd name="T49" fmla="*/ T48 w 104"/>
                <a:gd name="T50" fmla="+- 0 2261 2148"/>
                <a:gd name="T51" fmla="*/ 2261 h 120"/>
                <a:gd name="T52" fmla="+- 0 5912 5838"/>
                <a:gd name="T53" fmla="*/ T52 w 104"/>
                <a:gd name="T54" fmla="+- 0 2259 2148"/>
                <a:gd name="T55" fmla="*/ 2259 h 120"/>
                <a:gd name="T56" fmla="+- 0 5919 5838"/>
                <a:gd name="T57" fmla="*/ T56 w 104"/>
                <a:gd name="T58" fmla="+- 0 2254 2148"/>
                <a:gd name="T59" fmla="*/ 2254 h 120"/>
                <a:gd name="T60" fmla="+- 0 5931 5838"/>
                <a:gd name="T61" fmla="*/ T60 w 104"/>
                <a:gd name="T62" fmla="+- 0 2247 2148"/>
                <a:gd name="T63" fmla="*/ 2247 h 120"/>
                <a:gd name="T64" fmla="+- 0 5941 5838"/>
                <a:gd name="T65" fmla="*/ T64 w 104"/>
                <a:gd name="T66" fmla="+- 0 2237 2148"/>
                <a:gd name="T67" fmla="*/ 2237 h 120"/>
                <a:gd name="T68" fmla="+- 0 5941 5838"/>
                <a:gd name="T69" fmla="*/ T68 w 104"/>
                <a:gd name="T70" fmla="+- 0 2240 2148"/>
                <a:gd name="T71" fmla="*/ 2240 h 120"/>
                <a:gd name="T72" fmla="+- 0 5934 5838"/>
                <a:gd name="T73" fmla="*/ T72 w 104"/>
                <a:gd name="T74" fmla="+- 0 2252 2148"/>
                <a:gd name="T75" fmla="*/ 2252 h 120"/>
                <a:gd name="T76" fmla="+- 0 5924 5838"/>
                <a:gd name="T77" fmla="*/ T76 w 104"/>
                <a:gd name="T78" fmla="+- 0 2261 2148"/>
                <a:gd name="T79" fmla="*/ 2261 h 120"/>
                <a:gd name="T80" fmla="+- 0 5910 5838"/>
                <a:gd name="T81" fmla="*/ T80 w 104"/>
                <a:gd name="T82" fmla="+- 0 2266 2148"/>
                <a:gd name="T83" fmla="*/ 2266 h 120"/>
                <a:gd name="T84" fmla="+- 0 5895 5838"/>
                <a:gd name="T85" fmla="*/ T84 w 104"/>
                <a:gd name="T86" fmla="+- 0 2268 2148"/>
                <a:gd name="T87" fmla="*/ 2268 h 120"/>
                <a:gd name="T88" fmla="+- 0 5881 5838"/>
                <a:gd name="T89" fmla="*/ T88 w 104"/>
                <a:gd name="T90" fmla="+- 0 2268 2148"/>
                <a:gd name="T91" fmla="*/ 2268 h 120"/>
                <a:gd name="T92" fmla="+- 0 5871 5838"/>
                <a:gd name="T93" fmla="*/ T92 w 104"/>
                <a:gd name="T94" fmla="+- 0 2261 2148"/>
                <a:gd name="T95" fmla="*/ 2261 h 120"/>
                <a:gd name="T96" fmla="+- 0 5859 5838"/>
                <a:gd name="T97" fmla="*/ T96 w 104"/>
                <a:gd name="T98" fmla="+- 0 2259 2148"/>
                <a:gd name="T99" fmla="*/ 2259 h 120"/>
                <a:gd name="T100" fmla="+- 0 5852 5838"/>
                <a:gd name="T101" fmla="*/ T100 w 104"/>
                <a:gd name="T102" fmla="+- 0 2247 2148"/>
                <a:gd name="T103" fmla="*/ 2247 h 120"/>
                <a:gd name="T104" fmla="+- 0 5842 5838"/>
                <a:gd name="T105" fmla="*/ T104 w 104"/>
                <a:gd name="T106" fmla="+- 0 2230 2148"/>
                <a:gd name="T107" fmla="*/ 2230 h 120"/>
                <a:gd name="T108" fmla="+- 0 5838 5838"/>
                <a:gd name="T109" fmla="*/ T108 w 104"/>
                <a:gd name="T110" fmla="+- 0 2208 2148"/>
                <a:gd name="T111" fmla="*/ 2208 h 120"/>
                <a:gd name="T112" fmla="+- 0 5842 5838"/>
                <a:gd name="T113" fmla="*/ T112 w 104"/>
                <a:gd name="T114" fmla="+- 0 2194 2148"/>
                <a:gd name="T115" fmla="*/ 2194 h 120"/>
                <a:gd name="T116" fmla="+- 0 5845 5838"/>
                <a:gd name="T117" fmla="*/ T116 w 104"/>
                <a:gd name="T118" fmla="+- 0 2180 2148"/>
                <a:gd name="T119" fmla="*/ 2180 h 120"/>
                <a:gd name="T120" fmla="+- 0 5857 5838"/>
                <a:gd name="T121" fmla="*/ T120 w 104"/>
                <a:gd name="T122" fmla="+- 0 2165 2148"/>
                <a:gd name="T123" fmla="*/ 2165 h 120"/>
                <a:gd name="T124" fmla="+- 0 5866 5838"/>
                <a:gd name="T125" fmla="*/ T124 w 104"/>
                <a:gd name="T126" fmla="+- 0 2156 2148"/>
                <a:gd name="T127" fmla="*/ 2156 h 120"/>
                <a:gd name="T128" fmla="+- 0 5881 5838"/>
                <a:gd name="T129" fmla="*/ T128 w 104"/>
                <a:gd name="T130" fmla="+- 0 2151 2148"/>
                <a:gd name="T131" fmla="*/ 2151 h 120"/>
                <a:gd name="T132" fmla="+- 0 5898 5838"/>
                <a:gd name="T133" fmla="*/ T132 w 104"/>
                <a:gd name="T134" fmla="+- 0 2148 2148"/>
                <a:gd name="T135" fmla="*/ 2148 h 120"/>
                <a:gd name="T136" fmla="+- 0 5910 5838"/>
                <a:gd name="T137" fmla="*/ T136 w 104"/>
                <a:gd name="T138" fmla="+- 0 2148 2148"/>
                <a:gd name="T139" fmla="*/ 2148 h 120"/>
                <a:gd name="T140" fmla="+- 0 5924 5838"/>
                <a:gd name="T141" fmla="*/ T140 w 104"/>
                <a:gd name="T142" fmla="+- 0 2156 2148"/>
                <a:gd name="T143" fmla="*/ 2156 h 120"/>
                <a:gd name="T144" fmla="+- 0 5931 5838"/>
                <a:gd name="T145" fmla="*/ T144 w 104"/>
                <a:gd name="T146" fmla="+- 0 2156 2148"/>
                <a:gd name="T147" fmla="*/ 2156 h 120"/>
                <a:gd name="T148" fmla="+- 0 5934 5838"/>
                <a:gd name="T149" fmla="*/ T148 w 104"/>
                <a:gd name="T150" fmla="+- 0 2151 2148"/>
                <a:gd name="T151" fmla="*/ 2151 h 120"/>
                <a:gd name="T152" fmla="+- 0 5934 5838"/>
                <a:gd name="T153" fmla="*/ T152 w 104"/>
                <a:gd name="T154" fmla="+- 0 2148 2148"/>
                <a:gd name="T155" fmla="*/ 2148 h 120"/>
                <a:gd name="T156" fmla="+- 0 5938 5838"/>
                <a:gd name="T157" fmla="*/ T156 w 104"/>
                <a:gd name="T158" fmla="+- 0 2148 2148"/>
                <a:gd name="T159" fmla="*/ 2148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Lst>
              <a:rect l="0" t="0" r="r" b="b"/>
              <a:pathLst>
                <a:path w="104" h="120">
                  <a:moveTo>
                    <a:pt x="100" y="0"/>
                  </a:moveTo>
                  <a:lnTo>
                    <a:pt x="103" y="39"/>
                  </a:lnTo>
                  <a:lnTo>
                    <a:pt x="100" y="39"/>
                  </a:lnTo>
                  <a:lnTo>
                    <a:pt x="93" y="24"/>
                  </a:lnTo>
                  <a:lnTo>
                    <a:pt x="86" y="15"/>
                  </a:lnTo>
                  <a:lnTo>
                    <a:pt x="74" y="8"/>
                  </a:lnTo>
                  <a:lnTo>
                    <a:pt x="50" y="8"/>
                  </a:lnTo>
                  <a:lnTo>
                    <a:pt x="40" y="10"/>
                  </a:lnTo>
                  <a:lnTo>
                    <a:pt x="33" y="22"/>
                  </a:lnTo>
                  <a:lnTo>
                    <a:pt x="26" y="32"/>
                  </a:lnTo>
                  <a:lnTo>
                    <a:pt x="21" y="46"/>
                  </a:lnTo>
                  <a:lnTo>
                    <a:pt x="21" y="77"/>
                  </a:lnTo>
                  <a:lnTo>
                    <a:pt x="64" y="113"/>
                  </a:lnTo>
                  <a:lnTo>
                    <a:pt x="74" y="111"/>
                  </a:lnTo>
                  <a:lnTo>
                    <a:pt x="81" y="106"/>
                  </a:lnTo>
                  <a:lnTo>
                    <a:pt x="93" y="99"/>
                  </a:lnTo>
                  <a:lnTo>
                    <a:pt x="103" y="89"/>
                  </a:lnTo>
                  <a:lnTo>
                    <a:pt x="103" y="92"/>
                  </a:lnTo>
                  <a:lnTo>
                    <a:pt x="96" y="104"/>
                  </a:lnTo>
                  <a:lnTo>
                    <a:pt x="86" y="113"/>
                  </a:lnTo>
                  <a:lnTo>
                    <a:pt x="72" y="118"/>
                  </a:lnTo>
                  <a:lnTo>
                    <a:pt x="57" y="120"/>
                  </a:lnTo>
                  <a:lnTo>
                    <a:pt x="43" y="120"/>
                  </a:lnTo>
                  <a:lnTo>
                    <a:pt x="33" y="113"/>
                  </a:lnTo>
                  <a:lnTo>
                    <a:pt x="21" y="111"/>
                  </a:lnTo>
                  <a:lnTo>
                    <a:pt x="14" y="99"/>
                  </a:lnTo>
                  <a:lnTo>
                    <a:pt x="4" y="82"/>
                  </a:lnTo>
                  <a:lnTo>
                    <a:pt x="0" y="60"/>
                  </a:lnTo>
                  <a:lnTo>
                    <a:pt x="4" y="46"/>
                  </a:lnTo>
                  <a:lnTo>
                    <a:pt x="7" y="32"/>
                  </a:lnTo>
                  <a:lnTo>
                    <a:pt x="19" y="17"/>
                  </a:lnTo>
                  <a:lnTo>
                    <a:pt x="28" y="8"/>
                  </a:lnTo>
                  <a:lnTo>
                    <a:pt x="43" y="3"/>
                  </a:lnTo>
                  <a:lnTo>
                    <a:pt x="60" y="0"/>
                  </a:lnTo>
                  <a:lnTo>
                    <a:pt x="72" y="0"/>
                  </a:lnTo>
                  <a:lnTo>
                    <a:pt x="86" y="8"/>
                  </a:lnTo>
                  <a:lnTo>
                    <a:pt x="93" y="8"/>
                  </a:lnTo>
                  <a:lnTo>
                    <a:pt x="96" y="3"/>
                  </a:lnTo>
                  <a:lnTo>
                    <a:pt x="96" y="0"/>
                  </a:lnTo>
                  <a:lnTo>
                    <a:pt x="100"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3" name="Freeform 34">
              <a:extLst>
                <a:ext uri="{FF2B5EF4-FFF2-40B4-BE49-F238E27FC236}">
                  <a16:creationId xmlns:a16="http://schemas.microsoft.com/office/drawing/2014/main" id="{D7EE16B3-C83E-9638-6909-6C7CD9F885DF}"/>
                </a:ext>
              </a:extLst>
            </p:cNvPr>
            <p:cNvSpPr>
              <a:spLocks/>
            </p:cNvSpPr>
            <p:nvPr/>
          </p:nvSpPr>
          <p:spPr bwMode="auto">
            <a:xfrm>
              <a:off x="5967" y="2143"/>
              <a:ext cx="17" cy="20"/>
            </a:xfrm>
            <a:custGeom>
              <a:avLst/>
              <a:gdLst>
                <a:gd name="T0" fmla="+- 0 5974 5967"/>
                <a:gd name="T1" fmla="*/ T0 w 17"/>
                <a:gd name="T2" fmla="+- 0 2144 2144"/>
                <a:gd name="T3" fmla="*/ 2144 h 20"/>
                <a:gd name="T4" fmla="+- 0 5977 5967"/>
                <a:gd name="T5" fmla="*/ T4 w 17"/>
                <a:gd name="T6" fmla="+- 0 2144 2144"/>
                <a:gd name="T7" fmla="*/ 2144 h 20"/>
                <a:gd name="T8" fmla="+- 0 5982 5967"/>
                <a:gd name="T9" fmla="*/ T8 w 17"/>
                <a:gd name="T10" fmla="+- 0 2148 2144"/>
                <a:gd name="T11" fmla="*/ 2148 h 20"/>
                <a:gd name="T12" fmla="+- 0 5982 5967"/>
                <a:gd name="T13" fmla="*/ T12 w 17"/>
                <a:gd name="T14" fmla="+- 0 2151 2144"/>
                <a:gd name="T15" fmla="*/ 2151 h 20"/>
                <a:gd name="T16" fmla="+- 0 5984 5967"/>
                <a:gd name="T17" fmla="*/ T16 w 17"/>
                <a:gd name="T18" fmla="+- 0 2156 2144"/>
                <a:gd name="T19" fmla="*/ 2156 h 20"/>
                <a:gd name="T20" fmla="+- 0 5977 5967"/>
                <a:gd name="T21" fmla="*/ T20 w 17"/>
                <a:gd name="T22" fmla="+- 0 2163 2144"/>
                <a:gd name="T23" fmla="*/ 2163 h 20"/>
                <a:gd name="T24" fmla="+- 0 5970 5967"/>
                <a:gd name="T25" fmla="*/ T24 w 17"/>
                <a:gd name="T26" fmla="+- 0 2163 2144"/>
                <a:gd name="T27" fmla="*/ 2163 h 20"/>
                <a:gd name="T28" fmla="+- 0 5970 5967"/>
                <a:gd name="T29" fmla="*/ T28 w 17"/>
                <a:gd name="T30" fmla="+- 0 2158 2144"/>
                <a:gd name="T31" fmla="*/ 2158 h 20"/>
                <a:gd name="T32" fmla="+- 0 5967 5967"/>
                <a:gd name="T33" fmla="*/ T32 w 17"/>
                <a:gd name="T34" fmla="+- 0 2158 2144"/>
                <a:gd name="T35" fmla="*/ 2158 h 20"/>
                <a:gd name="T36" fmla="+- 0 5967 5967"/>
                <a:gd name="T37" fmla="*/ T36 w 17"/>
                <a:gd name="T38" fmla="+- 0 2151 2144"/>
                <a:gd name="T39" fmla="*/ 2151 h 20"/>
                <a:gd name="T40" fmla="+- 0 5970 5967"/>
                <a:gd name="T41" fmla="*/ T40 w 17"/>
                <a:gd name="T42" fmla="+- 0 2148 2144"/>
                <a:gd name="T43" fmla="*/ 2148 h 20"/>
                <a:gd name="T44" fmla="+- 0 5970 5967"/>
                <a:gd name="T45" fmla="*/ T44 w 17"/>
                <a:gd name="T46" fmla="+- 0 2144 2144"/>
                <a:gd name="T47" fmla="*/ 2144 h 20"/>
                <a:gd name="T48" fmla="+- 0 5974 5967"/>
                <a:gd name="T49" fmla="*/ T48 w 17"/>
                <a:gd name="T50" fmla="+- 0 2144 2144"/>
                <a:gd name="T51" fmla="*/ 2144 h 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17" h="20">
                  <a:moveTo>
                    <a:pt x="7" y="0"/>
                  </a:moveTo>
                  <a:lnTo>
                    <a:pt x="10" y="0"/>
                  </a:lnTo>
                  <a:lnTo>
                    <a:pt x="15" y="4"/>
                  </a:lnTo>
                  <a:lnTo>
                    <a:pt x="15" y="7"/>
                  </a:lnTo>
                  <a:lnTo>
                    <a:pt x="17" y="12"/>
                  </a:lnTo>
                  <a:lnTo>
                    <a:pt x="10" y="19"/>
                  </a:lnTo>
                  <a:lnTo>
                    <a:pt x="3" y="19"/>
                  </a:lnTo>
                  <a:lnTo>
                    <a:pt x="3" y="14"/>
                  </a:lnTo>
                  <a:lnTo>
                    <a:pt x="0" y="14"/>
                  </a:lnTo>
                  <a:lnTo>
                    <a:pt x="0" y="7"/>
                  </a:lnTo>
                  <a:lnTo>
                    <a:pt x="3" y="4"/>
                  </a:lnTo>
                  <a:lnTo>
                    <a:pt x="3" y="0"/>
                  </a:lnTo>
                  <a:lnTo>
                    <a:pt x="7"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4" name="Freeform 35">
              <a:extLst>
                <a:ext uri="{FF2B5EF4-FFF2-40B4-BE49-F238E27FC236}">
                  <a16:creationId xmlns:a16="http://schemas.microsoft.com/office/drawing/2014/main" id="{48A4C148-12E4-D2CD-C240-746B62CC168B}"/>
                </a:ext>
              </a:extLst>
            </p:cNvPr>
            <p:cNvSpPr>
              <a:spLocks/>
            </p:cNvSpPr>
            <p:nvPr/>
          </p:nvSpPr>
          <p:spPr bwMode="auto">
            <a:xfrm>
              <a:off x="5955" y="2186"/>
              <a:ext cx="39" cy="80"/>
            </a:xfrm>
            <a:custGeom>
              <a:avLst/>
              <a:gdLst>
                <a:gd name="T0" fmla="+- 0 5982 5955"/>
                <a:gd name="T1" fmla="*/ T0 w 39"/>
                <a:gd name="T2" fmla="+- 0 2187 2187"/>
                <a:gd name="T3" fmla="*/ 2187 h 80"/>
                <a:gd name="T4" fmla="+- 0 5982 5955"/>
                <a:gd name="T5" fmla="*/ T4 w 39"/>
                <a:gd name="T6" fmla="+- 0 2254 2187"/>
                <a:gd name="T7" fmla="*/ 2254 h 80"/>
                <a:gd name="T8" fmla="+- 0 5984 5955"/>
                <a:gd name="T9" fmla="*/ T8 w 39"/>
                <a:gd name="T10" fmla="+- 0 2259 2187"/>
                <a:gd name="T11" fmla="*/ 2259 h 80"/>
                <a:gd name="T12" fmla="+- 0 5984 5955"/>
                <a:gd name="T13" fmla="*/ T12 w 39"/>
                <a:gd name="T14" fmla="+- 0 2261 2187"/>
                <a:gd name="T15" fmla="*/ 2261 h 80"/>
                <a:gd name="T16" fmla="+- 0 5994 5955"/>
                <a:gd name="T17" fmla="*/ T16 w 39"/>
                <a:gd name="T18" fmla="+- 0 2261 2187"/>
                <a:gd name="T19" fmla="*/ 2261 h 80"/>
                <a:gd name="T20" fmla="+- 0 5994 5955"/>
                <a:gd name="T21" fmla="*/ T20 w 39"/>
                <a:gd name="T22" fmla="+- 0 2266 2187"/>
                <a:gd name="T23" fmla="*/ 2266 h 80"/>
                <a:gd name="T24" fmla="+- 0 5955 5955"/>
                <a:gd name="T25" fmla="*/ T24 w 39"/>
                <a:gd name="T26" fmla="+- 0 2266 2187"/>
                <a:gd name="T27" fmla="*/ 2266 h 80"/>
                <a:gd name="T28" fmla="+- 0 5955 5955"/>
                <a:gd name="T29" fmla="*/ T28 w 39"/>
                <a:gd name="T30" fmla="+- 0 2261 2187"/>
                <a:gd name="T31" fmla="*/ 2261 h 80"/>
                <a:gd name="T32" fmla="+- 0 5967 5955"/>
                <a:gd name="T33" fmla="*/ T32 w 39"/>
                <a:gd name="T34" fmla="+- 0 2261 2187"/>
                <a:gd name="T35" fmla="*/ 2261 h 80"/>
                <a:gd name="T36" fmla="+- 0 5967 5955"/>
                <a:gd name="T37" fmla="*/ T36 w 39"/>
                <a:gd name="T38" fmla="+- 0 2196 2187"/>
                <a:gd name="T39" fmla="*/ 2196 h 80"/>
                <a:gd name="T40" fmla="+- 0 5955 5955"/>
                <a:gd name="T41" fmla="*/ T40 w 39"/>
                <a:gd name="T42" fmla="+- 0 2196 2187"/>
                <a:gd name="T43" fmla="*/ 2196 h 80"/>
                <a:gd name="T44" fmla="+- 0 5955 5955"/>
                <a:gd name="T45" fmla="*/ T44 w 39"/>
                <a:gd name="T46" fmla="+- 0 2194 2187"/>
                <a:gd name="T47" fmla="*/ 2194 h 80"/>
                <a:gd name="T48" fmla="+- 0 5977 5955"/>
                <a:gd name="T49" fmla="*/ T48 w 39"/>
                <a:gd name="T50" fmla="+- 0 2187 2187"/>
                <a:gd name="T51" fmla="*/ 2187 h 80"/>
                <a:gd name="T52" fmla="+- 0 5982 5955"/>
                <a:gd name="T53" fmla="*/ T52 w 39"/>
                <a:gd name="T54" fmla="+- 0 2187 2187"/>
                <a:gd name="T55" fmla="*/ 2187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9" h="80">
                  <a:moveTo>
                    <a:pt x="27" y="0"/>
                  </a:moveTo>
                  <a:lnTo>
                    <a:pt x="27" y="67"/>
                  </a:lnTo>
                  <a:lnTo>
                    <a:pt x="29" y="72"/>
                  </a:lnTo>
                  <a:lnTo>
                    <a:pt x="29" y="74"/>
                  </a:lnTo>
                  <a:lnTo>
                    <a:pt x="39" y="74"/>
                  </a:lnTo>
                  <a:lnTo>
                    <a:pt x="39" y="79"/>
                  </a:lnTo>
                  <a:lnTo>
                    <a:pt x="0" y="79"/>
                  </a:lnTo>
                  <a:lnTo>
                    <a:pt x="0" y="74"/>
                  </a:lnTo>
                  <a:lnTo>
                    <a:pt x="12" y="74"/>
                  </a:lnTo>
                  <a:lnTo>
                    <a:pt x="12" y="9"/>
                  </a:lnTo>
                  <a:lnTo>
                    <a:pt x="0" y="9"/>
                  </a:lnTo>
                  <a:lnTo>
                    <a:pt x="0" y="7"/>
                  </a:lnTo>
                  <a:lnTo>
                    <a:pt x="22" y="0"/>
                  </a:lnTo>
                  <a:lnTo>
                    <a:pt x="27"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5" name="Freeform 36">
              <a:extLst>
                <a:ext uri="{FF2B5EF4-FFF2-40B4-BE49-F238E27FC236}">
                  <a16:creationId xmlns:a16="http://schemas.microsoft.com/office/drawing/2014/main" id="{B7186501-C825-9587-F1DE-943D46FEAA66}"/>
                </a:ext>
              </a:extLst>
            </p:cNvPr>
            <p:cNvSpPr>
              <a:spLocks/>
            </p:cNvSpPr>
            <p:nvPr/>
          </p:nvSpPr>
          <p:spPr bwMode="auto">
            <a:xfrm>
              <a:off x="5998" y="2186"/>
              <a:ext cx="58" cy="80"/>
            </a:xfrm>
            <a:custGeom>
              <a:avLst/>
              <a:gdLst>
                <a:gd name="T0" fmla="+- 0 6027 5998"/>
                <a:gd name="T1" fmla="*/ T0 w 58"/>
                <a:gd name="T2" fmla="+- 0 2187 2187"/>
                <a:gd name="T3" fmla="*/ 2187 h 80"/>
                <a:gd name="T4" fmla="+- 0 6027 5998"/>
                <a:gd name="T5" fmla="*/ T4 w 58"/>
                <a:gd name="T6" fmla="+- 0 2204 2187"/>
                <a:gd name="T7" fmla="*/ 2204 h 80"/>
                <a:gd name="T8" fmla="+- 0 6034 5998"/>
                <a:gd name="T9" fmla="*/ T8 w 58"/>
                <a:gd name="T10" fmla="+- 0 2189 2187"/>
                <a:gd name="T11" fmla="*/ 2189 h 80"/>
                <a:gd name="T12" fmla="+- 0 6044 5998"/>
                <a:gd name="T13" fmla="*/ T12 w 58"/>
                <a:gd name="T14" fmla="+- 0 2187 2187"/>
                <a:gd name="T15" fmla="*/ 2187 h 80"/>
                <a:gd name="T16" fmla="+- 0 6051 5998"/>
                <a:gd name="T17" fmla="*/ T16 w 58"/>
                <a:gd name="T18" fmla="+- 0 2187 2187"/>
                <a:gd name="T19" fmla="*/ 2187 h 80"/>
                <a:gd name="T20" fmla="+- 0 6056 5998"/>
                <a:gd name="T21" fmla="*/ T20 w 58"/>
                <a:gd name="T22" fmla="+- 0 2189 2187"/>
                <a:gd name="T23" fmla="*/ 2189 h 80"/>
                <a:gd name="T24" fmla="+- 0 6056 5998"/>
                <a:gd name="T25" fmla="*/ T24 w 58"/>
                <a:gd name="T26" fmla="+- 0 2201 2187"/>
                <a:gd name="T27" fmla="*/ 2201 h 80"/>
                <a:gd name="T28" fmla="+- 0 6051 5998"/>
                <a:gd name="T29" fmla="*/ T28 w 58"/>
                <a:gd name="T30" fmla="+- 0 2201 2187"/>
                <a:gd name="T31" fmla="*/ 2201 h 80"/>
                <a:gd name="T32" fmla="+- 0 6049 5998"/>
                <a:gd name="T33" fmla="*/ T32 w 58"/>
                <a:gd name="T34" fmla="+- 0 2204 2187"/>
                <a:gd name="T35" fmla="*/ 2204 h 80"/>
                <a:gd name="T36" fmla="+- 0 6044 5998"/>
                <a:gd name="T37" fmla="*/ T36 w 58"/>
                <a:gd name="T38" fmla="+- 0 2201 2187"/>
                <a:gd name="T39" fmla="*/ 2201 h 80"/>
                <a:gd name="T40" fmla="+- 0 6042 5998"/>
                <a:gd name="T41" fmla="*/ T40 w 58"/>
                <a:gd name="T42" fmla="+- 0 2201 2187"/>
                <a:gd name="T43" fmla="*/ 2201 h 80"/>
                <a:gd name="T44" fmla="+- 0 6037 5998"/>
                <a:gd name="T45" fmla="*/ T44 w 58"/>
                <a:gd name="T46" fmla="+- 0 2196 2187"/>
                <a:gd name="T47" fmla="*/ 2196 h 80"/>
                <a:gd name="T48" fmla="+- 0 6034 5998"/>
                <a:gd name="T49" fmla="*/ T48 w 58"/>
                <a:gd name="T50" fmla="+- 0 2196 2187"/>
                <a:gd name="T51" fmla="*/ 2196 h 80"/>
                <a:gd name="T52" fmla="+- 0 6030 5998"/>
                <a:gd name="T53" fmla="*/ T52 w 58"/>
                <a:gd name="T54" fmla="+- 0 2204 2187"/>
                <a:gd name="T55" fmla="*/ 2204 h 80"/>
                <a:gd name="T56" fmla="+- 0 6027 5998"/>
                <a:gd name="T57" fmla="*/ T56 w 58"/>
                <a:gd name="T58" fmla="+- 0 2211 2187"/>
                <a:gd name="T59" fmla="*/ 2211 h 80"/>
                <a:gd name="T60" fmla="+- 0 6027 5998"/>
                <a:gd name="T61" fmla="*/ T60 w 58"/>
                <a:gd name="T62" fmla="+- 0 2259 2187"/>
                <a:gd name="T63" fmla="*/ 2259 h 80"/>
                <a:gd name="T64" fmla="+- 0 6030 5998"/>
                <a:gd name="T65" fmla="*/ T64 w 58"/>
                <a:gd name="T66" fmla="+- 0 2259 2187"/>
                <a:gd name="T67" fmla="*/ 2259 h 80"/>
                <a:gd name="T68" fmla="+- 0 6030 5998"/>
                <a:gd name="T69" fmla="*/ T68 w 58"/>
                <a:gd name="T70" fmla="+- 0 2261 2187"/>
                <a:gd name="T71" fmla="*/ 2261 h 80"/>
                <a:gd name="T72" fmla="+- 0 6037 5998"/>
                <a:gd name="T73" fmla="*/ T72 w 58"/>
                <a:gd name="T74" fmla="+- 0 2261 2187"/>
                <a:gd name="T75" fmla="*/ 2261 h 80"/>
                <a:gd name="T76" fmla="+- 0 6037 5998"/>
                <a:gd name="T77" fmla="*/ T76 w 58"/>
                <a:gd name="T78" fmla="+- 0 2266 2187"/>
                <a:gd name="T79" fmla="*/ 2266 h 80"/>
                <a:gd name="T80" fmla="+- 0 5998 5998"/>
                <a:gd name="T81" fmla="*/ T80 w 58"/>
                <a:gd name="T82" fmla="+- 0 2266 2187"/>
                <a:gd name="T83" fmla="*/ 2266 h 80"/>
                <a:gd name="T84" fmla="+- 0 5998 5998"/>
                <a:gd name="T85" fmla="*/ T84 w 58"/>
                <a:gd name="T86" fmla="+- 0 2261 2187"/>
                <a:gd name="T87" fmla="*/ 2261 h 80"/>
                <a:gd name="T88" fmla="+- 0 6008 5998"/>
                <a:gd name="T89" fmla="*/ T88 w 58"/>
                <a:gd name="T90" fmla="+- 0 2261 2187"/>
                <a:gd name="T91" fmla="*/ 2261 h 80"/>
                <a:gd name="T92" fmla="+- 0 6008 5998"/>
                <a:gd name="T93" fmla="*/ T92 w 58"/>
                <a:gd name="T94" fmla="+- 0 2259 2187"/>
                <a:gd name="T95" fmla="*/ 2259 h 80"/>
                <a:gd name="T96" fmla="+- 0 6013 5998"/>
                <a:gd name="T97" fmla="*/ T96 w 58"/>
                <a:gd name="T98" fmla="+- 0 2259 2187"/>
                <a:gd name="T99" fmla="*/ 2259 h 80"/>
                <a:gd name="T100" fmla="+- 0 6013 5998"/>
                <a:gd name="T101" fmla="*/ T100 w 58"/>
                <a:gd name="T102" fmla="+- 0 2201 2187"/>
                <a:gd name="T103" fmla="*/ 2201 h 80"/>
                <a:gd name="T104" fmla="+- 0 6008 5998"/>
                <a:gd name="T105" fmla="*/ T104 w 58"/>
                <a:gd name="T106" fmla="+- 0 2201 2187"/>
                <a:gd name="T107" fmla="*/ 2201 h 80"/>
                <a:gd name="T108" fmla="+- 0 6008 5998"/>
                <a:gd name="T109" fmla="*/ T108 w 58"/>
                <a:gd name="T110" fmla="+- 0 2196 2187"/>
                <a:gd name="T111" fmla="*/ 2196 h 80"/>
                <a:gd name="T112" fmla="+- 0 5998 5998"/>
                <a:gd name="T113" fmla="*/ T112 w 58"/>
                <a:gd name="T114" fmla="+- 0 2196 2187"/>
                <a:gd name="T115" fmla="*/ 2196 h 80"/>
                <a:gd name="T116" fmla="+- 0 5998 5998"/>
                <a:gd name="T117" fmla="*/ T116 w 58"/>
                <a:gd name="T118" fmla="+- 0 2194 2187"/>
                <a:gd name="T119" fmla="*/ 2194 h 80"/>
                <a:gd name="T120" fmla="+- 0 6022 5998"/>
                <a:gd name="T121" fmla="*/ T120 w 58"/>
                <a:gd name="T122" fmla="+- 0 2187 2187"/>
                <a:gd name="T123" fmla="*/ 2187 h 80"/>
                <a:gd name="T124" fmla="+- 0 6027 5998"/>
                <a:gd name="T125" fmla="*/ T124 w 58"/>
                <a:gd name="T126" fmla="+- 0 2187 2187"/>
                <a:gd name="T127" fmla="*/ 2187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58" h="80">
                  <a:moveTo>
                    <a:pt x="29" y="0"/>
                  </a:moveTo>
                  <a:lnTo>
                    <a:pt x="29" y="17"/>
                  </a:lnTo>
                  <a:lnTo>
                    <a:pt x="36" y="2"/>
                  </a:lnTo>
                  <a:lnTo>
                    <a:pt x="46" y="0"/>
                  </a:lnTo>
                  <a:lnTo>
                    <a:pt x="53" y="0"/>
                  </a:lnTo>
                  <a:lnTo>
                    <a:pt x="58" y="2"/>
                  </a:lnTo>
                  <a:lnTo>
                    <a:pt x="58" y="14"/>
                  </a:lnTo>
                  <a:lnTo>
                    <a:pt x="53" y="14"/>
                  </a:lnTo>
                  <a:lnTo>
                    <a:pt x="51" y="17"/>
                  </a:lnTo>
                  <a:lnTo>
                    <a:pt x="46" y="14"/>
                  </a:lnTo>
                  <a:lnTo>
                    <a:pt x="44" y="14"/>
                  </a:lnTo>
                  <a:lnTo>
                    <a:pt x="39" y="9"/>
                  </a:lnTo>
                  <a:lnTo>
                    <a:pt x="36" y="9"/>
                  </a:lnTo>
                  <a:lnTo>
                    <a:pt x="32" y="17"/>
                  </a:lnTo>
                  <a:lnTo>
                    <a:pt x="29" y="24"/>
                  </a:lnTo>
                  <a:lnTo>
                    <a:pt x="29" y="72"/>
                  </a:lnTo>
                  <a:lnTo>
                    <a:pt x="32" y="72"/>
                  </a:lnTo>
                  <a:lnTo>
                    <a:pt x="32" y="74"/>
                  </a:lnTo>
                  <a:lnTo>
                    <a:pt x="39" y="74"/>
                  </a:lnTo>
                  <a:lnTo>
                    <a:pt x="39" y="79"/>
                  </a:lnTo>
                  <a:lnTo>
                    <a:pt x="0" y="79"/>
                  </a:lnTo>
                  <a:lnTo>
                    <a:pt x="0" y="74"/>
                  </a:lnTo>
                  <a:lnTo>
                    <a:pt x="10" y="74"/>
                  </a:lnTo>
                  <a:lnTo>
                    <a:pt x="10" y="72"/>
                  </a:lnTo>
                  <a:lnTo>
                    <a:pt x="15" y="72"/>
                  </a:lnTo>
                  <a:lnTo>
                    <a:pt x="15" y="14"/>
                  </a:lnTo>
                  <a:lnTo>
                    <a:pt x="10" y="14"/>
                  </a:lnTo>
                  <a:lnTo>
                    <a:pt x="10" y="9"/>
                  </a:lnTo>
                  <a:lnTo>
                    <a:pt x="0" y="9"/>
                  </a:lnTo>
                  <a:lnTo>
                    <a:pt x="0" y="7"/>
                  </a:lnTo>
                  <a:lnTo>
                    <a:pt x="24" y="0"/>
                  </a:lnTo>
                  <a:lnTo>
                    <a:pt x="29"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6" name="Freeform 37">
              <a:extLst>
                <a:ext uri="{FF2B5EF4-FFF2-40B4-BE49-F238E27FC236}">
                  <a16:creationId xmlns:a16="http://schemas.microsoft.com/office/drawing/2014/main" id="{1F60A084-F951-BE08-B14C-D83319DC618C}"/>
                </a:ext>
              </a:extLst>
            </p:cNvPr>
            <p:cNvSpPr>
              <a:spLocks/>
            </p:cNvSpPr>
            <p:nvPr/>
          </p:nvSpPr>
          <p:spPr bwMode="auto">
            <a:xfrm>
              <a:off x="6063" y="2186"/>
              <a:ext cx="63" cy="82"/>
            </a:xfrm>
            <a:custGeom>
              <a:avLst/>
              <a:gdLst>
                <a:gd name="T0" fmla="+- 0 6126 6063"/>
                <a:gd name="T1" fmla="*/ T0 w 63"/>
                <a:gd name="T2" fmla="+- 0 2237 2187"/>
                <a:gd name="T3" fmla="*/ 2237 h 82"/>
                <a:gd name="T4" fmla="+- 0 6123 6063"/>
                <a:gd name="T5" fmla="*/ T4 w 63"/>
                <a:gd name="T6" fmla="+- 0 2252 2187"/>
                <a:gd name="T7" fmla="*/ 2252 h 82"/>
                <a:gd name="T8" fmla="+- 0 6116 6063"/>
                <a:gd name="T9" fmla="*/ T8 w 63"/>
                <a:gd name="T10" fmla="+- 0 2259 2187"/>
                <a:gd name="T11" fmla="*/ 2259 h 82"/>
                <a:gd name="T12" fmla="+- 0 6104 6063"/>
                <a:gd name="T13" fmla="*/ T12 w 63"/>
                <a:gd name="T14" fmla="+- 0 2266 2187"/>
                <a:gd name="T15" fmla="*/ 2266 h 82"/>
                <a:gd name="T16" fmla="+- 0 6094 6063"/>
                <a:gd name="T17" fmla="*/ T16 w 63"/>
                <a:gd name="T18" fmla="+- 0 2268 2187"/>
                <a:gd name="T19" fmla="*/ 2268 h 82"/>
                <a:gd name="T20" fmla="+- 0 6080 6063"/>
                <a:gd name="T21" fmla="*/ T20 w 63"/>
                <a:gd name="T22" fmla="+- 0 2266 2187"/>
                <a:gd name="T23" fmla="*/ 2266 h 82"/>
                <a:gd name="T24" fmla="+- 0 6070 6063"/>
                <a:gd name="T25" fmla="*/ T24 w 63"/>
                <a:gd name="T26" fmla="+- 0 2259 2187"/>
                <a:gd name="T27" fmla="*/ 2259 h 82"/>
                <a:gd name="T28" fmla="+- 0 6063 6063"/>
                <a:gd name="T29" fmla="*/ T28 w 63"/>
                <a:gd name="T30" fmla="+- 0 2244 2187"/>
                <a:gd name="T31" fmla="*/ 2244 h 82"/>
                <a:gd name="T32" fmla="+- 0 6063 6063"/>
                <a:gd name="T33" fmla="*/ T32 w 63"/>
                <a:gd name="T34" fmla="+- 0 2211 2187"/>
                <a:gd name="T35" fmla="*/ 2211 h 82"/>
                <a:gd name="T36" fmla="+- 0 6073 6063"/>
                <a:gd name="T37" fmla="*/ T36 w 63"/>
                <a:gd name="T38" fmla="+- 0 2196 2187"/>
                <a:gd name="T39" fmla="*/ 2196 h 82"/>
                <a:gd name="T40" fmla="+- 0 6082 6063"/>
                <a:gd name="T41" fmla="*/ T40 w 63"/>
                <a:gd name="T42" fmla="+- 0 2187 2187"/>
                <a:gd name="T43" fmla="*/ 2187 h 82"/>
                <a:gd name="T44" fmla="+- 0 6109 6063"/>
                <a:gd name="T45" fmla="*/ T44 w 63"/>
                <a:gd name="T46" fmla="+- 0 2187 2187"/>
                <a:gd name="T47" fmla="*/ 2187 h 82"/>
                <a:gd name="T48" fmla="+- 0 6116 6063"/>
                <a:gd name="T49" fmla="*/ T48 w 63"/>
                <a:gd name="T50" fmla="+- 0 2189 2187"/>
                <a:gd name="T51" fmla="*/ 2189 h 82"/>
                <a:gd name="T52" fmla="+- 0 6123 6063"/>
                <a:gd name="T53" fmla="*/ T52 w 63"/>
                <a:gd name="T54" fmla="+- 0 2196 2187"/>
                <a:gd name="T55" fmla="*/ 2196 h 82"/>
                <a:gd name="T56" fmla="+- 0 6126 6063"/>
                <a:gd name="T57" fmla="*/ T56 w 63"/>
                <a:gd name="T58" fmla="+- 0 2204 2187"/>
                <a:gd name="T59" fmla="*/ 2204 h 82"/>
                <a:gd name="T60" fmla="+- 0 6123 6063"/>
                <a:gd name="T61" fmla="*/ T60 w 63"/>
                <a:gd name="T62" fmla="+- 0 2208 2187"/>
                <a:gd name="T63" fmla="*/ 2208 h 82"/>
                <a:gd name="T64" fmla="+- 0 6118 6063"/>
                <a:gd name="T65" fmla="*/ T64 w 63"/>
                <a:gd name="T66" fmla="+- 0 2211 2187"/>
                <a:gd name="T67" fmla="*/ 2211 h 82"/>
                <a:gd name="T68" fmla="+- 0 6111 6063"/>
                <a:gd name="T69" fmla="*/ T68 w 63"/>
                <a:gd name="T70" fmla="+- 0 2211 2187"/>
                <a:gd name="T71" fmla="*/ 2211 h 82"/>
                <a:gd name="T72" fmla="+- 0 6109 6063"/>
                <a:gd name="T73" fmla="*/ T72 w 63"/>
                <a:gd name="T74" fmla="+- 0 2208 2187"/>
                <a:gd name="T75" fmla="*/ 2208 h 82"/>
                <a:gd name="T76" fmla="+- 0 6109 6063"/>
                <a:gd name="T77" fmla="*/ T76 w 63"/>
                <a:gd name="T78" fmla="+- 0 2201 2187"/>
                <a:gd name="T79" fmla="*/ 2201 h 82"/>
                <a:gd name="T80" fmla="+- 0 6104 6063"/>
                <a:gd name="T81" fmla="*/ T80 w 63"/>
                <a:gd name="T82" fmla="+- 0 2196 2187"/>
                <a:gd name="T83" fmla="*/ 2196 h 82"/>
                <a:gd name="T84" fmla="+- 0 6104 6063"/>
                <a:gd name="T85" fmla="*/ T84 w 63"/>
                <a:gd name="T86" fmla="+- 0 2194 2187"/>
                <a:gd name="T87" fmla="*/ 2194 h 82"/>
                <a:gd name="T88" fmla="+- 0 6102 6063"/>
                <a:gd name="T89" fmla="*/ T88 w 63"/>
                <a:gd name="T90" fmla="+- 0 2189 2187"/>
                <a:gd name="T91" fmla="*/ 2189 h 82"/>
                <a:gd name="T92" fmla="+- 0 6094 6063"/>
                <a:gd name="T93" fmla="*/ T92 w 63"/>
                <a:gd name="T94" fmla="+- 0 2189 2187"/>
                <a:gd name="T95" fmla="*/ 2189 h 82"/>
                <a:gd name="T96" fmla="+- 0 6087 6063"/>
                <a:gd name="T97" fmla="*/ T96 w 63"/>
                <a:gd name="T98" fmla="+- 0 2194 2187"/>
                <a:gd name="T99" fmla="*/ 2194 h 82"/>
                <a:gd name="T100" fmla="+- 0 6080 6063"/>
                <a:gd name="T101" fmla="*/ T100 w 63"/>
                <a:gd name="T102" fmla="+- 0 2196 2187"/>
                <a:gd name="T103" fmla="*/ 2196 h 82"/>
                <a:gd name="T104" fmla="+- 0 6075 6063"/>
                <a:gd name="T105" fmla="*/ T104 w 63"/>
                <a:gd name="T106" fmla="+- 0 2208 2187"/>
                <a:gd name="T107" fmla="*/ 2208 h 82"/>
                <a:gd name="T108" fmla="+- 0 6075 6063"/>
                <a:gd name="T109" fmla="*/ T108 w 63"/>
                <a:gd name="T110" fmla="+- 0 2232 2187"/>
                <a:gd name="T111" fmla="*/ 2232 h 82"/>
                <a:gd name="T112" fmla="+- 0 6080 6063"/>
                <a:gd name="T113" fmla="*/ T112 w 63"/>
                <a:gd name="T114" fmla="+- 0 2244 2187"/>
                <a:gd name="T115" fmla="*/ 2244 h 82"/>
                <a:gd name="T116" fmla="+- 0 6090 6063"/>
                <a:gd name="T117" fmla="*/ T116 w 63"/>
                <a:gd name="T118" fmla="+- 0 2252 2187"/>
                <a:gd name="T119" fmla="*/ 2252 h 82"/>
                <a:gd name="T120" fmla="+- 0 6102 6063"/>
                <a:gd name="T121" fmla="*/ T120 w 63"/>
                <a:gd name="T122" fmla="+- 0 2254 2187"/>
                <a:gd name="T123" fmla="*/ 2254 h 82"/>
                <a:gd name="T124" fmla="+- 0 6109 6063"/>
                <a:gd name="T125" fmla="*/ T124 w 63"/>
                <a:gd name="T126" fmla="+- 0 2254 2187"/>
                <a:gd name="T127" fmla="*/ 2254 h 82"/>
                <a:gd name="T128" fmla="+- 0 6118 6063"/>
                <a:gd name="T129" fmla="*/ T128 w 63"/>
                <a:gd name="T130" fmla="+- 0 2244 2187"/>
                <a:gd name="T131" fmla="*/ 2244 h 82"/>
                <a:gd name="T132" fmla="+- 0 6123 6063"/>
                <a:gd name="T133" fmla="*/ T132 w 63"/>
                <a:gd name="T134" fmla="+- 0 2232 2187"/>
                <a:gd name="T135" fmla="*/ 2232 h 82"/>
                <a:gd name="T136" fmla="+- 0 6126 6063"/>
                <a:gd name="T137" fmla="*/ T136 w 63"/>
                <a:gd name="T138" fmla="+- 0 2237 2187"/>
                <a:gd name="T139" fmla="*/ 2237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Lst>
              <a:rect l="0" t="0" r="r" b="b"/>
              <a:pathLst>
                <a:path w="63" h="82">
                  <a:moveTo>
                    <a:pt x="63" y="50"/>
                  </a:moveTo>
                  <a:lnTo>
                    <a:pt x="60" y="65"/>
                  </a:lnTo>
                  <a:lnTo>
                    <a:pt x="53" y="72"/>
                  </a:lnTo>
                  <a:lnTo>
                    <a:pt x="41" y="79"/>
                  </a:lnTo>
                  <a:lnTo>
                    <a:pt x="31" y="81"/>
                  </a:lnTo>
                  <a:lnTo>
                    <a:pt x="17" y="79"/>
                  </a:lnTo>
                  <a:lnTo>
                    <a:pt x="7" y="72"/>
                  </a:lnTo>
                  <a:lnTo>
                    <a:pt x="0" y="57"/>
                  </a:lnTo>
                  <a:lnTo>
                    <a:pt x="0" y="24"/>
                  </a:lnTo>
                  <a:lnTo>
                    <a:pt x="10" y="9"/>
                  </a:lnTo>
                  <a:lnTo>
                    <a:pt x="19" y="0"/>
                  </a:lnTo>
                  <a:lnTo>
                    <a:pt x="46" y="0"/>
                  </a:lnTo>
                  <a:lnTo>
                    <a:pt x="53" y="2"/>
                  </a:lnTo>
                  <a:lnTo>
                    <a:pt x="60" y="9"/>
                  </a:lnTo>
                  <a:lnTo>
                    <a:pt x="63" y="17"/>
                  </a:lnTo>
                  <a:lnTo>
                    <a:pt x="60" y="21"/>
                  </a:lnTo>
                  <a:lnTo>
                    <a:pt x="55" y="24"/>
                  </a:lnTo>
                  <a:lnTo>
                    <a:pt x="48" y="24"/>
                  </a:lnTo>
                  <a:lnTo>
                    <a:pt x="46" y="21"/>
                  </a:lnTo>
                  <a:lnTo>
                    <a:pt x="46" y="14"/>
                  </a:lnTo>
                  <a:lnTo>
                    <a:pt x="41" y="9"/>
                  </a:lnTo>
                  <a:lnTo>
                    <a:pt x="41" y="7"/>
                  </a:lnTo>
                  <a:lnTo>
                    <a:pt x="39" y="2"/>
                  </a:lnTo>
                  <a:lnTo>
                    <a:pt x="31" y="2"/>
                  </a:lnTo>
                  <a:lnTo>
                    <a:pt x="24" y="7"/>
                  </a:lnTo>
                  <a:lnTo>
                    <a:pt x="17" y="9"/>
                  </a:lnTo>
                  <a:lnTo>
                    <a:pt x="12" y="21"/>
                  </a:lnTo>
                  <a:lnTo>
                    <a:pt x="12" y="45"/>
                  </a:lnTo>
                  <a:lnTo>
                    <a:pt x="17" y="57"/>
                  </a:lnTo>
                  <a:lnTo>
                    <a:pt x="27" y="65"/>
                  </a:lnTo>
                  <a:lnTo>
                    <a:pt x="39" y="67"/>
                  </a:lnTo>
                  <a:lnTo>
                    <a:pt x="46" y="67"/>
                  </a:lnTo>
                  <a:lnTo>
                    <a:pt x="55" y="57"/>
                  </a:lnTo>
                  <a:lnTo>
                    <a:pt x="60" y="45"/>
                  </a:lnTo>
                  <a:lnTo>
                    <a:pt x="63" y="5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7" name="Freeform 38">
              <a:extLst>
                <a:ext uri="{FF2B5EF4-FFF2-40B4-BE49-F238E27FC236}">
                  <a16:creationId xmlns:a16="http://schemas.microsoft.com/office/drawing/2014/main" id="{E54A1E69-062C-C9F8-EECA-E0C711CEC1D5}"/>
                </a:ext>
              </a:extLst>
            </p:cNvPr>
            <p:cNvSpPr>
              <a:spLocks/>
            </p:cNvSpPr>
            <p:nvPr/>
          </p:nvSpPr>
          <p:spPr bwMode="auto">
            <a:xfrm>
              <a:off x="6132" y="2186"/>
              <a:ext cx="87" cy="82"/>
            </a:xfrm>
            <a:custGeom>
              <a:avLst/>
              <a:gdLst>
                <a:gd name="T0" fmla="+- 0 6205 6133"/>
                <a:gd name="T1" fmla="*/ T0 w 87"/>
                <a:gd name="T2" fmla="+- 0 2187 2187"/>
                <a:gd name="T3" fmla="*/ 2187 h 82"/>
                <a:gd name="T4" fmla="+- 0 6205 6133"/>
                <a:gd name="T5" fmla="*/ T4 w 87"/>
                <a:gd name="T6" fmla="+- 0 2247 2187"/>
                <a:gd name="T7" fmla="*/ 2247 h 82"/>
                <a:gd name="T8" fmla="+- 0 6207 6133"/>
                <a:gd name="T9" fmla="*/ T8 w 87"/>
                <a:gd name="T10" fmla="+- 0 2252 2187"/>
                <a:gd name="T11" fmla="*/ 2252 h 82"/>
                <a:gd name="T12" fmla="+- 0 6207 6133"/>
                <a:gd name="T13" fmla="*/ T12 w 87"/>
                <a:gd name="T14" fmla="+- 0 2254 2187"/>
                <a:gd name="T15" fmla="*/ 2254 h 82"/>
                <a:gd name="T16" fmla="+- 0 6212 6133"/>
                <a:gd name="T17" fmla="*/ T16 w 87"/>
                <a:gd name="T18" fmla="+- 0 2259 2187"/>
                <a:gd name="T19" fmla="*/ 2259 h 82"/>
                <a:gd name="T20" fmla="+- 0 6214 6133"/>
                <a:gd name="T21" fmla="*/ T20 w 87"/>
                <a:gd name="T22" fmla="+- 0 2259 2187"/>
                <a:gd name="T23" fmla="*/ 2259 h 82"/>
                <a:gd name="T24" fmla="+- 0 6219 6133"/>
                <a:gd name="T25" fmla="*/ T24 w 87"/>
                <a:gd name="T26" fmla="+- 0 2254 2187"/>
                <a:gd name="T27" fmla="*/ 2254 h 82"/>
                <a:gd name="T28" fmla="+- 0 6219 6133"/>
                <a:gd name="T29" fmla="*/ T28 w 87"/>
                <a:gd name="T30" fmla="+- 0 2259 2187"/>
                <a:gd name="T31" fmla="*/ 2259 h 82"/>
                <a:gd name="T32" fmla="+- 0 6198 6133"/>
                <a:gd name="T33" fmla="*/ T32 w 87"/>
                <a:gd name="T34" fmla="+- 0 2268 2187"/>
                <a:gd name="T35" fmla="*/ 2268 h 82"/>
                <a:gd name="T36" fmla="+- 0 6190 6133"/>
                <a:gd name="T37" fmla="*/ T36 w 87"/>
                <a:gd name="T38" fmla="+- 0 2268 2187"/>
                <a:gd name="T39" fmla="*/ 2268 h 82"/>
                <a:gd name="T40" fmla="+- 0 6190 6133"/>
                <a:gd name="T41" fmla="*/ T40 w 87"/>
                <a:gd name="T42" fmla="+- 0 2252 2187"/>
                <a:gd name="T43" fmla="*/ 2252 h 82"/>
                <a:gd name="T44" fmla="+- 0 6183 6133"/>
                <a:gd name="T45" fmla="*/ T44 w 87"/>
                <a:gd name="T46" fmla="+- 0 2261 2187"/>
                <a:gd name="T47" fmla="*/ 2261 h 82"/>
                <a:gd name="T48" fmla="+- 0 6176 6133"/>
                <a:gd name="T49" fmla="*/ T48 w 87"/>
                <a:gd name="T50" fmla="+- 0 2266 2187"/>
                <a:gd name="T51" fmla="*/ 2266 h 82"/>
                <a:gd name="T52" fmla="+- 0 6171 6133"/>
                <a:gd name="T53" fmla="*/ T52 w 87"/>
                <a:gd name="T54" fmla="+- 0 2268 2187"/>
                <a:gd name="T55" fmla="*/ 2268 h 82"/>
                <a:gd name="T56" fmla="+- 0 6159 6133"/>
                <a:gd name="T57" fmla="*/ T56 w 87"/>
                <a:gd name="T58" fmla="+- 0 2268 2187"/>
                <a:gd name="T59" fmla="*/ 2268 h 82"/>
                <a:gd name="T60" fmla="+- 0 6154 6133"/>
                <a:gd name="T61" fmla="*/ T60 w 87"/>
                <a:gd name="T62" fmla="+- 0 2266 2187"/>
                <a:gd name="T63" fmla="*/ 2266 h 82"/>
                <a:gd name="T64" fmla="+- 0 6152 6133"/>
                <a:gd name="T65" fmla="*/ T64 w 87"/>
                <a:gd name="T66" fmla="+- 0 2261 2187"/>
                <a:gd name="T67" fmla="*/ 2261 h 82"/>
                <a:gd name="T68" fmla="+- 0 6147 6133"/>
                <a:gd name="T69" fmla="*/ T68 w 87"/>
                <a:gd name="T70" fmla="+- 0 2254 2187"/>
                <a:gd name="T71" fmla="*/ 2254 h 82"/>
                <a:gd name="T72" fmla="+- 0 6147 6133"/>
                <a:gd name="T73" fmla="*/ T72 w 87"/>
                <a:gd name="T74" fmla="+- 0 2247 2187"/>
                <a:gd name="T75" fmla="*/ 2247 h 82"/>
                <a:gd name="T76" fmla="+- 0 6145 6133"/>
                <a:gd name="T77" fmla="*/ T76 w 87"/>
                <a:gd name="T78" fmla="+- 0 2237 2187"/>
                <a:gd name="T79" fmla="*/ 2237 h 82"/>
                <a:gd name="T80" fmla="+- 0 6145 6133"/>
                <a:gd name="T81" fmla="*/ T80 w 87"/>
                <a:gd name="T82" fmla="+- 0 2194 2187"/>
                <a:gd name="T83" fmla="*/ 2194 h 82"/>
                <a:gd name="T84" fmla="+- 0 6140 6133"/>
                <a:gd name="T85" fmla="*/ T84 w 87"/>
                <a:gd name="T86" fmla="+- 0 2189 2187"/>
                <a:gd name="T87" fmla="*/ 2189 h 82"/>
                <a:gd name="T88" fmla="+- 0 6133 6133"/>
                <a:gd name="T89" fmla="*/ T88 w 87"/>
                <a:gd name="T90" fmla="+- 0 2189 2187"/>
                <a:gd name="T91" fmla="*/ 2189 h 82"/>
                <a:gd name="T92" fmla="+- 0 6133 6133"/>
                <a:gd name="T93" fmla="*/ T92 w 87"/>
                <a:gd name="T94" fmla="+- 0 2187 2187"/>
                <a:gd name="T95" fmla="*/ 2187 h 82"/>
                <a:gd name="T96" fmla="+- 0 6159 6133"/>
                <a:gd name="T97" fmla="*/ T96 w 87"/>
                <a:gd name="T98" fmla="+- 0 2187 2187"/>
                <a:gd name="T99" fmla="*/ 2187 h 82"/>
                <a:gd name="T100" fmla="+- 0 6159 6133"/>
                <a:gd name="T101" fmla="*/ T100 w 87"/>
                <a:gd name="T102" fmla="+- 0 2240 2187"/>
                <a:gd name="T103" fmla="*/ 2240 h 82"/>
                <a:gd name="T104" fmla="+- 0 6164 6133"/>
                <a:gd name="T105" fmla="*/ T104 w 87"/>
                <a:gd name="T106" fmla="+- 0 2254 2187"/>
                <a:gd name="T107" fmla="*/ 2254 h 82"/>
                <a:gd name="T108" fmla="+- 0 6169 6133"/>
                <a:gd name="T109" fmla="*/ T108 w 87"/>
                <a:gd name="T110" fmla="+- 0 2259 2187"/>
                <a:gd name="T111" fmla="*/ 2259 h 82"/>
                <a:gd name="T112" fmla="+- 0 6176 6133"/>
                <a:gd name="T113" fmla="*/ T112 w 87"/>
                <a:gd name="T114" fmla="+- 0 2259 2187"/>
                <a:gd name="T115" fmla="*/ 2259 h 82"/>
                <a:gd name="T116" fmla="+- 0 6178 6133"/>
                <a:gd name="T117" fmla="*/ T116 w 87"/>
                <a:gd name="T118" fmla="+- 0 2254 2187"/>
                <a:gd name="T119" fmla="*/ 2254 h 82"/>
                <a:gd name="T120" fmla="+- 0 6186 6133"/>
                <a:gd name="T121" fmla="*/ T120 w 87"/>
                <a:gd name="T122" fmla="+- 0 2252 2187"/>
                <a:gd name="T123" fmla="*/ 2252 h 82"/>
                <a:gd name="T124" fmla="+- 0 6190 6133"/>
                <a:gd name="T125" fmla="*/ T124 w 87"/>
                <a:gd name="T126" fmla="+- 0 2247 2187"/>
                <a:gd name="T127" fmla="*/ 2247 h 82"/>
                <a:gd name="T128" fmla="+- 0 6190 6133"/>
                <a:gd name="T129" fmla="*/ T128 w 87"/>
                <a:gd name="T130" fmla="+- 0 2194 2187"/>
                <a:gd name="T131" fmla="*/ 2194 h 82"/>
                <a:gd name="T132" fmla="+- 0 6186 6133"/>
                <a:gd name="T133" fmla="*/ T132 w 87"/>
                <a:gd name="T134" fmla="+- 0 2189 2187"/>
                <a:gd name="T135" fmla="*/ 2189 h 82"/>
                <a:gd name="T136" fmla="+- 0 6178 6133"/>
                <a:gd name="T137" fmla="*/ T136 w 87"/>
                <a:gd name="T138" fmla="+- 0 2189 2187"/>
                <a:gd name="T139" fmla="*/ 2189 h 82"/>
                <a:gd name="T140" fmla="+- 0 6178 6133"/>
                <a:gd name="T141" fmla="*/ T140 w 87"/>
                <a:gd name="T142" fmla="+- 0 2187 2187"/>
                <a:gd name="T143" fmla="*/ 2187 h 82"/>
                <a:gd name="T144" fmla="+- 0 6205 6133"/>
                <a:gd name="T145" fmla="*/ T144 w 87"/>
                <a:gd name="T146" fmla="+- 0 2187 2187"/>
                <a:gd name="T147" fmla="*/ 2187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87" h="82">
                  <a:moveTo>
                    <a:pt x="72" y="0"/>
                  </a:moveTo>
                  <a:lnTo>
                    <a:pt x="72" y="60"/>
                  </a:lnTo>
                  <a:lnTo>
                    <a:pt x="74" y="65"/>
                  </a:lnTo>
                  <a:lnTo>
                    <a:pt x="74" y="67"/>
                  </a:lnTo>
                  <a:lnTo>
                    <a:pt x="79" y="72"/>
                  </a:lnTo>
                  <a:lnTo>
                    <a:pt x="81" y="72"/>
                  </a:lnTo>
                  <a:lnTo>
                    <a:pt x="86" y="67"/>
                  </a:lnTo>
                  <a:lnTo>
                    <a:pt x="86" y="72"/>
                  </a:lnTo>
                  <a:lnTo>
                    <a:pt x="65" y="81"/>
                  </a:lnTo>
                  <a:lnTo>
                    <a:pt x="57" y="81"/>
                  </a:lnTo>
                  <a:lnTo>
                    <a:pt x="57" y="65"/>
                  </a:lnTo>
                  <a:lnTo>
                    <a:pt x="50" y="74"/>
                  </a:lnTo>
                  <a:lnTo>
                    <a:pt x="43" y="79"/>
                  </a:lnTo>
                  <a:lnTo>
                    <a:pt x="38" y="81"/>
                  </a:lnTo>
                  <a:lnTo>
                    <a:pt x="26" y="81"/>
                  </a:lnTo>
                  <a:lnTo>
                    <a:pt x="21" y="79"/>
                  </a:lnTo>
                  <a:lnTo>
                    <a:pt x="19" y="74"/>
                  </a:lnTo>
                  <a:lnTo>
                    <a:pt x="14" y="67"/>
                  </a:lnTo>
                  <a:lnTo>
                    <a:pt x="14" y="60"/>
                  </a:lnTo>
                  <a:lnTo>
                    <a:pt x="12" y="50"/>
                  </a:lnTo>
                  <a:lnTo>
                    <a:pt x="12" y="7"/>
                  </a:lnTo>
                  <a:lnTo>
                    <a:pt x="7" y="2"/>
                  </a:lnTo>
                  <a:lnTo>
                    <a:pt x="0" y="2"/>
                  </a:lnTo>
                  <a:lnTo>
                    <a:pt x="0" y="0"/>
                  </a:lnTo>
                  <a:lnTo>
                    <a:pt x="26" y="0"/>
                  </a:lnTo>
                  <a:lnTo>
                    <a:pt x="26" y="53"/>
                  </a:lnTo>
                  <a:lnTo>
                    <a:pt x="31" y="67"/>
                  </a:lnTo>
                  <a:lnTo>
                    <a:pt x="36" y="72"/>
                  </a:lnTo>
                  <a:lnTo>
                    <a:pt x="43" y="72"/>
                  </a:lnTo>
                  <a:lnTo>
                    <a:pt x="45" y="67"/>
                  </a:lnTo>
                  <a:lnTo>
                    <a:pt x="53" y="65"/>
                  </a:lnTo>
                  <a:lnTo>
                    <a:pt x="57" y="60"/>
                  </a:lnTo>
                  <a:lnTo>
                    <a:pt x="57" y="7"/>
                  </a:lnTo>
                  <a:lnTo>
                    <a:pt x="53" y="2"/>
                  </a:lnTo>
                  <a:lnTo>
                    <a:pt x="45" y="2"/>
                  </a:lnTo>
                  <a:lnTo>
                    <a:pt x="45" y="0"/>
                  </a:lnTo>
                  <a:lnTo>
                    <a:pt x="72"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8" name="Freeform 39">
              <a:extLst>
                <a:ext uri="{FF2B5EF4-FFF2-40B4-BE49-F238E27FC236}">
                  <a16:creationId xmlns:a16="http://schemas.microsoft.com/office/drawing/2014/main" id="{F11394E9-459E-AAA6-809E-717F84834CED}"/>
                </a:ext>
              </a:extLst>
            </p:cNvPr>
            <p:cNvSpPr>
              <a:spLocks/>
            </p:cNvSpPr>
            <p:nvPr/>
          </p:nvSpPr>
          <p:spPr bwMode="auto">
            <a:xfrm>
              <a:off x="6226" y="2143"/>
              <a:ext cx="39" cy="123"/>
            </a:xfrm>
            <a:custGeom>
              <a:avLst/>
              <a:gdLst>
                <a:gd name="T0" fmla="+- 0 6250 6226"/>
                <a:gd name="T1" fmla="*/ T0 w 39"/>
                <a:gd name="T2" fmla="+- 0 2144 2144"/>
                <a:gd name="T3" fmla="*/ 2144 h 123"/>
                <a:gd name="T4" fmla="+- 0 6250 6226"/>
                <a:gd name="T5" fmla="*/ T4 w 39"/>
                <a:gd name="T6" fmla="+- 0 2254 2144"/>
                <a:gd name="T7" fmla="*/ 2254 h 123"/>
                <a:gd name="T8" fmla="+- 0 6253 6226"/>
                <a:gd name="T9" fmla="*/ T8 w 39"/>
                <a:gd name="T10" fmla="+- 0 2259 2144"/>
                <a:gd name="T11" fmla="*/ 2259 h 123"/>
                <a:gd name="T12" fmla="+- 0 6253 6226"/>
                <a:gd name="T13" fmla="*/ T12 w 39"/>
                <a:gd name="T14" fmla="+- 0 2261 2144"/>
                <a:gd name="T15" fmla="*/ 2261 h 123"/>
                <a:gd name="T16" fmla="+- 0 6265 6226"/>
                <a:gd name="T17" fmla="*/ T16 w 39"/>
                <a:gd name="T18" fmla="+- 0 2261 2144"/>
                <a:gd name="T19" fmla="*/ 2261 h 123"/>
                <a:gd name="T20" fmla="+- 0 6265 6226"/>
                <a:gd name="T21" fmla="*/ T20 w 39"/>
                <a:gd name="T22" fmla="+- 0 2266 2144"/>
                <a:gd name="T23" fmla="*/ 2266 h 123"/>
                <a:gd name="T24" fmla="+- 0 6226 6226"/>
                <a:gd name="T25" fmla="*/ T24 w 39"/>
                <a:gd name="T26" fmla="+- 0 2266 2144"/>
                <a:gd name="T27" fmla="*/ 2266 h 123"/>
                <a:gd name="T28" fmla="+- 0 6226 6226"/>
                <a:gd name="T29" fmla="*/ T28 w 39"/>
                <a:gd name="T30" fmla="+- 0 2261 2144"/>
                <a:gd name="T31" fmla="*/ 2261 h 123"/>
                <a:gd name="T32" fmla="+- 0 6236 6226"/>
                <a:gd name="T33" fmla="*/ T32 w 39"/>
                <a:gd name="T34" fmla="+- 0 2261 2144"/>
                <a:gd name="T35" fmla="*/ 2261 h 123"/>
                <a:gd name="T36" fmla="+- 0 6236 6226"/>
                <a:gd name="T37" fmla="*/ T36 w 39"/>
                <a:gd name="T38" fmla="+- 0 2158 2144"/>
                <a:gd name="T39" fmla="*/ 2158 h 123"/>
                <a:gd name="T40" fmla="+- 0 6234 6226"/>
                <a:gd name="T41" fmla="*/ T40 w 39"/>
                <a:gd name="T42" fmla="+- 0 2156 2144"/>
                <a:gd name="T43" fmla="*/ 2156 h 123"/>
                <a:gd name="T44" fmla="+- 0 6229 6226"/>
                <a:gd name="T45" fmla="*/ T44 w 39"/>
                <a:gd name="T46" fmla="+- 0 2156 2144"/>
                <a:gd name="T47" fmla="*/ 2156 h 123"/>
                <a:gd name="T48" fmla="+- 0 6226 6226"/>
                <a:gd name="T49" fmla="*/ T48 w 39"/>
                <a:gd name="T50" fmla="+- 0 2158 2144"/>
                <a:gd name="T51" fmla="*/ 2158 h 123"/>
                <a:gd name="T52" fmla="+- 0 6226 6226"/>
                <a:gd name="T53" fmla="*/ T52 w 39"/>
                <a:gd name="T54" fmla="+- 0 2156 2144"/>
                <a:gd name="T55" fmla="*/ 2156 h 123"/>
                <a:gd name="T56" fmla="+- 0 6248 6226"/>
                <a:gd name="T57" fmla="*/ T56 w 39"/>
                <a:gd name="T58" fmla="+- 0 2144 2144"/>
                <a:gd name="T59" fmla="*/ 2144 h 123"/>
                <a:gd name="T60" fmla="+- 0 6250 6226"/>
                <a:gd name="T61" fmla="*/ T60 w 39"/>
                <a:gd name="T62" fmla="+- 0 2144 2144"/>
                <a:gd name="T63" fmla="*/ 2144 h 12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39" h="123">
                  <a:moveTo>
                    <a:pt x="24" y="0"/>
                  </a:moveTo>
                  <a:lnTo>
                    <a:pt x="24" y="110"/>
                  </a:lnTo>
                  <a:lnTo>
                    <a:pt x="27" y="115"/>
                  </a:lnTo>
                  <a:lnTo>
                    <a:pt x="27" y="117"/>
                  </a:lnTo>
                  <a:lnTo>
                    <a:pt x="39" y="117"/>
                  </a:lnTo>
                  <a:lnTo>
                    <a:pt x="39" y="122"/>
                  </a:lnTo>
                  <a:lnTo>
                    <a:pt x="0" y="122"/>
                  </a:lnTo>
                  <a:lnTo>
                    <a:pt x="0" y="117"/>
                  </a:lnTo>
                  <a:lnTo>
                    <a:pt x="10" y="117"/>
                  </a:lnTo>
                  <a:lnTo>
                    <a:pt x="10" y="14"/>
                  </a:lnTo>
                  <a:lnTo>
                    <a:pt x="8" y="12"/>
                  </a:lnTo>
                  <a:lnTo>
                    <a:pt x="3" y="12"/>
                  </a:lnTo>
                  <a:lnTo>
                    <a:pt x="0" y="14"/>
                  </a:lnTo>
                  <a:lnTo>
                    <a:pt x="0" y="12"/>
                  </a:lnTo>
                  <a:lnTo>
                    <a:pt x="22" y="0"/>
                  </a:lnTo>
                  <a:lnTo>
                    <a:pt x="24"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39" name="Freeform 40">
              <a:extLst>
                <a:ext uri="{FF2B5EF4-FFF2-40B4-BE49-F238E27FC236}">
                  <a16:creationId xmlns:a16="http://schemas.microsoft.com/office/drawing/2014/main" id="{CF4B66C9-DA30-5037-6BEF-7328B98747DA}"/>
                </a:ext>
              </a:extLst>
            </p:cNvPr>
            <p:cNvSpPr>
              <a:spLocks/>
            </p:cNvSpPr>
            <p:nvPr/>
          </p:nvSpPr>
          <p:spPr bwMode="auto">
            <a:xfrm>
              <a:off x="6272" y="2186"/>
              <a:ext cx="70" cy="82"/>
            </a:xfrm>
            <a:custGeom>
              <a:avLst/>
              <a:gdLst>
                <a:gd name="T0" fmla="+- 0 6318 6272"/>
                <a:gd name="T1" fmla="*/ T0 w 70"/>
                <a:gd name="T2" fmla="+- 0 2254 2187"/>
                <a:gd name="T3" fmla="*/ 2254 h 82"/>
                <a:gd name="T4" fmla="+- 0 6308 6272"/>
                <a:gd name="T5" fmla="*/ T4 w 70"/>
                <a:gd name="T6" fmla="+- 0 2261 2187"/>
                <a:gd name="T7" fmla="*/ 2261 h 82"/>
                <a:gd name="T8" fmla="+- 0 6301 6272"/>
                <a:gd name="T9" fmla="*/ T8 w 70"/>
                <a:gd name="T10" fmla="+- 0 2266 2187"/>
                <a:gd name="T11" fmla="*/ 2266 h 82"/>
                <a:gd name="T12" fmla="+- 0 6296 6272"/>
                <a:gd name="T13" fmla="*/ T12 w 70"/>
                <a:gd name="T14" fmla="+- 0 2266 2187"/>
                <a:gd name="T15" fmla="*/ 2266 h 82"/>
                <a:gd name="T16" fmla="+- 0 6294 6272"/>
                <a:gd name="T17" fmla="*/ T16 w 70"/>
                <a:gd name="T18" fmla="+- 0 2268 2187"/>
                <a:gd name="T19" fmla="*/ 2268 h 82"/>
                <a:gd name="T20" fmla="+- 0 6286 6272"/>
                <a:gd name="T21" fmla="*/ T20 w 70"/>
                <a:gd name="T22" fmla="+- 0 2266 2187"/>
                <a:gd name="T23" fmla="*/ 2266 h 82"/>
                <a:gd name="T24" fmla="+- 0 6279 6272"/>
                <a:gd name="T25" fmla="*/ T24 w 70"/>
                <a:gd name="T26" fmla="+- 0 2261 2187"/>
                <a:gd name="T27" fmla="*/ 2261 h 82"/>
                <a:gd name="T28" fmla="+- 0 6274 6272"/>
                <a:gd name="T29" fmla="*/ T28 w 70"/>
                <a:gd name="T30" fmla="+- 0 2254 2187"/>
                <a:gd name="T31" fmla="*/ 2254 h 82"/>
                <a:gd name="T32" fmla="+- 0 6272 6272"/>
                <a:gd name="T33" fmla="*/ T32 w 70"/>
                <a:gd name="T34" fmla="+- 0 2247 2187"/>
                <a:gd name="T35" fmla="*/ 2247 h 82"/>
                <a:gd name="T36" fmla="+- 0 6274 6272"/>
                <a:gd name="T37" fmla="*/ T36 w 70"/>
                <a:gd name="T38" fmla="+- 0 2240 2187"/>
                <a:gd name="T39" fmla="*/ 2240 h 82"/>
                <a:gd name="T40" fmla="+- 0 6274 6272"/>
                <a:gd name="T41" fmla="*/ T40 w 70"/>
                <a:gd name="T42" fmla="+- 0 2237 2187"/>
                <a:gd name="T43" fmla="*/ 2237 h 82"/>
                <a:gd name="T44" fmla="+- 0 6282 6272"/>
                <a:gd name="T45" fmla="*/ T44 w 70"/>
                <a:gd name="T46" fmla="+- 0 2232 2187"/>
                <a:gd name="T47" fmla="*/ 2232 h 82"/>
                <a:gd name="T48" fmla="+- 0 6289 6272"/>
                <a:gd name="T49" fmla="*/ T48 w 70"/>
                <a:gd name="T50" fmla="+- 0 2225 2187"/>
                <a:gd name="T51" fmla="*/ 2225 h 82"/>
                <a:gd name="T52" fmla="+- 0 6301 6272"/>
                <a:gd name="T53" fmla="*/ T52 w 70"/>
                <a:gd name="T54" fmla="+- 0 2223 2187"/>
                <a:gd name="T55" fmla="*/ 2223 h 82"/>
                <a:gd name="T56" fmla="+- 0 6318 6272"/>
                <a:gd name="T57" fmla="*/ T56 w 70"/>
                <a:gd name="T58" fmla="+- 0 2216 2187"/>
                <a:gd name="T59" fmla="*/ 2216 h 82"/>
                <a:gd name="T60" fmla="+- 0 6318 6272"/>
                <a:gd name="T61" fmla="*/ T60 w 70"/>
                <a:gd name="T62" fmla="+- 0 2211 2187"/>
                <a:gd name="T63" fmla="*/ 2211 h 82"/>
                <a:gd name="T64" fmla="+- 0 6315 6272"/>
                <a:gd name="T65" fmla="*/ T64 w 70"/>
                <a:gd name="T66" fmla="+- 0 2201 2187"/>
                <a:gd name="T67" fmla="*/ 2201 h 82"/>
                <a:gd name="T68" fmla="+- 0 6315 6272"/>
                <a:gd name="T69" fmla="*/ T68 w 70"/>
                <a:gd name="T70" fmla="+- 0 2194 2187"/>
                <a:gd name="T71" fmla="*/ 2194 h 82"/>
                <a:gd name="T72" fmla="+- 0 6308 6272"/>
                <a:gd name="T73" fmla="*/ T72 w 70"/>
                <a:gd name="T74" fmla="+- 0 2189 2187"/>
                <a:gd name="T75" fmla="*/ 2189 h 82"/>
                <a:gd name="T76" fmla="+- 0 6296 6272"/>
                <a:gd name="T77" fmla="*/ T76 w 70"/>
                <a:gd name="T78" fmla="+- 0 2189 2187"/>
                <a:gd name="T79" fmla="*/ 2189 h 82"/>
                <a:gd name="T80" fmla="+- 0 6294 6272"/>
                <a:gd name="T81" fmla="*/ T80 w 70"/>
                <a:gd name="T82" fmla="+- 0 2194 2187"/>
                <a:gd name="T83" fmla="*/ 2194 h 82"/>
                <a:gd name="T84" fmla="+- 0 6294 6272"/>
                <a:gd name="T85" fmla="*/ T84 w 70"/>
                <a:gd name="T86" fmla="+- 0 2196 2187"/>
                <a:gd name="T87" fmla="*/ 2196 h 82"/>
                <a:gd name="T88" fmla="+- 0 6289 6272"/>
                <a:gd name="T89" fmla="*/ T88 w 70"/>
                <a:gd name="T90" fmla="+- 0 2201 2187"/>
                <a:gd name="T91" fmla="*/ 2201 h 82"/>
                <a:gd name="T92" fmla="+- 0 6289 6272"/>
                <a:gd name="T93" fmla="*/ T92 w 70"/>
                <a:gd name="T94" fmla="+- 0 2211 2187"/>
                <a:gd name="T95" fmla="*/ 2211 h 82"/>
                <a:gd name="T96" fmla="+- 0 6279 6272"/>
                <a:gd name="T97" fmla="*/ T96 w 70"/>
                <a:gd name="T98" fmla="+- 0 2211 2187"/>
                <a:gd name="T99" fmla="*/ 2211 h 82"/>
                <a:gd name="T100" fmla="+- 0 6274 6272"/>
                <a:gd name="T101" fmla="*/ T100 w 70"/>
                <a:gd name="T102" fmla="+- 0 2208 2187"/>
                <a:gd name="T103" fmla="*/ 2208 h 82"/>
                <a:gd name="T104" fmla="+- 0 6274 6272"/>
                <a:gd name="T105" fmla="*/ T104 w 70"/>
                <a:gd name="T106" fmla="+- 0 2204 2187"/>
                <a:gd name="T107" fmla="*/ 2204 h 82"/>
                <a:gd name="T108" fmla="+- 0 6279 6272"/>
                <a:gd name="T109" fmla="*/ T108 w 70"/>
                <a:gd name="T110" fmla="+- 0 2196 2187"/>
                <a:gd name="T111" fmla="*/ 2196 h 82"/>
                <a:gd name="T112" fmla="+- 0 6282 6272"/>
                <a:gd name="T113" fmla="*/ T112 w 70"/>
                <a:gd name="T114" fmla="+- 0 2189 2187"/>
                <a:gd name="T115" fmla="*/ 2189 h 82"/>
                <a:gd name="T116" fmla="+- 0 6294 6272"/>
                <a:gd name="T117" fmla="*/ T116 w 70"/>
                <a:gd name="T118" fmla="+- 0 2187 2187"/>
                <a:gd name="T119" fmla="*/ 2187 h 82"/>
                <a:gd name="T120" fmla="+- 0 6315 6272"/>
                <a:gd name="T121" fmla="*/ T120 w 70"/>
                <a:gd name="T122" fmla="+- 0 2187 2187"/>
                <a:gd name="T123" fmla="*/ 2187 h 82"/>
                <a:gd name="T124" fmla="+- 0 6322 6272"/>
                <a:gd name="T125" fmla="*/ T124 w 70"/>
                <a:gd name="T126" fmla="+- 0 2189 2187"/>
                <a:gd name="T127" fmla="*/ 2189 h 82"/>
                <a:gd name="T128" fmla="+- 0 6325 6272"/>
                <a:gd name="T129" fmla="*/ T128 w 70"/>
                <a:gd name="T130" fmla="+- 0 2194 2187"/>
                <a:gd name="T131" fmla="*/ 2194 h 82"/>
                <a:gd name="T132" fmla="+- 0 6330 6272"/>
                <a:gd name="T133" fmla="*/ T132 w 70"/>
                <a:gd name="T134" fmla="+- 0 2196 2187"/>
                <a:gd name="T135" fmla="*/ 2196 h 82"/>
                <a:gd name="T136" fmla="+- 0 6332 6272"/>
                <a:gd name="T137" fmla="*/ T136 w 70"/>
                <a:gd name="T138" fmla="+- 0 2201 2187"/>
                <a:gd name="T139" fmla="*/ 2201 h 82"/>
                <a:gd name="T140" fmla="+- 0 6332 6272"/>
                <a:gd name="T141" fmla="*/ T140 w 70"/>
                <a:gd name="T142" fmla="+- 0 2259 2187"/>
                <a:gd name="T143" fmla="*/ 2259 h 82"/>
                <a:gd name="T144" fmla="+- 0 6337 6272"/>
                <a:gd name="T145" fmla="*/ T144 w 70"/>
                <a:gd name="T146" fmla="+- 0 2259 2187"/>
                <a:gd name="T147" fmla="*/ 2259 h 82"/>
                <a:gd name="T148" fmla="+- 0 6337 6272"/>
                <a:gd name="T149" fmla="*/ T148 w 70"/>
                <a:gd name="T150" fmla="+- 0 2254 2187"/>
                <a:gd name="T151" fmla="*/ 2254 h 82"/>
                <a:gd name="T152" fmla="+- 0 6339 6272"/>
                <a:gd name="T153" fmla="*/ T152 w 70"/>
                <a:gd name="T154" fmla="+- 0 2254 2187"/>
                <a:gd name="T155" fmla="*/ 2254 h 82"/>
                <a:gd name="T156" fmla="+- 0 6342 6272"/>
                <a:gd name="T157" fmla="*/ T156 w 70"/>
                <a:gd name="T158" fmla="+- 0 2252 2187"/>
                <a:gd name="T159" fmla="*/ 2252 h 82"/>
                <a:gd name="T160" fmla="+- 0 6342 6272"/>
                <a:gd name="T161" fmla="*/ T160 w 70"/>
                <a:gd name="T162" fmla="+- 0 2254 2187"/>
                <a:gd name="T163" fmla="*/ 2254 h 82"/>
                <a:gd name="T164" fmla="+- 0 6337 6272"/>
                <a:gd name="T165" fmla="*/ T164 w 70"/>
                <a:gd name="T166" fmla="+- 0 2266 2187"/>
                <a:gd name="T167" fmla="*/ 2266 h 82"/>
                <a:gd name="T168" fmla="+- 0 6325 6272"/>
                <a:gd name="T169" fmla="*/ T168 w 70"/>
                <a:gd name="T170" fmla="+- 0 2268 2187"/>
                <a:gd name="T171" fmla="*/ 2268 h 82"/>
                <a:gd name="T172" fmla="+- 0 6322 6272"/>
                <a:gd name="T173" fmla="*/ T172 w 70"/>
                <a:gd name="T174" fmla="+- 0 2266 2187"/>
                <a:gd name="T175" fmla="*/ 2266 h 82"/>
                <a:gd name="T176" fmla="+- 0 6318 6272"/>
                <a:gd name="T177" fmla="*/ T176 w 70"/>
                <a:gd name="T178" fmla="+- 0 2266 2187"/>
                <a:gd name="T179" fmla="*/ 2266 h 82"/>
                <a:gd name="T180" fmla="+- 0 6318 6272"/>
                <a:gd name="T181" fmla="*/ T180 w 70"/>
                <a:gd name="T182" fmla="+- 0 2254 2187"/>
                <a:gd name="T183" fmla="*/ 2254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Lst>
              <a:rect l="0" t="0" r="r" b="b"/>
              <a:pathLst>
                <a:path w="70" h="82">
                  <a:moveTo>
                    <a:pt x="46" y="67"/>
                  </a:moveTo>
                  <a:lnTo>
                    <a:pt x="36" y="74"/>
                  </a:lnTo>
                  <a:lnTo>
                    <a:pt x="29" y="79"/>
                  </a:lnTo>
                  <a:lnTo>
                    <a:pt x="24" y="79"/>
                  </a:lnTo>
                  <a:lnTo>
                    <a:pt x="22" y="81"/>
                  </a:lnTo>
                  <a:lnTo>
                    <a:pt x="14" y="79"/>
                  </a:lnTo>
                  <a:lnTo>
                    <a:pt x="7" y="74"/>
                  </a:lnTo>
                  <a:lnTo>
                    <a:pt x="2" y="67"/>
                  </a:lnTo>
                  <a:lnTo>
                    <a:pt x="0" y="60"/>
                  </a:lnTo>
                  <a:lnTo>
                    <a:pt x="2" y="53"/>
                  </a:lnTo>
                  <a:lnTo>
                    <a:pt x="2" y="50"/>
                  </a:lnTo>
                  <a:lnTo>
                    <a:pt x="10" y="45"/>
                  </a:lnTo>
                  <a:lnTo>
                    <a:pt x="17" y="38"/>
                  </a:lnTo>
                  <a:lnTo>
                    <a:pt x="29" y="36"/>
                  </a:lnTo>
                  <a:lnTo>
                    <a:pt x="46" y="29"/>
                  </a:lnTo>
                  <a:lnTo>
                    <a:pt x="46" y="24"/>
                  </a:lnTo>
                  <a:lnTo>
                    <a:pt x="43" y="14"/>
                  </a:lnTo>
                  <a:lnTo>
                    <a:pt x="43" y="7"/>
                  </a:lnTo>
                  <a:lnTo>
                    <a:pt x="36" y="2"/>
                  </a:lnTo>
                  <a:lnTo>
                    <a:pt x="24" y="2"/>
                  </a:lnTo>
                  <a:lnTo>
                    <a:pt x="22" y="7"/>
                  </a:lnTo>
                  <a:lnTo>
                    <a:pt x="22" y="9"/>
                  </a:lnTo>
                  <a:lnTo>
                    <a:pt x="17" y="14"/>
                  </a:lnTo>
                  <a:lnTo>
                    <a:pt x="17" y="24"/>
                  </a:lnTo>
                  <a:lnTo>
                    <a:pt x="7" y="24"/>
                  </a:lnTo>
                  <a:lnTo>
                    <a:pt x="2" y="21"/>
                  </a:lnTo>
                  <a:lnTo>
                    <a:pt x="2" y="17"/>
                  </a:lnTo>
                  <a:lnTo>
                    <a:pt x="7" y="9"/>
                  </a:lnTo>
                  <a:lnTo>
                    <a:pt x="10" y="2"/>
                  </a:lnTo>
                  <a:lnTo>
                    <a:pt x="22" y="0"/>
                  </a:lnTo>
                  <a:lnTo>
                    <a:pt x="43" y="0"/>
                  </a:lnTo>
                  <a:lnTo>
                    <a:pt x="50" y="2"/>
                  </a:lnTo>
                  <a:lnTo>
                    <a:pt x="53" y="7"/>
                  </a:lnTo>
                  <a:lnTo>
                    <a:pt x="58" y="9"/>
                  </a:lnTo>
                  <a:lnTo>
                    <a:pt x="60" y="14"/>
                  </a:lnTo>
                  <a:lnTo>
                    <a:pt x="60" y="72"/>
                  </a:lnTo>
                  <a:lnTo>
                    <a:pt x="65" y="72"/>
                  </a:lnTo>
                  <a:lnTo>
                    <a:pt x="65" y="67"/>
                  </a:lnTo>
                  <a:lnTo>
                    <a:pt x="67" y="67"/>
                  </a:lnTo>
                  <a:lnTo>
                    <a:pt x="70" y="65"/>
                  </a:lnTo>
                  <a:lnTo>
                    <a:pt x="70" y="67"/>
                  </a:lnTo>
                  <a:lnTo>
                    <a:pt x="65" y="79"/>
                  </a:lnTo>
                  <a:lnTo>
                    <a:pt x="53" y="81"/>
                  </a:lnTo>
                  <a:lnTo>
                    <a:pt x="50" y="79"/>
                  </a:lnTo>
                  <a:lnTo>
                    <a:pt x="46" y="79"/>
                  </a:lnTo>
                  <a:lnTo>
                    <a:pt x="46" y="67"/>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0" name="Freeform 41">
              <a:extLst>
                <a:ext uri="{FF2B5EF4-FFF2-40B4-BE49-F238E27FC236}">
                  <a16:creationId xmlns:a16="http://schemas.microsoft.com/office/drawing/2014/main" id="{40CDD9B8-47EA-9018-A1A9-BB0AA74FB5A6}"/>
                </a:ext>
              </a:extLst>
            </p:cNvPr>
            <p:cNvSpPr>
              <a:spLocks/>
            </p:cNvSpPr>
            <p:nvPr/>
          </p:nvSpPr>
          <p:spPr bwMode="auto">
            <a:xfrm>
              <a:off x="6288" y="2217"/>
              <a:ext cx="29" cy="41"/>
            </a:xfrm>
            <a:custGeom>
              <a:avLst/>
              <a:gdLst>
                <a:gd name="T0" fmla="+- 0 6318 6289"/>
                <a:gd name="T1" fmla="*/ T0 w 29"/>
                <a:gd name="T2" fmla="+- 0 2247 2218"/>
                <a:gd name="T3" fmla="*/ 2247 h 41"/>
                <a:gd name="T4" fmla="+- 0 6318 6289"/>
                <a:gd name="T5" fmla="*/ T4 w 29"/>
                <a:gd name="T6" fmla="+- 0 2218 2218"/>
                <a:gd name="T7" fmla="*/ 2218 h 41"/>
                <a:gd name="T8" fmla="+- 0 6308 6289"/>
                <a:gd name="T9" fmla="*/ T8 w 29"/>
                <a:gd name="T10" fmla="+- 0 2223 2218"/>
                <a:gd name="T11" fmla="*/ 2223 h 41"/>
                <a:gd name="T12" fmla="+- 0 6301 6289"/>
                <a:gd name="T13" fmla="*/ T12 w 29"/>
                <a:gd name="T14" fmla="+- 0 2225 2218"/>
                <a:gd name="T15" fmla="*/ 2225 h 41"/>
                <a:gd name="T16" fmla="+- 0 6294 6289"/>
                <a:gd name="T17" fmla="*/ T16 w 29"/>
                <a:gd name="T18" fmla="+- 0 2230 2218"/>
                <a:gd name="T19" fmla="*/ 2230 h 41"/>
                <a:gd name="T20" fmla="+- 0 6289 6289"/>
                <a:gd name="T21" fmla="*/ T20 w 29"/>
                <a:gd name="T22" fmla="+- 0 2232 2218"/>
                <a:gd name="T23" fmla="*/ 2232 h 41"/>
                <a:gd name="T24" fmla="+- 0 6289 6289"/>
                <a:gd name="T25" fmla="*/ T24 w 29"/>
                <a:gd name="T26" fmla="+- 0 2247 2218"/>
                <a:gd name="T27" fmla="*/ 2247 h 41"/>
                <a:gd name="T28" fmla="+- 0 6294 6289"/>
                <a:gd name="T29" fmla="*/ T28 w 29"/>
                <a:gd name="T30" fmla="+- 0 2254 2218"/>
                <a:gd name="T31" fmla="*/ 2254 h 41"/>
                <a:gd name="T32" fmla="+- 0 6296 6289"/>
                <a:gd name="T33" fmla="*/ T32 w 29"/>
                <a:gd name="T34" fmla="+- 0 2259 2218"/>
                <a:gd name="T35" fmla="*/ 2259 h 41"/>
                <a:gd name="T36" fmla="+- 0 6301 6289"/>
                <a:gd name="T37" fmla="*/ T36 w 29"/>
                <a:gd name="T38" fmla="+- 0 2259 2218"/>
                <a:gd name="T39" fmla="*/ 2259 h 41"/>
                <a:gd name="T40" fmla="+- 0 6308 6289"/>
                <a:gd name="T41" fmla="*/ T40 w 29"/>
                <a:gd name="T42" fmla="+- 0 2254 2218"/>
                <a:gd name="T43" fmla="*/ 2254 h 41"/>
                <a:gd name="T44" fmla="+- 0 6318 6289"/>
                <a:gd name="T45" fmla="*/ T44 w 29"/>
                <a:gd name="T46" fmla="+- 0 2247 2218"/>
                <a:gd name="T47" fmla="*/ 2247 h 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29" h="41">
                  <a:moveTo>
                    <a:pt x="29" y="29"/>
                  </a:moveTo>
                  <a:lnTo>
                    <a:pt x="29" y="0"/>
                  </a:lnTo>
                  <a:lnTo>
                    <a:pt x="19" y="5"/>
                  </a:lnTo>
                  <a:lnTo>
                    <a:pt x="12" y="7"/>
                  </a:lnTo>
                  <a:lnTo>
                    <a:pt x="5" y="12"/>
                  </a:lnTo>
                  <a:lnTo>
                    <a:pt x="0" y="14"/>
                  </a:lnTo>
                  <a:lnTo>
                    <a:pt x="0" y="29"/>
                  </a:lnTo>
                  <a:lnTo>
                    <a:pt x="5" y="36"/>
                  </a:lnTo>
                  <a:lnTo>
                    <a:pt x="7" y="41"/>
                  </a:lnTo>
                  <a:lnTo>
                    <a:pt x="12" y="41"/>
                  </a:lnTo>
                  <a:lnTo>
                    <a:pt x="19" y="36"/>
                  </a:lnTo>
                  <a:lnTo>
                    <a:pt x="29" y="29"/>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1" name="Freeform 42">
              <a:extLst>
                <a:ext uri="{FF2B5EF4-FFF2-40B4-BE49-F238E27FC236}">
                  <a16:creationId xmlns:a16="http://schemas.microsoft.com/office/drawing/2014/main" id="{055B504D-C313-A04A-FEB4-AA42FA409FBC}"/>
                </a:ext>
              </a:extLst>
            </p:cNvPr>
            <p:cNvSpPr>
              <a:spLocks/>
            </p:cNvSpPr>
            <p:nvPr/>
          </p:nvSpPr>
          <p:spPr bwMode="auto">
            <a:xfrm>
              <a:off x="6346" y="2186"/>
              <a:ext cx="58" cy="80"/>
            </a:xfrm>
            <a:custGeom>
              <a:avLst/>
              <a:gdLst>
                <a:gd name="T0" fmla="+- 0 6370 6346"/>
                <a:gd name="T1" fmla="*/ T0 w 58"/>
                <a:gd name="T2" fmla="+- 0 2187 2187"/>
                <a:gd name="T3" fmla="*/ 2187 h 80"/>
                <a:gd name="T4" fmla="+- 0 6370 6346"/>
                <a:gd name="T5" fmla="*/ T4 w 58"/>
                <a:gd name="T6" fmla="+- 0 2204 2187"/>
                <a:gd name="T7" fmla="*/ 2204 h 80"/>
                <a:gd name="T8" fmla="+- 0 6382 6346"/>
                <a:gd name="T9" fmla="*/ T8 w 58"/>
                <a:gd name="T10" fmla="+- 0 2189 2187"/>
                <a:gd name="T11" fmla="*/ 2189 h 80"/>
                <a:gd name="T12" fmla="+- 0 6392 6346"/>
                <a:gd name="T13" fmla="*/ T12 w 58"/>
                <a:gd name="T14" fmla="+- 0 2187 2187"/>
                <a:gd name="T15" fmla="*/ 2187 h 80"/>
                <a:gd name="T16" fmla="+- 0 6399 6346"/>
                <a:gd name="T17" fmla="*/ T16 w 58"/>
                <a:gd name="T18" fmla="+- 0 2187 2187"/>
                <a:gd name="T19" fmla="*/ 2187 h 80"/>
                <a:gd name="T20" fmla="+- 0 6404 6346"/>
                <a:gd name="T21" fmla="*/ T20 w 58"/>
                <a:gd name="T22" fmla="+- 0 2189 2187"/>
                <a:gd name="T23" fmla="*/ 2189 h 80"/>
                <a:gd name="T24" fmla="+- 0 6404 6346"/>
                <a:gd name="T25" fmla="*/ T24 w 58"/>
                <a:gd name="T26" fmla="+- 0 2196 2187"/>
                <a:gd name="T27" fmla="*/ 2196 h 80"/>
                <a:gd name="T28" fmla="+- 0 6397 6346"/>
                <a:gd name="T29" fmla="*/ T28 w 58"/>
                <a:gd name="T30" fmla="+- 0 2204 2187"/>
                <a:gd name="T31" fmla="*/ 2204 h 80"/>
                <a:gd name="T32" fmla="+- 0 6392 6346"/>
                <a:gd name="T33" fmla="*/ T32 w 58"/>
                <a:gd name="T34" fmla="+- 0 2201 2187"/>
                <a:gd name="T35" fmla="*/ 2201 h 80"/>
                <a:gd name="T36" fmla="+- 0 6390 6346"/>
                <a:gd name="T37" fmla="*/ T36 w 58"/>
                <a:gd name="T38" fmla="+- 0 2201 2187"/>
                <a:gd name="T39" fmla="*/ 2201 h 80"/>
                <a:gd name="T40" fmla="+- 0 6385 6346"/>
                <a:gd name="T41" fmla="*/ T40 w 58"/>
                <a:gd name="T42" fmla="+- 0 2196 2187"/>
                <a:gd name="T43" fmla="*/ 2196 h 80"/>
                <a:gd name="T44" fmla="+- 0 6382 6346"/>
                <a:gd name="T45" fmla="*/ T44 w 58"/>
                <a:gd name="T46" fmla="+- 0 2196 2187"/>
                <a:gd name="T47" fmla="*/ 2196 h 80"/>
                <a:gd name="T48" fmla="+- 0 6378 6346"/>
                <a:gd name="T49" fmla="*/ T48 w 58"/>
                <a:gd name="T50" fmla="+- 0 2204 2187"/>
                <a:gd name="T51" fmla="*/ 2204 h 80"/>
                <a:gd name="T52" fmla="+- 0 6370 6346"/>
                <a:gd name="T53" fmla="*/ T52 w 58"/>
                <a:gd name="T54" fmla="+- 0 2211 2187"/>
                <a:gd name="T55" fmla="*/ 2211 h 80"/>
                <a:gd name="T56" fmla="+- 0 6370 6346"/>
                <a:gd name="T57" fmla="*/ T56 w 58"/>
                <a:gd name="T58" fmla="+- 0 2254 2187"/>
                <a:gd name="T59" fmla="*/ 2254 h 80"/>
                <a:gd name="T60" fmla="+- 0 6378 6346"/>
                <a:gd name="T61" fmla="*/ T60 w 58"/>
                <a:gd name="T62" fmla="+- 0 2261 2187"/>
                <a:gd name="T63" fmla="*/ 2261 h 80"/>
                <a:gd name="T64" fmla="+- 0 6385 6346"/>
                <a:gd name="T65" fmla="*/ T64 w 58"/>
                <a:gd name="T66" fmla="+- 0 2261 2187"/>
                <a:gd name="T67" fmla="*/ 2261 h 80"/>
                <a:gd name="T68" fmla="+- 0 6385 6346"/>
                <a:gd name="T69" fmla="*/ T68 w 58"/>
                <a:gd name="T70" fmla="+- 0 2266 2187"/>
                <a:gd name="T71" fmla="*/ 2266 h 80"/>
                <a:gd name="T72" fmla="+- 0 6346 6346"/>
                <a:gd name="T73" fmla="*/ T72 w 58"/>
                <a:gd name="T74" fmla="+- 0 2266 2187"/>
                <a:gd name="T75" fmla="*/ 2266 h 80"/>
                <a:gd name="T76" fmla="+- 0 6346 6346"/>
                <a:gd name="T77" fmla="*/ T76 w 58"/>
                <a:gd name="T78" fmla="+- 0 2261 2187"/>
                <a:gd name="T79" fmla="*/ 2261 h 80"/>
                <a:gd name="T80" fmla="+- 0 6354 6346"/>
                <a:gd name="T81" fmla="*/ T80 w 58"/>
                <a:gd name="T82" fmla="+- 0 2261 2187"/>
                <a:gd name="T83" fmla="*/ 2261 h 80"/>
                <a:gd name="T84" fmla="+- 0 6356 6346"/>
                <a:gd name="T85" fmla="*/ T84 w 58"/>
                <a:gd name="T86" fmla="+- 0 2259 2187"/>
                <a:gd name="T87" fmla="*/ 2259 h 80"/>
                <a:gd name="T88" fmla="+- 0 6356 6346"/>
                <a:gd name="T89" fmla="*/ T88 w 58"/>
                <a:gd name="T90" fmla="+- 0 2196 2187"/>
                <a:gd name="T91" fmla="*/ 2196 h 80"/>
                <a:gd name="T92" fmla="+- 0 6346 6346"/>
                <a:gd name="T93" fmla="*/ T92 w 58"/>
                <a:gd name="T94" fmla="+- 0 2196 2187"/>
                <a:gd name="T95" fmla="*/ 2196 h 80"/>
                <a:gd name="T96" fmla="+- 0 6346 6346"/>
                <a:gd name="T97" fmla="*/ T96 w 58"/>
                <a:gd name="T98" fmla="+- 0 2194 2187"/>
                <a:gd name="T99" fmla="*/ 2194 h 80"/>
                <a:gd name="T100" fmla="+- 0 6368 6346"/>
                <a:gd name="T101" fmla="*/ T100 w 58"/>
                <a:gd name="T102" fmla="+- 0 2187 2187"/>
                <a:gd name="T103" fmla="*/ 2187 h 80"/>
                <a:gd name="T104" fmla="+- 0 6370 6346"/>
                <a:gd name="T105" fmla="*/ T104 w 58"/>
                <a:gd name="T106" fmla="+- 0 2187 2187"/>
                <a:gd name="T107" fmla="*/ 2187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58" h="80">
                  <a:moveTo>
                    <a:pt x="24" y="0"/>
                  </a:moveTo>
                  <a:lnTo>
                    <a:pt x="24" y="17"/>
                  </a:lnTo>
                  <a:lnTo>
                    <a:pt x="36" y="2"/>
                  </a:lnTo>
                  <a:lnTo>
                    <a:pt x="46" y="0"/>
                  </a:lnTo>
                  <a:lnTo>
                    <a:pt x="53" y="0"/>
                  </a:lnTo>
                  <a:lnTo>
                    <a:pt x="58" y="2"/>
                  </a:lnTo>
                  <a:lnTo>
                    <a:pt x="58" y="9"/>
                  </a:lnTo>
                  <a:lnTo>
                    <a:pt x="51" y="17"/>
                  </a:lnTo>
                  <a:lnTo>
                    <a:pt x="46" y="14"/>
                  </a:lnTo>
                  <a:lnTo>
                    <a:pt x="44" y="14"/>
                  </a:lnTo>
                  <a:lnTo>
                    <a:pt x="39" y="9"/>
                  </a:lnTo>
                  <a:lnTo>
                    <a:pt x="36" y="9"/>
                  </a:lnTo>
                  <a:lnTo>
                    <a:pt x="32" y="17"/>
                  </a:lnTo>
                  <a:lnTo>
                    <a:pt x="24" y="24"/>
                  </a:lnTo>
                  <a:lnTo>
                    <a:pt x="24" y="67"/>
                  </a:lnTo>
                  <a:lnTo>
                    <a:pt x="32" y="74"/>
                  </a:lnTo>
                  <a:lnTo>
                    <a:pt x="39" y="74"/>
                  </a:lnTo>
                  <a:lnTo>
                    <a:pt x="39" y="79"/>
                  </a:lnTo>
                  <a:lnTo>
                    <a:pt x="0" y="79"/>
                  </a:lnTo>
                  <a:lnTo>
                    <a:pt x="0" y="74"/>
                  </a:lnTo>
                  <a:lnTo>
                    <a:pt x="8" y="74"/>
                  </a:lnTo>
                  <a:lnTo>
                    <a:pt x="10" y="72"/>
                  </a:lnTo>
                  <a:lnTo>
                    <a:pt x="10" y="9"/>
                  </a:lnTo>
                  <a:lnTo>
                    <a:pt x="0" y="9"/>
                  </a:lnTo>
                  <a:lnTo>
                    <a:pt x="0" y="7"/>
                  </a:lnTo>
                  <a:lnTo>
                    <a:pt x="22" y="0"/>
                  </a:lnTo>
                  <a:lnTo>
                    <a:pt x="24"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2" name="Freeform 43">
              <a:extLst>
                <a:ext uri="{FF2B5EF4-FFF2-40B4-BE49-F238E27FC236}">
                  <a16:creationId xmlns:a16="http://schemas.microsoft.com/office/drawing/2014/main" id="{55D1F969-A4CC-51F4-FA36-2C84EE18A224}"/>
                </a:ext>
              </a:extLst>
            </p:cNvPr>
            <p:cNvSpPr>
              <a:spLocks/>
            </p:cNvSpPr>
            <p:nvPr/>
          </p:nvSpPr>
          <p:spPr bwMode="auto">
            <a:xfrm>
              <a:off x="5789" y="2342"/>
              <a:ext cx="99" cy="116"/>
            </a:xfrm>
            <a:custGeom>
              <a:avLst/>
              <a:gdLst>
                <a:gd name="T0" fmla="+- 0 5821 5790"/>
                <a:gd name="T1" fmla="*/ T0 w 99"/>
                <a:gd name="T2" fmla="+- 0 2350 2343"/>
                <a:gd name="T3" fmla="*/ 2350 h 116"/>
                <a:gd name="T4" fmla="+- 0 5821 5790"/>
                <a:gd name="T5" fmla="*/ T4 w 99"/>
                <a:gd name="T6" fmla="+- 0 2393 2343"/>
                <a:gd name="T7" fmla="*/ 2393 h 116"/>
                <a:gd name="T8" fmla="+- 0 5859 5790"/>
                <a:gd name="T9" fmla="*/ T8 w 99"/>
                <a:gd name="T10" fmla="+- 0 2393 2343"/>
                <a:gd name="T11" fmla="*/ 2393 h 116"/>
                <a:gd name="T12" fmla="+- 0 5864 5790"/>
                <a:gd name="T13" fmla="*/ T12 w 99"/>
                <a:gd name="T14" fmla="+- 0 2386 2343"/>
                <a:gd name="T15" fmla="*/ 2386 h 116"/>
                <a:gd name="T16" fmla="+- 0 5864 5790"/>
                <a:gd name="T17" fmla="*/ T16 w 99"/>
                <a:gd name="T18" fmla="+- 0 2379 2343"/>
                <a:gd name="T19" fmla="*/ 2379 h 116"/>
                <a:gd name="T20" fmla="+- 0 5866 5790"/>
                <a:gd name="T21" fmla="*/ T20 w 99"/>
                <a:gd name="T22" fmla="+- 0 2379 2343"/>
                <a:gd name="T23" fmla="*/ 2379 h 116"/>
                <a:gd name="T24" fmla="+- 0 5866 5790"/>
                <a:gd name="T25" fmla="*/ T24 w 99"/>
                <a:gd name="T26" fmla="+- 0 2417 2343"/>
                <a:gd name="T27" fmla="*/ 2417 h 116"/>
                <a:gd name="T28" fmla="+- 0 5864 5790"/>
                <a:gd name="T29" fmla="*/ T28 w 99"/>
                <a:gd name="T30" fmla="+- 0 2417 2343"/>
                <a:gd name="T31" fmla="*/ 2417 h 116"/>
                <a:gd name="T32" fmla="+- 0 5864 5790"/>
                <a:gd name="T33" fmla="*/ T32 w 99"/>
                <a:gd name="T34" fmla="+- 0 2408 2343"/>
                <a:gd name="T35" fmla="*/ 2408 h 116"/>
                <a:gd name="T36" fmla="+- 0 5859 5790"/>
                <a:gd name="T37" fmla="*/ T36 w 99"/>
                <a:gd name="T38" fmla="+- 0 2403 2343"/>
                <a:gd name="T39" fmla="*/ 2403 h 116"/>
                <a:gd name="T40" fmla="+- 0 5857 5790"/>
                <a:gd name="T41" fmla="*/ T40 w 99"/>
                <a:gd name="T42" fmla="+- 0 2403 2343"/>
                <a:gd name="T43" fmla="*/ 2403 h 116"/>
                <a:gd name="T44" fmla="+- 0 5852 5790"/>
                <a:gd name="T45" fmla="*/ T44 w 99"/>
                <a:gd name="T46" fmla="+- 0 2400 2343"/>
                <a:gd name="T47" fmla="*/ 2400 h 116"/>
                <a:gd name="T48" fmla="+- 0 5821 5790"/>
                <a:gd name="T49" fmla="*/ T48 w 99"/>
                <a:gd name="T50" fmla="+- 0 2400 2343"/>
                <a:gd name="T51" fmla="*/ 2400 h 116"/>
                <a:gd name="T52" fmla="+- 0 5821 5790"/>
                <a:gd name="T53" fmla="*/ T52 w 99"/>
                <a:gd name="T54" fmla="+- 0 2446 2343"/>
                <a:gd name="T55" fmla="*/ 2446 h 116"/>
                <a:gd name="T56" fmla="+- 0 5823 5790"/>
                <a:gd name="T57" fmla="*/ T56 w 99"/>
                <a:gd name="T58" fmla="+- 0 2451 2343"/>
                <a:gd name="T59" fmla="*/ 2451 h 116"/>
                <a:gd name="T60" fmla="+- 0 5871 5790"/>
                <a:gd name="T61" fmla="*/ T60 w 99"/>
                <a:gd name="T62" fmla="+- 0 2451 2343"/>
                <a:gd name="T63" fmla="*/ 2451 h 116"/>
                <a:gd name="T64" fmla="+- 0 5874 5790"/>
                <a:gd name="T65" fmla="*/ T64 w 99"/>
                <a:gd name="T66" fmla="+- 0 2446 2343"/>
                <a:gd name="T67" fmla="*/ 2446 h 116"/>
                <a:gd name="T68" fmla="+- 0 5878 5790"/>
                <a:gd name="T69" fmla="*/ T68 w 99"/>
                <a:gd name="T70" fmla="+- 0 2439 2343"/>
                <a:gd name="T71" fmla="*/ 2439 h 116"/>
                <a:gd name="T72" fmla="+- 0 5886 5790"/>
                <a:gd name="T73" fmla="*/ T72 w 99"/>
                <a:gd name="T74" fmla="+- 0 2429 2343"/>
                <a:gd name="T75" fmla="*/ 2429 h 116"/>
                <a:gd name="T76" fmla="+- 0 5888 5790"/>
                <a:gd name="T77" fmla="*/ T76 w 99"/>
                <a:gd name="T78" fmla="+- 0 2429 2343"/>
                <a:gd name="T79" fmla="*/ 2429 h 116"/>
                <a:gd name="T80" fmla="+- 0 5878 5790"/>
                <a:gd name="T81" fmla="*/ T80 w 99"/>
                <a:gd name="T82" fmla="+- 0 2458 2343"/>
                <a:gd name="T83" fmla="*/ 2458 h 116"/>
                <a:gd name="T84" fmla="+- 0 5790 5790"/>
                <a:gd name="T85" fmla="*/ T84 w 99"/>
                <a:gd name="T86" fmla="+- 0 2458 2343"/>
                <a:gd name="T87" fmla="*/ 2458 h 116"/>
                <a:gd name="T88" fmla="+- 0 5790 5790"/>
                <a:gd name="T89" fmla="*/ T88 w 99"/>
                <a:gd name="T90" fmla="+- 0 2453 2343"/>
                <a:gd name="T91" fmla="*/ 2453 h 116"/>
                <a:gd name="T92" fmla="+- 0 5799 5790"/>
                <a:gd name="T93" fmla="*/ T92 w 99"/>
                <a:gd name="T94" fmla="+- 0 2453 2343"/>
                <a:gd name="T95" fmla="*/ 2453 h 116"/>
                <a:gd name="T96" fmla="+- 0 5802 5790"/>
                <a:gd name="T97" fmla="*/ T96 w 99"/>
                <a:gd name="T98" fmla="+- 0 2451 2343"/>
                <a:gd name="T99" fmla="*/ 2451 h 116"/>
                <a:gd name="T100" fmla="+- 0 5806 5790"/>
                <a:gd name="T101" fmla="*/ T100 w 99"/>
                <a:gd name="T102" fmla="+- 0 2444 2343"/>
                <a:gd name="T103" fmla="*/ 2444 h 116"/>
                <a:gd name="T104" fmla="+- 0 5806 5790"/>
                <a:gd name="T105" fmla="*/ T104 w 99"/>
                <a:gd name="T106" fmla="+- 0 2364 2343"/>
                <a:gd name="T107" fmla="*/ 2364 h 116"/>
                <a:gd name="T108" fmla="+- 0 5802 5790"/>
                <a:gd name="T109" fmla="*/ T108 w 99"/>
                <a:gd name="T110" fmla="+- 0 2355 2343"/>
                <a:gd name="T111" fmla="*/ 2355 h 116"/>
                <a:gd name="T112" fmla="+- 0 5802 5790"/>
                <a:gd name="T113" fmla="*/ T112 w 99"/>
                <a:gd name="T114" fmla="+- 0 2350 2343"/>
                <a:gd name="T115" fmla="*/ 2350 h 116"/>
                <a:gd name="T116" fmla="+- 0 5799 5790"/>
                <a:gd name="T117" fmla="*/ T116 w 99"/>
                <a:gd name="T118" fmla="+- 0 2348 2343"/>
                <a:gd name="T119" fmla="*/ 2348 h 116"/>
                <a:gd name="T120" fmla="+- 0 5790 5790"/>
                <a:gd name="T121" fmla="*/ T120 w 99"/>
                <a:gd name="T122" fmla="+- 0 2348 2343"/>
                <a:gd name="T123" fmla="*/ 2348 h 116"/>
                <a:gd name="T124" fmla="+- 0 5790 5790"/>
                <a:gd name="T125" fmla="*/ T124 w 99"/>
                <a:gd name="T126" fmla="+- 0 2343 2343"/>
                <a:gd name="T127" fmla="*/ 2343 h 116"/>
                <a:gd name="T128" fmla="+- 0 5878 5790"/>
                <a:gd name="T129" fmla="*/ T128 w 99"/>
                <a:gd name="T130" fmla="+- 0 2343 2343"/>
                <a:gd name="T131" fmla="*/ 2343 h 116"/>
                <a:gd name="T132" fmla="+- 0 5878 5790"/>
                <a:gd name="T133" fmla="*/ T132 w 99"/>
                <a:gd name="T134" fmla="+- 0 2369 2343"/>
                <a:gd name="T135" fmla="*/ 2369 h 116"/>
                <a:gd name="T136" fmla="+- 0 5874 5790"/>
                <a:gd name="T137" fmla="*/ T136 w 99"/>
                <a:gd name="T138" fmla="+- 0 2369 2343"/>
                <a:gd name="T139" fmla="*/ 2369 h 116"/>
                <a:gd name="T140" fmla="+- 0 5874 5790"/>
                <a:gd name="T141" fmla="*/ T140 w 99"/>
                <a:gd name="T142" fmla="+- 0 2362 2343"/>
                <a:gd name="T143" fmla="*/ 2362 h 116"/>
                <a:gd name="T144" fmla="+- 0 5871 5790"/>
                <a:gd name="T145" fmla="*/ T144 w 99"/>
                <a:gd name="T146" fmla="+- 0 2355 2343"/>
                <a:gd name="T147" fmla="*/ 2355 h 116"/>
                <a:gd name="T148" fmla="+- 0 5866 5790"/>
                <a:gd name="T149" fmla="*/ T148 w 99"/>
                <a:gd name="T150" fmla="+- 0 2355 2343"/>
                <a:gd name="T151" fmla="*/ 2355 h 116"/>
                <a:gd name="T152" fmla="+- 0 5864 5790"/>
                <a:gd name="T153" fmla="*/ T152 w 99"/>
                <a:gd name="T154" fmla="+- 0 2350 2343"/>
                <a:gd name="T155" fmla="*/ 2350 h 116"/>
                <a:gd name="T156" fmla="+- 0 5821 5790"/>
                <a:gd name="T157" fmla="*/ T156 w 99"/>
                <a:gd name="T158" fmla="+- 0 2350 2343"/>
                <a:gd name="T159" fmla="*/ 2350 h 11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Lst>
              <a:rect l="0" t="0" r="r" b="b"/>
              <a:pathLst>
                <a:path w="99" h="116">
                  <a:moveTo>
                    <a:pt x="31" y="7"/>
                  </a:moveTo>
                  <a:lnTo>
                    <a:pt x="31" y="50"/>
                  </a:lnTo>
                  <a:lnTo>
                    <a:pt x="69" y="50"/>
                  </a:lnTo>
                  <a:lnTo>
                    <a:pt x="74" y="43"/>
                  </a:lnTo>
                  <a:lnTo>
                    <a:pt x="74" y="36"/>
                  </a:lnTo>
                  <a:lnTo>
                    <a:pt x="76" y="36"/>
                  </a:lnTo>
                  <a:lnTo>
                    <a:pt x="76" y="74"/>
                  </a:lnTo>
                  <a:lnTo>
                    <a:pt x="74" y="74"/>
                  </a:lnTo>
                  <a:lnTo>
                    <a:pt x="74" y="65"/>
                  </a:lnTo>
                  <a:lnTo>
                    <a:pt x="69" y="60"/>
                  </a:lnTo>
                  <a:lnTo>
                    <a:pt x="67" y="60"/>
                  </a:lnTo>
                  <a:lnTo>
                    <a:pt x="62" y="57"/>
                  </a:lnTo>
                  <a:lnTo>
                    <a:pt x="31" y="57"/>
                  </a:lnTo>
                  <a:lnTo>
                    <a:pt x="31" y="103"/>
                  </a:lnTo>
                  <a:lnTo>
                    <a:pt x="33" y="108"/>
                  </a:lnTo>
                  <a:lnTo>
                    <a:pt x="81" y="108"/>
                  </a:lnTo>
                  <a:lnTo>
                    <a:pt x="84" y="103"/>
                  </a:lnTo>
                  <a:lnTo>
                    <a:pt x="88" y="96"/>
                  </a:lnTo>
                  <a:lnTo>
                    <a:pt x="96" y="86"/>
                  </a:lnTo>
                  <a:lnTo>
                    <a:pt x="98" y="86"/>
                  </a:lnTo>
                  <a:lnTo>
                    <a:pt x="88" y="115"/>
                  </a:lnTo>
                  <a:lnTo>
                    <a:pt x="0" y="115"/>
                  </a:lnTo>
                  <a:lnTo>
                    <a:pt x="0" y="110"/>
                  </a:lnTo>
                  <a:lnTo>
                    <a:pt x="9" y="110"/>
                  </a:lnTo>
                  <a:lnTo>
                    <a:pt x="12" y="108"/>
                  </a:lnTo>
                  <a:lnTo>
                    <a:pt x="16" y="101"/>
                  </a:lnTo>
                  <a:lnTo>
                    <a:pt x="16" y="21"/>
                  </a:lnTo>
                  <a:lnTo>
                    <a:pt x="12" y="12"/>
                  </a:lnTo>
                  <a:lnTo>
                    <a:pt x="12" y="7"/>
                  </a:lnTo>
                  <a:lnTo>
                    <a:pt x="9" y="5"/>
                  </a:lnTo>
                  <a:lnTo>
                    <a:pt x="0" y="5"/>
                  </a:lnTo>
                  <a:lnTo>
                    <a:pt x="0" y="0"/>
                  </a:lnTo>
                  <a:lnTo>
                    <a:pt x="88" y="0"/>
                  </a:lnTo>
                  <a:lnTo>
                    <a:pt x="88" y="26"/>
                  </a:lnTo>
                  <a:lnTo>
                    <a:pt x="84" y="26"/>
                  </a:lnTo>
                  <a:lnTo>
                    <a:pt x="84" y="19"/>
                  </a:lnTo>
                  <a:lnTo>
                    <a:pt x="81" y="12"/>
                  </a:lnTo>
                  <a:lnTo>
                    <a:pt x="76" y="12"/>
                  </a:lnTo>
                  <a:lnTo>
                    <a:pt x="74" y="7"/>
                  </a:lnTo>
                  <a:lnTo>
                    <a:pt x="31" y="7"/>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3" name="Freeform 44">
              <a:extLst>
                <a:ext uri="{FF2B5EF4-FFF2-40B4-BE49-F238E27FC236}">
                  <a16:creationId xmlns:a16="http://schemas.microsoft.com/office/drawing/2014/main" id="{1F58581A-B131-6A62-4B69-F4C4AB042E4C}"/>
                </a:ext>
              </a:extLst>
            </p:cNvPr>
            <p:cNvSpPr>
              <a:spLocks/>
            </p:cNvSpPr>
            <p:nvPr/>
          </p:nvSpPr>
          <p:spPr bwMode="auto">
            <a:xfrm>
              <a:off x="5895" y="2378"/>
              <a:ext cx="68" cy="82"/>
            </a:xfrm>
            <a:custGeom>
              <a:avLst/>
              <a:gdLst>
                <a:gd name="T0" fmla="+- 0 5962 5895"/>
                <a:gd name="T1" fmla="*/ T0 w 68"/>
                <a:gd name="T2" fmla="+- 0 2429 2379"/>
                <a:gd name="T3" fmla="*/ 2429 h 82"/>
                <a:gd name="T4" fmla="+- 0 5960 5895"/>
                <a:gd name="T5" fmla="*/ T4 w 68"/>
                <a:gd name="T6" fmla="+- 0 2444 2379"/>
                <a:gd name="T7" fmla="*/ 2444 h 82"/>
                <a:gd name="T8" fmla="+- 0 5948 5895"/>
                <a:gd name="T9" fmla="*/ T8 w 68"/>
                <a:gd name="T10" fmla="+- 0 2453 2379"/>
                <a:gd name="T11" fmla="*/ 2453 h 82"/>
                <a:gd name="T12" fmla="+- 0 5941 5895"/>
                <a:gd name="T13" fmla="*/ T12 w 68"/>
                <a:gd name="T14" fmla="+- 0 2458 2379"/>
                <a:gd name="T15" fmla="*/ 2458 h 82"/>
                <a:gd name="T16" fmla="+- 0 5931 5895"/>
                <a:gd name="T17" fmla="*/ T16 w 68"/>
                <a:gd name="T18" fmla="+- 0 2460 2379"/>
                <a:gd name="T19" fmla="*/ 2460 h 82"/>
                <a:gd name="T20" fmla="+- 0 5917 5895"/>
                <a:gd name="T21" fmla="*/ T20 w 68"/>
                <a:gd name="T22" fmla="+- 0 2458 2379"/>
                <a:gd name="T23" fmla="*/ 2458 h 82"/>
                <a:gd name="T24" fmla="+- 0 5905 5895"/>
                <a:gd name="T25" fmla="*/ T24 w 68"/>
                <a:gd name="T26" fmla="+- 0 2451 2379"/>
                <a:gd name="T27" fmla="*/ 2451 h 82"/>
                <a:gd name="T28" fmla="+- 0 5898 5895"/>
                <a:gd name="T29" fmla="*/ T28 w 68"/>
                <a:gd name="T30" fmla="+- 0 2436 2379"/>
                <a:gd name="T31" fmla="*/ 2436 h 82"/>
                <a:gd name="T32" fmla="+- 0 5895 5895"/>
                <a:gd name="T33" fmla="*/ T32 w 68"/>
                <a:gd name="T34" fmla="+- 0 2417 2379"/>
                <a:gd name="T35" fmla="*/ 2417 h 82"/>
                <a:gd name="T36" fmla="+- 0 5898 5895"/>
                <a:gd name="T37" fmla="*/ T36 w 68"/>
                <a:gd name="T38" fmla="+- 0 2403 2379"/>
                <a:gd name="T39" fmla="*/ 2403 h 82"/>
                <a:gd name="T40" fmla="+- 0 5910 5895"/>
                <a:gd name="T41" fmla="*/ T40 w 68"/>
                <a:gd name="T42" fmla="+- 0 2388 2379"/>
                <a:gd name="T43" fmla="*/ 2388 h 82"/>
                <a:gd name="T44" fmla="+- 0 5919 5895"/>
                <a:gd name="T45" fmla="*/ T44 w 68"/>
                <a:gd name="T46" fmla="+- 0 2381 2379"/>
                <a:gd name="T47" fmla="*/ 2381 h 82"/>
                <a:gd name="T48" fmla="+- 0 5934 5895"/>
                <a:gd name="T49" fmla="*/ T48 w 68"/>
                <a:gd name="T50" fmla="+- 0 2379 2379"/>
                <a:gd name="T51" fmla="*/ 2379 h 82"/>
                <a:gd name="T52" fmla="+- 0 5946 5895"/>
                <a:gd name="T53" fmla="*/ T52 w 68"/>
                <a:gd name="T54" fmla="+- 0 2379 2379"/>
                <a:gd name="T55" fmla="*/ 2379 h 82"/>
                <a:gd name="T56" fmla="+- 0 5946 5895"/>
                <a:gd name="T57" fmla="*/ T56 w 68"/>
                <a:gd name="T58" fmla="+- 0 2396 2379"/>
                <a:gd name="T59" fmla="*/ 2396 h 82"/>
                <a:gd name="T60" fmla="+- 0 5941 5895"/>
                <a:gd name="T61" fmla="*/ T60 w 68"/>
                <a:gd name="T62" fmla="+- 0 2393 2379"/>
                <a:gd name="T63" fmla="*/ 2393 h 82"/>
                <a:gd name="T64" fmla="+- 0 5941 5895"/>
                <a:gd name="T65" fmla="*/ T64 w 68"/>
                <a:gd name="T66" fmla="+- 0 2388 2379"/>
                <a:gd name="T67" fmla="*/ 2388 h 82"/>
                <a:gd name="T68" fmla="+- 0 5938 5895"/>
                <a:gd name="T69" fmla="*/ T68 w 68"/>
                <a:gd name="T70" fmla="+- 0 2386 2379"/>
                <a:gd name="T71" fmla="*/ 2386 h 82"/>
                <a:gd name="T72" fmla="+- 0 5934 5895"/>
                <a:gd name="T73" fmla="*/ T72 w 68"/>
                <a:gd name="T74" fmla="+- 0 2386 2379"/>
                <a:gd name="T75" fmla="*/ 2386 h 82"/>
                <a:gd name="T76" fmla="+- 0 5931 5895"/>
                <a:gd name="T77" fmla="*/ T76 w 68"/>
                <a:gd name="T78" fmla="+- 0 2381 2379"/>
                <a:gd name="T79" fmla="*/ 2381 h 82"/>
                <a:gd name="T80" fmla="+- 0 5924 5895"/>
                <a:gd name="T81" fmla="*/ T80 w 68"/>
                <a:gd name="T82" fmla="+- 0 2386 2379"/>
                <a:gd name="T83" fmla="*/ 2386 h 82"/>
                <a:gd name="T84" fmla="+- 0 5917 5895"/>
                <a:gd name="T85" fmla="*/ T84 w 68"/>
                <a:gd name="T86" fmla="+- 0 2388 2379"/>
                <a:gd name="T87" fmla="*/ 2388 h 82"/>
                <a:gd name="T88" fmla="+- 0 5912 5895"/>
                <a:gd name="T89" fmla="*/ T88 w 68"/>
                <a:gd name="T90" fmla="+- 0 2400 2379"/>
                <a:gd name="T91" fmla="*/ 2400 h 82"/>
                <a:gd name="T92" fmla="+- 0 5910 5895"/>
                <a:gd name="T93" fmla="*/ T92 w 68"/>
                <a:gd name="T94" fmla="+- 0 2410 2379"/>
                <a:gd name="T95" fmla="*/ 2410 h 82"/>
                <a:gd name="T96" fmla="+- 0 5912 5895"/>
                <a:gd name="T97" fmla="*/ T96 w 68"/>
                <a:gd name="T98" fmla="+- 0 2424 2379"/>
                <a:gd name="T99" fmla="*/ 2424 h 82"/>
                <a:gd name="T100" fmla="+- 0 5917 5895"/>
                <a:gd name="T101" fmla="*/ T100 w 68"/>
                <a:gd name="T102" fmla="+- 0 2436 2379"/>
                <a:gd name="T103" fmla="*/ 2436 h 82"/>
                <a:gd name="T104" fmla="+- 0 5926 5895"/>
                <a:gd name="T105" fmla="*/ T104 w 68"/>
                <a:gd name="T106" fmla="+- 0 2444 2379"/>
                <a:gd name="T107" fmla="*/ 2444 h 82"/>
                <a:gd name="T108" fmla="+- 0 5934 5895"/>
                <a:gd name="T109" fmla="*/ T108 w 68"/>
                <a:gd name="T110" fmla="+- 0 2446 2379"/>
                <a:gd name="T111" fmla="*/ 2446 h 82"/>
                <a:gd name="T112" fmla="+- 0 5946 5895"/>
                <a:gd name="T113" fmla="*/ T112 w 68"/>
                <a:gd name="T114" fmla="+- 0 2446 2379"/>
                <a:gd name="T115" fmla="*/ 2446 h 82"/>
                <a:gd name="T116" fmla="+- 0 5953 5895"/>
                <a:gd name="T117" fmla="*/ T116 w 68"/>
                <a:gd name="T118" fmla="+- 0 2444 2379"/>
                <a:gd name="T119" fmla="*/ 2444 h 82"/>
                <a:gd name="T120" fmla="+- 0 5955 5895"/>
                <a:gd name="T121" fmla="*/ T120 w 68"/>
                <a:gd name="T122" fmla="+- 0 2436 2379"/>
                <a:gd name="T123" fmla="*/ 2436 h 82"/>
                <a:gd name="T124" fmla="+- 0 5960 5895"/>
                <a:gd name="T125" fmla="*/ T124 w 68"/>
                <a:gd name="T126" fmla="+- 0 2429 2379"/>
                <a:gd name="T127" fmla="*/ 2429 h 82"/>
                <a:gd name="T128" fmla="+- 0 5962 5895"/>
                <a:gd name="T129" fmla="*/ T128 w 68"/>
                <a:gd name="T130" fmla="+- 0 2429 2379"/>
                <a:gd name="T131" fmla="*/ 2429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Lst>
              <a:rect l="0" t="0" r="r" b="b"/>
              <a:pathLst>
                <a:path w="68" h="82">
                  <a:moveTo>
                    <a:pt x="67" y="50"/>
                  </a:moveTo>
                  <a:lnTo>
                    <a:pt x="65" y="65"/>
                  </a:lnTo>
                  <a:lnTo>
                    <a:pt x="53" y="74"/>
                  </a:lnTo>
                  <a:lnTo>
                    <a:pt x="46" y="79"/>
                  </a:lnTo>
                  <a:lnTo>
                    <a:pt x="36" y="81"/>
                  </a:lnTo>
                  <a:lnTo>
                    <a:pt x="22" y="79"/>
                  </a:lnTo>
                  <a:lnTo>
                    <a:pt x="10" y="72"/>
                  </a:lnTo>
                  <a:lnTo>
                    <a:pt x="3" y="57"/>
                  </a:lnTo>
                  <a:lnTo>
                    <a:pt x="0" y="38"/>
                  </a:lnTo>
                  <a:lnTo>
                    <a:pt x="3" y="24"/>
                  </a:lnTo>
                  <a:lnTo>
                    <a:pt x="15" y="9"/>
                  </a:lnTo>
                  <a:lnTo>
                    <a:pt x="24" y="2"/>
                  </a:lnTo>
                  <a:lnTo>
                    <a:pt x="39" y="0"/>
                  </a:lnTo>
                  <a:lnTo>
                    <a:pt x="51" y="0"/>
                  </a:lnTo>
                  <a:lnTo>
                    <a:pt x="51" y="17"/>
                  </a:lnTo>
                  <a:lnTo>
                    <a:pt x="46" y="14"/>
                  </a:lnTo>
                  <a:lnTo>
                    <a:pt x="46" y="9"/>
                  </a:lnTo>
                  <a:lnTo>
                    <a:pt x="43" y="7"/>
                  </a:lnTo>
                  <a:lnTo>
                    <a:pt x="39" y="7"/>
                  </a:lnTo>
                  <a:lnTo>
                    <a:pt x="36" y="2"/>
                  </a:lnTo>
                  <a:lnTo>
                    <a:pt x="29" y="7"/>
                  </a:lnTo>
                  <a:lnTo>
                    <a:pt x="22" y="9"/>
                  </a:lnTo>
                  <a:lnTo>
                    <a:pt x="17" y="21"/>
                  </a:lnTo>
                  <a:lnTo>
                    <a:pt x="15" y="31"/>
                  </a:lnTo>
                  <a:lnTo>
                    <a:pt x="17" y="45"/>
                  </a:lnTo>
                  <a:lnTo>
                    <a:pt x="22" y="57"/>
                  </a:lnTo>
                  <a:lnTo>
                    <a:pt x="31" y="65"/>
                  </a:lnTo>
                  <a:lnTo>
                    <a:pt x="39" y="67"/>
                  </a:lnTo>
                  <a:lnTo>
                    <a:pt x="51" y="67"/>
                  </a:lnTo>
                  <a:lnTo>
                    <a:pt x="58" y="65"/>
                  </a:lnTo>
                  <a:lnTo>
                    <a:pt x="60" y="57"/>
                  </a:lnTo>
                  <a:lnTo>
                    <a:pt x="65" y="50"/>
                  </a:lnTo>
                  <a:lnTo>
                    <a:pt x="67" y="5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4" name="Freeform 45">
              <a:extLst>
                <a:ext uri="{FF2B5EF4-FFF2-40B4-BE49-F238E27FC236}">
                  <a16:creationId xmlns:a16="http://schemas.microsoft.com/office/drawing/2014/main" id="{112420EB-1FE0-5343-2F1C-F5C00A75250C}"/>
                </a:ext>
              </a:extLst>
            </p:cNvPr>
            <p:cNvSpPr>
              <a:spLocks/>
            </p:cNvSpPr>
            <p:nvPr/>
          </p:nvSpPr>
          <p:spPr bwMode="auto">
            <a:xfrm>
              <a:off x="5974" y="2378"/>
              <a:ext cx="75" cy="82"/>
            </a:xfrm>
            <a:custGeom>
              <a:avLst/>
              <a:gdLst>
                <a:gd name="T0" fmla="+- 0 6013 5974"/>
                <a:gd name="T1" fmla="*/ T0 w 75"/>
                <a:gd name="T2" fmla="+- 0 2379 2379"/>
                <a:gd name="T3" fmla="*/ 2379 h 82"/>
                <a:gd name="T4" fmla="+- 0 6020 5974"/>
                <a:gd name="T5" fmla="*/ T4 w 75"/>
                <a:gd name="T6" fmla="+- 0 2379 2379"/>
                <a:gd name="T7" fmla="*/ 2379 h 82"/>
                <a:gd name="T8" fmla="+- 0 6027 5974"/>
                <a:gd name="T9" fmla="*/ T8 w 75"/>
                <a:gd name="T10" fmla="+- 0 2381 2379"/>
                <a:gd name="T11" fmla="*/ 2381 h 82"/>
                <a:gd name="T12" fmla="+- 0 6034 5974"/>
                <a:gd name="T13" fmla="*/ T12 w 75"/>
                <a:gd name="T14" fmla="+- 0 2386 2379"/>
                <a:gd name="T15" fmla="*/ 2386 h 82"/>
                <a:gd name="T16" fmla="+- 0 6042 5974"/>
                <a:gd name="T17" fmla="*/ T16 w 75"/>
                <a:gd name="T18" fmla="+- 0 2393 2379"/>
                <a:gd name="T19" fmla="*/ 2393 h 82"/>
                <a:gd name="T20" fmla="+- 0 6049 5974"/>
                <a:gd name="T21" fmla="*/ T20 w 75"/>
                <a:gd name="T22" fmla="+- 0 2403 2379"/>
                <a:gd name="T23" fmla="*/ 2403 h 82"/>
                <a:gd name="T24" fmla="+- 0 6049 5974"/>
                <a:gd name="T25" fmla="*/ T24 w 75"/>
                <a:gd name="T26" fmla="+- 0 2429 2379"/>
                <a:gd name="T27" fmla="*/ 2429 h 82"/>
                <a:gd name="T28" fmla="+- 0 6044 5974"/>
                <a:gd name="T29" fmla="*/ T28 w 75"/>
                <a:gd name="T30" fmla="+- 0 2439 2379"/>
                <a:gd name="T31" fmla="*/ 2439 h 82"/>
                <a:gd name="T32" fmla="+- 0 6030 5974"/>
                <a:gd name="T33" fmla="*/ T32 w 75"/>
                <a:gd name="T34" fmla="+- 0 2453 2379"/>
                <a:gd name="T35" fmla="*/ 2453 h 82"/>
                <a:gd name="T36" fmla="+- 0 6020 5974"/>
                <a:gd name="T37" fmla="*/ T36 w 75"/>
                <a:gd name="T38" fmla="+- 0 2460 2379"/>
                <a:gd name="T39" fmla="*/ 2460 h 82"/>
                <a:gd name="T40" fmla="+- 0 6001 5974"/>
                <a:gd name="T41" fmla="*/ T40 w 75"/>
                <a:gd name="T42" fmla="+- 0 2460 2379"/>
                <a:gd name="T43" fmla="*/ 2460 h 82"/>
                <a:gd name="T44" fmla="+- 0 5994 5974"/>
                <a:gd name="T45" fmla="*/ T44 w 75"/>
                <a:gd name="T46" fmla="+- 0 2458 2379"/>
                <a:gd name="T47" fmla="*/ 2458 h 82"/>
                <a:gd name="T48" fmla="+- 0 5986 5974"/>
                <a:gd name="T49" fmla="*/ T48 w 75"/>
                <a:gd name="T50" fmla="+- 0 2453 2379"/>
                <a:gd name="T51" fmla="*/ 2453 h 82"/>
                <a:gd name="T52" fmla="+- 0 5984 5974"/>
                <a:gd name="T53" fmla="*/ T52 w 75"/>
                <a:gd name="T54" fmla="+- 0 2446 2379"/>
                <a:gd name="T55" fmla="*/ 2446 h 82"/>
                <a:gd name="T56" fmla="+- 0 5977 5974"/>
                <a:gd name="T57" fmla="*/ T56 w 75"/>
                <a:gd name="T58" fmla="+- 0 2432 2379"/>
                <a:gd name="T59" fmla="*/ 2432 h 82"/>
                <a:gd name="T60" fmla="+- 0 5974 5974"/>
                <a:gd name="T61" fmla="*/ T60 w 75"/>
                <a:gd name="T62" fmla="+- 0 2422 2379"/>
                <a:gd name="T63" fmla="*/ 2422 h 82"/>
                <a:gd name="T64" fmla="+- 0 5977 5974"/>
                <a:gd name="T65" fmla="*/ T64 w 75"/>
                <a:gd name="T66" fmla="+- 0 2410 2379"/>
                <a:gd name="T67" fmla="*/ 2410 h 82"/>
                <a:gd name="T68" fmla="+- 0 5982 5974"/>
                <a:gd name="T69" fmla="*/ T68 w 75"/>
                <a:gd name="T70" fmla="+- 0 2400 2379"/>
                <a:gd name="T71" fmla="*/ 2400 h 82"/>
                <a:gd name="T72" fmla="+- 0 5984 5974"/>
                <a:gd name="T73" fmla="*/ T72 w 75"/>
                <a:gd name="T74" fmla="+- 0 2388 2379"/>
                <a:gd name="T75" fmla="*/ 2388 h 82"/>
                <a:gd name="T76" fmla="+- 0 5994 5974"/>
                <a:gd name="T77" fmla="*/ T76 w 75"/>
                <a:gd name="T78" fmla="+- 0 2381 2379"/>
                <a:gd name="T79" fmla="*/ 2381 h 82"/>
                <a:gd name="T80" fmla="+- 0 6001 5974"/>
                <a:gd name="T81" fmla="*/ T80 w 75"/>
                <a:gd name="T82" fmla="+- 0 2379 2379"/>
                <a:gd name="T83" fmla="*/ 2379 h 82"/>
                <a:gd name="T84" fmla="+- 0 6013 5974"/>
                <a:gd name="T85" fmla="*/ T84 w 75"/>
                <a:gd name="T86" fmla="+- 0 2379 2379"/>
                <a:gd name="T87" fmla="*/ 2379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75" h="82">
                  <a:moveTo>
                    <a:pt x="39" y="0"/>
                  </a:moveTo>
                  <a:lnTo>
                    <a:pt x="46" y="0"/>
                  </a:lnTo>
                  <a:lnTo>
                    <a:pt x="53" y="2"/>
                  </a:lnTo>
                  <a:lnTo>
                    <a:pt x="60" y="7"/>
                  </a:lnTo>
                  <a:lnTo>
                    <a:pt x="68" y="14"/>
                  </a:lnTo>
                  <a:lnTo>
                    <a:pt x="75" y="24"/>
                  </a:lnTo>
                  <a:lnTo>
                    <a:pt x="75" y="50"/>
                  </a:lnTo>
                  <a:lnTo>
                    <a:pt x="70" y="60"/>
                  </a:lnTo>
                  <a:lnTo>
                    <a:pt x="56" y="74"/>
                  </a:lnTo>
                  <a:lnTo>
                    <a:pt x="46" y="81"/>
                  </a:lnTo>
                  <a:lnTo>
                    <a:pt x="27" y="81"/>
                  </a:lnTo>
                  <a:lnTo>
                    <a:pt x="20" y="79"/>
                  </a:lnTo>
                  <a:lnTo>
                    <a:pt x="12" y="74"/>
                  </a:lnTo>
                  <a:lnTo>
                    <a:pt x="10" y="67"/>
                  </a:lnTo>
                  <a:lnTo>
                    <a:pt x="3" y="53"/>
                  </a:lnTo>
                  <a:lnTo>
                    <a:pt x="0" y="43"/>
                  </a:lnTo>
                  <a:lnTo>
                    <a:pt x="3" y="31"/>
                  </a:lnTo>
                  <a:lnTo>
                    <a:pt x="8" y="21"/>
                  </a:lnTo>
                  <a:lnTo>
                    <a:pt x="10" y="9"/>
                  </a:lnTo>
                  <a:lnTo>
                    <a:pt x="20" y="2"/>
                  </a:lnTo>
                  <a:lnTo>
                    <a:pt x="27" y="0"/>
                  </a:lnTo>
                  <a:lnTo>
                    <a:pt x="39"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5" name="Freeform 46">
              <a:extLst>
                <a:ext uri="{FF2B5EF4-FFF2-40B4-BE49-F238E27FC236}">
                  <a16:creationId xmlns:a16="http://schemas.microsoft.com/office/drawing/2014/main" id="{30ADE12E-1E1D-A03C-1AC9-21BD3A6AD673}"/>
                </a:ext>
              </a:extLst>
            </p:cNvPr>
            <p:cNvSpPr>
              <a:spLocks/>
            </p:cNvSpPr>
            <p:nvPr/>
          </p:nvSpPr>
          <p:spPr bwMode="auto">
            <a:xfrm>
              <a:off x="5991" y="2381"/>
              <a:ext cx="44" cy="72"/>
            </a:xfrm>
            <a:custGeom>
              <a:avLst/>
              <a:gdLst>
                <a:gd name="T0" fmla="+- 0 6008 5991"/>
                <a:gd name="T1" fmla="*/ T0 w 44"/>
                <a:gd name="T2" fmla="+- 0 2381 2381"/>
                <a:gd name="T3" fmla="*/ 2381 h 72"/>
                <a:gd name="T4" fmla="+- 0 6006 5991"/>
                <a:gd name="T5" fmla="*/ T4 w 44"/>
                <a:gd name="T6" fmla="+- 0 2381 2381"/>
                <a:gd name="T7" fmla="*/ 2381 h 72"/>
                <a:gd name="T8" fmla="+- 0 5998 5991"/>
                <a:gd name="T9" fmla="*/ T8 w 44"/>
                <a:gd name="T10" fmla="+- 0 2386 2381"/>
                <a:gd name="T11" fmla="*/ 2386 h 72"/>
                <a:gd name="T12" fmla="+- 0 5994 5991"/>
                <a:gd name="T13" fmla="*/ T12 w 44"/>
                <a:gd name="T14" fmla="+- 0 2388 2381"/>
                <a:gd name="T15" fmla="*/ 2388 h 72"/>
                <a:gd name="T16" fmla="+- 0 5991 5991"/>
                <a:gd name="T17" fmla="*/ T16 w 44"/>
                <a:gd name="T18" fmla="+- 0 2396 2381"/>
                <a:gd name="T19" fmla="*/ 2396 h 72"/>
                <a:gd name="T20" fmla="+- 0 5991 5991"/>
                <a:gd name="T21" fmla="*/ T20 w 44"/>
                <a:gd name="T22" fmla="+- 0 2429 2381"/>
                <a:gd name="T23" fmla="*/ 2429 h 72"/>
                <a:gd name="T24" fmla="+- 0 5998 5991"/>
                <a:gd name="T25" fmla="*/ T24 w 44"/>
                <a:gd name="T26" fmla="+- 0 2444 2381"/>
                <a:gd name="T27" fmla="*/ 2444 h 72"/>
                <a:gd name="T28" fmla="+- 0 6006 5991"/>
                <a:gd name="T29" fmla="*/ T28 w 44"/>
                <a:gd name="T30" fmla="+- 0 2451 2381"/>
                <a:gd name="T31" fmla="*/ 2451 h 72"/>
                <a:gd name="T32" fmla="+- 0 6015 5991"/>
                <a:gd name="T33" fmla="*/ T32 w 44"/>
                <a:gd name="T34" fmla="+- 0 2453 2381"/>
                <a:gd name="T35" fmla="*/ 2453 h 72"/>
                <a:gd name="T36" fmla="+- 0 6022 5991"/>
                <a:gd name="T37" fmla="*/ T36 w 44"/>
                <a:gd name="T38" fmla="+- 0 2453 2381"/>
                <a:gd name="T39" fmla="*/ 2453 h 72"/>
                <a:gd name="T40" fmla="+- 0 6027 5991"/>
                <a:gd name="T41" fmla="*/ T40 w 44"/>
                <a:gd name="T42" fmla="+- 0 2446 2381"/>
                <a:gd name="T43" fmla="*/ 2446 h 72"/>
                <a:gd name="T44" fmla="+- 0 6030 5991"/>
                <a:gd name="T45" fmla="*/ T44 w 44"/>
                <a:gd name="T46" fmla="+- 0 2439 2381"/>
                <a:gd name="T47" fmla="*/ 2439 h 72"/>
                <a:gd name="T48" fmla="+- 0 6034 5991"/>
                <a:gd name="T49" fmla="*/ T48 w 44"/>
                <a:gd name="T50" fmla="+- 0 2424 2381"/>
                <a:gd name="T51" fmla="*/ 2424 h 72"/>
                <a:gd name="T52" fmla="+- 0 6030 5991"/>
                <a:gd name="T53" fmla="*/ T52 w 44"/>
                <a:gd name="T54" fmla="+- 0 2408 2381"/>
                <a:gd name="T55" fmla="*/ 2408 h 72"/>
                <a:gd name="T56" fmla="+- 0 6022 5991"/>
                <a:gd name="T57" fmla="*/ T56 w 44"/>
                <a:gd name="T58" fmla="+- 0 2393 2381"/>
                <a:gd name="T59" fmla="*/ 2393 h 72"/>
                <a:gd name="T60" fmla="+- 0 6015 5991"/>
                <a:gd name="T61" fmla="*/ T60 w 44"/>
                <a:gd name="T62" fmla="+- 0 2386 2381"/>
                <a:gd name="T63" fmla="*/ 2386 h 72"/>
                <a:gd name="T64" fmla="+- 0 6008 5991"/>
                <a:gd name="T65" fmla="*/ T64 w 44"/>
                <a:gd name="T66" fmla="+- 0 2381 2381"/>
                <a:gd name="T67" fmla="*/ 2381 h 7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44" h="72">
                  <a:moveTo>
                    <a:pt x="17" y="0"/>
                  </a:moveTo>
                  <a:lnTo>
                    <a:pt x="15" y="0"/>
                  </a:lnTo>
                  <a:lnTo>
                    <a:pt x="7" y="5"/>
                  </a:lnTo>
                  <a:lnTo>
                    <a:pt x="3" y="7"/>
                  </a:lnTo>
                  <a:lnTo>
                    <a:pt x="0" y="15"/>
                  </a:lnTo>
                  <a:lnTo>
                    <a:pt x="0" y="48"/>
                  </a:lnTo>
                  <a:lnTo>
                    <a:pt x="7" y="63"/>
                  </a:lnTo>
                  <a:lnTo>
                    <a:pt x="15" y="70"/>
                  </a:lnTo>
                  <a:lnTo>
                    <a:pt x="24" y="72"/>
                  </a:lnTo>
                  <a:lnTo>
                    <a:pt x="31" y="72"/>
                  </a:lnTo>
                  <a:lnTo>
                    <a:pt x="36" y="65"/>
                  </a:lnTo>
                  <a:lnTo>
                    <a:pt x="39" y="58"/>
                  </a:lnTo>
                  <a:lnTo>
                    <a:pt x="43" y="43"/>
                  </a:lnTo>
                  <a:lnTo>
                    <a:pt x="39" y="27"/>
                  </a:lnTo>
                  <a:lnTo>
                    <a:pt x="31" y="12"/>
                  </a:lnTo>
                  <a:lnTo>
                    <a:pt x="24" y="5"/>
                  </a:lnTo>
                  <a:lnTo>
                    <a:pt x="17"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6" name="Freeform 47">
              <a:extLst>
                <a:ext uri="{FF2B5EF4-FFF2-40B4-BE49-F238E27FC236}">
                  <a16:creationId xmlns:a16="http://schemas.microsoft.com/office/drawing/2014/main" id="{73149C0A-F2D3-B159-EA12-16C9F16BB738}"/>
                </a:ext>
              </a:extLst>
            </p:cNvPr>
            <p:cNvSpPr>
              <a:spLocks/>
            </p:cNvSpPr>
            <p:nvPr/>
          </p:nvSpPr>
          <p:spPr bwMode="auto">
            <a:xfrm>
              <a:off x="6056" y="2378"/>
              <a:ext cx="84" cy="80"/>
            </a:xfrm>
            <a:custGeom>
              <a:avLst/>
              <a:gdLst>
                <a:gd name="T0" fmla="+- 0 6082 6056"/>
                <a:gd name="T1" fmla="*/ T0 w 84"/>
                <a:gd name="T2" fmla="+- 0 2393 2379"/>
                <a:gd name="T3" fmla="*/ 2393 h 80"/>
                <a:gd name="T4" fmla="+- 0 6097 6056"/>
                <a:gd name="T5" fmla="*/ T4 w 84"/>
                <a:gd name="T6" fmla="+- 0 2381 2379"/>
                <a:gd name="T7" fmla="*/ 2381 h 80"/>
                <a:gd name="T8" fmla="+- 0 6109 6056"/>
                <a:gd name="T9" fmla="*/ T8 w 84"/>
                <a:gd name="T10" fmla="+- 0 2379 2379"/>
                <a:gd name="T11" fmla="*/ 2379 h 80"/>
                <a:gd name="T12" fmla="+- 0 6116 6056"/>
                <a:gd name="T13" fmla="*/ T12 w 84"/>
                <a:gd name="T14" fmla="+- 0 2379 2379"/>
                <a:gd name="T15" fmla="*/ 2379 h 80"/>
                <a:gd name="T16" fmla="+- 0 6123 6056"/>
                <a:gd name="T17" fmla="*/ T16 w 84"/>
                <a:gd name="T18" fmla="+- 0 2386 2379"/>
                <a:gd name="T19" fmla="*/ 2386 h 80"/>
                <a:gd name="T20" fmla="+- 0 6126 6056"/>
                <a:gd name="T21" fmla="*/ T20 w 84"/>
                <a:gd name="T22" fmla="+- 0 2393 2379"/>
                <a:gd name="T23" fmla="*/ 2393 h 80"/>
                <a:gd name="T24" fmla="+- 0 6130 6056"/>
                <a:gd name="T25" fmla="*/ T24 w 84"/>
                <a:gd name="T26" fmla="+- 0 2396 2379"/>
                <a:gd name="T27" fmla="*/ 2396 h 80"/>
                <a:gd name="T28" fmla="+- 0 6130 6056"/>
                <a:gd name="T29" fmla="*/ T28 w 84"/>
                <a:gd name="T30" fmla="+- 0 2451 2379"/>
                <a:gd name="T31" fmla="*/ 2451 h 80"/>
                <a:gd name="T32" fmla="+- 0 6133 6056"/>
                <a:gd name="T33" fmla="*/ T32 w 84"/>
                <a:gd name="T34" fmla="+- 0 2453 2379"/>
                <a:gd name="T35" fmla="*/ 2453 h 80"/>
                <a:gd name="T36" fmla="+- 0 6140 6056"/>
                <a:gd name="T37" fmla="*/ T36 w 84"/>
                <a:gd name="T38" fmla="+- 0 2453 2379"/>
                <a:gd name="T39" fmla="*/ 2453 h 80"/>
                <a:gd name="T40" fmla="+- 0 6140 6056"/>
                <a:gd name="T41" fmla="*/ T40 w 84"/>
                <a:gd name="T42" fmla="+- 0 2458 2379"/>
                <a:gd name="T43" fmla="*/ 2458 h 80"/>
                <a:gd name="T44" fmla="+- 0 6102 6056"/>
                <a:gd name="T45" fmla="*/ T44 w 84"/>
                <a:gd name="T46" fmla="+- 0 2458 2379"/>
                <a:gd name="T47" fmla="*/ 2458 h 80"/>
                <a:gd name="T48" fmla="+- 0 6102 6056"/>
                <a:gd name="T49" fmla="*/ T48 w 84"/>
                <a:gd name="T50" fmla="+- 0 2453 2379"/>
                <a:gd name="T51" fmla="*/ 2453 h 80"/>
                <a:gd name="T52" fmla="+- 0 6111 6056"/>
                <a:gd name="T53" fmla="*/ T52 w 84"/>
                <a:gd name="T54" fmla="+- 0 2453 2379"/>
                <a:gd name="T55" fmla="*/ 2453 h 80"/>
                <a:gd name="T56" fmla="+- 0 6111 6056"/>
                <a:gd name="T57" fmla="*/ T56 w 84"/>
                <a:gd name="T58" fmla="+- 0 2451 2379"/>
                <a:gd name="T59" fmla="*/ 2451 h 80"/>
                <a:gd name="T60" fmla="+- 0 6116 6056"/>
                <a:gd name="T61" fmla="*/ T60 w 84"/>
                <a:gd name="T62" fmla="+- 0 2451 2379"/>
                <a:gd name="T63" fmla="*/ 2451 h 80"/>
                <a:gd name="T64" fmla="+- 0 6116 6056"/>
                <a:gd name="T65" fmla="*/ T64 w 84"/>
                <a:gd name="T66" fmla="+- 0 2400 2379"/>
                <a:gd name="T67" fmla="*/ 2400 h 80"/>
                <a:gd name="T68" fmla="+- 0 6111 6056"/>
                <a:gd name="T69" fmla="*/ T68 w 84"/>
                <a:gd name="T70" fmla="+- 0 2393 2379"/>
                <a:gd name="T71" fmla="*/ 2393 h 80"/>
                <a:gd name="T72" fmla="+- 0 6109 6056"/>
                <a:gd name="T73" fmla="*/ T72 w 84"/>
                <a:gd name="T74" fmla="+- 0 2388 2379"/>
                <a:gd name="T75" fmla="*/ 2388 h 80"/>
                <a:gd name="T76" fmla="+- 0 6094 6056"/>
                <a:gd name="T77" fmla="*/ T76 w 84"/>
                <a:gd name="T78" fmla="+- 0 2388 2379"/>
                <a:gd name="T79" fmla="*/ 2388 h 80"/>
                <a:gd name="T80" fmla="+- 0 6082 6056"/>
                <a:gd name="T81" fmla="*/ T80 w 84"/>
                <a:gd name="T82" fmla="+- 0 2400 2379"/>
                <a:gd name="T83" fmla="*/ 2400 h 80"/>
                <a:gd name="T84" fmla="+- 0 6082 6056"/>
                <a:gd name="T85" fmla="*/ T84 w 84"/>
                <a:gd name="T86" fmla="+- 0 2451 2379"/>
                <a:gd name="T87" fmla="*/ 2451 h 80"/>
                <a:gd name="T88" fmla="+- 0 6087 6056"/>
                <a:gd name="T89" fmla="*/ T88 w 84"/>
                <a:gd name="T90" fmla="+- 0 2453 2379"/>
                <a:gd name="T91" fmla="*/ 2453 h 80"/>
                <a:gd name="T92" fmla="+- 0 6094 6056"/>
                <a:gd name="T93" fmla="*/ T92 w 84"/>
                <a:gd name="T94" fmla="+- 0 2453 2379"/>
                <a:gd name="T95" fmla="*/ 2453 h 80"/>
                <a:gd name="T96" fmla="+- 0 6094 6056"/>
                <a:gd name="T97" fmla="*/ T96 w 84"/>
                <a:gd name="T98" fmla="+- 0 2458 2379"/>
                <a:gd name="T99" fmla="*/ 2458 h 80"/>
                <a:gd name="T100" fmla="+- 0 6058 6056"/>
                <a:gd name="T101" fmla="*/ T100 w 84"/>
                <a:gd name="T102" fmla="+- 0 2458 2379"/>
                <a:gd name="T103" fmla="*/ 2458 h 80"/>
                <a:gd name="T104" fmla="+- 0 6058 6056"/>
                <a:gd name="T105" fmla="*/ T104 w 84"/>
                <a:gd name="T106" fmla="+- 0 2453 2379"/>
                <a:gd name="T107" fmla="*/ 2453 h 80"/>
                <a:gd name="T108" fmla="+- 0 6066 6056"/>
                <a:gd name="T109" fmla="*/ T108 w 84"/>
                <a:gd name="T110" fmla="+- 0 2453 2379"/>
                <a:gd name="T111" fmla="*/ 2453 h 80"/>
                <a:gd name="T112" fmla="+- 0 6070 6056"/>
                <a:gd name="T113" fmla="*/ T112 w 84"/>
                <a:gd name="T114" fmla="+- 0 2446 2379"/>
                <a:gd name="T115" fmla="*/ 2446 h 80"/>
                <a:gd name="T116" fmla="+- 0 6070 6056"/>
                <a:gd name="T117" fmla="*/ T116 w 84"/>
                <a:gd name="T118" fmla="+- 0 2393 2379"/>
                <a:gd name="T119" fmla="*/ 2393 h 80"/>
                <a:gd name="T120" fmla="+- 0 6066 6056"/>
                <a:gd name="T121" fmla="*/ T120 w 84"/>
                <a:gd name="T122" fmla="+- 0 2388 2379"/>
                <a:gd name="T123" fmla="*/ 2388 h 80"/>
                <a:gd name="T124" fmla="+- 0 6058 6056"/>
                <a:gd name="T125" fmla="*/ T124 w 84"/>
                <a:gd name="T126" fmla="+- 0 2388 2379"/>
                <a:gd name="T127" fmla="*/ 2388 h 80"/>
                <a:gd name="T128" fmla="+- 0 6056 6056"/>
                <a:gd name="T129" fmla="*/ T128 w 84"/>
                <a:gd name="T130" fmla="+- 0 2386 2379"/>
                <a:gd name="T131" fmla="*/ 2386 h 80"/>
                <a:gd name="T132" fmla="+- 0 6080 6056"/>
                <a:gd name="T133" fmla="*/ T132 w 84"/>
                <a:gd name="T134" fmla="+- 0 2379 2379"/>
                <a:gd name="T135" fmla="*/ 2379 h 80"/>
                <a:gd name="T136" fmla="+- 0 6082 6056"/>
                <a:gd name="T137" fmla="*/ T136 w 84"/>
                <a:gd name="T138" fmla="+- 0 2379 2379"/>
                <a:gd name="T139" fmla="*/ 2379 h 80"/>
                <a:gd name="T140" fmla="+- 0 6082 6056"/>
                <a:gd name="T141" fmla="*/ T140 w 84"/>
                <a:gd name="T142" fmla="+- 0 2393 2379"/>
                <a:gd name="T143" fmla="*/ 2393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84" h="80">
                  <a:moveTo>
                    <a:pt x="26" y="14"/>
                  </a:moveTo>
                  <a:lnTo>
                    <a:pt x="41" y="2"/>
                  </a:lnTo>
                  <a:lnTo>
                    <a:pt x="53" y="0"/>
                  </a:lnTo>
                  <a:lnTo>
                    <a:pt x="60" y="0"/>
                  </a:lnTo>
                  <a:lnTo>
                    <a:pt x="67" y="7"/>
                  </a:lnTo>
                  <a:lnTo>
                    <a:pt x="70" y="14"/>
                  </a:lnTo>
                  <a:lnTo>
                    <a:pt x="74" y="17"/>
                  </a:lnTo>
                  <a:lnTo>
                    <a:pt x="74" y="72"/>
                  </a:lnTo>
                  <a:lnTo>
                    <a:pt x="77" y="74"/>
                  </a:lnTo>
                  <a:lnTo>
                    <a:pt x="84" y="74"/>
                  </a:lnTo>
                  <a:lnTo>
                    <a:pt x="84" y="79"/>
                  </a:lnTo>
                  <a:lnTo>
                    <a:pt x="46" y="79"/>
                  </a:lnTo>
                  <a:lnTo>
                    <a:pt x="46" y="74"/>
                  </a:lnTo>
                  <a:lnTo>
                    <a:pt x="55" y="74"/>
                  </a:lnTo>
                  <a:lnTo>
                    <a:pt x="55" y="72"/>
                  </a:lnTo>
                  <a:lnTo>
                    <a:pt x="60" y="72"/>
                  </a:lnTo>
                  <a:lnTo>
                    <a:pt x="60" y="21"/>
                  </a:lnTo>
                  <a:lnTo>
                    <a:pt x="55" y="14"/>
                  </a:lnTo>
                  <a:lnTo>
                    <a:pt x="53" y="9"/>
                  </a:lnTo>
                  <a:lnTo>
                    <a:pt x="38" y="9"/>
                  </a:lnTo>
                  <a:lnTo>
                    <a:pt x="26" y="21"/>
                  </a:lnTo>
                  <a:lnTo>
                    <a:pt x="26" y="72"/>
                  </a:lnTo>
                  <a:lnTo>
                    <a:pt x="31" y="74"/>
                  </a:lnTo>
                  <a:lnTo>
                    <a:pt x="38" y="74"/>
                  </a:lnTo>
                  <a:lnTo>
                    <a:pt x="38" y="79"/>
                  </a:lnTo>
                  <a:lnTo>
                    <a:pt x="2" y="79"/>
                  </a:lnTo>
                  <a:lnTo>
                    <a:pt x="2" y="74"/>
                  </a:lnTo>
                  <a:lnTo>
                    <a:pt x="10" y="74"/>
                  </a:lnTo>
                  <a:lnTo>
                    <a:pt x="14" y="67"/>
                  </a:lnTo>
                  <a:lnTo>
                    <a:pt x="14" y="14"/>
                  </a:lnTo>
                  <a:lnTo>
                    <a:pt x="10" y="9"/>
                  </a:lnTo>
                  <a:lnTo>
                    <a:pt x="2" y="9"/>
                  </a:lnTo>
                  <a:lnTo>
                    <a:pt x="0" y="7"/>
                  </a:lnTo>
                  <a:lnTo>
                    <a:pt x="24" y="0"/>
                  </a:lnTo>
                  <a:lnTo>
                    <a:pt x="26" y="0"/>
                  </a:lnTo>
                  <a:lnTo>
                    <a:pt x="26" y="14"/>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7" name="Freeform 48">
              <a:extLst>
                <a:ext uri="{FF2B5EF4-FFF2-40B4-BE49-F238E27FC236}">
                  <a16:creationId xmlns:a16="http://schemas.microsoft.com/office/drawing/2014/main" id="{06C44112-A679-9240-31AD-07844ABC9E34}"/>
                </a:ext>
              </a:extLst>
            </p:cNvPr>
            <p:cNvSpPr>
              <a:spLocks/>
            </p:cNvSpPr>
            <p:nvPr/>
          </p:nvSpPr>
          <p:spPr bwMode="auto">
            <a:xfrm>
              <a:off x="6147" y="2378"/>
              <a:ext cx="75" cy="82"/>
            </a:xfrm>
            <a:custGeom>
              <a:avLst/>
              <a:gdLst>
                <a:gd name="T0" fmla="+- 0 6186 6147"/>
                <a:gd name="T1" fmla="*/ T0 w 75"/>
                <a:gd name="T2" fmla="+- 0 2379 2379"/>
                <a:gd name="T3" fmla="*/ 2379 h 82"/>
                <a:gd name="T4" fmla="+- 0 6193 6147"/>
                <a:gd name="T5" fmla="*/ T4 w 75"/>
                <a:gd name="T6" fmla="+- 0 2379 2379"/>
                <a:gd name="T7" fmla="*/ 2379 h 82"/>
                <a:gd name="T8" fmla="+- 0 6200 6147"/>
                <a:gd name="T9" fmla="*/ T8 w 75"/>
                <a:gd name="T10" fmla="+- 0 2381 2379"/>
                <a:gd name="T11" fmla="*/ 2381 h 82"/>
                <a:gd name="T12" fmla="+- 0 6207 6147"/>
                <a:gd name="T13" fmla="*/ T12 w 75"/>
                <a:gd name="T14" fmla="+- 0 2386 2379"/>
                <a:gd name="T15" fmla="*/ 2386 h 82"/>
                <a:gd name="T16" fmla="+- 0 6214 6147"/>
                <a:gd name="T17" fmla="*/ T16 w 75"/>
                <a:gd name="T18" fmla="+- 0 2393 2379"/>
                <a:gd name="T19" fmla="*/ 2393 h 82"/>
                <a:gd name="T20" fmla="+- 0 6222 6147"/>
                <a:gd name="T21" fmla="*/ T20 w 75"/>
                <a:gd name="T22" fmla="+- 0 2403 2379"/>
                <a:gd name="T23" fmla="*/ 2403 h 82"/>
                <a:gd name="T24" fmla="+- 0 6222 6147"/>
                <a:gd name="T25" fmla="*/ T24 w 75"/>
                <a:gd name="T26" fmla="+- 0 2429 2379"/>
                <a:gd name="T27" fmla="*/ 2429 h 82"/>
                <a:gd name="T28" fmla="+- 0 6219 6147"/>
                <a:gd name="T29" fmla="*/ T28 w 75"/>
                <a:gd name="T30" fmla="+- 0 2439 2379"/>
                <a:gd name="T31" fmla="*/ 2439 h 82"/>
                <a:gd name="T32" fmla="+- 0 6205 6147"/>
                <a:gd name="T33" fmla="*/ T32 w 75"/>
                <a:gd name="T34" fmla="+- 0 2453 2379"/>
                <a:gd name="T35" fmla="*/ 2453 h 82"/>
                <a:gd name="T36" fmla="+- 0 6193 6147"/>
                <a:gd name="T37" fmla="*/ T36 w 75"/>
                <a:gd name="T38" fmla="+- 0 2460 2379"/>
                <a:gd name="T39" fmla="*/ 2460 h 82"/>
                <a:gd name="T40" fmla="+- 0 6176 6147"/>
                <a:gd name="T41" fmla="*/ T40 w 75"/>
                <a:gd name="T42" fmla="+- 0 2460 2379"/>
                <a:gd name="T43" fmla="*/ 2460 h 82"/>
                <a:gd name="T44" fmla="+- 0 6169 6147"/>
                <a:gd name="T45" fmla="*/ T44 w 75"/>
                <a:gd name="T46" fmla="+- 0 2458 2379"/>
                <a:gd name="T47" fmla="*/ 2458 h 82"/>
                <a:gd name="T48" fmla="+- 0 6162 6147"/>
                <a:gd name="T49" fmla="*/ T48 w 75"/>
                <a:gd name="T50" fmla="+- 0 2453 2379"/>
                <a:gd name="T51" fmla="*/ 2453 h 82"/>
                <a:gd name="T52" fmla="+- 0 6159 6147"/>
                <a:gd name="T53" fmla="*/ T52 w 75"/>
                <a:gd name="T54" fmla="+- 0 2446 2379"/>
                <a:gd name="T55" fmla="*/ 2446 h 82"/>
                <a:gd name="T56" fmla="+- 0 6147 6147"/>
                <a:gd name="T57" fmla="*/ T56 w 75"/>
                <a:gd name="T58" fmla="+- 0 2422 2379"/>
                <a:gd name="T59" fmla="*/ 2422 h 82"/>
                <a:gd name="T60" fmla="+- 0 6147 6147"/>
                <a:gd name="T61" fmla="*/ T60 w 75"/>
                <a:gd name="T62" fmla="+- 0 2410 2379"/>
                <a:gd name="T63" fmla="*/ 2410 h 82"/>
                <a:gd name="T64" fmla="+- 0 6154 6147"/>
                <a:gd name="T65" fmla="*/ T64 w 75"/>
                <a:gd name="T66" fmla="+- 0 2400 2379"/>
                <a:gd name="T67" fmla="*/ 2400 h 82"/>
                <a:gd name="T68" fmla="+- 0 6159 6147"/>
                <a:gd name="T69" fmla="*/ T68 w 75"/>
                <a:gd name="T70" fmla="+- 0 2388 2379"/>
                <a:gd name="T71" fmla="*/ 2388 h 82"/>
                <a:gd name="T72" fmla="+- 0 6164 6147"/>
                <a:gd name="T73" fmla="*/ T72 w 75"/>
                <a:gd name="T74" fmla="+- 0 2381 2379"/>
                <a:gd name="T75" fmla="*/ 2381 h 82"/>
                <a:gd name="T76" fmla="+- 0 6176 6147"/>
                <a:gd name="T77" fmla="*/ T76 w 75"/>
                <a:gd name="T78" fmla="+- 0 2379 2379"/>
                <a:gd name="T79" fmla="*/ 2379 h 82"/>
                <a:gd name="T80" fmla="+- 0 6186 6147"/>
                <a:gd name="T81" fmla="*/ T80 w 75"/>
                <a:gd name="T82" fmla="+- 0 2379 2379"/>
                <a:gd name="T83" fmla="*/ 2379 h 8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Lst>
              <a:rect l="0" t="0" r="r" b="b"/>
              <a:pathLst>
                <a:path w="75" h="82">
                  <a:moveTo>
                    <a:pt x="39" y="0"/>
                  </a:moveTo>
                  <a:lnTo>
                    <a:pt x="46" y="0"/>
                  </a:lnTo>
                  <a:lnTo>
                    <a:pt x="53" y="2"/>
                  </a:lnTo>
                  <a:lnTo>
                    <a:pt x="60" y="7"/>
                  </a:lnTo>
                  <a:lnTo>
                    <a:pt x="67" y="14"/>
                  </a:lnTo>
                  <a:lnTo>
                    <a:pt x="75" y="24"/>
                  </a:lnTo>
                  <a:lnTo>
                    <a:pt x="75" y="50"/>
                  </a:lnTo>
                  <a:lnTo>
                    <a:pt x="72" y="60"/>
                  </a:lnTo>
                  <a:lnTo>
                    <a:pt x="58" y="74"/>
                  </a:lnTo>
                  <a:lnTo>
                    <a:pt x="46" y="81"/>
                  </a:lnTo>
                  <a:lnTo>
                    <a:pt x="29" y="81"/>
                  </a:lnTo>
                  <a:lnTo>
                    <a:pt x="22" y="79"/>
                  </a:lnTo>
                  <a:lnTo>
                    <a:pt x="15" y="74"/>
                  </a:lnTo>
                  <a:lnTo>
                    <a:pt x="12" y="67"/>
                  </a:lnTo>
                  <a:lnTo>
                    <a:pt x="0" y="43"/>
                  </a:lnTo>
                  <a:lnTo>
                    <a:pt x="0" y="31"/>
                  </a:lnTo>
                  <a:lnTo>
                    <a:pt x="7" y="21"/>
                  </a:lnTo>
                  <a:lnTo>
                    <a:pt x="12" y="9"/>
                  </a:lnTo>
                  <a:lnTo>
                    <a:pt x="17" y="2"/>
                  </a:lnTo>
                  <a:lnTo>
                    <a:pt x="29" y="0"/>
                  </a:lnTo>
                  <a:lnTo>
                    <a:pt x="39"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8" name="Freeform 49">
              <a:extLst>
                <a:ext uri="{FF2B5EF4-FFF2-40B4-BE49-F238E27FC236}">
                  <a16:creationId xmlns:a16="http://schemas.microsoft.com/office/drawing/2014/main" id="{6AB658AA-47A2-6E8A-FE1B-3408D373D3F0}"/>
                </a:ext>
              </a:extLst>
            </p:cNvPr>
            <p:cNvSpPr>
              <a:spLocks/>
            </p:cNvSpPr>
            <p:nvPr/>
          </p:nvSpPr>
          <p:spPr bwMode="auto">
            <a:xfrm>
              <a:off x="6161" y="2381"/>
              <a:ext cx="46" cy="72"/>
            </a:xfrm>
            <a:custGeom>
              <a:avLst/>
              <a:gdLst>
                <a:gd name="T0" fmla="+- 0 6183 6162"/>
                <a:gd name="T1" fmla="*/ T0 w 46"/>
                <a:gd name="T2" fmla="+- 0 2381 2381"/>
                <a:gd name="T3" fmla="*/ 2381 h 72"/>
                <a:gd name="T4" fmla="+- 0 6178 6162"/>
                <a:gd name="T5" fmla="*/ T4 w 46"/>
                <a:gd name="T6" fmla="+- 0 2381 2381"/>
                <a:gd name="T7" fmla="*/ 2381 h 72"/>
                <a:gd name="T8" fmla="+- 0 6171 6162"/>
                <a:gd name="T9" fmla="*/ T8 w 46"/>
                <a:gd name="T10" fmla="+- 0 2386 2381"/>
                <a:gd name="T11" fmla="*/ 2386 h 72"/>
                <a:gd name="T12" fmla="+- 0 6169 6162"/>
                <a:gd name="T13" fmla="*/ T12 w 46"/>
                <a:gd name="T14" fmla="+- 0 2388 2381"/>
                <a:gd name="T15" fmla="*/ 2388 h 72"/>
                <a:gd name="T16" fmla="+- 0 6164 6162"/>
                <a:gd name="T17" fmla="*/ T16 w 46"/>
                <a:gd name="T18" fmla="+- 0 2396 2381"/>
                <a:gd name="T19" fmla="*/ 2396 h 72"/>
                <a:gd name="T20" fmla="+- 0 6164 6162"/>
                <a:gd name="T21" fmla="*/ T20 w 46"/>
                <a:gd name="T22" fmla="+- 0 2403 2381"/>
                <a:gd name="T23" fmla="*/ 2403 h 72"/>
                <a:gd name="T24" fmla="+- 0 6162 6162"/>
                <a:gd name="T25" fmla="*/ T24 w 46"/>
                <a:gd name="T26" fmla="+- 0 2415 2381"/>
                <a:gd name="T27" fmla="*/ 2415 h 72"/>
                <a:gd name="T28" fmla="+- 0 6164 6162"/>
                <a:gd name="T29" fmla="*/ T28 w 46"/>
                <a:gd name="T30" fmla="+- 0 2429 2381"/>
                <a:gd name="T31" fmla="*/ 2429 h 72"/>
                <a:gd name="T32" fmla="+- 0 6169 6162"/>
                <a:gd name="T33" fmla="*/ T32 w 46"/>
                <a:gd name="T34" fmla="+- 0 2444 2381"/>
                <a:gd name="T35" fmla="*/ 2444 h 72"/>
                <a:gd name="T36" fmla="+- 0 6178 6162"/>
                <a:gd name="T37" fmla="*/ T36 w 46"/>
                <a:gd name="T38" fmla="+- 0 2451 2381"/>
                <a:gd name="T39" fmla="*/ 2451 h 72"/>
                <a:gd name="T40" fmla="+- 0 6186 6162"/>
                <a:gd name="T41" fmla="*/ T40 w 46"/>
                <a:gd name="T42" fmla="+- 0 2453 2381"/>
                <a:gd name="T43" fmla="*/ 2453 h 72"/>
                <a:gd name="T44" fmla="+- 0 6198 6162"/>
                <a:gd name="T45" fmla="*/ T44 w 46"/>
                <a:gd name="T46" fmla="+- 0 2453 2381"/>
                <a:gd name="T47" fmla="*/ 2453 h 72"/>
                <a:gd name="T48" fmla="+- 0 6200 6162"/>
                <a:gd name="T49" fmla="*/ T48 w 46"/>
                <a:gd name="T50" fmla="+- 0 2446 2381"/>
                <a:gd name="T51" fmla="*/ 2446 h 72"/>
                <a:gd name="T52" fmla="+- 0 6205 6162"/>
                <a:gd name="T53" fmla="*/ T52 w 46"/>
                <a:gd name="T54" fmla="+- 0 2439 2381"/>
                <a:gd name="T55" fmla="*/ 2439 h 72"/>
                <a:gd name="T56" fmla="+- 0 6207 6162"/>
                <a:gd name="T57" fmla="*/ T56 w 46"/>
                <a:gd name="T58" fmla="+- 0 2424 2381"/>
                <a:gd name="T59" fmla="*/ 2424 h 72"/>
                <a:gd name="T60" fmla="+- 0 6205 6162"/>
                <a:gd name="T61" fmla="*/ T60 w 46"/>
                <a:gd name="T62" fmla="+- 0 2408 2381"/>
                <a:gd name="T63" fmla="*/ 2408 h 72"/>
                <a:gd name="T64" fmla="+- 0 6198 6162"/>
                <a:gd name="T65" fmla="*/ T64 w 46"/>
                <a:gd name="T66" fmla="+- 0 2393 2381"/>
                <a:gd name="T67" fmla="*/ 2393 h 72"/>
                <a:gd name="T68" fmla="+- 0 6190 6162"/>
                <a:gd name="T69" fmla="*/ T68 w 46"/>
                <a:gd name="T70" fmla="+- 0 2386 2381"/>
                <a:gd name="T71" fmla="*/ 2386 h 72"/>
                <a:gd name="T72" fmla="+- 0 6183 6162"/>
                <a:gd name="T73" fmla="*/ T72 w 46"/>
                <a:gd name="T74" fmla="+- 0 2381 2381"/>
                <a:gd name="T75" fmla="*/ 2381 h 7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46" h="72">
                  <a:moveTo>
                    <a:pt x="21" y="0"/>
                  </a:moveTo>
                  <a:lnTo>
                    <a:pt x="16" y="0"/>
                  </a:lnTo>
                  <a:lnTo>
                    <a:pt x="9" y="5"/>
                  </a:lnTo>
                  <a:lnTo>
                    <a:pt x="7" y="7"/>
                  </a:lnTo>
                  <a:lnTo>
                    <a:pt x="2" y="15"/>
                  </a:lnTo>
                  <a:lnTo>
                    <a:pt x="2" y="22"/>
                  </a:lnTo>
                  <a:lnTo>
                    <a:pt x="0" y="34"/>
                  </a:lnTo>
                  <a:lnTo>
                    <a:pt x="2" y="48"/>
                  </a:lnTo>
                  <a:lnTo>
                    <a:pt x="7" y="63"/>
                  </a:lnTo>
                  <a:lnTo>
                    <a:pt x="16" y="70"/>
                  </a:lnTo>
                  <a:lnTo>
                    <a:pt x="24" y="72"/>
                  </a:lnTo>
                  <a:lnTo>
                    <a:pt x="36" y="72"/>
                  </a:lnTo>
                  <a:lnTo>
                    <a:pt x="38" y="65"/>
                  </a:lnTo>
                  <a:lnTo>
                    <a:pt x="43" y="58"/>
                  </a:lnTo>
                  <a:lnTo>
                    <a:pt x="45" y="43"/>
                  </a:lnTo>
                  <a:lnTo>
                    <a:pt x="43" y="27"/>
                  </a:lnTo>
                  <a:lnTo>
                    <a:pt x="36" y="12"/>
                  </a:lnTo>
                  <a:lnTo>
                    <a:pt x="28" y="5"/>
                  </a:lnTo>
                  <a:lnTo>
                    <a:pt x="21"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49" name="Freeform 50">
              <a:extLst>
                <a:ext uri="{FF2B5EF4-FFF2-40B4-BE49-F238E27FC236}">
                  <a16:creationId xmlns:a16="http://schemas.microsoft.com/office/drawing/2014/main" id="{2C64B946-B4F6-7D48-D57F-F6F442988C03}"/>
                </a:ext>
              </a:extLst>
            </p:cNvPr>
            <p:cNvSpPr>
              <a:spLocks/>
            </p:cNvSpPr>
            <p:nvPr/>
          </p:nvSpPr>
          <p:spPr bwMode="auto">
            <a:xfrm>
              <a:off x="6228" y="2378"/>
              <a:ext cx="135" cy="80"/>
            </a:xfrm>
            <a:custGeom>
              <a:avLst/>
              <a:gdLst>
                <a:gd name="T0" fmla="+- 0 6258 6229"/>
                <a:gd name="T1" fmla="*/ T0 w 135"/>
                <a:gd name="T2" fmla="+- 0 2393 2379"/>
                <a:gd name="T3" fmla="*/ 2393 h 80"/>
                <a:gd name="T4" fmla="+- 0 6265 6229"/>
                <a:gd name="T5" fmla="*/ T4 w 135"/>
                <a:gd name="T6" fmla="+- 0 2388 2379"/>
                <a:gd name="T7" fmla="*/ 2388 h 80"/>
                <a:gd name="T8" fmla="+- 0 6274 6229"/>
                <a:gd name="T9" fmla="*/ T8 w 135"/>
                <a:gd name="T10" fmla="+- 0 2379 2379"/>
                <a:gd name="T11" fmla="*/ 2379 h 80"/>
                <a:gd name="T12" fmla="+- 0 6289 6229"/>
                <a:gd name="T13" fmla="*/ T12 w 135"/>
                <a:gd name="T14" fmla="+- 0 2379 2379"/>
                <a:gd name="T15" fmla="*/ 2379 h 80"/>
                <a:gd name="T16" fmla="+- 0 6296 6229"/>
                <a:gd name="T17" fmla="*/ T16 w 135"/>
                <a:gd name="T18" fmla="+- 0 2381 2379"/>
                <a:gd name="T19" fmla="*/ 2381 h 80"/>
                <a:gd name="T20" fmla="+- 0 6301 6229"/>
                <a:gd name="T21" fmla="*/ T20 w 135"/>
                <a:gd name="T22" fmla="+- 0 2386 2379"/>
                <a:gd name="T23" fmla="*/ 2386 h 80"/>
                <a:gd name="T24" fmla="+- 0 6303 6229"/>
                <a:gd name="T25" fmla="*/ T24 w 135"/>
                <a:gd name="T26" fmla="+- 0 2393 2379"/>
                <a:gd name="T27" fmla="*/ 2393 h 80"/>
                <a:gd name="T28" fmla="+- 0 6310 6229"/>
                <a:gd name="T29" fmla="*/ T28 w 135"/>
                <a:gd name="T30" fmla="+- 0 2386 2379"/>
                <a:gd name="T31" fmla="*/ 2386 h 80"/>
                <a:gd name="T32" fmla="+- 0 6318 6229"/>
                <a:gd name="T33" fmla="*/ T32 w 135"/>
                <a:gd name="T34" fmla="+- 0 2381 2379"/>
                <a:gd name="T35" fmla="*/ 2381 h 80"/>
                <a:gd name="T36" fmla="+- 0 6325 6229"/>
                <a:gd name="T37" fmla="*/ T36 w 135"/>
                <a:gd name="T38" fmla="+- 0 2379 2379"/>
                <a:gd name="T39" fmla="*/ 2379 h 80"/>
                <a:gd name="T40" fmla="+- 0 6337 6229"/>
                <a:gd name="T41" fmla="*/ T40 w 135"/>
                <a:gd name="T42" fmla="+- 0 2379 2379"/>
                <a:gd name="T43" fmla="*/ 2379 h 80"/>
                <a:gd name="T44" fmla="+- 0 6342 6229"/>
                <a:gd name="T45" fmla="*/ T44 w 135"/>
                <a:gd name="T46" fmla="+- 0 2381 2379"/>
                <a:gd name="T47" fmla="*/ 2381 h 80"/>
                <a:gd name="T48" fmla="+- 0 6346 6229"/>
                <a:gd name="T49" fmla="*/ T48 w 135"/>
                <a:gd name="T50" fmla="+- 0 2386 2379"/>
                <a:gd name="T51" fmla="*/ 2386 h 80"/>
                <a:gd name="T52" fmla="+- 0 6349 6229"/>
                <a:gd name="T53" fmla="*/ T52 w 135"/>
                <a:gd name="T54" fmla="+- 0 2393 2379"/>
                <a:gd name="T55" fmla="*/ 2393 h 80"/>
                <a:gd name="T56" fmla="+- 0 6349 6229"/>
                <a:gd name="T57" fmla="*/ T56 w 135"/>
                <a:gd name="T58" fmla="+- 0 2446 2379"/>
                <a:gd name="T59" fmla="*/ 2446 h 80"/>
                <a:gd name="T60" fmla="+- 0 6354 6229"/>
                <a:gd name="T61" fmla="*/ T60 w 135"/>
                <a:gd name="T62" fmla="+- 0 2451 2379"/>
                <a:gd name="T63" fmla="*/ 2451 h 80"/>
                <a:gd name="T64" fmla="+- 0 6354 6229"/>
                <a:gd name="T65" fmla="*/ T64 w 135"/>
                <a:gd name="T66" fmla="+- 0 2453 2379"/>
                <a:gd name="T67" fmla="*/ 2453 h 80"/>
                <a:gd name="T68" fmla="+- 0 6363 6229"/>
                <a:gd name="T69" fmla="*/ T68 w 135"/>
                <a:gd name="T70" fmla="+- 0 2453 2379"/>
                <a:gd name="T71" fmla="*/ 2453 h 80"/>
                <a:gd name="T72" fmla="+- 0 6363 6229"/>
                <a:gd name="T73" fmla="*/ T72 w 135"/>
                <a:gd name="T74" fmla="+- 0 2458 2379"/>
                <a:gd name="T75" fmla="*/ 2458 h 80"/>
                <a:gd name="T76" fmla="+- 0 6325 6229"/>
                <a:gd name="T77" fmla="*/ T76 w 135"/>
                <a:gd name="T78" fmla="+- 0 2458 2379"/>
                <a:gd name="T79" fmla="*/ 2458 h 80"/>
                <a:gd name="T80" fmla="+- 0 6325 6229"/>
                <a:gd name="T81" fmla="*/ T80 w 135"/>
                <a:gd name="T82" fmla="+- 0 2453 2379"/>
                <a:gd name="T83" fmla="*/ 2453 h 80"/>
                <a:gd name="T84" fmla="+- 0 6337 6229"/>
                <a:gd name="T85" fmla="*/ T84 w 135"/>
                <a:gd name="T86" fmla="+- 0 2453 2379"/>
                <a:gd name="T87" fmla="*/ 2453 h 80"/>
                <a:gd name="T88" fmla="+- 0 6337 6229"/>
                <a:gd name="T89" fmla="*/ T88 w 135"/>
                <a:gd name="T90" fmla="+- 0 2393 2379"/>
                <a:gd name="T91" fmla="*/ 2393 h 80"/>
                <a:gd name="T92" fmla="+- 0 6332 6229"/>
                <a:gd name="T93" fmla="*/ T92 w 135"/>
                <a:gd name="T94" fmla="+- 0 2388 2379"/>
                <a:gd name="T95" fmla="*/ 2388 h 80"/>
                <a:gd name="T96" fmla="+- 0 6315 6229"/>
                <a:gd name="T97" fmla="*/ T96 w 135"/>
                <a:gd name="T98" fmla="+- 0 2388 2379"/>
                <a:gd name="T99" fmla="*/ 2388 h 80"/>
                <a:gd name="T100" fmla="+- 0 6303 6229"/>
                <a:gd name="T101" fmla="*/ T100 w 135"/>
                <a:gd name="T102" fmla="+- 0 2400 2379"/>
                <a:gd name="T103" fmla="*/ 2400 h 80"/>
                <a:gd name="T104" fmla="+- 0 6303 6229"/>
                <a:gd name="T105" fmla="*/ T104 w 135"/>
                <a:gd name="T106" fmla="+- 0 2451 2379"/>
                <a:gd name="T107" fmla="*/ 2451 h 80"/>
                <a:gd name="T108" fmla="+- 0 6308 6229"/>
                <a:gd name="T109" fmla="*/ T108 w 135"/>
                <a:gd name="T110" fmla="+- 0 2453 2379"/>
                <a:gd name="T111" fmla="*/ 2453 h 80"/>
                <a:gd name="T112" fmla="+- 0 6318 6229"/>
                <a:gd name="T113" fmla="*/ T112 w 135"/>
                <a:gd name="T114" fmla="+- 0 2453 2379"/>
                <a:gd name="T115" fmla="*/ 2453 h 80"/>
                <a:gd name="T116" fmla="+- 0 6318 6229"/>
                <a:gd name="T117" fmla="*/ T116 w 135"/>
                <a:gd name="T118" fmla="+- 0 2458 2379"/>
                <a:gd name="T119" fmla="*/ 2458 h 80"/>
                <a:gd name="T120" fmla="+- 0 6279 6229"/>
                <a:gd name="T121" fmla="*/ T120 w 135"/>
                <a:gd name="T122" fmla="+- 0 2458 2379"/>
                <a:gd name="T123" fmla="*/ 2458 h 80"/>
                <a:gd name="T124" fmla="+- 0 6279 6229"/>
                <a:gd name="T125" fmla="*/ T124 w 135"/>
                <a:gd name="T126" fmla="+- 0 2453 2379"/>
                <a:gd name="T127" fmla="*/ 2453 h 80"/>
                <a:gd name="T128" fmla="+- 0 6286 6229"/>
                <a:gd name="T129" fmla="*/ T128 w 135"/>
                <a:gd name="T130" fmla="+- 0 2453 2379"/>
                <a:gd name="T131" fmla="*/ 2453 h 80"/>
                <a:gd name="T132" fmla="+- 0 6289 6229"/>
                <a:gd name="T133" fmla="*/ T132 w 135"/>
                <a:gd name="T134" fmla="+- 0 2451 2379"/>
                <a:gd name="T135" fmla="*/ 2451 h 80"/>
                <a:gd name="T136" fmla="+- 0 6289 6229"/>
                <a:gd name="T137" fmla="*/ T136 w 135"/>
                <a:gd name="T138" fmla="+- 0 2400 2379"/>
                <a:gd name="T139" fmla="*/ 2400 h 80"/>
                <a:gd name="T140" fmla="+- 0 6286 6229"/>
                <a:gd name="T141" fmla="*/ T140 w 135"/>
                <a:gd name="T142" fmla="+- 0 2393 2379"/>
                <a:gd name="T143" fmla="*/ 2393 h 80"/>
                <a:gd name="T144" fmla="+- 0 6282 6229"/>
                <a:gd name="T145" fmla="*/ T144 w 135"/>
                <a:gd name="T146" fmla="+- 0 2388 2379"/>
                <a:gd name="T147" fmla="*/ 2388 h 80"/>
                <a:gd name="T148" fmla="+- 0 6267 6229"/>
                <a:gd name="T149" fmla="*/ T148 w 135"/>
                <a:gd name="T150" fmla="+- 0 2388 2379"/>
                <a:gd name="T151" fmla="*/ 2388 h 80"/>
                <a:gd name="T152" fmla="+- 0 6260 6229"/>
                <a:gd name="T153" fmla="*/ T152 w 135"/>
                <a:gd name="T154" fmla="+- 0 2393 2379"/>
                <a:gd name="T155" fmla="*/ 2393 h 80"/>
                <a:gd name="T156" fmla="+- 0 6258 6229"/>
                <a:gd name="T157" fmla="*/ T156 w 135"/>
                <a:gd name="T158" fmla="+- 0 2400 2379"/>
                <a:gd name="T159" fmla="*/ 2400 h 80"/>
                <a:gd name="T160" fmla="+- 0 6258 6229"/>
                <a:gd name="T161" fmla="*/ T160 w 135"/>
                <a:gd name="T162" fmla="+- 0 2451 2379"/>
                <a:gd name="T163" fmla="*/ 2451 h 80"/>
                <a:gd name="T164" fmla="+- 0 6260 6229"/>
                <a:gd name="T165" fmla="*/ T164 w 135"/>
                <a:gd name="T166" fmla="+- 0 2453 2379"/>
                <a:gd name="T167" fmla="*/ 2453 h 80"/>
                <a:gd name="T168" fmla="+- 0 6267 6229"/>
                <a:gd name="T169" fmla="*/ T168 w 135"/>
                <a:gd name="T170" fmla="+- 0 2453 2379"/>
                <a:gd name="T171" fmla="*/ 2453 h 80"/>
                <a:gd name="T172" fmla="+- 0 6267 6229"/>
                <a:gd name="T173" fmla="*/ T172 w 135"/>
                <a:gd name="T174" fmla="+- 0 2458 2379"/>
                <a:gd name="T175" fmla="*/ 2458 h 80"/>
                <a:gd name="T176" fmla="+- 0 6234 6229"/>
                <a:gd name="T177" fmla="*/ T176 w 135"/>
                <a:gd name="T178" fmla="+- 0 2458 2379"/>
                <a:gd name="T179" fmla="*/ 2458 h 80"/>
                <a:gd name="T180" fmla="+- 0 6234 6229"/>
                <a:gd name="T181" fmla="*/ T180 w 135"/>
                <a:gd name="T182" fmla="+- 0 2453 2379"/>
                <a:gd name="T183" fmla="*/ 2453 h 80"/>
                <a:gd name="T184" fmla="+- 0 6241 6229"/>
                <a:gd name="T185" fmla="*/ T184 w 135"/>
                <a:gd name="T186" fmla="+- 0 2453 2379"/>
                <a:gd name="T187" fmla="*/ 2453 h 80"/>
                <a:gd name="T188" fmla="+- 0 6243 6229"/>
                <a:gd name="T189" fmla="*/ T188 w 135"/>
                <a:gd name="T190" fmla="+- 0 2451 2379"/>
                <a:gd name="T191" fmla="*/ 2451 h 80"/>
                <a:gd name="T192" fmla="+- 0 6243 6229"/>
                <a:gd name="T193" fmla="*/ T192 w 135"/>
                <a:gd name="T194" fmla="+- 0 2393 2379"/>
                <a:gd name="T195" fmla="*/ 2393 h 80"/>
                <a:gd name="T196" fmla="+- 0 6241 6229"/>
                <a:gd name="T197" fmla="*/ T196 w 135"/>
                <a:gd name="T198" fmla="+- 0 2388 2379"/>
                <a:gd name="T199" fmla="*/ 2388 h 80"/>
                <a:gd name="T200" fmla="+- 0 6234 6229"/>
                <a:gd name="T201" fmla="*/ T200 w 135"/>
                <a:gd name="T202" fmla="+- 0 2388 2379"/>
                <a:gd name="T203" fmla="*/ 2388 h 80"/>
                <a:gd name="T204" fmla="+- 0 6229 6229"/>
                <a:gd name="T205" fmla="*/ T204 w 135"/>
                <a:gd name="T206" fmla="+- 0 2386 2379"/>
                <a:gd name="T207" fmla="*/ 2386 h 80"/>
                <a:gd name="T208" fmla="+- 0 6253 6229"/>
                <a:gd name="T209" fmla="*/ T208 w 135"/>
                <a:gd name="T210" fmla="+- 0 2379 2379"/>
                <a:gd name="T211" fmla="*/ 2379 h 80"/>
                <a:gd name="T212" fmla="+- 0 6258 6229"/>
                <a:gd name="T213" fmla="*/ T212 w 135"/>
                <a:gd name="T214" fmla="+- 0 2379 2379"/>
                <a:gd name="T215" fmla="*/ 2379 h 80"/>
                <a:gd name="T216" fmla="+- 0 6258 6229"/>
                <a:gd name="T217" fmla="*/ T216 w 135"/>
                <a:gd name="T218" fmla="+- 0 2393 2379"/>
                <a:gd name="T219" fmla="*/ 2393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Lst>
              <a:rect l="0" t="0" r="r" b="b"/>
              <a:pathLst>
                <a:path w="135" h="80">
                  <a:moveTo>
                    <a:pt x="29" y="14"/>
                  </a:moveTo>
                  <a:lnTo>
                    <a:pt x="36" y="9"/>
                  </a:lnTo>
                  <a:lnTo>
                    <a:pt x="45" y="0"/>
                  </a:lnTo>
                  <a:lnTo>
                    <a:pt x="60" y="0"/>
                  </a:lnTo>
                  <a:lnTo>
                    <a:pt x="67" y="2"/>
                  </a:lnTo>
                  <a:lnTo>
                    <a:pt x="72" y="7"/>
                  </a:lnTo>
                  <a:lnTo>
                    <a:pt x="74" y="14"/>
                  </a:lnTo>
                  <a:lnTo>
                    <a:pt x="81" y="7"/>
                  </a:lnTo>
                  <a:lnTo>
                    <a:pt x="89" y="2"/>
                  </a:lnTo>
                  <a:lnTo>
                    <a:pt x="96" y="0"/>
                  </a:lnTo>
                  <a:lnTo>
                    <a:pt x="108" y="0"/>
                  </a:lnTo>
                  <a:lnTo>
                    <a:pt x="113" y="2"/>
                  </a:lnTo>
                  <a:lnTo>
                    <a:pt x="117" y="7"/>
                  </a:lnTo>
                  <a:lnTo>
                    <a:pt x="120" y="14"/>
                  </a:lnTo>
                  <a:lnTo>
                    <a:pt x="120" y="67"/>
                  </a:lnTo>
                  <a:lnTo>
                    <a:pt x="125" y="72"/>
                  </a:lnTo>
                  <a:lnTo>
                    <a:pt x="125" y="74"/>
                  </a:lnTo>
                  <a:lnTo>
                    <a:pt x="134" y="74"/>
                  </a:lnTo>
                  <a:lnTo>
                    <a:pt x="134" y="79"/>
                  </a:lnTo>
                  <a:lnTo>
                    <a:pt x="96" y="79"/>
                  </a:lnTo>
                  <a:lnTo>
                    <a:pt x="96" y="74"/>
                  </a:lnTo>
                  <a:lnTo>
                    <a:pt x="108" y="74"/>
                  </a:lnTo>
                  <a:lnTo>
                    <a:pt x="108" y="14"/>
                  </a:lnTo>
                  <a:lnTo>
                    <a:pt x="103" y="9"/>
                  </a:lnTo>
                  <a:lnTo>
                    <a:pt x="86" y="9"/>
                  </a:lnTo>
                  <a:lnTo>
                    <a:pt x="74" y="21"/>
                  </a:lnTo>
                  <a:lnTo>
                    <a:pt x="74" y="72"/>
                  </a:lnTo>
                  <a:lnTo>
                    <a:pt x="79" y="74"/>
                  </a:lnTo>
                  <a:lnTo>
                    <a:pt x="89" y="74"/>
                  </a:lnTo>
                  <a:lnTo>
                    <a:pt x="89" y="79"/>
                  </a:lnTo>
                  <a:lnTo>
                    <a:pt x="50" y="79"/>
                  </a:lnTo>
                  <a:lnTo>
                    <a:pt x="50" y="74"/>
                  </a:lnTo>
                  <a:lnTo>
                    <a:pt x="57" y="74"/>
                  </a:lnTo>
                  <a:lnTo>
                    <a:pt x="60" y="72"/>
                  </a:lnTo>
                  <a:lnTo>
                    <a:pt x="60" y="21"/>
                  </a:lnTo>
                  <a:lnTo>
                    <a:pt x="57" y="14"/>
                  </a:lnTo>
                  <a:lnTo>
                    <a:pt x="53" y="9"/>
                  </a:lnTo>
                  <a:lnTo>
                    <a:pt x="38" y="9"/>
                  </a:lnTo>
                  <a:lnTo>
                    <a:pt x="31" y="14"/>
                  </a:lnTo>
                  <a:lnTo>
                    <a:pt x="29" y="21"/>
                  </a:lnTo>
                  <a:lnTo>
                    <a:pt x="29" y="72"/>
                  </a:lnTo>
                  <a:lnTo>
                    <a:pt x="31" y="74"/>
                  </a:lnTo>
                  <a:lnTo>
                    <a:pt x="38" y="74"/>
                  </a:lnTo>
                  <a:lnTo>
                    <a:pt x="38" y="79"/>
                  </a:lnTo>
                  <a:lnTo>
                    <a:pt x="5" y="79"/>
                  </a:lnTo>
                  <a:lnTo>
                    <a:pt x="5" y="74"/>
                  </a:lnTo>
                  <a:lnTo>
                    <a:pt x="12" y="74"/>
                  </a:lnTo>
                  <a:lnTo>
                    <a:pt x="14" y="72"/>
                  </a:lnTo>
                  <a:lnTo>
                    <a:pt x="14" y="14"/>
                  </a:lnTo>
                  <a:lnTo>
                    <a:pt x="12" y="9"/>
                  </a:lnTo>
                  <a:lnTo>
                    <a:pt x="5" y="9"/>
                  </a:lnTo>
                  <a:lnTo>
                    <a:pt x="0" y="7"/>
                  </a:lnTo>
                  <a:lnTo>
                    <a:pt x="24" y="0"/>
                  </a:lnTo>
                  <a:lnTo>
                    <a:pt x="29" y="0"/>
                  </a:lnTo>
                  <a:lnTo>
                    <a:pt x="29" y="14"/>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50" name="Freeform 51">
              <a:extLst>
                <a:ext uri="{FF2B5EF4-FFF2-40B4-BE49-F238E27FC236}">
                  <a16:creationId xmlns:a16="http://schemas.microsoft.com/office/drawing/2014/main" id="{A6C1DA3A-6644-23DF-6225-63A3DB18D587}"/>
                </a:ext>
              </a:extLst>
            </p:cNvPr>
            <p:cNvSpPr>
              <a:spLocks/>
            </p:cNvSpPr>
            <p:nvPr/>
          </p:nvSpPr>
          <p:spPr bwMode="auto">
            <a:xfrm>
              <a:off x="6363" y="2378"/>
              <a:ext cx="87" cy="118"/>
            </a:xfrm>
            <a:custGeom>
              <a:avLst/>
              <a:gdLst>
                <a:gd name="T0" fmla="+- 0 6363 6363"/>
                <a:gd name="T1" fmla="*/ T0 w 87"/>
                <a:gd name="T2" fmla="+- 0 2379 2379"/>
                <a:gd name="T3" fmla="*/ 2379 h 118"/>
                <a:gd name="T4" fmla="+- 0 6399 6363"/>
                <a:gd name="T5" fmla="*/ T4 w 87"/>
                <a:gd name="T6" fmla="+- 0 2379 2379"/>
                <a:gd name="T7" fmla="*/ 2379 h 118"/>
                <a:gd name="T8" fmla="+- 0 6399 6363"/>
                <a:gd name="T9" fmla="*/ T8 w 87"/>
                <a:gd name="T10" fmla="+- 0 2381 2379"/>
                <a:gd name="T11" fmla="*/ 2381 h 118"/>
                <a:gd name="T12" fmla="+- 0 6397 6363"/>
                <a:gd name="T13" fmla="*/ T12 w 87"/>
                <a:gd name="T14" fmla="+- 0 2381 2379"/>
                <a:gd name="T15" fmla="*/ 2381 h 118"/>
                <a:gd name="T16" fmla="+- 0 6392 6363"/>
                <a:gd name="T17" fmla="*/ T16 w 87"/>
                <a:gd name="T18" fmla="+- 0 2386 2379"/>
                <a:gd name="T19" fmla="*/ 2386 h 118"/>
                <a:gd name="T20" fmla="+- 0 6392 6363"/>
                <a:gd name="T21" fmla="*/ T20 w 87"/>
                <a:gd name="T22" fmla="+- 0 2393 2379"/>
                <a:gd name="T23" fmla="*/ 2393 h 118"/>
                <a:gd name="T24" fmla="+- 0 6397 6363"/>
                <a:gd name="T25" fmla="*/ T24 w 87"/>
                <a:gd name="T26" fmla="+- 0 2396 2379"/>
                <a:gd name="T27" fmla="*/ 2396 h 118"/>
                <a:gd name="T28" fmla="+- 0 6414 6363"/>
                <a:gd name="T29" fmla="*/ T28 w 87"/>
                <a:gd name="T30" fmla="+- 0 2436 2379"/>
                <a:gd name="T31" fmla="*/ 2436 h 118"/>
                <a:gd name="T32" fmla="+- 0 6433 6363"/>
                <a:gd name="T33" fmla="*/ T32 w 87"/>
                <a:gd name="T34" fmla="+- 0 2393 2379"/>
                <a:gd name="T35" fmla="*/ 2393 h 118"/>
                <a:gd name="T36" fmla="+- 0 6433 6363"/>
                <a:gd name="T37" fmla="*/ T36 w 87"/>
                <a:gd name="T38" fmla="+- 0 2386 2379"/>
                <a:gd name="T39" fmla="*/ 2386 h 118"/>
                <a:gd name="T40" fmla="+- 0 6428 6363"/>
                <a:gd name="T41" fmla="*/ T40 w 87"/>
                <a:gd name="T42" fmla="+- 0 2381 2379"/>
                <a:gd name="T43" fmla="*/ 2381 h 118"/>
                <a:gd name="T44" fmla="+- 0 6426 6363"/>
                <a:gd name="T45" fmla="*/ T44 w 87"/>
                <a:gd name="T46" fmla="+- 0 2381 2379"/>
                <a:gd name="T47" fmla="*/ 2381 h 118"/>
                <a:gd name="T48" fmla="+- 0 6426 6363"/>
                <a:gd name="T49" fmla="*/ T48 w 87"/>
                <a:gd name="T50" fmla="+- 0 2379 2379"/>
                <a:gd name="T51" fmla="*/ 2379 h 118"/>
                <a:gd name="T52" fmla="+- 0 6450 6363"/>
                <a:gd name="T53" fmla="*/ T52 w 87"/>
                <a:gd name="T54" fmla="+- 0 2379 2379"/>
                <a:gd name="T55" fmla="*/ 2379 h 118"/>
                <a:gd name="T56" fmla="+- 0 6450 6363"/>
                <a:gd name="T57" fmla="*/ T56 w 87"/>
                <a:gd name="T58" fmla="+- 0 2381 2379"/>
                <a:gd name="T59" fmla="*/ 2381 h 118"/>
                <a:gd name="T60" fmla="+- 0 6445 6363"/>
                <a:gd name="T61" fmla="*/ T60 w 87"/>
                <a:gd name="T62" fmla="+- 0 2381 2379"/>
                <a:gd name="T63" fmla="*/ 2381 h 118"/>
                <a:gd name="T64" fmla="+- 0 6445 6363"/>
                <a:gd name="T65" fmla="*/ T64 w 87"/>
                <a:gd name="T66" fmla="+- 0 2386 2379"/>
                <a:gd name="T67" fmla="*/ 2386 h 118"/>
                <a:gd name="T68" fmla="+- 0 6442 6363"/>
                <a:gd name="T69" fmla="*/ T68 w 87"/>
                <a:gd name="T70" fmla="+- 0 2386 2379"/>
                <a:gd name="T71" fmla="*/ 2386 h 118"/>
                <a:gd name="T72" fmla="+- 0 6442 6363"/>
                <a:gd name="T73" fmla="*/ T72 w 87"/>
                <a:gd name="T74" fmla="+- 0 2388 2379"/>
                <a:gd name="T75" fmla="*/ 2388 h 118"/>
                <a:gd name="T76" fmla="+- 0 6438 6363"/>
                <a:gd name="T77" fmla="*/ T76 w 87"/>
                <a:gd name="T78" fmla="+- 0 2388 2379"/>
                <a:gd name="T79" fmla="*/ 2388 h 118"/>
                <a:gd name="T80" fmla="+- 0 6438 6363"/>
                <a:gd name="T81" fmla="*/ T80 w 87"/>
                <a:gd name="T82" fmla="+- 0 2396 2379"/>
                <a:gd name="T83" fmla="*/ 2396 h 118"/>
                <a:gd name="T84" fmla="+- 0 6406 6363"/>
                <a:gd name="T85" fmla="*/ T84 w 87"/>
                <a:gd name="T86" fmla="+- 0 2470 2379"/>
                <a:gd name="T87" fmla="*/ 2470 h 118"/>
                <a:gd name="T88" fmla="+- 0 6399 6363"/>
                <a:gd name="T89" fmla="*/ T88 w 87"/>
                <a:gd name="T90" fmla="+- 0 2482 2379"/>
                <a:gd name="T91" fmla="*/ 2482 h 118"/>
                <a:gd name="T92" fmla="+- 0 6397 6363"/>
                <a:gd name="T93" fmla="*/ T92 w 87"/>
                <a:gd name="T94" fmla="+- 0 2489 2379"/>
                <a:gd name="T95" fmla="*/ 2489 h 118"/>
                <a:gd name="T96" fmla="+- 0 6385 6363"/>
                <a:gd name="T97" fmla="*/ T96 w 87"/>
                <a:gd name="T98" fmla="+- 0 2492 2379"/>
                <a:gd name="T99" fmla="*/ 2492 h 118"/>
                <a:gd name="T100" fmla="+- 0 6382 6363"/>
                <a:gd name="T101" fmla="*/ T100 w 87"/>
                <a:gd name="T102" fmla="+- 0 2496 2379"/>
                <a:gd name="T103" fmla="*/ 2496 h 118"/>
                <a:gd name="T104" fmla="+- 0 6375 6363"/>
                <a:gd name="T105" fmla="*/ T104 w 87"/>
                <a:gd name="T106" fmla="+- 0 2496 2379"/>
                <a:gd name="T107" fmla="*/ 2496 h 118"/>
                <a:gd name="T108" fmla="+- 0 6370 6363"/>
                <a:gd name="T109" fmla="*/ T108 w 87"/>
                <a:gd name="T110" fmla="+- 0 2492 2379"/>
                <a:gd name="T111" fmla="*/ 2492 h 118"/>
                <a:gd name="T112" fmla="+- 0 6370 6363"/>
                <a:gd name="T113" fmla="*/ T112 w 87"/>
                <a:gd name="T114" fmla="+- 0 2489 2379"/>
                <a:gd name="T115" fmla="*/ 2489 h 118"/>
                <a:gd name="T116" fmla="+- 0 6368 6363"/>
                <a:gd name="T117" fmla="*/ T116 w 87"/>
                <a:gd name="T118" fmla="+- 0 2484 2379"/>
                <a:gd name="T119" fmla="*/ 2484 h 118"/>
                <a:gd name="T120" fmla="+- 0 6368 6363"/>
                <a:gd name="T121" fmla="*/ T120 w 87"/>
                <a:gd name="T122" fmla="+- 0 2482 2379"/>
                <a:gd name="T123" fmla="*/ 2482 h 118"/>
                <a:gd name="T124" fmla="+- 0 6370 6363"/>
                <a:gd name="T125" fmla="*/ T124 w 87"/>
                <a:gd name="T126" fmla="+- 0 2477 2379"/>
                <a:gd name="T127" fmla="*/ 2477 h 118"/>
                <a:gd name="T128" fmla="+- 0 6385 6363"/>
                <a:gd name="T129" fmla="*/ T128 w 87"/>
                <a:gd name="T130" fmla="+- 0 2477 2379"/>
                <a:gd name="T131" fmla="*/ 2477 h 118"/>
                <a:gd name="T132" fmla="+- 0 6390 6363"/>
                <a:gd name="T133" fmla="*/ T132 w 87"/>
                <a:gd name="T134" fmla="+- 0 2482 2379"/>
                <a:gd name="T135" fmla="*/ 2482 h 118"/>
                <a:gd name="T136" fmla="+- 0 6392 6363"/>
                <a:gd name="T137" fmla="*/ T136 w 87"/>
                <a:gd name="T138" fmla="+- 0 2482 2379"/>
                <a:gd name="T139" fmla="*/ 2482 h 118"/>
                <a:gd name="T140" fmla="+- 0 6399 6363"/>
                <a:gd name="T141" fmla="*/ T140 w 87"/>
                <a:gd name="T142" fmla="+- 0 2475 2379"/>
                <a:gd name="T143" fmla="*/ 2475 h 118"/>
                <a:gd name="T144" fmla="+- 0 6399 6363"/>
                <a:gd name="T145" fmla="*/ T144 w 87"/>
                <a:gd name="T146" fmla="+- 0 2468 2379"/>
                <a:gd name="T147" fmla="*/ 2468 h 118"/>
                <a:gd name="T148" fmla="+- 0 6406 6363"/>
                <a:gd name="T149" fmla="*/ T148 w 87"/>
                <a:gd name="T150" fmla="+- 0 2453 2379"/>
                <a:gd name="T151" fmla="*/ 2453 h 118"/>
                <a:gd name="T152" fmla="+- 0 6378 6363"/>
                <a:gd name="T153" fmla="*/ T152 w 87"/>
                <a:gd name="T154" fmla="+- 0 2396 2379"/>
                <a:gd name="T155" fmla="*/ 2396 h 118"/>
                <a:gd name="T156" fmla="+- 0 6378 6363"/>
                <a:gd name="T157" fmla="*/ T156 w 87"/>
                <a:gd name="T158" fmla="+- 0 2393 2379"/>
                <a:gd name="T159" fmla="*/ 2393 h 118"/>
                <a:gd name="T160" fmla="+- 0 6375 6363"/>
                <a:gd name="T161" fmla="*/ T160 w 87"/>
                <a:gd name="T162" fmla="+- 0 2388 2379"/>
                <a:gd name="T163" fmla="*/ 2388 h 118"/>
                <a:gd name="T164" fmla="+- 0 6370 6363"/>
                <a:gd name="T165" fmla="*/ T164 w 87"/>
                <a:gd name="T166" fmla="+- 0 2386 2379"/>
                <a:gd name="T167" fmla="*/ 2386 h 118"/>
                <a:gd name="T168" fmla="+- 0 6368 6363"/>
                <a:gd name="T169" fmla="*/ T168 w 87"/>
                <a:gd name="T170" fmla="+- 0 2386 2379"/>
                <a:gd name="T171" fmla="*/ 2386 h 118"/>
                <a:gd name="T172" fmla="+- 0 6363 6363"/>
                <a:gd name="T173" fmla="*/ T172 w 87"/>
                <a:gd name="T174" fmla="+- 0 2381 2379"/>
                <a:gd name="T175" fmla="*/ 2381 h 118"/>
                <a:gd name="T176" fmla="+- 0 6363 6363"/>
                <a:gd name="T177" fmla="*/ T176 w 87"/>
                <a:gd name="T178" fmla="+- 0 2379 2379"/>
                <a:gd name="T179" fmla="*/ 2379 h 11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87" h="118">
                  <a:moveTo>
                    <a:pt x="0" y="0"/>
                  </a:moveTo>
                  <a:lnTo>
                    <a:pt x="36" y="0"/>
                  </a:lnTo>
                  <a:lnTo>
                    <a:pt x="36" y="2"/>
                  </a:lnTo>
                  <a:lnTo>
                    <a:pt x="34" y="2"/>
                  </a:lnTo>
                  <a:lnTo>
                    <a:pt x="29" y="7"/>
                  </a:lnTo>
                  <a:lnTo>
                    <a:pt x="29" y="14"/>
                  </a:lnTo>
                  <a:lnTo>
                    <a:pt x="34" y="17"/>
                  </a:lnTo>
                  <a:lnTo>
                    <a:pt x="51" y="57"/>
                  </a:lnTo>
                  <a:lnTo>
                    <a:pt x="70" y="14"/>
                  </a:lnTo>
                  <a:lnTo>
                    <a:pt x="70" y="7"/>
                  </a:lnTo>
                  <a:lnTo>
                    <a:pt x="65" y="2"/>
                  </a:lnTo>
                  <a:lnTo>
                    <a:pt x="63" y="2"/>
                  </a:lnTo>
                  <a:lnTo>
                    <a:pt x="63" y="0"/>
                  </a:lnTo>
                  <a:lnTo>
                    <a:pt x="87" y="0"/>
                  </a:lnTo>
                  <a:lnTo>
                    <a:pt x="87" y="2"/>
                  </a:lnTo>
                  <a:lnTo>
                    <a:pt x="82" y="2"/>
                  </a:lnTo>
                  <a:lnTo>
                    <a:pt x="82" y="7"/>
                  </a:lnTo>
                  <a:lnTo>
                    <a:pt x="79" y="7"/>
                  </a:lnTo>
                  <a:lnTo>
                    <a:pt x="79" y="9"/>
                  </a:lnTo>
                  <a:lnTo>
                    <a:pt x="75" y="9"/>
                  </a:lnTo>
                  <a:lnTo>
                    <a:pt x="75" y="17"/>
                  </a:lnTo>
                  <a:lnTo>
                    <a:pt x="43" y="91"/>
                  </a:lnTo>
                  <a:lnTo>
                    <a:pt x="36" y="103"/>
                  </a:lnTo>
                  <a:lnTo>
                    <a:pt x="34" y="110"/>
                  </a:lnTo>
                  <a:lnTo>
                    <a:pt x="22" y="113"/>
                  </a:lnTo>
                  <a:lnTo>
                    <a:pt x="19" y="117"/>
                  </a:lnTo>
                  <a:lnTo>
                    <a:pt x="12" y="117"/>
                  </a:lnTo>
                  <a:lnTo>
                    <a:pt x="7" y="113"/>
                  </a:lnTo>
                  <a:lnTo>
                    <a:pt x="7" y="110"/>
                  </a:lnTo>
                  <a:lnTo>
                    <a:pt x="5" y="105"/>
                  </a:lnTo>
                  <a:lnTo>
                    <a:pt x="5" y="103"/>
                  </a:lnTo>
                  <a:lnTo>
                    <a:pt x="7" y="98"/>
                  </a:lnTo>
                  <a:lnTo>
                    <a:pt x="22" y="98"/>
                  </a:lnTo>
                  <a:lnTo>
                    <a:pt x="27" y="103"/>
                  </a:lnTo>
                  <a:lnTo>
                    <a:pt x="29" y="103"/>
                  </a:lnTo>
                  <a:lnTo>
                    <a:pt x="36" y="96"/>
                  </a:lnTo>
                  <a:lnTo>
                    <a:pt x="36" y="89"/>
                  </a:lnTo>
                  <a:lnTo>
                    <a:pt x="43" y="74"/>
                  </a:lnTo>
                  <a:lnTo>
                    <a:pt x="15" y="17"/>
                  </a:lnTo>
                  <a:lnTo>
                    <a:pt x="15" y="14"/>
                  </a:lnTo>
                  <a:lnTo>
                    <a:pt x="12" y="9"/>
                  </a:lnTo>
                  <a:lnTo>
                    <a:pt x="7" y="7"/>
                  </a:lnTo>
                  <a:lnTo>
                    <a:pt x="5" y="7"/>
                  </a:lnTo>
                  <a:lnTo>
                    <a:pt x="0" y="2"/>
                  </a:lnTo>
                  <a:lnTo>
                    <a:pt x="0" y="0"/>
                  </a:lnTo>
                </a:path>
              </a:pathLst>
            </a:custGeom>
            <a:grpFill/>
            <a:ln w="1524">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79248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5.3.3 Necessary steps (7Rs) to achieve a circular economy</a:t>
            </a:r>
          </a:p>
          <a:p>
            <a:endParaRPr lang="en-US" sz="2200" b="1" i="1" dirty="0">
              <a:latin typeface="Times New Roman" pitchFamily="18" charset="0"/>
              <a:cs typeface="Times New Roman" pitchFamily="18" charset="0"/>
            </a:endParaRPr>
          </a:p>
          <a:p>
            <a:r>
              <a:rPr lang="en-US" sz="2200" b="1" dirty="0">
                <a:latin typeface="Times New Roman" pitchFamily="18" charset="0"/>
                <a:cs typeface="Times New Roman" pitchFamily="18" charset="0"/>
              </a:rPr>
              <a:t>1. Redesign</a:t>
            </a:r>
          </a:p>
          <a:p>
            <a:pPr>
              <a:buFont typeface="Wingdings" pitchFamily="2" charset="2"/>
              <a:buChar char="q"/>
            </a:pPr>
            <a:r>
              <a:rPr lang="en-US" sz="2200" dirty="0">
                <a:solidFill>
                  <a:srgbClr val="002060"/>
                </a:solidFill>
                <a:latin typeface="Times New Roman" pitchFamily="18" charset="0"/>
                <a:cs typeface="Times New Roman" pitchFamily="18" charset="0"/>
              </a:rPr>
              <a:t>  Redesigning process consumes fewer raw materials, extends their life cycle and generates less waste.</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2. Reduce</a:t>
            </a:r>
          </a:p>
          <a:p>
            <a:pPr>
              <a:buFont typeface="Wingdings" pitchFamily="2" charset="2"/>
              <a:buChar char="q"/>
            </a:pPr>
            <a:r>
              <a:rPr lang="en-US" sz="2200" dirty="0">
                <a:solidFill>
                  <a:srgbClr val="002060"/>
                </a:solidFill>
                <a:latin typeface="Times New Roman" pitchFamily="18" charset="0"/>
                <a:cs typeface="Times New Roman" pitchFamily="18" charset="0"/>
              </a:rPr>
              <a:t>  If we reduce consumption, waste generation and use of raw materials, impact on the environment gets reduced.</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3. Reuse</a:t>
            </a:r>
          </a:p>
          <a:p>
            <a:pPr>
              <a:buFont typeface="Wingdings" pitchFamily="2" charset="2"/>
              <a:buChar char="q"/>
            </a:pPr>
            <a:r>
              <a:rPr lang="en-US" sz="2200" dirty="0">
                <a:solidFill>
                  <a:srgbClr val="002060"/>
                </a:solidFill>
                <a:latin typeface="Times New Roman" pitchFamily="18" charset="0"/>
                <a:cs typeface="Times New Roman" pitchFamily="18" charset="0"/>
              </a:rPr>
              <a:t>  Reusing the products extends their life cycle.</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4. Repair</a:t>
            </a:r>
          </a:p>
          <a:p>
            <a:pPr>
              <a:buFont typeface="Wingdings" pitchFamily="2" charset="2"/>
              <a:buChar char="q"/>
            </a:pPr>
            <a:r>
              <a:rPr lang="en-US" sz="2200" dirty="0">
                <a:solidFill>
                  <a:srgbClr val="002060"/>
                </a:solidFill>
                <a:latin typeface="Times New Roman" pitchFamily="18" charset="0"/>
                <a:cs typeface="Times New Roman" pitchFamily="18" charset="0"/>
              </a:rPr>
              <a:t>  Repairing avoids the use of new raw materials, saves energy and does not generate environmental waste.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848600" cy="5509200"/>
          </a:xfrm>
          <a:prstGeom prst="rect">
            <a:avLst/>
          </a:prstGeom>
        </p:spPr>
        <p:txBody>
          <a:bodyPr wrap="square">
            <a:spAutoFit/>
          </a:bodyPr>
          <a:lstStyle/>
          <a:p>
            <a:r>
              <a:rPr lang="en-US" sz="2200" b="1" dirty="0">
                <a:latin typeface="Times New Roman" pitchFamily="18" charset="0"/>
                <a:cs typeface="Times New Roman" pitchFamily="18" charset="0"/>
              </a:rPr>
              <a:t>5. Renovate</a:t>
            </a:r>
          </a:p>
          <a:p>
            <a:pPr>
              <a:buFont typeface="Wingdings" pitchFamily="2" charset="2"/>
              <a:buChar char="q"/>
            </a:pPr>
            <a:r>
              <a:rPr lang="en-US" sz="2200" dirty="0">
                <a:solidFill>
                  <a:srgbClr val="002060"/>
                </a:solidFill>
                <a:latin typeface="Times New Roman" pitchFamily="18" charset="0"/>
                <a:cs typeface="Times New Roman" pitchFamily="18" charset="0"/>
              </a:rPr>
              <a:t>  Update old objects, so that they can be reused.</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6. Recycle</a:t>
            </a:r>
          </a:p>
          <a:p>
            <a:pPr>
              <a:buFont typeface="Wingdings" pitchFamily="2" charset="2"/>
              <a:buChar char="q"/>
            </a:pPr>
            <a:r>
              <a:rPr lang="en-US" sz="2200" dirty="0">
                <a:solidFill>
                  <a:srgbClr val="002060"/>
                </a:solidFill>
                <a:latin typeface="Times New Roman" pitchFamily="18" charset="0"/>
                <a:cs typeface="Times New Roman" pitchFamily="18" charset="0"/>
              </a:rPr>
              <a:t>  Waste product can be used as raw material to manufacture new products.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7. Recover</a:t>
            </a:r>
          </a:p>
          <a:p>
            <a:pPr>
              <a:buFont typeface="Wingdings" pitchFamily="2" charset="2"/>
              <a:buChar char="q"/>
            </a:pPr>
            <a:r>
              <a:rPr lang="en-US" sz="2200" dirty="0">
                <a:solidFill>
                  <a:srgbClr val="002060"/>
                </a:solidFill>
                <a:latin typeface="Times New Roman" pitchFamily="18" charset="0"/>
                <a:cs typeface="Times New Roman" pitchFamily="18" charset="0"/>
              </a:rPr>
              <a:t>  The products that are going to be discarded, can be used for new uses.</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Example for Circular Economy</a:t>
            </a:r>
          </a:p>
          <a:p>
            <a:pPr lvl="1">
              <a:buFont typeface="Wingdings" pitchFamily="2" charset="2"/>
              <a:buChar char="ü"/>
            </a:pPr>
            <a:r>
              <a:rPr lang="en-US" sz="2200" dirty="0">
                <a:solidFill>
                  <a:srgbClr val="C00000"/>
                </a:solidFill>
                <a:latin typeface="Times New Roman" pitchFamily="18" charset="0"/>
                <a:cs typeface="Times New Roman" pitchFamily="18" charset="0"/>
              </a:rPr>
              <a:t>  Manufacturers design products to be reusable.</a:t>
            </a:r>
          </a:p>
          <a:p>
            <a:pPr lvl="1">
              <a:buFont typeface="Wingdings" pitchFamily="2" charset="2"/>
              <a:buChar char="ü"/>
            </a:pPr>
            <a:r>
              <a:rPr lang="en-US" sz="2200" dirty="0">
                <a:solidFill>
                  <a:srgbClr val="C00000"/>
                </a:solidFill>
                <a:latin typeface="Times New Roman" pitchFamily="18" charset="0"/>
                <a:cs typeface="Times New Roman" pitchFamily="18" charset="0"/>
              </a:rPr>
              <a:t>  Electrical devices are designed in such a way that they are easier to repair. Products and raw materials are also reused as much as possible.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01000" cy="5847755"/>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5.4 ISO 140000 SERIES</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ISO</a:t>
            </a:r>
          </a:p>
          <a:p>
            <a:pPr>
              <a:buFont typeface="Wingdings" pitchFamily="2" charset="2"/>
              <a:buChar char="v"/>
            </a:pPr>
            <a:r>
              <a:rPr lang="en-US" sz="2200" dirty="0">
                <a:solidFill>
                  <a:srgbClr val="002060"/>
                </a:solidFill>
                <a:latin typeface="Times New Roman" pitchFamily="18" charset="0"/>
                <a:cs typeface="Times New Roman" pitchFamily="18" charset="0"/>
              </a:rPr>
              <a:t>ISO is an International Organization for Standardization.</a:t>
            </a:r>
          </a:p>
          <a:p>
            <a:pPr>
              <a:buFont typeface="Wingdings" pitchFamily="2" charset="2"/>
              <a:buChar char="v"/>
            </a:pPr>
            <a:r>
              <a:rPr lang="en-US" sz="2200" dirty="0">
                <a:solidFill>
                  <a:srgbClr val="002060"/>
                </a:solidFill>
                <a:latin typeface="Times New Roman" pitchFamily="18" charset="0"/>
                <a:cs typeface="Times New Roman" pitchFamily="18" charset="0"/>
              </a:rPr>
              <a:t> It is composed of representatives from various national standard organizations. </a:t>
            </a:r>
          </a:p>
          <a:p>
            <a:pPr>
              <a:buFont typeface="Wingdings" pitchFamily="2" charset="2"/>
              <a:buChar char="v"/>
            </a:pPr>
            <a:r>
              <a:rPr lang="en-US" sz="2200" dirty="0">
                <a:solidFill>
                  <a:srgbClr val="002060"/>
                </a:solidFill>
                <a:latin typeface="Times New Roman" pitchFamily="18" charset="0"/>
                <a:cs typeface="Times New Roman" pitchFamily="18" charset="0"/>
              </a:rPr>
              <a:t>It provides standards and guidelines for a variety of businesses and purposes and publishes technical reports.</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ISO 14000 series</a:t>
            </a:r>
          </a:p>
          <a:p>
            <a:pPr>
              <a:buFont typeface="Wingdings" pitchFamily="2" charset="2"/>
              <a:buChar char="q"/>
            </a:pPr>
            <a:r>
              <a:rPr lang="en-US" sz="2200" dirty="0">
                <a:solidFill>
                  <a:srgbClr val="002060"/>
                </a:solidFill>
                <a:latin typeface="Times New Roman" pitchFamily="18" charset="0"/>
                <a:cs typeface="Times New Roman" pitchFamily="18" charset="0"/>
              </a:rPr>
              <a:t>It is a family of standards related to environmental management that exist to help organizations.</a:t>
            </a:r>
          </a:p>
          <a:p>
            <a:pPr lvl="1">
              <a:buFont typeface="Wingdings" pitchFamily="2" charset="2"/>
              <a:buChar char="ü"/>
            </a:pPr>
            <a:r>
              <a:rPr lang="en-US" sz="2200" dirty="0">
                <a:solidFill>
                  <a:srgbClr val="C00000"/>
                </a:solidFill>
                <a:latin typeface="Times New Roman" pitchFamily="18" charset="0"/>
                <a:cs typeface="Times New Roman" pitchFamily="18" charset="0"/>
              </a:rPr>
              <a:t>  minimize how their operations negatively affect the environment.</a:t>
            </a:r>
          </a:p>
          <a:p>
            <a:pPr lvl="1">
              <a:buFont typeface="Wingdings" pitchFamily="2" charset="2"/>
              <a:buChar char="ü"/>
            </a:pPr>
            <a:r>
              <a:rPr lang="en-US" sz="2200" dirty="0">
                <a:solidFill>
                  <a:srgbClr val="C00000"/>
                </a:solidFill>
                <a:latin typeface="Times New Roman" pitchFamily="18" charset="0"/>
                <a:cs typeface="Times New Roman" pitchFamily="18" charset="0"/>
              </a:rPr>
              <a:t> comply with applicable laws, regulations and other environmentally oriented requirements.</a:t>
            </a:r>
          </a:p>
          <a:p>
            <a:pPr lvl="1">
              <a:buFont typeface="Wingdings" pitchFamily="2" charset="2"/>
              <a:buChar char="ü"/>
            </a:pPr>
            <a:r>
              <a:rPr lang="en-US" sz="2200" dirty="0">
                <a:solidFill>
                  <a:srgbClr val="C00000"/>
                </a:solidFill>
                <a:latin typeface="Times New Roman" pitchFamily="18" charset="0"/>
                <a:cs typeface="Times New Roman" pitchFamily="18" charset="0"/>
              </a:rPr>
              <a:t>  continually improve with above.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8305800" cy="110799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5.4.1 Objective of ISO14000 series</a:t>
            </a:r>
          </a:p>
          <a:p>
            <a:pPr>
              <a:buFont typeface="Wingdings" pitchFamily="2" charset="2"/>
              <a:buChar char="q"/>
            </a:pPr>
            <a:r>
              <a:rPr lang="en-US" sz="2200" dirty="0">
                <a:solidFill>
                  <a:srgbClr val="002060"/>
                </a:solidFill>
                <a:latin typeface="Times New Roman" pitchFamily="18" charset="0"/>
                <a:cs typeface="Times New Roman" pitchFamily="18" charset="0"/>
              </a:rPr>
              <a:t>  The primary objective of ISO14000 series of standard is to promote effective environmental management systems in organizations.</a:t>
            </a:r>
          </a:p>
        </p:txBody>
      </p:sp>
      <p:sp>
        <p:nvSpPr>
          <p:cNvPr id="98307" name="Rectangle 3"/>
          <p:cNvSpPr>
            <a:spLocks noChangeArrowheads="1"/>
          </p:cNvSpPr>
          <p:nvPr/>
        </p:nvSpPr>
        <p:spPr bwMode="auto">
          <a:xfrm>
            <a:off x="3200400" y="5791200"/>
            <a:ext cx="2614818"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5.5 Logo of ISO</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pic>
        <p:nvPicPr>
          <p:cNvPr id="3" name="Picture 2">
            <a:extLst>
              <a:ext uri="{FF2B5EF4-FFF2-40B4-BE49-F238E27FC236}">
                <a16:creationId xmlns:a16="http://schemas.microsoft.com/office/drawing/2014/main" id="{D0B3596C-D0EF-48C7-3CB1-6B821EA89C09}"/>
              </a:ext>
            </a:extLst>
          </p:cNvPr>
          <p:cNvPicPr>
            <a:picLocks noChangeAspect="1"/>
          </p:cNvPicPr>
          <p:nvPr/>
        </p:nvPicPr>
        <p:blipFill>
          <a:blip r:embed="rId2"/>
          <a:stretch>
            <a:fillRect/>
          </a:stretch>
        </p:blipFill>
        <p:spPr>
          <a:xfrm>
            <a:off x="3048000" y="2819400"/>
            <a:ext cx="2514600" cy="2567427"/>
          </a:xfrm>
          <a:prstGeom prst="rect">
            <a:avLst/>
          </a:prstGeom>
          <a:solidFill>
            <a:schemeClr val="accent2"/>
          </a:solid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914400"/>
            <a:ext cx="8001000" cy="1785104"/>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5.4.2 List of ISO 14000 Series Standards</a:t>
            </a:r>
          </a:p>
          <a:p>
            <a:pPr>
              <a:buFont typeface="Wingdings" pitchFamily="2" charset="2"/>
              <a:buChar char="v"/>
            </a:pPr>
            <a:r>
              <a:rPr lang="en-US" sz="2200" dirty="0">
                <a:solidFill>
                  <a:srgbClr val="002060"/>
                </a:solidFill>
                <a:latin typeface="Times New Roman" pitchFamily="18" charset="0"/>
                <a:cs typeface="Times New Roman" pitchFamily="18" charset="0"/>
              </a:rPr>
              <a:t>  It includes a catalogue of over 50 Environmental management and performance related standards.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But some important ISO14000 series standards are listed here.</a:t>
            </a:r>
          </a:p>
        </p:txBody>
      </p:sp>
      <p:graphicFrame>
        <p:nvGraphicFramePr>
          <p:cNvPr id="3" name="Table 2"/>
          <p:cNvGraphicFramePr>
            <a:graphicFrameLocks noGrp="1"/>
          </p:cNvGraphicFramePr>
          <p:nvPr/>
        </p:nvGraphicFramePr>
        <p:xfrm>
          <a:off x="381000" y="3200400"/>
          <a:ext cx="8458200" cy="3048000"/>
        </p:xfrm>
        <a:graphic>
          <a:graphicData uri="http://schemas.openxmlformats.org/drawingml/2006/table">
            <a:tbl>
              <a:tblPr firstRow="1" bandRow="1">
                <a:tableStyleId>{21E4AEA4-8DFA-4A89-87EB-49C32662AFE0}</a:tableStyleId>
              </a:tblPr>
              <a:tblGrid>
                <a:gridCol w="1644650">
                  <a:extLst>
                    <a:ext uri="{9D8B030D-6E8A-4147-A177-3AD203B41FA5}">
                      <a16:colId xmlns:a16="http://schemas.microsoft.com/office/drawing/2014/main" val="20000"/>
                    </a:ext>
                  </a:extLst>
                </a:gridCol>
                <a:gridCol w="399415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tblGrid>
              <a:tr h="370840">
                <a:tc>
                  <a:txBody>
                    <a:bodyPr/>
                    <a:lstStyle/>
                    <a:p>
                      <a:r>
                        <a:rPr kumimoji="0" lang="en-US" sz="2200" kern="1200" baseline="0" dirty="0">
                          <a:solidFill>
                            <a:srgbClr val="C00000"/>
                          </a:solidFill>
                          <a:latin typeface="Times New Roman" pitchFamily="18" charset="0"/>
                          <a:cs typeface="Times New Roman" pitchFamily="18" charset="0"/>
                        </a:rPr>
                        <a:t>Standard</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Title</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Applications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ISO14001</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management</a:t>
                      </a:r>
                    </a:p>
                    <a:p>
                      <a:r>
                        <a:rPr kumimoji="0" lang="en-US" sz="2200" kern="1200" baseline="0" dirty="0">
                          <a:solidFill>
                            <a:srgbClr val="C00000"/>
                          </a:solidFill>
                          <a:latin typeface="Times New Roman" pitchFamily="18" charset="0"/>
                          <a:cs typeface="Times New Roman" pitchFamily="18" charset="0"/>
                        </a:rPr>
                        <a:t>system.</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Requirements with guidance for use.</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ISO14004</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management system.</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General guidelines on implementation.</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ISO14005</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management system.</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Guidelines for flexible approach to implementation.</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33400" y="1143000"/>
          <a:ext cx="8001000" cy="5242560"/>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3276600">
                  <a:extLst>
                    <a:ext uri="{9D8B030D-6E8A-4147-A177-3AD203B41FA5}">
                      <a16:colId xmlns:a16="http://schemas.microsoft.com/office/drawing/2014/main" val="20002"/>
                    </a:ext>
                  </a:extLst>
                </a:gridCol>
              </a:tblGrid>
              <a:tr h="370840">
                <a:tc>
                  <a:txBody>
                    <a:bodyPr/>
                    <a:lstStyle/>
                    <a:p>
                      <a:r>
                        <a:rPr kumimoji="0" lang="en-US" sz="2200" kern="1200" baseline="0" dirty="0">
                          <a:solidFill>
                            <a:srgbClr val="C00000"/>
                          </a:solidFill>
                          <a:latin typeface="Times New Roman" pitchFamily="18" charset="0"/>
                          <a:cs typeface="Times New Roman" pitchFamily="18" charset="0"/>
                        </a:rPr>
                        <a:t>Standard</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Title</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Applications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ISO14015</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assessment of sites.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ISO14020 to</a:t>
                      </a:r>
                    </a:p>
                    <a:p>
                      <a:r>
                        <a:rPr kumimoji="0" lang="en-US" sz="2200" kern="1200" baseline="0" dirty="0">
                          <a:solidFill>
                            <a:srgbClr val="C00000"/>
                          </a:solidFill>
                          <a:latin typeface="Times New Roman" pitchFamily="18" charset="0"/>
                          <a:cs typeface="Times New Roman" pitchFamily="18" charset="0"/>
                        </a:rPr>
                        <a:t>14025</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labels and declarations.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ISO14030</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Green bonds.</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performance of nominated projects</a:t>
                      </a:r>
                    </a:p>
                    <a:p>
                      <a:r>
                        <a:rPr kumimoji="0" lang="en-US" sz="2200" kern="1200" baseline="0" dirty="0">
                          <a:solidFill>
                            <a:srgbClr val="C00000"/>
                          </a:solidFill>
                          <a:latin typeface="Times New Roman" pitchFamily="18" charset="0"/>
                          <a:cs typeface="Times New Roman" pitchFamily="18" charset="0"/>
                        </a:rPr>
                        <a:t>and assets.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ISO14031</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 performance evaluation &amp; Guidelines.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ISO14040 to</a:t>
                      </a:r>
                    </a:p>
                    <a:p>
                      <a:r>
                        <a:rPr kumimoji="0" lang="en-US" sz="2200" kern="1200" baseline="0" dirty="0">
                          <a:solidFill>
                            <a:srgbClr val="C00000"/>
                          </a:solidFill>
                          <a:latin typeface="Times New Roman" pitchFamily="18" charset="0"/>
                          <a:cs typeface="Times New Roman" pitchFamily="18" charset="0"/>
                        </a:rPr>
                        <a:t>14049</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Discusses pre-production planning.</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62000" y="1397000"/>
          <a:ext cx="7924800" cy="4572000"/>
        </p:xfrm>
        <a:graphic>
          <a:graphicData uri="http://schemas.openxmlformats.org/drawingml/2006/table">
            <a:tbl>
              <a:tblPr firstRow="1" bandRow="1">
                <a:tableStyleId>{21E4AEA4-8DFA-4A89-87EB-49C32662AFE0}</a:tableStyleId>
              </a:tblPr>
              <a:tblGrid>
                <a:gridCol w="26416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370840">
                <a:tc>
                  <a:txBody>
                    <a:bodyPr/>
                    <a:lstStyle/>
                    <a:p>
                      <a:r>
                        <a:rPr kumimoji="0" lang="en-US" sz="2200" kern="1200" baseline="0" dirty="0">
                          <a:solidFill>
                            <a:srgbClr val="C00000"/>
                          </a:solidFill>
                          <a:latin typeface="Times New Roman" pitchFamily="18" charset="0"/>
                          <a:cs typeface="Times New Roman" pitchFamily="18" charset="0"/>
                        </a:rPr>
                        <a:t>Standard</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Title</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Applications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ISO14050</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Vocabulary, terms</a:t>
                      </a:r>
                    </a:p>
                    <a:p>
                      <a:r>
                        <a:rPr kumimoji="0" lang="en-US" sz="2200" kern="1200" baseline="0" dirty="0">
                          <a:solidFill>
                            <a:srgbClr val="C00000"/>
                          </a:solidFill>
                          <a:latin typeface="Times New Roman" pitchFamily="18" charset="0"/>
                          <a:cs typeface="Times New Roman" pitchFamily="18" charset="0"/>
                        </a:rPr>
                        <a:t>and definitions.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ISO14062</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Product design and</a:t>
                      </a:r>
                    </a:p>
                    <a:p>
                      <a:r>
                        <a:rPr kumimoji="0" lang="en-US" sz="2200" kern="1200" baseline="0" dirty="0">
                          <a:solidFill>
                            <a:srgbClr val="C00000"/>
                          </a:solidFill>
                          <a:latin typeface="Times New Roman" pitchFamily="18" charset="0"/>
                          <a:cs typeface="Times New Roman" pitchFamily="18" charset="0"/>
                        </a:rPr>
                        <a:t>development.</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ISO14063</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Guidelines and</a:t>
                      </a:r>
                    </a:p>
                    <a:p>
                      <a:r>
                        <a:rPr kumimoji="0" lang="en-US" sz="2200" kern="1200" baseline="0" dirty="0">
                          <a:solidFill>
                            <a:srgbClr val="C00000"/>
                          </a:solidFill>
                          <a:latin typeface="Times New Roman" pitchFamily="18" charset="0"/>
                          <a:cs typeface="Times New Roman" pitchFamily="18" charset="0"/>
                        </a:rPr>
                        <a:t>examples.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ISO14064</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Reducing green</a:t>
                      </a:r>
                    </a:p>
                    <a:p>
                      <a:r>
                        <a:rPr kumimoji="0" lang="en-US" sz="2200" kern="1200" baseline="0" dirty="0">
                          <a:solidFill>
                            <a:srgbClr val="C00000"/>
                          </a:solidFill>
                          <a:latin typeface="Times New Roman" pitchFamily="18" charset="0"/>
                          <a:cs typeface="Times New Roman" pitchFamily="18" charset="0"/>
                        </a:rPr>
                        <a:t>house gas</a:t>
                      </a:r>
                    </a:p>
                    <a:p>
                      <a:r>
                        <a:rPr kumimoji="0" lang="en-US" sz="2200" kern="1200" baseline="0" dirty="0">
                          <a:solidFill>
                            <a:srgbClr val="C00000"/>
                          </a:solidFill>
                          <a:latin typeface="Times New Roman" pitchFamily="18" charset="0"/>
                          <a:cs typeface="Times New Roman" pitchFamily="18" charset="0"/>
                        </a:rPr>
                        <a:t>emissions.</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kumimoji="0" lang="en-US" sz="2200" kern="1200" baseline="0" dirty="0">
                          <a:solidFill>
                            <a:srgbClr val="C00000"/>
                          </a:solidFill>
                          <a:latin typeface="Times New Roman" pitchFamily="18" charset="0"/>
                          <a:cs typeface="Times New Roman" pitchFamily="18" charset="0"/>
                        </a:rPr>
                        <a:t>ISO14090</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Environmental</a:t>
                      </a:r>
                    </a:p>
                    <a:p>
                      <a:r>
                        <a:rPr kumimoji="0" lang="en-US" sz="2200" kern="1200" baseline="0" dirty="0">
                          <a:solidFill>
                            <a:srgbClr val="C00000"/>
                          </a:solidFill>
                          <a:latin typeface="Times New Roman" pitchFamily="18" charset="0"/>
                          <a:cs typeface="Times New Roman" pitchFamily="18" charset="0"/>
                        </a:rPr>
                        <a:t>management.</a:t>
                      </a:r>
                      <a:endParaRPr lang="en-US" sz="2200" dirty="0">
                        <a:solidFill>
                          <a:srgbClr val="C00000"/>
                        </a:solidFill>
                        <a:latin typeface="Times New Roman" pitchFamily="18" charset="0"/>
                        <a:cs typeface="Times New Roman" pitchFamily="18" charset="0"/>
                      </a:endParaRPr>
                    </a:p>
                  </a:txBody>
                  <a:tcPr/>
                </a:tc>
                <a:tc>
                  <a:txBody>
                    <a:bodyPr/>
                    <a:lstStyle/>
                    <a:p>
                      <a:r>
                        <a:rPr kumimoji="0" lang="en-US" sz="2200" kern="1200" baseline="0" dirty="0">
                          <a:solidFill>
                            <a:srgbClr val="C00000"/>
                          </a:solidFill>
                          <a:latin typeface="Times New Roman" pitchFamily="18" charset="0"/>
                          <a:cs typeface="Times New Roman" pitchFamily="18" charset="0"/>
                        </a:rPr>
                        <a:t>Adaptation of</a:t>
                      </a:r>
                    </a:p>
                    <a:p>
                      <a:r>
                        <a:rPr kumimoji="0" lang="en-US" sz="2200" kern="1200" baseline="0" dirty="0">
                          <a:solidFill>
                            <a:srgbClr val="C00000"/>
                          </a:solidFill>
                          <a:latin typeface="Times New Roman" pitchFamily="18" charset="0"/>
                          <a:cs typeface="Times New Roman" pitchFamily="18" charset="0"/>
                        </a:rPr>
                        <a:t>climate change.</a:t>
                      </a:r>
                      <a:endParaRPr lang="en-US" sz="2200" dirty="0">
                        <a:solidFill>
                          <a:srgbClr val="C00000"/>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71600"/>
            <a:ext cx="76962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5.4.3 Core elements of ISO 14000</a:t>
            </a:r>
          </a:p>
          <a:p>
            <a:pPr>
              <a:buFont typeface="Wingdings" pitchFamily="2" charset="2"/>
              <a:buChar char="v"/>
            </a:pPr>
            <a:r>
              <a:rPr lang="en-US" sz="2200" dirty="0">
                <a:solidFill>
                  <a:srgbClr val="002060"/>
                </a:solidFill>
                <a:latin typeface="Times New Roman" pitchFamily="18" charset="0"/>
                <a:cs typeface="Times New Roman" pitchFamily="18" charset="0"/>
              </a:rPr>
              <a:t>  It contains the following six key elements.</a:t>
            </a:r>
          </a:p>
          <a:p>
            <a:endParaRPr lang="en-US" sz="2200" dirty="0">
              <a:latin typeface="Times New Roman" pitchFamily="18" charset="0"/>
              <a:cs typeface="Times New Roman" pitchFamily="18" charset="0"/>
            </a:endParaRPr>
          </a:p>
          <a:p>
            <a:pPr marL="1314450" lvl="2" indent="-400050">
              <a:buFont typeface="Wingdings" pitchFamily="2" charset="2"/>
              <a:buChar char="ü"/>
            </a:pPr>
            <a:r>
              <a:rPr lang="en-US" sz="2200" dirty="0">
                <a:solidFill>
                  <a:srgbClr val="C00000"/>
                </a:solidFill>
                <a:latin typeface="Times New Roman" pitchFamily="18" charset="0"/>
                <a:cs typeface="Times New Roman" pitchFamily="18" charset="0"/>
              </a:rPr>
              <a:t>Environmental policy.</a:t>
            </a:r>
          </a:p>
          <a:p>
            <a:pPr marL="1314450" lvl="2" indent="-400050">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Planning.</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Implementation and operation.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Checking and corrective action.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Management review.</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Continuous improvement.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028343"/>
            <a:ext cx="76962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5.4.4 Advantages and disadvantages of ISO14000</a:t>
            </a:r>
          </a:p>
          <a:p>
            <a:endParaRPr lang="en-US" sz="2200" b="1" i="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Advantages (or) Benefits</a:t>
            </a:r>
          </a:p>
          <a:p>
            <a:pPr>
              <a:buFont typeface="Wingdings" pitchFamily="2" charset="2"/>
              <a:buChar char="q"/>
            </a:pPr>
            <a:r>
              <a:rPr lang="en-US" sz="2200" dirty="0">
                <a:solidFill>
                  <a:srgbClr val="002060"/>
                </a:solidFill>
                <a:latin typeface="Times New Roman" pitchFamily="18" charset="0"/>
                <a:cs typeface="Times New Roman" pitchFamily="18" charset="0"/>
              </a:rPr>
              <a:t>The following five important benefits of quality management system</a:t>
            </a:r>
          </a:p>
          <a:p>
            <a:endParaRPr lang="en-US" sz="2200" dirty="0">
              <a:latin typeface="Times New Roman" pitchFamily="18" charset="0"/>
              <a:cs typeface="Times New Roman" pitchFamily="18" charset="0"/>
            </a:endParaRPr>
          </a:p>
          <a:p>
            <a:pPr marL="971550" lvl="1" indent="-514350">
              <a:buFont typeface="Wingdings" pitchFamily="2" charset="2"/>
              <a:buChar char="ü"/>
            </a:pPr>
            <a:r>
              <a:rPr lang="en-US" sz="2200" dirty="0">
                <a:solidFill>
                  <a:srgbClr val="C00000"/>
                </a:solidFill>
                <a:latin typeface="Times New Roman" pitchFamily="18" charset="0"/>
                <a:cs typeface="Times New Roman" pitchFamily="18" charset="0"/>
              </a:rPr>
              <a:t>It identifies risks and opportunities.</a:t>
            </a:r>
          </a:p>
          <a:p>
            <a:pPr marL="971550" lvl="1" indent="-514350">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prevents problems from reoccurring.</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boosts your marketing and sales efforts.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improves employee performance.</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improves your control over the business.</a:t>
            </a:r>
          </a:p>
          <a:p>
            <a:endParaRPr lang="en-US" sz="22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543800" cy="5170646"/>
          </a:xfrm>
          <a:prstGeom prst="rect">
            <a:avLst/>
          </a:prstGeom>
        </p:spPr>
        <p:txBody>
          <a:bodyPr wrap="square">
            <a:spAutoFit/>
          </a:bodyPr>
          <a:lstStyle/>
          <a:p>
            <a:pPr lvl="1">
              <a:buFont typeface="Wingdings" pitchFamily="2" charset="2"/>
              <a:buChar char="ü"/>
            </a:pPr>
            <a:r>
              <a:rPr lang="en-US" sz="2200" dirty="0">
                <a:solidFill>
                  <a:srgbClr val="C00000"/>
                </a:solidFill>
                <a:latin typeface="Times New Roman" pitchFamily="18" charset="0"/>
                <a:cs typeface="Times New Roman" pitchFamily="18" charset="0"/>
              </a:rPr>
              <a:t> It lowers costs like energy bills, tax and insurance bills.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helps to reduce waste.</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helps to minimize the carbon footprint of a company.</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is </a:t>
            </a:r>
            <a:r>
              <a:rPr lang="en-US" sz="2200" dirty="0" err="1">
                <a:solidFill>
                  <a:srgbClr val="C00000"/>
                </a:solidFill>
                <a:latin typeface="Times New Roman" pitchFamily="18" charset="0"/>
                <a:cs typeface="Times New Roman" pitchFamily="18" charset="0"/>
              </a:rPr>
              <a:t>recognised</a:t>
            </a:r>
            <a:r>
              <a:rPr lang="en-US" sz="2200" dirty="0">
                <a:solidFill>
                  <a:srgbClr val="C00000"/>
                </a:solidFill>
                <a:latin typeface="Times New Roman" pitchFamily="18" charset="0"/>
                <a:cs typeface="Times New Roman" pitchFamily="18" charset="0"/>
              </a:rPr>
              <a:t> internationally.</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gives immediate notice about the environmental performance of a company.</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Disadvantages (or) limitations</a:t>
            </a:r>
          </a:p>
          <a:p>
            <a:pPr marL="457200" indent="-457200">
              <a:buFont typeface="Wingdings" pitchFamily="2" charset="2"/>
              <a:buChar char="Ø"/>
            </a:pPr>
            <a:r>
              <a:rPr lang="en-US" sz="2200" dirty="0">
                <a:solidFill>
                  <a:srgbClr val="002060"/>
                </a:solidFill>
                <a:latin typeface="Times New Roman" pitchFamily="18" charset="0"/>
                <a:cs typeface="Times New Roman" pitchFamily="18" charset="0"/>
              </a:rPr>
              <a:t>It is extremely costly to implement if not done properly.</a:t>
            </a:r>
          </a:p>
          <a:p>
            <a:pPr marL="457200" indent="-4572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requires a lot of administrative work.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7772400" cy="5847755"/>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No improvement in environmental performance.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Organizations face a lot of challenges while implementing this standards.</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5.5 MATERIAL LIFE CYCLE ASSESMENT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endParaRPr lang="en-US" sz="2200" b="1" dirty="0">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Life cycle assessment (LCA) </a:t>
            </a:r>
            <a:r>
              <a:rPr lang="en-US" sz="2200" b="1" i="1" dirty="0">
                <a:solidFill>
                  <a:srgbClr val="C00000"/>
                </a:solidFill>
                <a:latin typeface="Times New Roman" pitchFamily="18" charset="0"/>
                <a:cs typeface="Times New Roman" pitchFamily="18" charset="0"/>
              </a:rPr>
              <a:t>is a process of evaluating the effects of a material on the environment over the entire period of its life, there by increasing resource use efficiency and decreasing liabilities.</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Generally LCA is used to study the environmental impact of a material. </a:t>
            </a:r>
          </a:p>
          <a:p>
            <a:pPr>
              <a:buFont typeface="Wingdings" pitchFamily="2" charset="2"/>
              <a:buChar char="q"/>
            </a:pPr>
            <a:r>
              <a:rPr lang="en-US" sz="2200" dirty="0">
                <a:solidFill>
                  <a:srgbClr val="002060"/>
                </a:solidFill>
                <a:latin typeface="Times New Roman" pitchFamily="18" charset="0"/>
                <a:cs typeface="Times New Roman" pitchFamily="18" charset="0"/>
              </a:rPr>
              <a:t>  LCA is commonly referred to as a cradle-to-grave analysis.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95400"/>
            <a:ext cx="81534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5.5.1 Stages of a life cycle assessment</a:t>
            </a:r>
          </a:p>
          <a:p>
            <a:pPr>
              <a:buFont typeface="Wingdings" pitchFamily="2" charset="2"/>
              <a:buChar char="q"/>
            </a:pPr>
            <a:r>
              <a:rPr lang="en-US" sz="2200" dirty="0">
                <a:solidFill>
                  <a:srgbClr val="002060"/>
                </a:solidFill>
                <a:latin typeface="Times New Roman" pitchFamily="18" charset="0"/>
                <a:cs typeface="Times New Roman" pitchFamily="18" charset="0"/>
              </a:rPr>
              <a:t>  The followings are the 5 stages of a life cycle assessment</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1: </a:t>
            </a:r>
            <a:r>
              <a:rPr lang="en-US" sz="2200" b="1" dirty="0">
                <a:solidFill>
                  <a:srgbClr val="C00000"/>
                </a:solidFill>
                <a:latin typeface="Times New Roman" pitchFamily="18" charset="0"/>
                <a:cs typeface="Times New Roman" pitchFamily="18" charset="0"/>
              </a:rPr>
              <a:t>Raw materials (Resources) extraction and processing.</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2: </a:t>
            </a:r>
            <a:r>
              <a:rPr lang="en-US" sz="2200" b="1" dirty="0">
                <a:solidFill>
                  <a:srgbClr val="C00000"/>
                </a:solidFill>
                <a:latin typeface="Times New Roman" pitchFamily="18" charset="0"/>
                <a:cs typeface="Times New Roman" pitchFamily="18" charset="0"/>
              </a:rPr>
              <a:t>Manufacturing.</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3: </a:t>
            </a:r>
            <a:r>
              <a:rPr lang="en-US" sz="2200" b="1" dirty="0">
                <a:solidFill>
                  <a:srgbClr val="C00000"/>
                </a:solidFill>
                <a:latin typeface="Times New Roman" pitchFamily="18" charset="0"/>
                <a:cs typeface="Times New Roman" pitchFamily="18" charset="0"/>
              </a:rPr>
              <a:t>Transportation.</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4: </a:t>
            </a:r>
            <a:r>
              <a:rPr lang="en-US" sz="2200" b="1" dirty="0">
                <a:solidFill>
                  <a:srgbClr val="C00000"/>
                </a:solidFill>
                <a:latin typeface="Times New Roman" pitchFamily="18" charset="0"/>
                <a:cs typeface="Times New Roman" pitchFamily="18" charset="0"/>
              </a:rPr>
              <a:t>Distribution.</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5: </a:t>
            </a:r>
            <a:r>
              <a:rPr lang="en-US" sz="2200" b="1" dirty="0">
                <a:solidFill>
                  <a:srgbClr val="C00000"/>
                </a:solidFill>
                <a:latin typeface="Times New Roman" pitchFamily="18" charset="0"/>
                <a:cs typeface="Times New Roman" pitchFamily="18" charset="0"/>
              </a:rPr>
              <a:t>Usage and retail.</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6: </a:t>
            </a:r>
            <a:r>
              <a:rPr lang="en-US" sz="2200" b="1" dirty="0">
                <a:solidFill>
                  <a:srgbClr val="C00000"/>
                </a:solidFill>
                <a:latin typeface="Times New Roman" pitchFamily="18" charset="0"/>
                <a:cs typeface="Times New Roman" pitchFamily="18" charset="0"/>
              </a:rPr>
              <a:t>Waste disposal (end of life).</a:t>
            </a:r>
            <a:endParaRPr lang="en-US" sz="2200" dirty="0">
              <a:solidFill>
                <a:srgbClr val="C00000"/>
              </a:solidFill>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0" y="5410200"/>
            <a:ext cx="3607078" cy="430887"/>
          </a:xfrm>
          <a:prstGeom prst="rect">
            <a:avLst/>
          </a:prstGeom>
        </p:spPr>
        <p:txBody>
          <a:bodyPr wrap="none">
            <a:spAutoFit/>
          </a:bodyPr>
          <a:lstStyle/>
          <a:p>
            <a:r>
              <a:rPr lang="en-US" sz="2200" b="1" dirty="0">
                <a:latin typeface="Times New Roman" pitchFamily="18" charset="0"/>
                <a:cs typeface="Times New Roman" pitchFamily="18" charset="0"/>
              </a:rPr>
              <a:t>Fig 5.6 Life cycle assessment</a:t>
            </a:r>
            <a:endParaRPr lang="en-US" sz="22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D006E5B0-5CC3-3F19-D292-2FAEA2E59A5F}"/>
              </a:ext>
            </a:extLst>
          </p:cNvPr>
          <p:cNvPicPr>
            <a:picLocks noChangeAspect="1"/>
          </p:cNvPicPr>
          <p:nvPr/>
        </p:nvPicPr>
        <p:blipFill>
          <a:blip r:embed="rId2"/>
          <a:stretch>
            <a:fillRect/>
          </a:stretch>
        </p:blipFill>
        <p:spPr>
          <a:xfrm>
            <a:off x="2667000" y="1143000"/>
            <a:ext cx="3505200" cy="3660673"/>
          </a:xfrm>
          <a:prstGeom prst="rect">
            <a:avLst/>
          </a:prstGeom>
          <a:solidFill>
            <a:schemeClr val="accent2"/>
          </a:solid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7924800" cy="5509200"/>
          </a:xfrm>
          <a:prstGeom prst="rect">
            <a:avLst/>
          </a:prstGeom>
        </p:spPr>
        <p:txBody>
          <a:bodyPr wrap="square">
            <a:spAutoFit/>
          </a:bodyPr>
          <a:lstStyle/>
          <a:p>
            <a:pPr>
              <a:buFont typeface="Wingdings" pitchFamily="2" charset="2"/>
              <a:buChar char="q"/>
            </a:pPr>
            <a:r>
              <a:rPr lang="en-US" sz="2200" dirty="0">
                <a:solidFill>
                  <a:srgbClr val="002060"/>
                </a:solidFill>
                <a:latin typeface="Times New Roman" pitchFamily="18" charset="0"/>
                <a:cs typeface="Times New Roman" pitchFamily="18" charset="0"/>
              </a:rPr>
              <a:t>  In the manufactured product, environmental impacts are assessed from raw material extraction and processing, through the product’s manufacture, distribution and use, to the recycling (or) final disposal of the materials.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5.5.2 Benefits (or) Advantages of LCA</a:t>
            </a:r>
          </a:p>
          <a:p>
            <a:pPr marL="342900" indent="-342900">
              <a:buFont typeface="Wingdings" pitchFamily="2" charset="2"/>
              <a:buChar char="q"/>
            </a:pPr>
            <a:r>
              <a:rPr lang="en-US" sz="2200" dirty="0">
                <a:solidFill>
                  <a:srgbClr val="002060"/>
                </a:solidFill>
                <a:latin typeface="Times New Roman" pitchFamily="18" charset="0"/>
                <a:cs typeface="Times New Roman" pitchFamily="18" charset="0"/>
              </a:rPr>
              <a:t>LCA is widely used to support sustainable development.</a:t>
            </a:r>
          </a:p>
          <a:p>
            <a:pPr>
              <a:buFont typeface="Wingdings" pitchFamily="2" charset="2"/>
              <a:buChar char="q"/>
            </a:pPr>
            <a:r>
              <a:rPr lang="en-US" sz="2200" dirty="0">
                <a:solidFill>
                  <a:srgbClr val="002060"/>
                </a:solidFill>
                <a:latin typeface="Times New Roman" pitchFamily="18" charset="0"/>
                <a:cs typeface="Times New Roman" pitchFamily="18" charset="0"/>
              </a:rPr>
              <a:t>  LCA allows decision makers to compare two products and to select the product that has lowest impact on the environment.</a:t>
            </a:r>
          </a:p>
          <a:p>
            <a:pPr>
              <a:buFont typeface="Wingdings" pitchFamily="2" charset="2"/>
              <a:buChar char="q"/>
            </a:pPr>
            <a:r>
              <a:rPr lang="en-US" sz="2200" dirty="0">
                <a:solidFill>
                  <a:srgbClr val="002060"/>
                </a:solidFill>
                <a:latin typeface="Times New Roman" pitchFamily="18" charset="0"/>
                <a:cs typeface="Times New Roman" pitchFamily="18" charset="0"/>
              </a:rPr>
              <a:t>  It is a </a:t>
            </a:r>
            <a:r>
              <a:rPr lang="en-US" sz="2200" dirty="0" err="1">
                <a:solidFill>
                  <a:srgbClr val="002060"/>
                </a:solidFill>
                <a:latin typeface="Times New Roman" pitchFamily="18" charset="0"/>
                <a:cs typeface="Times New Roman" pitchFamily="18" charset="0"/>
              </a:rPr>
              <a:t>modelling</a:t>
            </a:r>
            <a:r>
              <a:rPr lang="en-US" sz="2200" dirty="0">
                <a:solidFill>
                  <a:srgbClr val="002060"/>
                </a:solidFill>
                <a:latin typeface="Times New Roman" pitchFamily="18" charset="0"/>
                <a:cs typeface="Times New Roman" pitchFamily="18" charset="0"/>
              </a:rPr>
              <a:t> tool to assess environmental impacts of a product during its entire lifespan.</a:t>
            </a:r>
          </a:p>
          <a:p>
            <a:pPr>
              <a:buFont typeface="Wingdings" pitchFamily="2" charset="2"/>
              <a:buChar char="q"/>
            </a:pPr>
            <a:r>
              <a:rPr lang="en-US" sz="2200" dirty="0">
                <a:solidFill>
                  <a:srgbClr val="002060"/>
                </a:solidFill>
                <a:latin typeface="Times New Roman" pitchFamily="18" charset="0"/>
                <a:cs typeface="Times New Roman" pitchFamily="18" charset="0"/>
              </a:rPr>
              <a:t> LCA provides a holistic view on the environmental impacts, to avoid optimizing one environmental indicator without considering the effects on the other indicators.</a:t>
            </a:r>
          </a:p>
          <a:p>
            <a:pPr>
              <a:buFont typeface="Wingdings" pitchFamily="2" charset="2"/>
              <a:buChar char="q"/>
            </a:pPr>
            <a:r>
              <a:rPr lang="en-US" sz="2200" dirty="0">
                <a:solidFill>
                  <a:srgbClr val="002060"/>
                </a:solidFill>
                <a:latin typeface="Times New Roman" pitchFamily="18" charset="0"/>
                <a:cs typeface="Times New Roman" pitchFamily="18" charset="0"/>
              </a:rPr>
              <a:t> LCA identifies hotspots in the environmental impact.</a:t>
            </a:r>
          </a:p>
          <a:p>
            <a:pPr>
              <a:buFont typeface="Wingdings" pitchFamily="2" charset="2"/>
              <a:buChar char="q"/>
            </a:pPr>
            <a:r>
              <a:rPr lang="en-US" sz="2200" dirty="0">
                <a:solidFill>
                  <a:srgbClr val="002060"/>
                </a:solidFill>
                <a:latin typeface="Times New Roman" pitchFamily="18" charset="0"/>
                <a:cs typeface="Times New Roman" pitchFamily="18" charset="0"/>
              </a:rPr>
              <a:t>  LCA is purely based on internationally accepted standards.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5438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5.5.3 Disadvantages (or) Limitations</a:t>
            </a:r>
          </a:p>
          <a:p>
            <a:endParaRPr lang="en-US" sz="2200" b="1" i="1" dirty="0">
              <a:latin typeface="Times New Roman" pitchFamily="18" charset="0"/>
              <a:cs typeface="Times New Roman" pitchFamily="18" charset="0"/>
            </a:endParaRPr>
          </a:p>
          <a:p>
            <a:pPr marL="457200" indent="-457200">
              <a:buFont typeface="Wingdings" pitchFamily="2" charset="2"/>
              <a:buChar char="v"/>
            </a:pPr>
            <a:r>
              <a:rPr lang="en-US" sz="2200" dirty="0">
                <a:solidFill>
                  <a:srgbClr val="002060"/>
                </a:solidFill>
                <a:latin typeface="Times New Roman" pitchFamily="18" charset="0"/>
                <a:cs typeface="Times New Roman" pitchFamily="18" charset="0"/>
              </a:rPr>
              <a:t>LCA assesses the real world in a simplified model.</a:t>
            </a:r>
          </a:p>
          <a:p>
            <a:pPr marL="457200" indent="-457200">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The assumptions, </a:t>
            </a:r>
            <a:r>
              <a:rPr lang="en-US" sz="2200" dirty="0" err="1">
                <a:solidFill>
                  <a:srgbClr val="002060"/>
                </a:solidFill>
                <a:latin typeface="Times New Roman" pitchFamily="18" charset="0"/>
                <a:cs typeface="Times New Roman" pitchFamily="18" charset="0"/>
              </a:rPr>
              <a:t>scenaries</a:t>
            </a:r>
            <a:r>
              <a:rPr lang="en-US" sz="2200" dirty="0">
                <a:solidFill>
                  <a:srgbClr val="002060"/>
                </a:solidFill>
                <a:latin typeface="Times New Roman" pitchFamily="18" charset="0"/>
                <a:cs typeface="Times New Roman" pitchFamily="18" charset="0"/>
              </a:rPr>
              <a:t> and scope may vary from one study to the other leading to different LCA results.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Variations in LCA approaches and results may be confusing especially for non-experts.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LCA study requires large amount of data.</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If data collection is poor, the study will not lead to solid conclusions.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It is not easy to communicate the results of a LCA study.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847755"/>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5.6 ENVIRONMENTAL IMPACT ASSESSMENT</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EIA is defined as a formal process of predicting the environmental consequences of any development projects.</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It is used to identify the environmental, social and economic impacts of the project prior to decision making.</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5.6.1 Purpose (or) Aim of EIA</a:t>
            </a:r>
          </a:p>
          <a:p>
            <a:pPr>
              <a:buFont typeface="Wingdings" pitchFamily="2" charset="2"/>
              <a:buChar char="q"/>
            </a:pPr>
            <a:r>
              <a:rPr lang="en-US" sz="2200" dirty="0">
                <a:solidFill>
                  <a:srgbClr val="002060"/>
                </a:solidFill>
                <a:latin typeface="Times New Roman" pitchFamily="18" charset="0"/>
                <a:cs typeface="Times New Roman" pitchFamily="18" charset="0"/>
              </a:rPr>
              <a:t>  The main purpose of EIA is to determine the potential environmental, social and health effects of a proposed developmental projects.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5.6.2 Objectives of EIA</a:t>
            </a:r>
          </a:p>
          <a:p>
            <a:endParaRPr lang="en-US" sz="2200" b="1" i="1" dirty="0">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To identify the main issues and problem of the parties.</a:t>
            </a:r>
          </a:p>
          <a:p>
            <a:pPr>
              <a:buFont typeface="Wingdings" pitchFamily="2" charset="2"/>
              <a:buChar char="Ø"/>
            </a:pPr>
            <a:r>
              <a:rPr lang="en-US" sz="2200" dirty="0">
                <a:solidFill>
                  <a:srgbClr val="002060"/>
                </a:solidFill>
                <a:latin typeface="Times New Roman" pitchFamily="18" charset="0"/>
                <a:cs typeface="Times New Roman" pitchFamily="18" charset="0"/>
              </a:rPr>
              <a:t>  To identify who is the party.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19200"/>
            <a:ext cx="7924800" cy="5170646"/>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To identify what are the problems of the parties.</a:t>
            </a:r>
          </a:p>
          <a:p>
            <a:pPr>
              <a:buFont typeface="Wingdings" pitchFamily="2" charset="2"/>
              <a:buChar char="Ø"/>
            </a:pPr>
            <a:r>
              <a:rPr lang="en-US" sz="2200" dirty="0">
                <a:solidFill>
                  <a:srgbClr val="002060"/>
                </a:solidFill>
                <a:latin typeface="Times New Roman" pitchFamily="18" charset="0"/>
                <a:cs typeface="Times New Roman" pitchFamily="18" charset="0"/>
              </a:rPr>
              <a:t>  To identify why are the problems arise.</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5.6.3 Benefits of EIA</a:t>
            </a:r>
          </a:p>
          <a:p>
            <a:endParaRPr lang="en-US" sz="2200" b="1" i="1" dirty="0">
              <a:latin typeface="Times New Roman" pitchFamily="18" charset="0"/>
              <a:cs typeface="Times New Roman" pitchFamily="18" charset="0"/>
            </a:endParaRPr>
          </a:p>
          <a:p>
            <a:pPr marL="800100" lvl="1" indent="-342900">
              <a:buFont typeface="Wingdings" pitchFamily="2" charset="2"/>
              <a:buChar char="ü"/>
            </a:pPr>
            <a:r>
              <a:rPr lang="en-US" sz="2200" dirty="0">
                <a:solidFill>
                  <a:srgbClr val="C00000"/>
                </a:solidFill>
                <a:latin typeface="Times New Roman" pitchFamily="18" charset="0"/>
                <a:cs typeface="Times New Roman" pitchFamily="18" charset="0"/>
              </a:rPr>
              <a:t>Cost and time of the project is reduced.</a:t>
            </a:r>
          </a:p>
          <a:p>
            <a:pPr marL="800100" lvl="1" indent="-342900">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Performance of the project is improved.</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Waste treatment and cleaning expenses are </a:t>
            </a:r>
            <a:r>
              <a:rPr lang="en-US" sz="2200" dirty="0" err="1">
                <a:solidFill>
                  <a:srgbClr val="C00000"/>
                </a:solidFill>
                <a:latin typeface="Times New Roman" pitchFamily="18" charset="0"/>
                <a:cs typeface="Times New Roman" pitchFamily="18" charset="0"/>
              </a:rPr>
              <a:t>minimised</a:t>
            </a:r>
            <a:r>
              <a:rPr lang="en-US" sz="2200" dirty="0">
                <a:solidFill>
                  <a:srgbClr val="C00000"/>
                </a:solidFill>
                <a:latin typeface="Times New Roman" pitchFamily="18" charset="0"/>
                <a:cs typeface="Times New Roman" pitchFamily="18" charset="0"/>
              </a:rPr>
              <a:t>.</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Usages of resources are decreased.</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Biodiversity is maintained.</a:t>
            </a:r>
          </a:p>
          <a:p>
            <a:endParaRPr lang="en-US" sz="22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71600"/>
            <a:ext cx="7848600" cy="4493538"/>
          </a:xfrm>
          <a:prstGeom prst="rect">
            <a:avLst/>
          </a:prstGeom>
        </p:spPr>
        <p:txBody>
          <a:bodyPr wrap="square">
            <a:spAutoFit/>
          </a:bodyPr>
          <a:lstStyle/>
          <a:p>
            <a:pPr lvl="1">
              <a:buFont typeface="Wingdings" pitchFamily="2" charset="2"/>
              <a:buChar char="ü"/>
            </a:pPr>
            <a:r>
              <a:rPr lang="en-US" sz="2200" dirty="0">
                <a:solidFill>
                  <a:srgbClr val="C00000"/>
                </a:solidFill>
                <a:latin typeface="Times New Roman" pitchFamily="18" charset="0"/>
                <a:cs typeface="Times New Roman" pitchFamily="18" charset="0"/>
              </a:rPr>
              <a:t>  Human health is improved.</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It helps in preventing natural calamities like earthquake, cyclone, etc.,</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5.6.4 Process of EIA (or) Key Elements of EIA</a:t>
            </a:r>
          </a:p>
          <a:p>
            <a:pPr>
              <a:buFont typeface="Wingdings" pitchFamily="2" charset="2"/>
              <a:buChar char="q"/>
            </a:pPr>
            <a:r>
              <a:rPr lang="en-US" sz="2200" dirty="0">
                <a:solidFill>
                  <a:srgbClr val="002060"/>
                </a:solidFill>
                <a:latin typeface="Times New Roman" pitchFamily="18" charset="0"/>
                <a:cs typeface="Times New Roman" pitchFamily="18" charset="0"/>
              </a:rPr>
              <a:t>  The key elements used in the process of EIA are</a:t>
            </a:r>
          </a:p>
          <a:p>
            <a:endParaRPr lang="en-US" sz="2200" dirty="0">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Scoping</a:t>
            </a:r>
          </a:p>
          <a:p>
            <a:pPr lvl="2">
              <a:buFont typeface="Wingdings" pitchFamily="2" charset="2"/>
              <a:buChar char="ü"/>
            </a:pPr>
            <a:r>
              <a:rPr lang="en-US" sz="2200" dirty="0">
                <a:solidFill>
                  <a:srgbClr val="C00000"/>
                </a:solidFill>
                <a:latin typeface="Times New Roman" pitchFamily="18" charset="0"/>
                <a:cs typeface="Times New Roman" pitchFamily="18" charset="0"/>
              </a:rPr>
              <a:t> Screening</a:t>
            </a:r>
          </a:p>
          <a:p>
            <a:pPr lvl="2">
              <a:buFont typeface="Wingdings" pitchFamily="2" charset="2"/>
              <a:buChar char="ü"/>
            </a:pPr>
            <a:r>
              <a:rPr lang="en-US" sz="2200" dirty="0">
                <a:solidFill>
                  <a:srgbClr val="C00000"/>
                </a:solidFill>
                <a:latin typeface="Times New Roman" pitchFamily="18" charset="0"/>
                <a:cs typeface="Times New Roman" pitchFamily="18" charset="0"/>
              </a:rPr>
              <a:t> Identifying and evaluating alternatives</a:t>
            </a:r>
          </a:p>
          <a:p>
            <a:pPr lvl="2">
              <a:buFont typeface="Wingdings" pitchFamily="2" charset="2"/>
              <a:buChar char="ü"/>
            </a:pPr>
            <a:r>
              <a:rPr lang="en-US" sz="2200" dirty="0">
                <a:solidFill>
                  <a:srgbClr val="C00000"/>
                </a:solidFill>
                <a:latin typeface="Times New Roman" pitchFamily="18" charset="0"/>
                <a:cs typeface="Times New Roman" pitchFamily="18" charset="0"/>
              </a:rPr>
              <a:t> Mitigating measures dealing with uncertainty</a:t>
            </a:r>
          </a:p>
          <a:p>
            <a:pPr lvl="2">
              <a:buFont typeface="Wingdings" pitchFamily="2" charset="2"/>
              <a:buChar char="ü"/>
            </a:pPr>
            <a:r>
              <a:rPr lang="en-US" sz="2200" dirty="0">
                <a:solidFill>
                  <a:srgbClr val="C00000"/>
                </a:solidFill>
                <a:latin typeface="Times New Roman" pitchFamily="18" charset="0"/>
                <a:cs typeface="Times New Roman" pitchFamily="18" charset="0"/>
              </a:rPr>
              <a:t> Issuing environmental statements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153400" cy="5509200"/>
          </a:xfrm>
          <a:prstGeom prst="rect">
            <a:avLst/>
          </a:prstGeom>
        </p:spPr>
        <p:txBody>
          <a:bodyPr wrap="square">
            <a:spAutoFit/>
          </a:bodyPr>
          <a:lstStyle/>
          <a:p>
            <a:r>
              <a:rPr lang="en-US" sz="2200" b="1" dirty="0">
                <a:latin typeface="Times New Roman" pitchFamily="18" charset="0"/>
                <a:cs typeface="Times New Roman" pitchFamily="18" charset="0"/>
              </a:rPr>
              <a:t>1. Scoping</a:t>
            </a:r>
          </a:p>
          <a:p>
            <a:pPr>
              <a:buFont typeface="Wingdings" pitchFamily="2" charset="2"/>
              <a:buChar char="q"/>
            </a:pPr>
            <a:r>
              <a:rPr lang="en-US" sz="2200" dirty="0">
                <a:solidFill>
                  <a:srgbClr val="002060"/>
                </a:solidFill>
                <a:latin typeface="Times New Roman" pitchFamily="18" charset="0"/>
                <a:cs typeface="Times New Roman" pitchFamily="18" charset="0"/>
              </a:rPr>
              <a:t>  It is used to identify the key issues of the concern in the planning process at an early stage. It is also used to aid site selection and identify any possible alternatives.</a:t>
            </a:r>
          </a:p>
          <a:p>
            <a:r>
              <a:rPr lang="en-US" sz="2200" b="1" dirty="0">
                <a:latin typeface="Times New Roman" pitchFamily="18" charset="0"/>
                <a:cs typeface="Times New Roman" pitchFamily="18" charset="0"/>
              </a:rPr>
              <a:t>2. Screening</a:t>
            </a:r>
          </a:p>
          <a:p>
            <a:pPr>
              <a:buFont typeface="Wingdings" pitchFamily="2" charset="2"/>
              <a:buChar char="q"/>
            </a:pPr>
            <a:r>
              <a:rPr lang="en-US" sz="2200" dirty="0">
                <a:solidFill>
                  <a:srgbClr val="002060"/>
                </a:solidFill>
                <a:latin typeface="Times New Roman" pitchFamily="18" charset="0"/>
                <a:cs typeface="Times New Roman" pitchFamily="18" charset="0"/>
              </a:rPr>
              <a:t>  It is used to decide whether an EIA is required (or) not based on the information collected.</a:t>
            </a:r>
          </a:p>
          <a:p>
            <a:r>
              <a:rPr lang="en-US" sz="2200" b="1" dirty="0">
                <a:latin typeface="Times New Roman" pitchFamily="18" charset="0"/>
                <a:cs typeface="Times New Roman" pitchFamily="18" charset="0"/>
              </a:rPr>
              <a:t>3. Identifying and evaluating alternatives</a:t>
            </a:r>
          </a:p>
          <a:p>
            <a:pPr>
              <a:buFont typeface="Wingdings" pitchFamily="2" charset="2"/>
              <a:buChar char="q"/>
            </a:pPr>
            <a:r>
              <a:rPr lang="en-US" sz="2200" dirty="0">
                <a:solidFill>
                  <a:srgbClr val="002060"/>
                </a:solidFill>
                <a:latin typeface="Times New Roman" pitchFamily="18" charset="0"/>
                <a:cs typeface="Times New Roman" pitchFamily="18" charset="0"/>
              </a:rPr>
              <a:t>  It involves knowing alternative sites and alternative techniques and their impacts.</a:t>
            </a:r>
          </a:p>
          <a:p>
            <a:r>
              <a:rPr lang="en-US" sz="2200" b="1" dirty="0">
                <a:latin typeface="Times New Roman" pitchFamily="18" charset="0"/>
                <a:cs typeface="Times New Roman" pitchFamily="18" charset="0"/>
              </a:rPr>
              <a:t>4. Mitigating measures dealing with uncertainty</a:t>
            </a:r>
          </a:p>
          <a:p>
            <a:pPr>
              <a:buFont typeface="Wingdings" pitchFamily="2" charset="2"/>
              <a:buChar char="q"/>
            </a:pPr>
            <a:r>
              <a:rPr lang="en-US" sz="2200" dirty="0">
                <a:solidFill>
                  <a:srgbClr val="002060"/>
                </a:solidFill>
                <a:latin typeface="Times New Roman" pitchFamily="18" charset="0"/>
                <a:cs typeface="Times New Roman" pitchFamily="18" charset="0"/>
              </a:rPr>
              <a:t>  It reviews the action taken to prevent (or) minimize the adverse effects of a project.</a:t>
            </a:r>
          </a:p>
          <a:p>
            <a:r>
              <a:rPr lang="en-US" sz="2200" b="1" dirty="0">
                <a:latin typeface="Times New Roman" pitchFamily="18" charset="0"/>
                <a:cs typeface="Times New Roman" pitchFamily="18" charset="0"/>
              </a:rPr>
              <a:t>5. Environmental statements</a:t>
            </a:r>
          </a:p>
          <a:p>
            <a:pPr>
              <a:buFont typeface="Wingdings" pitchFamily="2" charset="2"/>
              <a:buChar char="q"/>
            </a:pPr>
            <a:r>
              <a:rPr lang="en-US" sz="2200" dirty="0">
                <a:solidFill>
                  <a:srgbClr val="002060"/>
                </a:solidFill>
                <a:latin typeface="Times New Roman" pitchFamily="18" charset="0"/>
                <a:cs typeface="Times New Roman" pitchFamily="18" charset="0"/>
              </a:rPr>
              <a:t>  This is the final stage of the EIA process. It reports the findings of the EIA</a:t>
            </a:r>
            <a:r>
              <a:rPr lang="en-US" sz="2200" dirty="0">
                <a:latin typeface="Times New Roman" pitchFamily="18" charset="0"/>
                <a:cs typeface="Times New Roman" pitchFamily="18"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371600"/>
            <a:ext cx="8077200" cy="4493538"/>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5.7 SUSTAINABLE HABITAT</a:t>
            </a:r>
          </a:p>
          <a:p>
            <a:pPr>
              <a:buFont typeface="Wingdings" pitchFamily="2" charset="2"/>
              <a:buChar char="Ø"/>
            </a:pPr>
            <a:r>
              <a:rPr lang="en-US" sz="2200" dirty="0">
                <a:solidFill>
                  <a:srgbClr val="002060"/>
                </a:solidFill>
                <a:latin typeface="Times New Roman" pitchFamily="18" charset="0"/>
                <a:cs typeface="Times New Roman" pitchFamily="18" charset="0"/>
              </a:rPr>
              <a:t>  Sustainable habitat means the maintenance of our natural home.</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pPr>
              <a:buFont typeface="Wingdings" pitchFamily="2" charset="2"/>
              <a:buChar char="q"/>
            </a:pPr>
            <a:r>
              <a:rPr lang="en-US" sz="2200" dirty="0">
                <a:solidFill>
                  <a:srgbClr val="002060"/>
                </a:solidFill>
                <a:latin typeface="Times New Roman" pitchFamily="18" charset="0"/>
                <a:cs typeface="Times New Roman" pitchFamily="18" charset="0"/>
              </a:rPr>
              <a:t>  A sustainable habitat is an ecosystem that produces food and shelter for people and other organisms without resource depletion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no external waste is produced.</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5.7.1 Features (or) Characteristics of sustainable habitat</a:t>
            </a:r>
          </a:p>
          <a:p>
            <a:pPr>
              <a:buFont typeface="Wingdings" pitchFamily="2" charset="2"/>
              <a:buChar char="v"/>
            </a:pPr>
            <a:r>
              <a:rPr lang="en-US" sz="2200" dirty="0">
                <a:solidFill>
                  <a:srgbClr val="002060"/>
                </a:solidFill>
                <a:latin typeface="Times New Roman" pitchFamily="18" charset="0"/>
                <a:cs typeface="Times New Roman" pitchFamily="18" charset="0"/>
              </a:rPr>
              <a:t>  Proper waste management.</a:t>
            </a:r>
          </a:p>
          <a:p>
            <a:pPr>
              <a:buFont typeface="Wingdings" pitchFamily="2" charset="2"/>
              <a:buChar char="v"/>
            </a:pPr>
            <a:r>
              <a:rPr lang="en-US" sz="2200" dirty="0">
                <a:solidFill>
                  <a:srgbClr val="002060"/>
                </a:solidFill>
                <a:latin typeface="Times New Roman" pitchFamily="18" charset="0"/>
                <a:cs typeface="Times New Roman" pitchFamily="18" charset="0"/>
              </a:rPr>
              <a:t>  Affordable housing.</a:t>
            </a:r>
          </a:p>
          <a:p>
            <a:pPr>
              <a:buFont typeface="Wingdings" pitchFamily="2" charset="2"/>
              <a:buChar char="v"/>
            </a:pPr>
            <a:r>
              <a:rPr lang="en-US" sz="2200" dirty="0">
                <a:solidFill>
                  <a:srgbClr val="002060"/>
                </a:solidFill>
                <a:latin typeface="Times New Roman" pitchFamily="18" charset="0"/>
                <a:cs typeface="Times New Roman" pitchFamily="18" charset="0"/>
              </a:rPr>
              <a:t>  Waste water treatment and facility of recycling waste water.</a:t>
            </a:r>
          </a:p>
          <a:p>
            <a:pPr>
              <a:buFont typeface="Wingdings" pitchFamily="2" charset="2"/>
              <a:buChar char="v"/>
            </a:pPr>
            <a:r>
              <a:rPr lang="en-US" sz="2200" dirty="0">
                <a:solidFill>
                  <a:srgbClr val="002060"/>
                </a:solidFill>
                <a:latin typeface="Times New Roman" pitchFamily="18" charset="0"/>
                <a:cs typeface="Times New Roman" pitchFamily="18" charset="0"/>
              </a:rPr>
              <a:t> Green transportation using green fuel like biodiesel.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95400"/>
            <a:ext cx="7620000" cy="517064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5.7.2 Objectives of national mission on sustainable habitat</a:t>
            </a:r>
          </a:p>
          <a:p>
            <a:pPr>
              <a:buFont typeface="Wingdings" pitchFamily="2" charset="2"/>
              <a:buChar char="v"/>
            </a:pPr>
            <a:r>
              <a:rPr lang="en-US" sz="2200" dirty="0">
                <a:solidFill>
                  <a:srgbClr val="002060"/>
                </a:solidFill>
                <a:latin typeface="Times New Roman" pitchFamily="18" charset="0"/>
                <a:cs typeface="Times New Roman" pitchFamily="18" charset="0"/>
              </a:rPr>
              <a:t>  To reduce energy demand by promoting alternative technologies and energy conservation practices in both residential and commercial areas.</a:t>
            </a:r>
          </a:p>
          <a:p>
            <a:pPr>
              <a:buFont typeface="Wingdings" pitchFamily="2" charset="2"/>
              <a:buChar char="v"/>
            </a:pPr>
            <a:r>
              <a:rPr lang="nn-NO" sz="2200" dirty="0">
                <a:solidFill>
                  <a:srgbClr val="002060"/>
                </a:solidFill>
                <a:latin typeface="Times New Roman" pitchFamily="18" charset="0"/>
                <a:cs typeface="Times New Roman" pitchFamily="18" charset="0"/>
              </a:rPr>
              <a:t>  Better urban planning like</a:t>
            </a:r>
          </a:p>
          <a:p>
            <a:pPr lvl="3">
              <a:buFont typeface="Wingdings" pitchFamily="2" charset="2"/>
              <a:buChar char="ü"/>
            </a:pPr>
            <a:r>
              <a:rPr lang="en-US" sz="2200" dirty="0">
                <a:solidFill>
                  <a:srgbClr val="C00000"/>
                </a:solidFill>
                <a:latin typeface="Times New Roman" pitchFamily="18" charset="0"/>
                <a:cs typeface="Times New Roman" pitchFamily="18" charset="0"/>
              </a:rPr>
              <a:t>  using better disaster management</a:t>
            </a:r>
          </a:p>
          <a:p>
            <a:pPr lvl="3">
              <a:buFont typeface="Wingdings" pitchFamily="2" charset="2"/>
              <a:buChar char="ü"/>
            </a:pPr>
            <a:r>
              <a:rPr lang="en-US" sz="2200" dirty="0">
                <a:solidFill>
                  <a:srgbClr val="C00000"/>
                </a:solidFill>
                <a:latin typeface="Times New Roman" pitchFamily="18" charset="0"/>
                <a:cs typeface="Times New Roman" pitchFamily="18" charset="0"/>
              </a:rPr>
              <a:t>  lesser use of private transport</a:t>
            </a:r>
          </a:p>
          <a:p>
            <a:pPr lvl="3">
              <a:buFont typeface="Wingdings" pitchFamily="2" charset="2"/>
              <a:buChar char="ü"/>
            </a:pPr>
            <a:r>
              <a:rPr lang="en-US" sz="2200" dirty="0">
                <a:solidFill>
                  <a:srgbClr val="C00000"/>
                </a:solidFill>
                <a:latin typeface="Times New Roman" pitchFamily="18" charset="0"/>
                <a:cs typeface="Times New Roman" pitchFamily="18" charset="0"/>
              </a:rPr>
              <a:t>  more usage of public transport</a:t>
            </a:r>
          </a:p>
          <a:p>
            <a:pPr>
              <a:buFont typeface="Wingdings" pitchFamily="2" charset="2"/>
              <a:buChar char="v"/>
            </a:pPr>
            <a:r>
              <a:rPr lang="en-US" sz="2200" dirty="0">
                <a:solidFill>
                  <a:srgbClr val="002060"/>
                </a:solidFill>
                <a:latin typeface="Times New Roman" pitchFamily="18" charset="0"/>
                <a:cs typeface="Times New Roman" pitchFamily="18" charset="0"/>
              </a:rPr>
              <a:t>  Encourage community involvement and participation of stake holders.</a:t>
            </a:r>
          </a:p>
          <a:p>
            <a:pPr>
              <a:buFont typeface="Wingdings" pitchFamily="2" charset="2"/>
              <a:buChar char="v"/>
            </a:pPr>
            <a:r>
              <a:rPr lang="en-US" sz="2200" dirty="0">
                <a:solidFill>
                  <a:srgbClr val="002060"/>
                </a:solidFill>
                <a:latin typeface="Times New Roman" pitchFamily="18" charset="0"/>
                <a:cs typeface="Times New Roman" pitchFamily="18" charset="0"/>
              </a:rPr>
              <a:t>  Conservation of natural resources such as clean air, water, flora and fauna.</a:t>
            </a:r>
          </a:p>
          <a:p>
            <a:pPr>
              <a:buFont typeface="Wingdings" pitchFamily="2" charset="2"/>
              <a:buChar char="v"/>
            </a:pPr>
            <a:r>
              <a:rPr lang="en-US" sz="2200" dirty="0">
                <a:solidFill>
                  <a:srgbClr val="002060"/>
                </a:solidFill>
                <a:latin typeface="Times New Roman" pitchFamily="18" charset="0"/>
                <a:cs typeface="Times New Roman" pitchFamily="18" charset="0"/>
              </a:rPr>
              <a:t>  Facilitate the growth of small and medium cities.</a:t>
            </a:r>
          </a:p>
          <a:p>
            <a:pPr>
              <a:buFont typeface="Wingdings" pitchFamily="2" charset="2"/>
              <a:buChar char="v"/>
            </a:pPr>
            <a:r>
              <a:rPr lang="en-US" sz="2200" dirty="0">
                <a:solidFill>
                  <a:srgbClr val="002060"/>
                </a:solidFill>
                <a:latin typeface="Times New Roman" pitchFamily="18" charset="0"/>
                <a:cs typeface="Times New Roman" pitchFamily="18" charset="0"/>
              </a:rPr>
              <a:t>  To create sustainable habitats, engineers and architects should not consider any element as a waste product.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How to maintain sustainable habitat</a:t>
            </a:r>
          </a:p>
          <a:p>
            <a:pPr>
              <a:buFont typeface="Wingdings" pitchFamily="2" charset="2"/>
              <a:buChar char="q"/>
            </a:pPr>
            <a:r>
              <a:rPr lang="en-US" sz="2200" dirty="0">
                <a:solidFill>
                  <a:srgbClr val="002060"/>
                </a:solidFill>
                <a:latin typeface="Times New Roman" pitchFamily="18" charset="0"/>
                <a:cs typeface="Times New Roman" pitchFamily="18" charset="0"/>
              </a:rPr>
              <a:t>  For maintaining our sustainable habitat, we should</a:t>
            </a:r>
          </a:p>
          <a:p>
            <a:pPr lvl="3">
              <a:buFont typeface="Wingdings" pitchFamily="2" charset="2"/>
              <a:buChar char="ü"/>
            </a:pPr>
            <a:r>
              <a:rPr lang="en-US" sz="2200" dirty="0">
                <a:solidFill>
                  <a:srgbClr val="C00000"/>
                </a:solidFill>
                <a:latin typeface="Times New Roman" pitchFamily="18" charset="0"/>
                <a:cs typeface="Times New Roman" pitchFamily="18" charset="0"/>
              </a:rPr>
              <a:t>  Promote energy efficiency.</a:t>
            </a:r>
          </a:p>
          <a:p>
            <a:pPr lvl="3">
              <a:buFont typeface="Wingdings" pitchFamily="2" charset="2"/>
              <a:buChar char="ü"/>
            </a:pPr>
            <a:r>
              <a:rPr lang="en-US" sz="2200" dirty="0">
                <a:solidFill>
                  <a:srgbClr val="C00000"/>
                </a:solidFill>
                <a:latin typeface="Times New Roman" pitchFamily="18" charset="0"/>
                <a:cs typeface="Times New Roman" pitchFamily="18" charset="0"/>
              </a:rPr>
              <a:t>  Promote the use of eco-friendly fuels.</a:t>
            </a:r>
          </a:p>
          <a:p>
            <a:pPr lvl="3">
              <a:buFont typeface="Wingdings" pitchFamily="2" charset="2"/>
              <a:buChar char="ü"/>
            </a:pPr>
            <a:r>
              <a:rPr lang="en-US" sz="2200" dirty="0">
                <a:solidFill>
                  <a:srgbClr val="C00000"/>
                </a:solidFill>
                <a:latin typeface="Times New Roman" pitchFamily="18" charset="0"/>
                <a:cs typeface="Times New Roman" pitchFamily="18" charset="0"/>
              </a:rPr>
              <a:t>  Better manage municipal solid waste.</a:t>
            </a:r>
          </a:p>
          <a:p>
            <a:pPr lvl="3">
              <a:buFont typeface="Wingdings" pitchFamily="2" charset="2"/>
              <a:buChar char="ü"/>
            </a:pPr>
            <a:r>
              <a:rPr lang="en-US" sz="2200" dirty="0">
                <a:solidFill>
                  <a:srgbClr val="C00000"/>
                </a:solidFill>
                <a:latin typeface="Times New Roman" pitchFamily="18" charset="0"/>
                <a:cs typeface="Times New Roman" pitchFamily="18" charset="0"/>
              </a:rPr>
              <a:t>  Promote to public transport.</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5.8 GREEN BUILDINGS</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endParaRPr lang="en-US" sz="2200" b="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Green building is an efficient method of construction that produces healthier buildings, which have less impact on the environment and climate. It requires less cost to maintain.</a:t>
            </a:r>
          </a:p>
          <a:p>
            <a:pPr>
              <a:buFont typeface="Wingdings" pitchFamily="2" charset="2"/>
              <a:buChar char="q"/>
            </a:pPr>
            <a:r>
              <a:rPr lang="en-US" sz="2200" dirty="0">
                <a:solidFill>
                  <a:srgbClr val="002060"/>
                </a:solidFill>
                <a:latin typeface="Times New Roman" pitchFamily="18" charset="0"/>
                <a:cs typeface="Times New Roman" pitchFamily="18" charset="0"/>
              </a:rPr>
              <a:t>  Green buildings preserve previous natural resources and improve our quality of life.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8077200" cy="5847755"/>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5.8.1 Criteria for green building</a:t>
            </a:r>
          </a:p>
          <a:p>
            <a:pPr>
              <a:buFont typeface="Wingdings" pitchFamily="2" charset="2"/>
              <a:buChar char="q"/>
            </a:pPr>
            <a:r>
              <a:rPr lang="en-US" sz="2200" dirty="0">
                <a:solidFill>
                  <a:srgbClr val="002060"/>
                </a:solidFill>
                <a:latin typeface="Times New Roman" pitchFamily="18" charset="0"/>
                <a:cs typeface="Times New Roman" pitchFamily="18" charset="0"/>
              </a:rPr>
              <a:t>  Green builders are encouraged to build on previously developed land rather than developing new land.</a:t>
            </a:r>
          </a:p>
          <a:p>
            <a:pPr>
              <a:buFont typeface="Wingdings" pitchFamily="2" charset="2"/>
              <a:buChar char="q"/>
            </a:pPr>
            <a:r>
              <a:rPr lang="en-US" sz="2200" dirty="0">
                <a:solidFill>
                  <a:srgbClr val="002060"/>
                </a:solidFill>
                <a:latin typeface="Times New Roman" pitchFamily="18" charset="0"/>
                <a:cs typeface="Times New Roman" pitchFamily="18" charset="0"/>
              </a:rPr>
              <a:t>  It is also important to build near existing infrastructure like bus routes, market, libraries.</a:t>
            </a:r>
          </a:p>
          <a:p>
            <a:pPr>
              <a:buFont typeface="Wingdings" pitchFamily="2" charset="2"/>
              <a:buChar char="q"/>
            </a:pPr>
            <a:r>
              <a:rPr lang="en-US" sz="2200" dirty="0">
                <a:solidFill>
                  <a:srgbClr val="002060"/>
                </a:solidFill>
                <a:latin typeface="Times New Roman" pitchFamily="18" charset="0"/>
                <a:cs typeface="Times New Roman" pitchFamily="18" charset="0"/>
              </a:rPr>
              <a:t>  The building site should be smaller because there is less environmental foot print.</a:t>
            </a:r>
          </a:p>
          <a:p>
            <a:pPr>
              <a:buFont typeface="Wingdings" pitchFamily="2" charset="2"/>
              <a:buChar char="q"/>
            </a:pPr>
            <a:r>
              <a:rPr lang="en-US" sz="2200" dirty="0">
                <a:solidFill>
                  <a:srgbClr val="002060"/>
                </a:solidFill>
                <a:latin typeface="Times New Roman" pitchFamily="18" charset="0"/>
                <a:cs typeface="Times New Roman" pitchFamily="18" charset="0"/>
              </a:rPr>
              <a:t>  Sites must be sustainably landscaped and don’t suffer from soil erosion (or) light pollution.</a:t>
            </a:r>
          </a:p>
          <a:p>
            <a:pPr>
              <a:buFont typeface="Wingdings" pitchFamily="2" charset="2"/>
              <a:buChar char="q"/>
            </a:pPr>
            <a:r>
              <a:rPr lang="en-US" sz="2200" dirty="0">
                <a:solidFill>
                  <a:srgbClr val="002060"/>
                </a:solidFill>
                <a:latin typeface="Times New Roman" pitchFamily="18" charset="0"/>
                <a:cs typeface="Times New Roman" pitchFamily="18" charset="0"/>
              </a:rPr>
              <a:t>  Water reduction is built in by design using low-flow toilets, grey water systems.</a:t>
            </a:r>
          </a:p>
          <a:p>
            <a:pPr>
              <a:buFont typeface="Wingdings" pitchFamily="2" charset="2"/>
              <a:buChar char="q"/>
            </a:pPr>
            <a:r>
              <a:rPr lang="en-US" sz="2200" dirty="0">
                <a:solidFill>
                  <a:srgbClr val="002060"/>
                </a:solidFill>
                <a:latin typeface="Times New Roman" pitchFamily="18" charset="0"/>
                <a:cs typeface="Times New Roman" pitchFamily="18" charset="0"/>
              </a:rPr>
              <a:t>  Green buildings are constructed using clean energy like geothermal, solar, wind energies.</a:t>
            </a:r>
          </a:p>
          <a:p>
            <a:pPr>
              <a:buFont typeface="Wingdings" pitchFamily="2" charset="2"/>
              <a:buChar char="q"/>
            </a:pPr>
            <a:r>
              <a:rPr lang="en-US" sz="2200" dirty="0">
                <a:solidFill>
                  <a:srgbClr val="002060"/>
                </a:solidFill>
                <a:latin typeface="Times New Roman" pitchFamily="18" charset="0"/>
                <a:cs typeface="Times New Roman" pitchFamily="18" charset="0"/>
              </a:rPr>
              <a:t>  Green builders reduce material usage wherever possible. Mainly they use natural, renewable sources.</a:t>
            </a:r>
          </a:p>
          <a:p>
            <a:pPr>
              <a:buFont typeface="Wingdings" pitchFamily="2" charset="2"/>
              <a:buChar char="q"/>
            </a:pPr>
            <a:r>
              <a:rPr lang="en-US" sz="2200" dirty="0">
                <a:solidFill>
                  <a:srgbClr val="002060"/>
                </a:solidFill>
                <a:latin typeface="Times New Roman" pitchFamily="18" charset="0"/>
                <a:cs typeface="Times New Roman" pitchFamily="18" charset="0"/>
              </a:rPr>
              <a:t>  Selecting low emitting materials and products not only improves human health but also protect the overall environment.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80772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5.8.2 Features of green building</a:t>
            </a:r>
          </a:p>
          <a:p>
            <a:endParaRPr lang="en-US" sz="2200" b="1" i="1" dirty="0">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Efficient use of energy, water and other resources.</a:t>
            </a:r>
          </a:p>
          <a:p>
            <a:pPr>
              <a:buFont typeface="Wingdings" pitchFamily="2" charset="2"/>
              <a:buChar char="v"/>
            </a:pPr>
            <a:r>
              <a:rPr lang="en-US" sz="2200" dirty="0">
                <a:solidFill>
                  <a:srgbClr val="002060"/>
                </a:solidFill>
                <a:latin typeface="Times New Roman" pitchFamily="18" charset="0"/>
                <a:cs typeface="Times New Roman" pitchFamily="18" charset="0"/>
              </a:rPr>
              <a:t> Use of renewable energy such as solar energy.</a:t>
            </a:r>
          </a:p>
          <a:p>
            <a:pPr>
              <a:buFont typeface="Wingdings" pitchFamily="2" charset="2"/>
              <a:buChar char="v"/>
            </a:pPr>
            <a:r>
              <a:rPr lang="en-US" sz="2200" dirty="0">
                <a:solidFill>
                  <a:srgbClr val="002060"/>
                </a:solidFill>
                <a:latin typeface="Times New Roman" pitchFamily="18" charset="0"/>
                <a:cs typeface="Times New Roman" pitchFamily="18" charset="0"/>
              </a:rPr>
              <a:t>  Pollution and waste reduction measures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reuse and recycling.</a:t>
            </a:r>
          </a:p>
          <a:p>
            <a:pPr>
              <a:buFont typeface="Wingdings" pitchFamily="2" charset="2"/>
              <a:buChar char="v"/>
            </a:pPr>
            <a:r>
              <a:rPr lang="en-US" sz="2200" dirty="0">
                <a:solidFill>
                  <a:srgbClr val="002060"/>
                </a:solidFill>
                <a:latin typeface="Times New Roman" pitchFamily="18" charset="0"/>
                <a:cs typeface="Times New Roman" pitchFamily="18" charset="0"/>
              </a:rPr>
              <a:t>  Good indoor environmental air quality.</a:t>
            </a:r>
          </a:p>
          <a:p>
            <a:pPr>
              <a:buFont typeface="Wingdings" pitchFamily="2" charset="2"/>
              <a:buChar char="v"/>
            </a:pPr>
            <a:r>
              <a:rPr lang="en-US" sz="2200" dirty="0">
                <a:solidFill>
                  <a:srgbClr val="002060"/>
                </a:solidFill>
                <a:latin typeface="Times New Roman" pitchFamily="18" charset="0"/>
                <a:cs typeface="Times New Roman" pitchFamily="18" charset="0"/>
              </a:rPr>
              <a:t>  Use of materials that are non-toxic, ethical and sustainable.</a:t>
            </a:r>
          </a:p>
          <a:p>
            <a:pPr>
              <a:buFont typeface="Wingdings" pitchFamily="2" charset="2"/>
              <a:buChar char="v"/>
            </a:pPr>
            <a:r>
              <a:rPr lang="en-US" sz="2200" dirty="0">
                <a:solidFill>
                  <a:srgbClr val="002060"/>
                </a:solidFill>
                <a:latin typeface="Times New Roman" pitchFamily="18" charset="0"/>
                <a:cs typeface="Times New Roman" pitchFamily="18" charset="0"/>
              </a:rPr>
              <a:t>  A design that enables adaptation to a changing environment.</a:t>
            </a:r>
          </a:p>
          <a:p>
            <a:pPr>
              <a:buFont typeface="Wingdings" pitchFamily="2" charset="2"/>
              <a:buChar char="v"/>
            </a:pPr>
            <a:r>
              <a:rPr lang="en-US" sz="2200" dirty="0">
                <a:solidFill>
                  <a:srgbClr val="002060"/>
                </a:solidFill>
                <a:latin typeface="Times New Roman" pitchFamily="18" charset="0"/>
                <a:cs typeface="Times New Roman" pitchFamily="18" charset="0"/>
              </a:rPr>
              <a:t>  Consideration of the quality of life of occupants in design, construction and operation.</a:t>
            </a:r>
          </a:p>
          <a:p>
            <a:pPr>
              <a:buFont typeface="Wingdings" pitchFamily="2" charset="2"/>
              <a:buChar char="v"/>
            </a:pPr>
            <a:r>
              <a:rPr lang="en-US" sz="2200" dirty="0">
                <a:solidFill>
                  <a:srgbClr val="002060"/>
                </a:solidFill>
                <a:latin typeface="Times New Roman" pitchFamily="18" charset="0"/>
                <a:cs typeface="Times New Roman" pitchFamily="18" charset="0"/>
              </a:rPr>
              <a:t>  Construction of the environment in design, construction and operation.</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Thus, any building can be a green building whether it is a home, an office, a school, a hospital, a community centre provided it includes features listed above.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696200" cy="517064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5.8.3 Principles of green building</a:t>
            </a:r>
          </a:p>
          <a:p>
            <a:pPr>
              <a:buFont typeface="Wingdings" pitchFamily="2" charset="2"/>
              <a:buChar char="q"/>
            </a:pPr>
            <a:r>
              <a:rPr lang="en-US" sz="2200" dirty="0">
                <a:solidFill>
                  <a:srgbClr val="002060"/>
                </a:solidFill>
                <a:latin typeface="Times New Roman" pitchFamily="18" charset="0"/>
                <a:cs typeface="Times New Roman" pitchFamily="18" charset="0"/>
              </a:rPr>
              <a:t>  The five principles of green building are</a:t>
            </a:r>
          </a:p>
          <a:p>
            <a:pPr lvl="2">
              <a:buFont typeface="Wingdings" pitchFamily="2" charset="2"/>
              <a:buChar char="ü"/>
            </a:pPr>
            <a:r>
              <a:rPr lang="en-US" sz="2200" dirty="0">
                <a:latin typeface="Times New Roman" pitchFamily="18" charset="0"/>
                <a:cs typeface="Times New Roman" pitchFamily="18" charset="0"/>
              </a:rPr>
              <a:t> </a:t>
            </a:r>
            <a:r>
              <a:rPr lang="en-US" sz="2200" dirty="0">
                <a:solidFill>
                  <a:srgbClr val="C00000"/>
                </a:solidFill>
                <a:latin typeface="Times New Roman" pitchFamily="18" charset="0"/>
                <a:cs typeface="Times New Roman" pitchFamily="18" charset="0"/>
              </a:rPr>
              <a:t>Livable communities.</a:t>
            </a:r>
          </a:p>
          <a:p>
            <a:pPr lvl="2">
              <a:buFont typeface="Wingdings" pitchFamily="2" charset="2"/>
              <a:buChar char="ü"/>
            </a:pPr>
            <a:r>
              <a:rPr lang="en-US" sz="2200" dirty="0">
                <a:solidFill>
                  <a:srgbClr val="C00000"/>
                </a:solidFill>
                <a:latin typeface="Times New Roman" pitchFamily="18" charset="0"/>
                <a:cs typeface="Times New Roman" pitchFamily="18" charset="0"/>
              </a:rPr>
              <a:t> Energy efficiency.</a:t>
            </a:r>
          </a:p>
          <a:p>
            <a:pPr lvl="2">
              <a:buFont typeface="Wingdings" pitchFamily="2" charset="2"/>
              <a:buChar char="ü"/>
            </a:pPr>
            <a:r>
              <a:rPr lang="en-US" sz="2200" dirty="0">
                <a:solidFill>
                  <a:srgbClr val="C00000"/>
                </a:solidFill>
                <a:latin typeface="Times New Roman" pitchFamily="18" charset="0"/>
                <a:cs typeface="Times New Roman" pitchFamily="18" charset="0"/>
              </a:rPr>
              <a:t> Indoor air quality.</a:t>
            </a:r>
          </a:p>
          <a:p>
            <a:pPr lvl="2">
              <a:buFont typeface="Wingdings" pitchFamily="2" charset="2"/>
              <a:buChar char="ü"/>
            </a:pPr>
            <a:r>
              <a:rPr lang="en-US" sz="2200" dirty="0">
                <a:solidFill>
                  <a:srgbClr val="C00000"/>
                </a:solidFill>
                <a:latin typeface="Times New Roman" pitchFamily="18" charset="0"/>
                <a:cs typeface="Times New Roman" pitchFamily="18" charset="0"/>
              </a:rPr>
              <a:t>  Resource conservation.</a:t>
            </a:r>
          </a:p>
          <a:p>
            <a:pPr lvl="2">
              <a:buFont typeface="Wingdings" pitchFamily="2" charset="2"/>
              <a:buChar char="ü"/>
            </a:pPr>
            <a:r>
              <a:rPr lang="en-US" sz="2200" dirty="0">
                <a:solidFill>
                  <a:srgbClr val="C00000"/>
                </a:solidFill>
                <a:latin typeface="Times New Roman" pitchFamily="18" charset="0"/>
                <a:cs typeface="Times New Roman" pitchFamily="18" charset="0"/>
              </a:rPr>
              <a:t>  Water conservation.</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5.8.4 Components of green building</a:t>
            </a:r>
          </a:p>
          <a:p>
            <a:pPr>
              <a:buFont typeface="Wingdings" pitchFamily="2" charset="2"/>
              <a:buChar char="q"/>
            </a:pPr>
            <a:r>
              <a:rPr lang="en-US" sz="2200" dirty="0">
                <a:solidFill>
                  <a:srgbClr val="002060"/>
                </a:solidFill>
                <a:latin typeface="Times New Roman" pitchFamily="18" charset="0"/>
                <a:cs typeface="Times New Roman" pitchFamily="18" charset="0"/>
              </a:rPr>
              <a:t>  Seven important components of green buildings are</a:t>
            </a:r>
          </a:p>
          <a:p>
            <a:pPr lvl="1">
              <a:buFont typeface="Wingdings" pitchFamily="2" charset="2"/>
              <a:buChar char="ü"/>
            </a:pPr>
            <a:r>
              <a:rPr lang="en-US" sz="2200" dirty="0">
                <a:solidFill>
                  <a:srgbClr val="C00000"/>
                </a:solidFill>
                <a:latin typeface="Times New Roman" pitchFamily="18" charset="0"/>
                <a:cs typeface="Times New Roman" pitchFamily="18" charset="0"/>
              </a:rPr>
              <a:t>  </a:t>
            </a:r>
            <a:r>
              <a:rPr lang="en-US" sz="2200" dirty="0" err="1">
                <a:solidFill>
                  <a:srgbClr val="C00000"/>
                </a:solidFill>
                <a:latin typeface="Times New Roman" pitchFamily="18" charset="0"/>
                <a:cs typeface="Times New Roman" pitchFamily="18" charset="0"/>
              </a:rPr>
              <a:t>Aluminium</a:t>
            </a:r>
            <a:r>
              <a:rPr lang="en-US" sz="2200" dirty="0">
                <a:solidFill>
                  <a:srgbClr val="C00000"/>
                </a:solidFill>
                <a:latin typeface="Times New Roman" pitchFamily="18" charset="0"/>
                <a:cs typeface="Times New Roman" pitchFamily="18" charset="0"/>
              </a:rPr>
              <a:t> weather resistant insulated access panel. It helps regulate in door temperature and prevent moisture and pest from entering.</a:t>
            </a:r>
          </a:p>
          <a:p>
            <a:pPr lvl="1">
              <a:buFont typeface="Wingdings" pitchFamily="2" charset="2"/>
              <a:buChar char="ü"/>
            </a:pPr>
            <a:r>
              <a:rPr lang="en-US" sz="2200" dirty="0">
                <a:solidFill>
                  <a:srgbClr val="C00000"/>
                </a:solidFill>
                <a:latin typeface="Times New Roman" pitchFamily="18" charset="0"/>
                <a:cs typeface="Times New Roman" pitchFamily="18" charset="0"/>
              </a:rPr>
              <a:t>  Energy efficient windows.</a:t>
            </a:r>
          </a:p>
          <a:p>
            <a:pPr lvl="1">
              <a:buFont typeface="Wingdings" pitchFamily="2" charset="2"/>
              <a:buChar char="ü"/>
            </a:pPr>
            <a:r>
              <a:rPr lang="en-US" sz="2200" dirty="0">
                <a:solidFill>
                  <a:srgbClr val="C00000"/>
                </a:solidFill>
                <a:latin typeface="Times New Roman" pitchFamily="18" charset="0"/>
                <a:cs typeface="Times New Roman" pitchFamily="18" charset="0"/>
              </a:rPr>
              <a:t>  Green roof.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848600" cy="5509200"/>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  Solar power.</a:t>
            </a:r>
          </a:p>
          <a:p>
            <a:pPr lvl="2">
              <a:buFont typeface="Wingdings" pitchFamily="2" charset="2"/>
              <a:buChar char="ü"/>
            </a:pPr>
            <a:r>
              <a:rPr lang="en-US" sz="2200" dirty="0">
                <a:solidFill>
                  <a:srgbClr val="C00000"/>
                </a:solidFill>
                <a:latin typeface="Times New Roman" pitchFamily="18" charset="0"/>
                <a:cs typeface="Times New Roman" pitchFamily="18" charset="0"/>
              </a:rPr>
              <a:t>  Water conservation.</a:t>
            </a:r>
          </a:p>
          <a:p>
            <a:pPr lvl="2">
              <a:buFont typeface="Wingdings" pitchFamily="2" charset="2"/>
              <a:buChar char="ü"/>
            </a:pPr>
            <a:r>
              <a:rPr lang="en-US" sz="2200" dirty="0">
                <a:solidFill>
                  <a:srgbClr val="C00000"/>
                </a:solidFill>
                <a:latin typeface="Times New Roman" pitchFamily="18" charset="0"/>
                <a:cs typeface="Times New Roman" pitchFamily="18" charset="0"/>
              </a:rPr>
              <a:t>  Recycling.</a:t>
            </a:r>
          </a:p>
          <a:p>
            <a:pPr lvl="2">
              <a:buFont typeface="Wingdings" pitchFamily="2" charset="2"/>
              <a:buChar char="ü"/>
            </a:pPr>
            <a:r>
              <a:rPr lang="en-US" sz="2200" dirty="0">
                <a:solidFill>
                  <a:srgbClr val="C00000"/>
                </a:solidFill>
                <a:latin typeface="Times New Roman" pitchFamily="18" charset="0"/>
                <a:cs typeface="Times New Roman" pitchFamily="18" charset="0"/>
              </a:rPr>
              <a:t>  Landscaping.</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5.8.5 Advantages and Disadvantages of green building</a:t>
            </a:r>
          </a:p>
          <a:p>
            <a:r>
              <a:rPr lang="en-US" sz="2200" b="1" dirty="0">
                <a:solidFill>
                  <a:srgbClr val="00B0F0"/>
                </a:solidFill>
                <a:latin typeface="Times New Roman" pitchFamily="18" charset="0"/>
                <a:cs typeface="Times New Roman" pitchFamily="18" charset="0"/>
              </a:rPr>
              <a:t>Advantages of green buildings</a:t>
            </a:r>
          </a:p>
          <a:p>
            <a:pPr>
              <a:buFont typeface="Wingdings" pitchFamily="2" charset="2"/>
              <a:buChar char="Ø"/>
            </a:pPr>
            <a:r>
              <a:rPr lang="en-US" sz="2200" dirty="0">
                <a:solidFill>
                  <a:srgbClr val="002060"/>
                </a:solidFill>
                <a:latin typeface="Times New Roman" pitchFamily="18" charset="0"/>
                <a:cs typeface="Times New Roman" pitchFamily="18" charset="0"/>
              </a:rPr>
              <a:t>  Green buildings are energy efficient.</a:t>
            </a:r>
          </a:p>
          <a:p>
            <a:pPr>
              <a:buFont typeface="Wingdings" pitchFamily="2" charset="2"/>
              <a:buChar char="Ø"/>
            </a:pPr>
            <a:r>
              <a:rPr lang="en-US" sz="2200" dirty="0">
                <a:solidFill>
                  <a:srgbClr val="002060"/>
                </a:solidFill>
                <a:latin typeface="Times New Roman" pitchFamily="18" charset="0"/>
                <a:cs typeface="Times New Roman" pitchFamily="18" charset="0"/>
              </a:rPr>
              <a:t>  Higher fraction of eco-friendly materials.</a:t>
            </a:r>
          </a:p>
          <a:p>
            <a:pPr>
              <a:buFont typeface="Wingdings" pitchFamily="2" charset="2"/>
              <a:buChar char="Ø"/>
            </a:pPr>
            <a:r>
              <a:rPr lang="en-US" sz="2200" dirty="0">
                <a:solidFill>
                  <a:srgbClr val="002060"/>
                </a:solidFill>
                <a:latin typeface="Times New Roman" pitchFamily="18" charset="0"/>
                <a:cs typeface="Times New Roman" pitchFamily="18" charset="0"/>
              </a:rPr>
              <a:t>  Water - efficient devices.</a:t>
            </a:r>
          </a:p>
          <a:p>
            <a:pPr>
              <a:buFont typeface="Wingdings" pitchFamily="2" charset="2"/>
              <a:buChar char="Ø"/>
            </a:pPr>
            <a:r>
              <a:rPr lang="en-US" sz="2200" dirty="0">
                <a:solidFill>
                  <a:srgbClr val="002060"/>
                </a:solidFill>
                <a:latin typeface="Times New Roman" pitchFamily="18" charset="0"/>
                <a:cs typeface="Times New Roman" pitchFamily="18" charset="0"/>
              </a:rPr>
              <a:t>  Reduction in waste.</a:t>
            </a:r>
          </a:p>
          <a:p>
            <a:pPr>
              <a:buFont typeface="Wingdings" pitchFamily="2" charset="2"/>
              <a:buChar char="Ø"/>
            </a:pPr>
            <a:r>
              <a:rPr lang="en-US" sz="2200" dirty="0">
                <a:solidFill>
                  <a:srgbClr val="002060"/>
                </a:solidFill>
                <a:latin typeface="Times New Roman" pitchFamily="18" charset="0"/>
                <a:cs typeface="Times New Roman" pitchFamily="18" charset="0"/>
              </a:rPr>
              <a:t>  Less air pollution.</a:t>
            </a:r>
          </a:p>
          <a:p>
            <a:pPr>
              <a:buFont typeface="Wingdings" pitchFamily="2" charset="2"/>
              <a:buChar char="Ø"/>
            </a:pPr>
            <a:r>
              <a:rPr lang="en-US" sz="2200" dirty="0">
                <a:solidFill>
                  <a:srgbClr val="002060"/>
                </a:solidFill>
                <a:latin typeface="Times New Roman" pitchFamily="18" charset="0"/>
                <a:cs typeface="Times New Roman" pitchFamily="18" charset="0"/>
              </a:rPr>
              <a:t>  Reduction in green house gas emissions.</a:t>
            </a:r>
          </a:p>
          <a:p>
            <a:pPr>
              <a:buFont typeface="Wingdings" pitchFamily="2" charset="2"/>
              <a:buChar char="Ø"/>
            </a:pPr>
            <a:r>
              <a:rPr lang="en-US" sz="2200" dirty="0">
                <a:solidFill>
                  <a:srgbClr val="002060"/>
                </a:solidFill>
                <a:latin typeface="Times New Roman" pitchFamily="18" charset="0"/>
                <a:cs typeface="Times New Roman" pitchFamily="18" charset="0"/>
              </a:rPr>
              <a:t>  Protection of our natural resources.</a:t>
            </a:r>
          </a:p>
          <a:p>
            <a:pPr>
              <a:buFont typeface="Wingdings" pitchFamily="2" charset="2"/>
              <a:buChar char="Ø"/>
            </a:pPr>
            <a:r>
              <a:rPr lang="en-US" sz="2200" dirty="0">
                <a:solidFill>
                  <a:srgbClr val="002060"/>
                </a:solidFill>
                <a:latin typeface="Times New Roman" pitchFamily="18" charset="0"/>
                <a:cs typeface="Times New Roman" pitchFamily="18" charset="0"/>
              </a:rPr>
              <a:t>  Indoor air quality is improved.</a:t>
            </a:r>
          </a:p>
          <a:p>
            <a:pPr>
              <a:buFont typeface="Wingdings" pitchFamily="2" charset="2"/>
              <a:buChar char="Ø"/>
            </a:pPr>
            <a:r>
              <a:rPr lang="en-US" sz="2200" dirty="0">
                <a:solidFill>
                  <a:srgbClr val="002060"/>
                </a:solidFill>
                <a:latin typeface="Times New Roman" pitchFamily="18" charset="0"/>
                <a:cs typeface="Times New Roman" pitchFamily="18" charset="0"/>
              </a:rPr>
              <a:t>  Use of recycled metal and other construction materials.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56357"/>
            <a:ext cx="8077200" cy="6001643"/>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Emphasis on renewable energies.</a:t>
            </a:r>
          </a:p>
          <a:p>
            <a:pPr>
              <a:buFont typeface="Wingdings" pitchFamily="2" charset="2"/>
              <a:buChar char="Ø"/>
            </a:pPr>
            <a:r>
              <a:rPr lang="en-US" sz="2200" dirty="0">
                <a:solidFill>
                  <a:srgbClr val="002060"/>
                </a:solidFill>
                <a:latin typeface="Times New Roman" pitchFamily="18" charset="0"/>
                <a:cs typeface="Times New Roman" pitchFamily="18" charset="0"/>
              </a:rPr>
              <a:t>  Day lighting is utilized as best as possible.</a:t>
            </a:r>
          </a:p>
          <a:p>
            <a:pPr>
              <a:buFont typeface="Wingdings" pitchFamily="2" charset="2"/>
              <a:buChar char="Ø"/>
            </a:pPr>
            <a:r>
              <a:rPr lang="en-US" sz="2200" dirty="0">
                <a:solidFill>
                  <a:srgbClr val="002060"/>
                </a:solidFill>
                <a:latin typeface="Times New Roman" pitchFamily="18" charset="0"/>
                <a:cs typeface="Times New Roman" pitchFamily="18" charset="0"/>
              </a:rPr>
              <a:t>  Use of renewable plant materials.</a:t>
            </a:r>
          </a:p>
          <a:p>
            <a:pPr>
              <a:buFont typeface="Wingdings" pitchFamily="2" charset="2"/>
              <a:buChar char="Ø"/>
            </a:pPr>
            <a:r>
              <a:rPr lang="en-US" sz="2200" dirty="0">
                <a:solidFill>
                  <a:srgbClr val="002060"/>
                </a:solidFill>
                <a:latin typeface="Times New Roman" pitchFamily="18" charset="0"/>
                <a:cs typeface="Times New Roman" pitchFamily="18" charset="0"/>
              </a:rPr>
              <a:t>  Higher market value.</a:t>
            </a:r>
          </a:p>
          <a:p>
            <a:pPr>
              <a:buFont typeface="Wingdings" pitchFamily="2" charset="2"/>
              <a:buChar char="Ø"/>
            </a:pPr>
            <a:r>
              <a:rPr lang="en-US" sz="2200" dirty="0">
                <a:solidFill>
                  <a:srgbClr val="002060"/>
                </a:solidFill>
                <a:latin typeface="Times New Roman" pitchFamily="18" charset="0"/>
                <a:cs typeface="Times New Roman" pitchFamily="18" charset="0"/>
              </a:rPr>
              <a:t>  Rainwater collection and use of compost bins.</a:t>
            </a:r>
          </a:p>
          <a:p>
            <a:pPr>
              <a:buFont typeface="Wingdings" pitchFamily="2" charset="2"/>
              <a:buChar char="Ø"/>
            </a:pPr>
            <a:r>
              <a:rPr lang="en-US" sz="2200" dirty="0">
                <a:solidFill>
                  <a:srgbClr val="002060"/>
                </a:solidFill>
                <a:latin typeface="Times New Roman" pitchFamily="18" charset="0"/>
                <a:cs typeface="Times New Roman" pitchFamily="18" charset="0"/>
              </a:rPr>
              <a:t>  Overall health improvements.</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Disadvantages of green building</a:t>
            </a:r>
          </a:p>
          <a:p>
            <a:pPr>
              <a:buFont typeface="Wingdings" pitchFamily="2" charset="2"/>
              <a:buChar char="v"/>
            </a:pPr>
            <a:r>
              <a:rPr lang="en-US" sz="2200" dirty="0">
                <a:solidFill>
                  <a:srgbClr val="002060"/>
                </a:solidFill>
                <a:latin typeface="Times New Roman" pitchFamily="18" charset="0"/>
                <a:cs typeface="Times New Roman" pitchFamily="18" charset="0"/>
              </a:rPr>
              <a:t> High initial costs.</a:t>
            </a:r>
          </a:p>
          <a:p>
            <a:pPr>
              <a:buFont typeface="Wingdings" pitchFamily="2" charset="2"/>
              <a:buChar char="v"/>
            </a:pPr>
            <a:r>
              <a:rPr lang="en-US" sz="2200" dirty="0">
                <a:solidFill>
                  <a:srgbClr val="002060"/>
                </a:solidFill>
                <a:latin typeface="Times New Roman" pitchFamily="18" charset="0"/>
                <a:cs typeface="Times New Roman" pitchFamily="18" charset="0"/>
              </a:rPr>
              <a:t> Energy supply may depend on weather condition.</a:t>
            </a:r>
          </a:p>
          <a:p>
            <a:pPr>
              <a:buFont typeface="Wingdings" pitchFamily="2" charset="2"/>
              <a:buChar char="v"/>
            </a:pPr>
            <a:r>
              <a:rPr lang="en-US" sz="2200" dirty="0">
                <a:solidFill>
                  <a:srgbClr val="002060"/>
                </a:solidFill>
                <a:latin typeface="Times New Roman" pitchFamily="18" charset="0"/>
                <a:cs typeface="Times New Roman" pitchFamily="18" charset="0"/>
              </a:rPr>
              <a:t> Technology problems are more.</a:t>
            </a:r>
          </a:p>
          <a:p>
            <a:pPr>
              <a:buFont typeface="Wingdings" pitchFamily="2" charset="2"/>
              <a:buChar char="v"/>
            </a:pPr>
            <a:r>
              <a:rPr lang="en-US" sz="2200" dirty="0">
                <a:solidFill>
                  <a:srgbClr val="002060"/>
                </a:solidFill>
                <a:latin typeface="Times New Roman" pitchFamily="18" charset="0"/>
                <a:cs typeface="Times New Roman" pitchFamily="18" charset="0"/>
              </a:rPr>
              <a:t> Maintenance may be difficult.</a:t>
            </a:r>
          </a:p>
          <a:p>
            <a:pPr>
              <a:buFont typeface="Wingdings" pitchFamily="2" charset="2"/>
              <a:buChar char="v"/>
            </a:pPr>
            <a:r>
              <a:rPr lang="en-US" sz="2200" dirty="0">
                <a:solidFill>
                  <a:srgbClr val="002060"/>
                </a:solidFill>
                <a:latin typeface="Times New Roman" pitchFamily="18" charset="0"/>
                <a:cs typeface="Times New Roman" pitchFamily="18" charset="0"/>
              </a:rPr>
              <a:t> Indoor air temperature may greatly vary over time.</a:t>
            </a:r>
          </a:p>
          <a:p>
            <a:pPr>
              <a:buFont typeface="Wingdings" pitchFamily="2" charset="2"/>
              <a:buChar char="v"/>
            </a:pPr>
            <a:r>
              <a:rPr lang="en-US" sz="2200" dirty="0">
                <a:solidFill>
                  <a:srgbClr val="002060"/>
                </a:solidFill>
                <a:latin typeface="Times New Roman" pitchFamily="18" charset="0"/>
                <a:cs typeface="Times New Roman" pitchFamily="18" charset="0"/>
              </a:rPr>
              <a:t> Experienced green construction workers may be rare.</a:t>
            </a:r>
          </a:p>
          <a:p>
            <a:pPr>
              <a:buFont typeface="Wingdings" pitchFamily="2" charset="2"/>
              <a:buChar char="v"/>
            </a:pPr>
            <a:r>
              <a:rPr lang="en-US" sz="2200" dirty="0">
                <a:solidFill>
                  <a:srgbClr val="002060"/>
                </a:solidFill>
                <a:latin typeface="Times New Roman" pitchFamily="18" charset="0"/>
                <a:cs typeface="Times New Roman" pitchFamily="18" charset="0"/>
              </a:rPr>
              <a:t> Green construction is not suitable for all locations.</a:t>
            </a:r>
          </a:p>
          <a:p>
            <a:pPr>
              <a:buFont typeface="Wingdings" pitchFamily="2" charset="2"/>
              <a:buChar char="v"/>
            </a:pPr>
            <a:r>
              <a:rPr lang="en-US" sz="2200" dirty="0">
                <a:solidFill>
                  <a:srgbClr val="002060"/>
                </a:solidFill>
                <a:latin typeface="Times New Roman" pitchFamily="18" charset="0"/>
                <a:cs typeface="Times New Roman" pitchFamily="18" charset="0"/>
              </a:rPr>
              <a:t> Availability of green construction materials.</a:t>
            </a:r>
          </a:p>
          <a:p>
            <a:pPr>
              <a:buFont typeface="Wingdings" pitchFamily="2" charset="2"/>
              <a:buChar char="v"/>
            </a:pPr>
            <a:r>
              <a:rPr lang="en-US" sz="2200" dirty="0">
                <a:solidFill>
                  <a:srgbClr val="002060"/>
                </a:solidFill>
                <a:latin typeface="Times New Roman" pitchFamily="18" charset="0"/>
                <a:cs typeface="Times New Roman" pitchFamily="18" charset="0"/>
              </a:rPr>
              <a:t> Funding problems for green buildings.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229600" cy="5170646"/>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5.9 GREEN MATERIALS</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r>
              <a:rPr lang="en-US" sz="2200" b="1" i="1" dirty="0">
                <a:solidFill>
                  <a:srgbClr val="C00000"/>
                </a:solidFill>
                <a:latin typeface="Times New Roman" pitchFamily="18" charset="0"/>
                <a:cs typeface="Times New Roman" pitchFamily="18" charset="0"/>
              </a:rPr>
              <a:t>Green materials also called eco-friendly materials, building construction materials that have low impact on the environment. Due to the properties of non-toxic, </a:t>
            </a:r>
            <a:r>
              <a:rPr lang="en-US" sz="2200" dirty="0">
                <a:solidFill>
                  <a:srgbClr val="002060"/>
                </a:solidFill>
                <a:latin typeface="Times New Roman" pitchFamily="18" charset="0"/>
                <a:cs typeface="Times New Roman" pitchFamily="18" charset="0"/>
              </a:rPr>
              <a:t>organic and recycling, green materials are widely used in various industrial applications.</a:t>
            </a:r>
          </a:p>
          <a:p>
            <a:r>
              <a:rPr lang="en-US" sz="2200" b="1" i="1" dirty="0">
                <a:latin typeface="Times New Roman" pitchFamily="18" charset="0"/>
                <a:cs typeface="Times New Roman" pitchFamily="18" charset="0"/>
              </a:rPr>
              <a:t>Examples</a:t>
            </a:r>
            <a:r>
              <a:rPr lang="en-US" sz="2200" b="1" i="1" dirty="0">
                <a:solidFill>
                  <a:srgbClr val="C00000"/>
                </a:solidFill>
                <a:latin typeface="Times New Roman" pitchFamily="18" charset="0"/>
                <a:cs typeface="Times New Roman" pitchFamily="18" charset="0"/>
              </a:rPr>
              <a:t>: </a:t>
            </a:r>
            <a:r>
              <a:rPr lang="en-US" sz="2200" dirty="0">
                <a:solidFill>
                  <a:srgbClr val="C00000"/>
                </a:solidFill>
                <a:latin typeface="Times New Roman" pitchFamily="18" charset="0"/>
                <a:cs typeface="Times New Roman" pitchFamily="18" charset="0"/>
              </a:rPr>
              <a:t>Naturally occurring materials like wood, ceramics, glass, clay, sand, stone.</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5.9.1 Criteria for green materials</a:t>
            </a:r>
          </a:p>
          <a:p>
            <a:pPr>
              <a:buFont typeface="Wingdings" pitchFamily="2" charset="2"/>
              <a:buChar char="q"/>
            </a:pPr>
            <a:r>
              <a:rPr lang="en-US" sz="2200" dirty="0">
                <a:solidFill>
                  <a:srgbClr val="002060"/>
                </a:solidFill>
                <a:latin typeface="Times New Roman" pitchFamily="18" charset="0"/>
                <a:cs typeface="Times New Roman" pitchFamily="18" charset="0"/>
              </a:rPr>
              <a:t>  Following criteria can be used to identify the green materials.</a:t>
            </a:r>
          </a:p>
          <a:p>
            <a:pPr lvl="2">
              <a:buFont typeface="Wingdings" pitchFamily="2" charset="2"/>
              <a:buChar char="ü"/>
            </a:pPr>
            <a:r>
              <a:rPr lang="en-US" sz="2200" dirty="0">
                <a:solidFill>
                  <a:srgbClr val="C00000"/>
                </a:solidFill>
                <a:latin typeface="Times New Roman" pitchFamily="18" charset="0"/>
                <a:cs typeface="Times New Roman" pitchFamily="18" charset="0"/>
              </a:rPr>
              <a:t>  Local availability of materials.</a:t>
            </a:r>
          </a:p>
          <a:p>
            <a:pPr lvl="2">
              <a:buFont typeface="Wingdings" pitchFamily="2" charset="2"/>
              <a:buChar char="ü"/>
            </a:pPr>
            <a:r>
              <a:rPr lang="en-US" sz="2200" dirty="0">
                <a:solidFill>
                  <a:srgbClr val="C00000"/>
                </a:solidFill>
                <a:latin typeface="Times New Roman" pitchFamily="18" charset="0"/>
                <a:cs typeface="Times New Roman" pitchFamily="18" charset="0"/>
              </a:rPr>
              <a:t>  Embodied energy of materials.</a:t>
            </a:r>
          </a:p>
          <a:p>
            <a:pPr lvl="2">
              <a:buFont typeface="Wingdings" pitchFamily="2" charset="2"/>
              <a:buChar char="ü"/>
            </a:pPr>
            <a:r>
              <a:rPr lang="en-US" sz="2200" dirty="0">
                <a:solidFill>
                  <a:srgbClr val="C00000"/>
                </a:solidFill>
                <a:latin typeface="Times New Roman" pitchFamily="18" charset="0"/>
                <a:cs typeface="Times New Roman" pitchFamily="18" charset="0"/>
              </a:rPr>
              <a:t>  % of recycled (or) waste materials used.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10245"/>
            <a:ext cx="7848600" cy="5847755"/>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   Rapidly renewable materials.</a:t>
            </a:r>
          </a:p>
          <a:p>
            <a:pPr lvl="2">
              <a:buFont typeface="Wingdings" pitchFamily="2" charset="2"/>
              <a:buChar char="ü"/>
            </a:pPr>
            <a:r>
              <a:rPr lang="en-US" sz="2200" dirty="0">
                <a:solidFill>
                  <a:srgbClr val="C00000"/>
                </a:solidFill>
                <a:latin typeface="Times New Roman" pitchFamily="18" charset="0"/>
                <a:cs typeface="Times New Roman" pitchFamily="18" charset="0"/>
              </a:rPr>
              <a:t>  Contribution in energy efficiency of building.</a:t>
            </a:r>
          </a:p>
          <a:p>
            <a:pPr lvl="2">
              <a:buFont typeface="Wingdings" pitchFamily="2" charset="2"/>
              <a:buChar char="ü"/>
            </a:pPr>
            <a:r>
              <a:rPr lang="en-US" sz="2200" dirty="0">
                <a:solidFill>
                  <a:srgbClr val="C00000"/>
                </a:solidFill>
                <a:latin typeface="Times New Roman" pitchFamily="18" charset="0"/>
                <a:cs typeface="Times New Roman" pitchFamily="18" charset="0"/>
              </a:rPr>
              <a:t>  Recyclability of materials.</a:t>
            </a:r>
          </a:p>
          <a:p>
            <a:pPr lvl="2">
              <a:buFont typeface="Wingdings" pitchFamily="2" charset="2"/>
              <a:buChar char="ü"/>
            </a:pPr>
            <a:r>
              <a:rPr lang="en-US" sz="2200" dirty="0">
                <a:solidFill>
                  <a:srgbClr val="C00000"/>
                </a:solidFill>
                <a:latin typeface="Times New Roman" pitchFamily="18" charset="0"/>
                <a:cs typeface="Times New Roman" pitchFamily="18" charset="0"/>
              </a:rPr>
              <a:t>  Durability.</a:t>
            </a:r>
          </a:p>
          <a:p>
            <a:pPr lvl="2">
              <a:buFont typeface="Wingdings" pitchFamily="2" charset="2"/>
              <a:buChar char="ü"/>
            </a:pPr>
            <a:r>
              <a:rPr lang="en-US" sz="2200" dirty="0">
                <a:solidFill>
                  <a:srgbClr val="C00000"/>
                </a:solidFill>
                <a:latin typeface="Times New Roman" pitchFamily="18" charset="0"/>
                <a:cs typeface="Times New Roman" pitchFamily="18" charset="0"/>
              </a:rPr>
              <a:t>  Environmental impact.</a:t>
            </a:r>
          </a:p>
          <a:p>
            <a:pPr>
              <a:buFont typeface="Wingdings" pitchFamily="2" charset="2"/>
              <a:buChar char="v"/>
            </a:pPr>
            <a:r>
              <a:rPr lang="en-US" sz="2200" dirty="0">
                <a:solidFill>
                  <a:srgbClr val="002060"/>
                </a:solidFill>
                <a:latin typeface="Times New Roman" pitchFamily="18" charset="0"/>
                <a:cs typeface="Times New Roman" pitchFamily="18" charset="0"/>
              </a:rPr>
              <a:t>  Evolution of the material can be made using the mentioned criteria.</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5.9.2 Characteristics of green materials</a:t>
            </a:r>
          </a:p>
          <a:p>
            <a:pPr>
              <a:buFont typeface="Wingdings" pitchFamily="2" charset="2"/>
              <a:buChar char="Ø"/>
            </a:pPr>
            <a:r>
              <a:rPr lang="en-US" sz="2200" dirty="0">
                <a:solidFill>
                  <a:srgbClr val="002060"/>
                </a:solidFill>
                <a:latin typeface="Times New Roman" pitchFamily="18" charset="0"/>
                <a:cs typeface="Times New Roman" pitchFamily="18" charset="0"/>
              </a:rPr>
              <a:t>  Common characteristics of green materials are</a:t>
            </a:r>
          </a:p>
          <a:p>
            <a:pPr>
              <a:buFont typeface="Wingdings" pitchFamily="2" charset="2"/>
              <a:buChar char="v"/>
            </a:pPr>
            <a:r>
              <a:rPr lang="en-US" sz="2200" dirty="0">
                <a:solidFill>
                  <a:srgbClr val="002060"/>
                </a:solidFill>
                <a:latin typeface="Times New Roman" pitchFamily="18" charset="0"/>
                <a:cs typeface="Times New Roman" pitchFamily="18" charset="0"/>
              </a:rPr>
              <a:t>  Green materials are energy efficient products, it uses less energy to do the same task.</a:t>
            </a:r>
          </a:p>
          <a:p>
            <a:pPr>
              <a:buFont typeface="Wingdings" pitchFamily="2" charset="2"/>
              <a:buChar char="v"/>
            </a:pPr>
            <a:r>
              <a:rPr lang="en-US" sz="2200" dirty="0">
                <a:solidFill>
                  <a:srgbClr val="002060"/>
                </a:solidFill>
                <a:latin typeface="Times New Roman" pitchFamily="18" charset="0"/>
                <a:cs typeface="Times New Roman" pitchFamily="18" charset="0"/>
              </a:rPr>
              <a:t>  It lowers energy cost and lessen pollution.</a:t>
            </a:r>
          </a:p>
          <a:p>
            <a:pPr>
              <a:buFont typeface="Wingdings" pitchFamily="2" charset="2"/>
              <a:buChar char="v"/>
            </a:pPr>
            <a:r>
              <a:rPr lang="en-US" sz="2200" dirty="0">
                <a:solidFill>
                  <a:srgbClr val="002060"/>
                </a:solidFill>
                <a:latin typeface="Times New Roman" pitchFamily="18" charset="0"/>
                <a:cs typeface="Times New Roman" pitchFamily="18" charset="0"/>
              </a:rPr>
              <a:t>  Green materials are mostly renewable, can be regenerated again and again.</a:t>
            </a:r>
          </a:p>
          <a:p>
            <a:r>
              <a:rPr lang="en-US" sz="2200" b="1" i="1" dirty="0">
                <a:latin typeface="Times New Roman" pitchFamily="18" charset="0"/>
                <a:cs typeface="Times New Roman" pitchFamily="18" charset="0"/>
              </a:rPr>
              <a:t>Example </a:t>
            </a:r>
            <a:r>
              <a:rPr lang="en-US" sz="2200" b="1" i="1" dirty="0">
                <a:solidFill>
                  <a:srgbClr val="C00000"/>
                </a:solidFill>
                <a:latin typeface="Times New Roman" pitchFamily="18" charset="0"/>
                <a:cs typeface="Times New Roman" pitchFamily="18" charset="0"/>
              </a:rPr>
              <a:t>Bamboo grows quickly while pine grows </a:t>
            </a:r>
            <a:r>
              <a:rPr lang="en-US" sz="2200" b="1" dirty="0">
                <a:solidFill>
                  <a:srgbClr val="C00000"/>
                </a:solidFill>
                <a:latin typeface="Times New Roman" pitchFamily="18" charset="0"/>
                <a:cs typeface="Times New Roman" pitchFamily="18" charset="0"/>
              </a:rPr>
              <a:t>more slowly, but both are renewable.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028343"/>
            <a:ext cx="7696200" cy="5170646"/>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Green materials are recyclable (or) made from recycled material. So, they save energy and reduce waste.</a:t>
            </a:r>
          </a:p>
          <a:p>
            <a:pPr>
              <a:buFont typeface="Wingdings" pitchFamily="2" charset="2"/>
              <a:buChar char="v"/>
            </a:pPr>
            <a:r>
              <a:rPr lang="en-US" sz="2200" dirty="0">
                <a:solidFill>
                  <a:srgbClr val="002060"/>
                </a:solidFill>
                <a:latin typeface="Times New Roman" pitchFamily="18" charset="0"/>
                <a:cs typeface="Times New Roman" pitchFamily="18" charset="0"/>
              </a:rPr>
              <a:t> Green materials are non-toxic, they do not emit odors, irritants (or) hazardous compounds that affect human health.</a:t>
            </a:r>
          </a:p>
          <a:p>
            <a:pPr>
              <a:buFont typeface="Wingdings" pitchFamily="2" charset="2"/>
              <a:buChar char="v"/>
            </a:pPr>
            <a:r>
              <a:rPr lang="en-US" sz="2200" dirty="0">
                <a:solidFill>
                  <a:srgbClr val="002060"/>
                </a:solidFill>
                <a:latin typeface="Times New Roman" pitchFamily="18" charset="0"/>
                <a:cs typeface="Times New Roman" pitchFamily="18" charset="0"/>
              </a:rPr>
              <a:t> They are durable and no need to upgrade (or) repair. They preserve resources and energy.</a:t>
            </a:r>
          </a:p>
          <a:p>
            <a:pPr>
              <a:buFont typeface="Wingdings" pitchFamily="2" charset="2"/>
              <a:buChar char="v"/>
            </a:pPr>
            <a:r>
              <a:rPr lang="en-US" sz="2200" dirty="0">
                <a:solidFill>
                  <a:srgbClr val="002060"/>
                </a:solidFill>
                <a:latin typeface="Times New Roman" pitchFamily="18" charset="0"/>
                <a:cs typeface="Times New Roman" pitchFamily="18" charset="0"/>
              </a:rPr>
              <a:t> They are cost-effective.</a:t>
            </a:r>
          </a:p>
          <a:p>
            <a:pPr>
              <a:buFont typeface="Wingdings" pitchFamily="2" charset="2"/>
              <a:buChar char="v"/>
            </a:pPr>
            <a:r>
              <a:rPr lang="en-US" sz="2200" dirty="0">
                <a:solidFill>
                  <a:srgbClr val="002060"/>
                </a:solidFill>
                <a:latin typeface="Times New Roman" pitchFamily="18" charset="0"/>
                <a:cs typeface="Times New Roman" pitchFamily="18" charset="0"/>
              </a:rPr>
              <a:t>  They can be locally sourced, so transport cost can be reduced.</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5.9.3 Important green building materials</a:t>
            </a:r>
          </a:p>
          <a:p>
            <a:pPr>
              <a:buFont typeface="Wingdings" pitchFamily="2" charset="2"/>
              <a:buChar char="q"/>
            </a:pPr>
            <a:r>
              <a:rPr lang="en-US" sz="2200" dirty="0">
                <a:solidFill>
                  <a:srgbClr val="002060"/>
                </a:solidFill>
                <a:latin typeface="Times New Roman" pitchFamily="18" charset="0"/>
                <a:cs typeface="Times New Roman" pitchFamily="18" charset="0"/>
              </a:rPr>
              <a:t>  Green building is construction that primarily uses natural materials and renewable resources. These structures look really cool.</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1. Stone: </a:t>
            </a:r>
            <a:r>
              <a:rPr lang="en-US" sz="2200" b="1" dirty="0">
                <a:solidFill>
                  <a:srgbClr val="002060"/>
                </a:solidFill>
                <a:latin typeface="Times New Roman" pitchFamily="18" charset="0"/>
                <a:cs typeface="Times New Roman" pitchFamily="18" charset="0"/>
              </a:rPr>
              <a:t>It is low maintenance and durable.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170646"/>
          </a:xfrm>
          <a:prstGeom prst="rect">
            <a:avLst/>
          </a:prstGeom>
        </p:spPr>
        <p:txBody>
          <a:bodyPr wrap="square">
            <a:spAutoFit/>
          </a:bodyPr>
          <a:lstStyle/>
          <a:p>
            <a:r>
              <a:rPr lang="en-US" sz="2200" b="1" dirty="0">
                <a:latin typeface="Times New Roman" pitchFamily="18" charset="0"/>
                <a:cs typeface="Times New Roman" pitchFamily="18" charset="0"/>
              </a:rPr>
              <a:t>2. Cob:</a:t>
            </a:r>
          </a:p>
          <a:p>
            <a:pPr>
              <a:buFont typeface="Wingdings" pitchFamily="2" charset="2"/>
              <a:buChar char="q"/>
            </a:pPr>
            <a:r>
              <a:rPr lang="en-US" sz="2200" b="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(mud mixture of natural ingredients like soil, sand, straw and lime). </a:t>
            </a:r>
          </a:p>
          <a:p>
            <a:pPr>
              <a:buFont typeface="Wingdings" pitchFamily="2" charset="2"/>
              <a:buChar char="q"/>
            </a:pPr>
            <a:r>
              <a:rPr lang="en-US" sz="2200" dirty="0">
                <a:solidFill>
                  <a:srgbClr val="002060"/>
                </a:solidFill>
                <a:latin typeface="Times New Roman" pitchFamily="18" charset="0"/>
                <a:cs typeface="Times New Roman" pitchFamily="18" charset="0"/>
              </a:rPr>
              <a:t>  It is cheap and energy efficient.</a:t>
            </a:r>
          </a:p>
          <a:p>
            <a:r>
              <a:rPr lang="en-US" sz="2200" b="1" dirty="0">
                <a:latin typeface="Times New Roman" pitchFamily="18" charset="0"/>
                <a:cs typeface="Times New Roman" pitchFamily="18" charset="0"/>
              </a:rPr>
              <a:t>3. Bamboo</a:t>
            </a:r>
          </a:p>
          <a:p>
            <a:pPr>
              <a:buFont typeface="Wingdings" pitchFamily="2" charset="2"/>
              <a:buChar char="q"/>
            </a:pPr>
            <a:r>
              <a:rPr lang="en-US" sz="2200" dirty="0">
                <a:solidFill>
                  <a:srgbClr val="002060"/>
                </a:solidFill>
                <a:latin typeface="Times New Roman" pitchFamily="18" charset="0"/>
                <a:cs typeface="Times New Roman" pitchFamily="18" charset="0"/>
              </a:rPr>
              <a:t>  It is durable and light weight.</a:t>
            </a:r>
          </a:p>
          <a:p>
            <a:r>
              <a:rPr lang="en-US" sz="2200" b="1" dirty="0">
                <a:latin typeface="Times New Roman" pitchFamily="18" charset="0"/>
                <a:cs typeface="Times New Roman" pitchFamily="18" charset="0"/>
              </a:rPr>
              <a:t>4. Cork: (Cork canes from oak trees).</a:t>
            </a:r>
          </a:p>
          <a:p>
            <a:pPr>
              <a:buFont typeface="Wingdings" pitchFamily="2" charset="2"/>
              <a:buChar char="q"/>
            </a:pPr>
            <a:r>
              <a:rPr lang="en-US" sz="2200" dirty="0">
                <a:solidFill>
                  <a:srgbClr val="002060"/>
                </a:solidFill>
                <a:latin typeface="Times New Roman" pitchFamily="18" charset="0"/>
                <a:cs typeface="Times New Roman" pitchFamily="18" charset="0"/>
              </a:rPr>
              <a:t> It is a very good thermal insulator and mold resistant</a:t>
            </a:r>
          </a:p>
          <a:p>
            <a:r>
              <a:rPr lang="en-US" sz="2200" b="1" dirty="0">
                <a:latin typeface="Times New Roman" pitchFamily="18" charset="0"/>
                <a:cs typeface="Times New Roman" pitchFamily="18" charset="0"/>
              </a:rPr>
              <a:t>5. Adobe brick: (brick made of clay and straw).</a:t>
            </a:r>
          </a:p>
          <a:p>
            <a:pPr>
              <a:buFont typeface="Wingdings" pitchFamily="2" charset="2"/>
              <a:buChar char="q"/>
            </a:pPr>
            <a:r>
              <a:rPr lang="en-US" sz="2200" dirty="0">
                <a:solidFill>
                  <a:srgbClr val="002060"/>
                </a:solidFill>
                <a:latin typeface="Times New Roman" pitchFamily="18" charset="0"/>
                <a:cs typeface="Times New Roman" pitchFamily="18" charset="0"/>
              </a:rPr>
              <a:t>  Natural noise protection and posses unique design (can be easily cut and transformed).</a:t>
            </a:r>
          </a:p>
          <a:p>
            <a:r>
              <a:rPr lang="en-US" sz="2200" b="1" dirty="0">
                <a:latin typeface="Times New Roman" pitchFamily="18" charset="0"/>
                <a:cs typeface="Times New Roman" pitchFamily="18" charset="0"/>
              </a:rPr>
              <a:t>6. Straw bale</a:t>
            </a:r>
          </a:p>
          <a:p>
            <a:pPr>
              <a:buFont typeface="Wingdings" pitchFamily="2" charset="2"/>
              <a:buChar char="q"/>
            </a:pPr>
            <a:r>
              <a:rPr lang="en-US" sz="2200" dirty="0">
                <a:solidFill>
                  <a:srgbClr val="002060"/>
                </a:solidFill>
                <a:latin typeface="Times New Roman" pitchFamily="18" charset="0"/>
                <a:cs typeface="Times New Roman" pitchFamily="18" charset="0"/>
              </a:rPr>
              <a:t>  Easily renewable and cheap.</a:t>
            </a:r>
          </a:p>
          <a:p>
            <a:r>
              <a:rPr lang="en-US" sz="2200" b="1" dirty="0">
                <a:latin typeface="Times New Roman" pitchFamily="18" charset="0"/>
                <a:cs typeface="Times New Roman" pitchFamily="18" charset="0"/>
              </a:rPr>
              <a:t>7. Cord wood</a:t>
            </a:r>
          </a:p>
          <a:p>
            <a:pPr>
              <a:buFont typeface="Wingdings" pitchFamily="2" charset="2"/>
              <a:buChar char="q"/>
            </a:pPr>
            <a:r>
              <a:rPr lang="en-US" sz="2200" dirty="0">
                <a:solidFill>
                  <a:srgbClr val="002060"/>
                </a:solidFill>
                <a:latin typeface="Times New Roman" pitchFamily="18" charset="0"/>
                <a:cs typeface="Times New Roman" pitchFamily="18" charset="0"/>
              </a:rPr>
              <a:t>  Affordable (cheap and easy construction), thermal efficiency.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credible Cob House Tour - A Sustainable Green Building - YouTube">
            <a:extLst>
              <a:ext uri="{FF2B5EF4-FFF2-40B4-BE49-F238E27FC236}">
                <a16:creationId xmlns:a16="http://schemas.microsoft.com/office/drawing/2014/main" id="{58FC4A99-87A2-1035-3CFE-DFC3A1B1BE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701" y="148976"/>
            <a:ext cx="4373365" cy="29596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amboo construction uses groundwater for natural cooling - Springwise">
            <a:extLst>
              <a:ext uri="{FF2B5EF4-FFF2-40B4-BE49-F238E27FC236}">
                <a16:creationId xmlns:a16="http://schemas.microsoft.com/office/drawing/2014/main" id="{DEDEEF0D-17EC-52E9-465A-8842AD92D4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60" y="3678338"/>
            <a:ext cx="4443306" cy="29596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rk Board: A Sustainable Material for Your Interiors!">
            <a:extLst>
              <a:ext uri="{FF2B5EF4-FFF2-40B4-BE49-F238E27FC236}">
                <a16:creationId xmlns:a16="http://schemas.microsoft.com/office/drawing/2014/main" id="{4F58AEFD-3703-331C-3EED-8A0500B06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4811" y="188358"/>
            <a:ext cx="4428368" cy="295962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ork Construction Kit">
            <a:extLst>
              <a:ext uri="{FF2B5EF4-FFF2-40B4-BE49-F238E27FC236}">
                <a16:creationId xmlns:a16="http://schemas.microsoft.com/office/drawing/2014/main" id="{069E0929-D88F-8A67-F4C0-B19BF2F2CE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4811" y="3581400"/>
            <a:ext cx="4373365" cy="305656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CEECE8D-7441-B955-32D6-B241C446539A}"/>
              </a:ext>
            </a:extLst>
          </p:cNvPr>
          <p:cNvSpPr txBox="1"/>
          <p:nvPr/>
        </p:nvSpPr>
        <p:spPr>
          <a:xfrm>
            <a:off x="6019800" y="2969802"/>
            <a:ext cx="2590800"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Cork house</a:t>
            </a:r>
          </a:p>
        </p:txBody>
      </p:sp>
      <p:sp>
        <p:nvSpPr>
          <p:cNvPr id="4" name="TextBox 3">
            <a:extLst>
              <a:ext uri="{FF2B5EF4-FFF2-40B4-BE49-F238E27FC236}">
                <a16:creationId xmlns:a16="http://schemas.microsoft.com/office/drawing/2014/main" id="{82D980F2-931E-9268-EF97-C1E96616CD54}"/>
              </a:ext>
            </a:extLst>
          </p:cNvPr>
          <p:cNvSpPr txBox="1"/>
          <p:nvPr/>
        </p:nvSpPr>
        <p:spPr>
          <a:xfrm>
            <a:off x="914400" y="3133382"/>
            <a:ext cx="2590800"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Bamboo house</a:t>
            </a:r>
          </a:p>
        </p:txBody>
      </p:sp>
    </p:spTree>
    <p:extLst>
      <p:ext uri="{BB962C8B-B14F-4D97-AF65-F5344CB8AC3E}">
        <p14:creationId xmlns:p14="http://schemas.microsoft.com/office/powerpoint/2010/main" val="42570481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Adobe Construction Works | HowStuffWorks">
            <a:extLst>
              <a:ext uri="{FF2B5EF4-FFF2-40B4-BE49-F238E27FC236}">
                <a16:creationId xmlns:a16="http://schemas.microsoft.com/office/drawing/2014/main" id="{B83BBC92-DC86-92B8-03D5-EA685B595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26" y="343756"/>
            <a:ext cx="4572000" cy="29718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dobe: The Most Sustainable Recyclable Building Material | ArchDaily">
            <a:extLst>
              <a:ext uri="{FF2B5EF4-FFF2-40B4-BE49-F238E27FC236}">
                <a16:creationId xmlns:a16="http://schemas.microsoft.com/office/drawing/2014/main" id="{3F04CA5B-611C-1435-8635-2316A75D6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13962"/>
            <a:ext cx="4196798" cy="28634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31,700+ Straw House Stock Photos, Pictures &amp; Royalty-Free Images - iStock |  Three little pigs, Brick house, Wolf">
            <a:extLst>
              <a:ext uri="{FF2B5EF4-FFF2-40B4-BE49-F238E27FC236}">
                <a16:creationId xmlns:a16="http://schemas.microsoft.com/office/drawing/2014/main" id="{38E2A741-E2E7-CC05-9B0F-8180DE6729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574980"/>
            <a:ext cx="457200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ordwood Construction - YouTube">
            <a:extLst>
              <a:ext uri="{FF2B5EF4-FFF2-40B4-BE49-F238E27FC236}">
                <a16:creationId xmlns:a16="http://schemas.microsoft.com/office/drawing/2014/main" id="{9DBFB370-9AD1-874F-5486-E22354CE0A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3645868"/>
            <a:ext cx="4196798" cy="30586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C2C5C40-654E-EC6C-8682-D4EA2EADF790}"/>
              </a:ext>
            </a:extLst>
          </p:cNvPr>
          <p:cNvSpPr txBox="1"/>
          <p:nvPr/>
        </p:nvSpPr>
        <p:spPr>
          <a:xfrm>
            <a:off x="3581400" y="-70355"/>
            <a:ext cx="3429000"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Adobe brick house</a:t>
            </a:r>
          </a:p>
        </p:txBody>
      </p:sp>
      <p:sp>
        <p:nvSpPr>
          <p:cNvPr id="3" name="TextBox 2">
            <a:extLst>
              <a:ext uri="{FF2B5EF4-FFF2-40B4-BE49-F238E27FC236}">
                <a16:creationId xmlns:a16="http://schemas.microsoft.com/office/drawing/2014/main" id="{1B54B04C-C158-B3AE-3974-9E1F4CD14D72}"/>
              </a:ext>
            </a:extLst>
          </p:cNvPr>
          <p:cNvSpPr txBox="1"/>
          <p:nvPr/>
        </p:nvSpPr>
        <p:spPr>
          <a:xfrm>
            <a:off x="1600200" y="3500162"/>
            <a:ext cx="3429000"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Straw house</a:t>
            </a:r>
          </a:p>
        </p:txBody>
      </p:sp>
      <p:sp>
        <p:nvSpPr>
          <p:cNvPr id="4" name="TextBox 3">
            <a:extLst>
              <a:ext uri="{FF2B5EF4-FFF2-40B4-BE49-F238E27FC236}">
                <a16:creationId xmlns:a16="http://schemas.microsoft.com/office/drawing/2014/main" id="{8C7112B1-02A8-FE12-4774-C38F532B4405}"/>
              </a:ext>
            </a:extLst>
          </p:cNvPr>
          <p:cNvSpPr txBox="1"/>
          <p:nvPr/>
        </p:nvSpPr>
        <p:spPr>
          <a:xfrm>
            <a:off x="5829300" y="3167390"/>
            <a:ext cx="3009900"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Cord wood house</a:t>
            </a:r>
          </a:p>
        </p:txBody>
      </p:sp>
    </p:spTree>
    <p:extLst>
      <p:ext uri="{BB962C8B-B14F-4D97-AF65-F5344CB8AC3E}">
        <p14:creationId xmlns:p14="http://schemas.microsoft.com/office/powerpoint/2010/main" val="4104085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GENIOUS Earthbag Construction. - Building Bag House Inveitons. - YouTube">
            <a:extLst>
              <a:ext uri="{FF2B5EF4-FFF2-40B4-BE49-F238E27FC236}">
                <a16:creationId xmlns:a16="http://schemas.microsoft.com/office/drawing/2014/main" id="{1D2DB809-DFC6-F2AE-DA59-B7C800361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60" y="76200"/>
            <a:ext cx="5554134" cy="3124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ycelium: The Future of Building With Organics">
            <a:extLst>
              <a:ext uri="{FF2B5EF4-FFF2-40B4-BE49-F238E27FC236}">
                <a16:creationId xmlns:a16="http://schemas.microsoft.com/office/drawing/2014/main" id="{2AB1F729-B716-7A6E-0E99-B6658BCE5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329042"/>
            <a:ext cx="5488494" cy="333128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2D4ECFB-9B48-F22E-4087-146F942433E8}"/>
              </a:ext>
            </a:extLst>
          </p:cNvPr>
          <p:cNvSpPr txBox="1"/>
          <p:nvPr/>
        </p:nvSpPr>
        <p:spPr>
          <a:xfrm>
            <a:off x="6096000" y="1219200"/>
            <a:ext cx="2635226" cy="523220"/>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Sand bag house</a:t>
            </a:r>
          </a:p>
        </p:txBody>
      </p:sp>
      <p:sp>
        <p:nvSpPr>
          <p:cNvPr id="3" name="TextBox 2">
            <a:extLst>
              <a:ext uri="{FF2B5EF4-FFF2-40B4-BE49-F238E27FC236}">
                <a16:creationId xmlns:a16="http://schemas.microsoft.com/office/drawing/2014/main" id="{08B61649-7590-F709-DE21-06FE8A686829}"/>
              </a:ext>
            </a:extLst>
          </p:cNvPr>
          <p:cNvSpPr txBox="1"/>
          <p:nvPr/>
        </p:nvSpPr>
        <p:spPr>
          <a:xfrm>
            <a:off x="6074596" y="4343400"/>
            <a:ext cx="2635226" cy="954107"/>
          </a:xfrm>
          <a:prstGeom prst="rect">
            <a:avLst/>
          </a:prstGeom>
          <a:noFill/>
        </p:spPr>
        <p:txBody>
          <a:bodyPr wrap="square">
            <a:spAutoFit/>
          </a:bodyPr>
          <a:lstStyle/>
          <a:p>
            <a:r>
              <a:rPr lang="en-US" sz="2800" b="1" dirty="0">
                <a:solidFill>
                  <a:srgbClr val="009900"/>
                </a:solidFill>
                <a:latin typeface="Times New Roman" pitchFamily="18" charset="0"/>
                <a:cs typeface="Times New Roman" pitchFamily="18" charset="0"/>
              </a:rPr>
              <a:t>Mycelium fungi house</a:t>
            </a:r>
          </a:p>
        </p:txBody>
      </p:sp>
    </p:spTree>
    <p:extLst>
      <p:ext uri="{BB962C8B-B14F-4D97-AF65-F5344CB8AC3E}">
        <p14:creationId xmlns:p14="http://schemas.microsoft.com/office/powerpoint/2010/main" val="3440721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8077200" cy="4832092"/>
          </a:xfrm>
          <a:prstGeom prst="rect">
            <a:avLst/>
          </a:prstGeom>
        </p:spPr>
        <p:txBody>
          <a:bodyPr wrap="square">
            <a:spAutoFit/>
          </a:bodyPr>
          <a:lstStyle/>
          <a:p>
            <a:r>
              <a:rPr lang="en-US" sz="2200" b="1" dirty="0">
                <a:latin typeface="Times New Roman" pitchFamily="18" charset="0"/>
                <a:cs typeface="Times New Roman" pitchFamily="18" charset="0"/>
              </a:rPr>
              <a:t>8. Earth bags (or) sand bags</a:t>
            </a:r>
          </a:p>
          <a:p>
            <a:pPr>
              <a:buFont typeface="Wingdings" pitchFamily="2" charset="2"/>
              <a:buChar char="q"/>
            </a:pPr>
            <a:r>
              <a:rPr lang="en-US" sz="2200" dirty="0">
                <a:solidFill>
                  <a:srgbClr val="002060"/>
                </a:solidFill>
                <a:latin typeface="Times New Roman" pitchFamily="18" charset="0"/>
                <a:cs typeface="Times New Roman" pitchFamily="18" charset="0"/>
              </a:rPr>
              <a:t>  Locally sourced and provide natural insulation.</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9. Mycelium (or) mushroom roots</a:t>
            </a:r>
          </a:p>
          <a:p>
            <a:pPr>
              <a:buFont typeface="Wingdings" pitchFamily="2" charset="2"/>
              <a:buChar char="q"/>
            </a:pPr>
            <a:r>
              <a:rPr lang="en-US" sz="2200" dirty="0">
                <a:solidFill>
                  <a:srgbClr val="002060"/>
                </a:solidFill>
                <a:latin typeface="Times New Roman" pitchFamily="18" charset="0"/>
                <a:cs typeface="Times New Roman" pitchFamily="18" charset="0"/>
              </a:rPr>
              <a:t>  Strong and light weight.</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5.9.4 Examples of green materials</a:t>
            </a:r>
          </a:p>
          <a:p>
            <a:endParaRPr lang="en-US" sz="2200" b="1" i="1" dirty="0">
              <a:latin typeface="Times New Roman" pitchFamily="18" charset="0"/>
              <a:cs typeface="Times New Roman" pitchFamily="18" charset="0"/>
            </a:endParaRPr>
          </a:p>
          <a:p>
            <a:pPr lvl="3">
              <a:buFont typeface="Wingdings" pitchFamily="2" charset="2"/>
              <a:buChar char="ü"/>
            </a:pPr>
            <a:r>
              <a:rPr lang="en-US" sz="2200" dirty="0">
                <a:solidFill>
                  <a:srgbClr val="C00000"/>
                </a:solidFill>
                <a:latin typeface="Times New Roman" pitchFamily="18" charset="0"/>
                <a:cs typeface="Times New Roman" pitchFamily="18" charset="0"/>
              </a:rPr>
              <a:t> Bamboo floorings.</a:t>
            </a:r>
          </a:p>
          <a:p>
            <a:pPr lvl="3">
              <a:buFont typeface="Wingdings" pitchFamily="2" charset="2"/>
              <a:buChar char="ü"/>
            </a:pPr>
            <a:r>
              <a:rPr lang="en-US" sz="2200" dirty="0">
                <a:solidFill>
                  <a:srgbClr val="C00000"/>
                </a:solidFill>
                <a:latin typeface="Times New Roman" pitchFamily="18" charset="0"/>
                <a:cs typeface="Times New Roman" pitchFamily="18" charset="0"/>
              </a:rPr>
              <a:t> LED lightings.</a:t>
            </a:r>
          </a:p>
          <a:p>
            <a:pPr lvl="3">
              <a:buFont typeface="Wingdings" pitchFamily="2" charset="2"/>
              <a:buChar char="ü"/>
            </a:pPr>
            <a:r>
              <a:rPr lang="en-US" sz="2200" dirty="0">
                <a:solidFill>
                  <a:srgbClr val="C00000"/>
                </a:solidFill>
                <a:latin typeface="Times New Roman" pitchFamily="18" charset="0"/>
                <a:cs typeface="Times New Roman" pitchFamily="18" charset="0"/>
              </a:rPr>
              <a:t> Reclaimed wood.</a:t>
            </a:r>
          </a:p>
          <a:p>
            <a:pPr lvl="3">
              <a:buFont typeface="Wingdings" pitchFamily="2" charset="2"/>
              <a:buChar char="ü"/>
            </a:pPr>
            <a:r>
              <a:rPr lang="en-US" sz="2200" dirty="0">
                <a:solidFill>
                  <a:srgbClr val="C00000"/>
                </a:solidFill>
                <a:latin typeface="Times New Roman" pitchFamily="18" charset="0"/>
                <a:cs typeface="Times New Roman" pitchFamily="18" charset="0"/>
              </a:rPr>
              <a:t> Energy efficient appliances.</a:t>
            </a:r>
          </a:p>
          <a:p>
            <a:pPr lvl="3">
              <a:buFont typeface="Wingdings" pitchFamily="2" charset="2"/>
              <a:buChar char="ü"/>
            </a:pPr>
            <a:r>
              <a:rPr lang="en-US" sz="2200" dirty="0">
                <a:solidFill>
                  <a:srgbClr val="C00000"/>
                </a:solidFill>
                <a:latin typeface="Times New Roman" pitchFamily="18" charset="0"/>
                <a:cs typeface="Times New Roman" pitchFamily="18" charset="0"/>
              </a:rPr>
              <a:t> High-efficiency glass windows.</a:t>
            </a:r>
          </a:p>
          <a:p>
            <a:pPr lvl="3">
              <a:buFont typeface="Wingdings" pitchFamily="2" charset="2"/>
              <a:buChar char="ü"/>
            </a:pPr>
            <a:r>
              <a:rPr lang="en-US" sz="2200" dirty="0">
                <a:solidFill>
                  <a:srgbClr val="C00000"/>
                </a:solidFill>
                <a:latin typeface="Times New Roman" pitchFamily="18" charset="0"/>
                <a:cs typeface="Times New Roman" pitchFamily="18" charset="0"/>
              </a:rPr>
              <a:t> Solar panels.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620000" cy="4832092"/>
          </a:xfrm>
          <a:prstGeom prst="rect">
            <a:avLst/>
          </a:prstGeom>
        </p:spPr>
        <p:txBody>
          <a:bodyPr wrap="square">
            <a:spAutoFit/>
          </a:bodyPr>
          <a:lstStyle/>
          <a:p>
            <a:pPr lvl="3">
              <a:buFont typeface="Wingdings" pitchFamily="2" charset="2"/>
              <a:buChar char="ü"/>
            </a:pPr>
            <a:r>
              <a:rPr lang="en-US" sz="2200" dirty="0">
                <a:solidFill>
                  <a:srgbClr val="C00000"/>
                </a:solidFill>
                <a:latin typeface="Times New Roman" pitchFamily="18" charset="0"/>
                <a:cs typeface="Times New Roman" pitchFamily="18" charset="0"/>
              </a:rPr>
              <a:t> Recycled steel.</a:t>
            </a:r>
          </a:p>
          <a:p>
            <a:pPr lvl="3">
              <a:buFont typeface="Wingdings" pitchFamily="2" charset="2"/>
              <a:buChar char="ü"/>
            </a:pPr>
            <a:r>
              <a:rPr lang="en-US" sz="2200" dirty="0">
                <a:solidFill>
                  <a:srgbClr val="C00000"/>
                </a:solidFill>
                <a:latin typeface="Times New Roman" pitchFamily="18" charset="0"/>
                <a:cs typeface="Times New Roman" pitchFamily="18" charset="0"/>
              </a:rPr>
              <a:t> Cork.</a:t>
            </a:r>
          </a:p>
          <a:p>
            <a:pPr lvl="3">
              <a:buFont typeface="Wingdings" pitchFamily="2" charset="2"/>
              <a:buChar char="ü"/>
            </a:pPr>
            <a:r>
              <a:rPr lang="en-US" sz="2200" dirty="0">
                <a:solidFill>
                  <a:srgbClr val="C00000"/>
                </a:solidFill>
                <a:latin typeface="Times New Roman" pitchFamily="18" charset="0"/>
                <a:cs typeface="Times New Roman" pitchFamily="18" charset="0"/>
              </a:rPr>
              <a:t> Precast concrete slabs.</a:t>
            </a:r>
          </a:p>
          <a:p>
            <a:pPr lvl="3">
              <a:buFont typeface="Wingdings" pitchFamily="2" charset="2"/>
              <a:buChar char="ü"/>
            </a:pPr>
            <a:r>
              <a:rPr lang="en-US" sz="2200" dirty="0">
                <a:solidFill>
                  <a:srgbClr val="C00000"/>
                </a:solidFill>
                <a:latin typeface="Times New Roman" pitchFamily="18" charset="0"/>
                <a:cs typeface="Times New Roman" pitchFamily="18" charset="0"/>
              </a:rPr>
              <a:t> Low VOC paint.</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5.10 ENERGY EFFICIENCY</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 </a:t>
            </a:r>
          </a:p>
          <a:p>
            <a:endParaRPr lang="en-US" sz="2200" b="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Energy efficiency is the use of less energy to perform the same task (or) produce the same result.</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efficient homes and buildings use less energy to heat, cool and run appliances and electronics.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C:\Users\User\AppData\Local\Temp\ksohtml\wps1576.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676400" y="1143000"/>
            <a:ext cx="4724400" cy="4114800"/>
          </a:xfrm>
          <a:prstGeom prst="rect">
            <a:avLst/>
          </a:prstGeom>
          <a:noFill/>
        </p:spPr>
      </p:pic>
      <p:sp>
        <p:nvSpPr>
          <p:cNvPr id="67587" name="Rectangle 3"/>
          <p:cNvSpPr>
            <a:spLocks noChangeArrowheads="1"/>
          </p:cNvSpPr>
          <p:nvPr/>
        </p:nvSpPr>
        <p:spPr bwMode="auto">
          <a:xfrm>
            <a:off x="2133600" y="5715000"/>
            <a:ext cx="3805850"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5.7 Energy efficiency logo</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20000" cy="4493538"/>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5.10.1 Methods of achieving energy efficiency</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efficiency can be achieved by the following methods.</a:t>
            </a:r>
          </a:p>
          <a:p>
            <a:endParaRPr lang="en-US" sz="2200" dirty="0">
              <a:latin typeface="Times New Roman" pitchFamily="18" charset="0"/>
              <a:cs typeface="Times New Roman" pitchFamily="18" charset="0"/>
            </a:endParaRPr>
          </a:p>
          <a:p>
            <a:pPr marL="400050" indent="-400050">
              <a:buFont typeface="Wingdings" pitchFamily="2" charset="2"/>
              <a:buChar char="v"/>
            </a:pPr>
            <a:r>
              <a:rPr lang="en-US" sz="2200" dirty="0">
                <a:solidFill>
                  <a:srgbClr val="002060"/>
                </a:solidFill>
                <a:latin typeface="Times New Roman" pitchFamily="18" charset="0"/>
                <a:cs typeface="Times New Roman" pitchFamily="18" charset="0"/>
              </a:rPr>
              <a:t>Alternative waste treatment.</a:t>
            </a:r>
          </a:p>
          <a:p>
            <a:pPr marL="400050" indent="-400050">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Avoided emissions from diverting legacy waste from landfill for process engineered fuel manufacture.</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Avoided emissions from diverting legacy waste from landfill through a composting alternative waste technology.</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Capture and combustion of landfill gas.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8153400" cy="4154984"/>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5.10.2 Calculation of energy efficiency</a:t>
            </a: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efficiency can be calculated using the following relation.</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dirty="0">
                <a:solidFill>
                  <a:srgbClr val="000099"/>
                </a:solidFill>
                <a:latin typeface="Times New Roman" pitchFamily="18" charset="0"/>
                <a:cs typeface="Times New Roman" pitchFamily="18" charset="0"/>
              </a:rPr>
              <a:t>energy output</a:t>
            </a:r>
          </a:p>
          <a:p>
            <a:r>
              <a:rPr lang="en-US" sz="2200" dirty="0">
                <a:solidFill>
                  <a:srgbClr val="000099"/>
                </a:solidFill>
                <a:latin typeface="Times New Roman" pitchFamily="18" charset="0"/>
                <a:cs typeface="Times New Roman" pitchFamily="18" charset="0"/>
              </a:rPr>
              <a:t>Energy efficiency =                               × 100%</a:t>
            </a:r>
          </a:p>
          <a:p>
            <a:r>
              <a:rPr lang="en-US" sz="2200" dirty="0">
                <a:solidFill>
                  <a:srgbClr val="000099"/>
                </a:solidFill>
                <a:latin typeface="Times New Roman" pitchFamily="18" charset="0"/>
                <a:cs typeface="Times New Roman" pitchFamily="18" charset="0"/>
              </a:rPr>
              <a:t>                                     energy input</a:t>
            </a:r>
          </a:p>
          <a:p>
            <a:endParaRPr lang="en-US" sz="2200" dirty="0">
              <a:solidFill>
                <a:srgbClr val="000099"/>
              </a:solidFill>
              <a:latin typeface="Times New Roman" pitchFamily="18" charset="0"/>
              <a:cs typeface="Times New Roman" pitchFamily="18" charset="0"/>
            </a:endParaRPr>
          </a:p>
          <a:p>
            <a:endParaRPr lang="en-US" sz="2200" dirty="0">
              <a:solidFill>
                <a:srgbClr val="000099"/>
              </a:solidFill>
              <a:latin typeface="Times New Roman" pitchFamily="18" charset="0"/>
              <a:cs typeface="Times New Roman" pitchFamily="18" charset="0"/>
            </a:endParaRPr>
          </a:p>
          <a:p>
            <a:r>
              <a:rPr lang="en-US" sz="2200" dirty="0">
                <a:solidFill>
                  <a:srgbClr val="000099"/>
                </a:solidFill>
                <a:latin typeface="Times New Roman" pitchFamily="18" charset="0"/>
                <a:cs typeface="Times New Roman" pitchFamily="18" charset="0"/>
              </a:rPr>
              <a:t>                                       </a:t>
            </a:r>
            <a:r>
              <a:rPr lang="en-US" sz="2200" dirty="0" err="1">
                <a:solidFill>
                  <a:srgbClr val="000099"/>
                </a:solidFill>
                <a:latin typeface="Times New Roman" pitchFamily="18" charset="0"/>
                <a:cs typeface="Times New Roman" pitchFamily="18" charset="0"/>
              </a:rPr>
              <a:t>wout</a:t>
            </a:r>
            <a:endParaRPr lang="en-US" sz="2200" dirty="0">
              <a:solidFill>
                <a:srgbClr val="000099"/>
              </a:solidFill>
              <a:latin typeface="Times New Roman" pitchFamily="18" charset="0"/>
              <a:cs typeface="Times New Roman" pitchFamily="18" charset="0"/>
            </a:endParaRPr>
          </a:p>
          <a:p>
            <a:r>
              <a:rPr lang="en-US" sz="2200" dirty="0">
                <a:solidFill>
                  <a:srgbClr val="000099"/>
                </a:solidFill>
                <a:latin typeface="Times New Roman" pitchFamily="18" charset="0"/>
                <a:cs typeface="Times New Roman" pitchFamily="18" charset="0"/>
              </a:rPr>
              <a:t>                          </a:t>
            </a:r>
            <a:r>
              <a:rPr lang="el-GR" sz="2200" dirty="0">
                <a:solidFill>
                  <a:srgbClr val="000099"/>
                </a:solidFill>
                <a:latin typeface="Times New Roman" pitchFamily="18" charset="0"/>
                <a:cs typeface="Times New Roman" pitchFamily="18" charset="0"/>
              </a:rPr>
              <a:t>η =</a:t>
            </a:r>
            <a:r>
              <a:rPr lang="en-US" sz="2200" dirty="0">
                <a:solidFill>
                  <a:srgbClr val="000099"/>
                </a:solidFill>
                <a:latin typeface="Times New Roman" pitchFamily="18" charset="0"/>
                <a:cs typeface="Times New Roman" pitchFamily="18" charset="0"/>
              </a:rPr>
              <a:t>                       × 100%</a:t>
            </a:r>
          </a:p>
          <a:p>
            <a:r>
              <a:rPr lang="en-US" sz="2200" dirty="0">
                <a:solidFill>
                  <a:srgbClr val="000099"/>
                </a:solidFill>
                <a:latin typeface="Times New Roman" pitchFamily="18" charset="0"/>
                <a:cs typeface="Times New Roman" pitchFamily="18" charset="0"/>
              </a:rPr>
              <a:t>                                        win</a:t>
            </a:r>
          </a:p>
        </p:txBody>
      </p:sp>
      <p:cxnSp>
        <p:nvCxnSpPr>
          <p:cNvPr id="4" name="Straight Connector 3"/>
          <p:cNvCxnSpPr/>
          <p:nvPr/>
        </p:nvCxnSpPr>
        <p:spPr>
          <a:xfrm>
            <a:off x="3124200" y="3200400"/>
            <a:ext cx="152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4876800"/>
            <a:ext cx="990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71600"/>
            <a:ext cx="7848600" cy="4493538"/>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5.10.3 Advantages (or) Benefits of energy efficiency</a:t>
            </a:r>
          </a:p>
          <a:p>
            <a:pPr>
              <a:buFont typeface="Wingdings" pitchFamily="2" charset="2"/>
              <a:buChar char="q"/>
            </a:pPr>
            <a:r>
              <a:rPr lang="en-US" sz="2200" dirty="0">
                <a:solidFill>
                  <a:srgbClr val="002060"/>
                </a:solidFill>
                <a:latin typeface="Times New Roman" pitchFamily="18" charset="0"/>
                <a:cs typeface="Times New Roman" pitchFamily="18" charset="0"/>
              </a:rPr>
              <a:t>  Using energy more efficiently is one of the fastest, most cost - effective ways to save money.</a:t>
            </a:r>
          </a:p>
          <a:p>
            <a:pPr>
              <a:buFont typeface="Wingdings" pitchFamily="2" charset="2"/>
              <a:buChar char="q"/>
            </a:pPr>
            <a:r>
              <a:rPr lang="en-US" sz="2200" dirty="0">
                <a:solidFill>
                  <a:srgbClr val="002060"/>
                </a:solidFill>
                <a:latin typeface="Times New Roman" pitchFamily="18" charset="0"/>
                <a:cs typeface="Times New Roman" pitchFamily="18" charset="0"/>
              </a:rPr>
              <a:t>  Increased energy efficiency can lower greenhouse gas emissions and other pollutants.</a:t>
            </a: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efficiency also decreases water use.</a:t>
            </a:r>
          </a:p>
          <a:p>
            <a:pPr>
              <a:buFont typeface="Wingdings" pitchFamily="2" charset="2"/>
              <a:buChar char="q"/>
            </a:pPr>
            <a:r>
              <a:rPr lang="en-US" sz="2200" dirty="0">
                <a:solidFill>
                  <a:srgbClr val="002060"/>
                </a:solidFill>
                <a:latin typeface="Times New Roman" pitchFamily="18" charset="0"/>
                <a:cs typeface="Times New Roman" pitchFamily="18" charset="0"/>
              </a:rPr>
              <a:t>  It can lower individual utility bills, create jobs and help stabilize electricity prices.</a:t>
            </a:r>
          </a:p>
          <a:p>
            <a:pPr>
              <a:buFont typeface="Wingdings" pitchFamily="2" charset="2"/>
              <a:buChar char="q"/>
            </a:pPr>
            <a:r>
              <a:rPr lang="en-US" sz="2200" dirty="0">
                <a:solidFill>
                  <a:srgbClr val="002060"/>
                </a:solidFill>
                <a:latin typeface="Times New Roman" pitchFamily="18" charset="0"/>
                <a:cs typeface="Times New Roman" pitchFamily="18" charset="0"/>
              </a:rPr>
              <a:t>  It provides long-term benefits by lowering overall electricity demand, thus reducing the need to invest in new electricity generation and transmission infrastructure.</a:t>
            </a: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efficient construction is environmentally - friendly as it does not emit harmful carbon dioxide into the atmosphere.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772400" cy="4493538"/>
          </a:xfrm>
          <a:prstGeom prst="rect">
            <a:avLst/>
          </a:prstGeom>
        </p:spPr>
        <p:txBody>
          <a:bodyPr wrap="square">
            <a:spAutoFit/>
          </a:bodyPr>
          <a:lstStyle/>
          <a:p>
            <a:r>
              <a:rPr lang="en-US" sz="2200" b="1" dirty="0">
                <a:latin typeface="Times New Roman" pitchFamily="18" charset="0"/>
                <a:cs typeface="Times New Roman" pitchFamily="18" charset="0"/>
              </a:rPr>
              <a:t>Example</a:t>
            </a:r>
          </a:p>
          <a:p>
            <a:r>
              <a:rPr lang="en-US" sz="2200" dirty="0">
                <a:solidFill>
                  <a:srgbClr val="C00000"/>
                </a:solidFill>
                <a:latin typeface="Times New Roman" pitchFamily="18" charset="0"/>
                <a:cs typeface="Times New Roman" pitchFamily="18" charset="0"/>
              </a:rPr>
              <a:t>Energy - efficient LED light bulbs are able to produce the same amount of light as incandescent light bulbs by using 75 to 80% less electricity.</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5.10.4 Disadvantages (or) limitations of energy efficiency</a:t>
            </a:r>
          </a:p>
          <a:p>
            <a:pPr>
              <a:buFont typeface="Wingdings" pitchFamily="2" charset="2"/>
              <a:buChar char="q"/>
            </a:pPr>
            <a:r>
              <a:rPr lang="en-US" sz="2200" dirty="0">
                <a:solidFill>
                  <a:srgbClr val="002060"/>
                </a:solidFill>
                <a:latin typeface="Times New Roman" pitchFamily="18" charset="0"/>
                <a:cs typeface="Times New Roman" pitchFamily="18" charset="0"/>
              </a:rPr>
              <a:t>  Energy efficient construction is the high cost of enforcing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addition cost is required to build and plan such buildings.</a:t>
            </a:r>
          </a:p>
          <a:p>
            <a:pPr>
              <a:buFont typeface="Wingdings" pitchFamily="2" charset="2"/>
              <a:buChar char="q"/>
            </a:pPr>
            <a:r>
              <a:rPr lang="en-US" sz="2200" dirty="0">
                <a:solidFill>
                  <a:srgbClr val="002060"/>
                </a:solidFill>
                <a:latin typeface="Times New Roman" pitchFamily="18" charset="0"/>
                <a:cs typeface="Times New Roman" pitchFamily="18" charset="0"/>
              </a:rPr>
              <a:t>  Building materials are not always available.</a:t>
            </a:r>
          </a:p>
          <a:p>
            <a:pPr>
              <a:buFont typeface="Wingdings" pitchFamily="2" charset="2"/>
              <a:buChar char="q"/>
            </a:pPr>
            <a:r>
              <a:rPr lang="en-US" sz="2200" dirty="0">
                <a:solidFill>
                  <a:srgbClr val="002060"/>
                </a:solidFill>
                <a:latin typeface="Times New Roman" pitchFamily="18" charset="0"/>
                <a:cs typeface="Times New Roman" pitchFamily="18" charset="0"/>
              </a:rPr>
              <a:t>  Although energy efficient construction is environmentally friendly, it produces less carbon emissions and has slight unfavorable effects on the human health.</a:t>
            </a:r>
          </a:p>
          <a:p>
            <a:pPr>
              <a:buFont typeface="Wingdings" pitchFamily="2" charset="2"/>
              <a:buChar char="q"/>
            </a:pPr>
            <a:r>
              <a:rPr lang="en-US" sz="2200" dirty="0">
                <a:solidFill>
                  <a:srgbClr val="002060"/>
                </a:solidFill>
                <a:latin typeface="Times New Roman" pitchFamily="18" charset="0"/>
                <a:cs typeface="Times New Roman" pitchFamily="18" charset="0"/>
              </a:rPr>
              <a:t>  Indoor air is 3 to 7 times more polluted than outdoor air.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600200"/>
            <a:ext cx="7924800" cy="4493538"/>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5.11 SUSTAINABLE TRANSPORT</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r>
              <a:rPr lang="en-US" sz="2200" dirty="0">
                <a:solidFill>
                  <a:srgbClr val="002060"/>
                </a:solidFill>
                <a:latin typeface="Times New Roman" pitchFamily="18" charset="0"/>
                <a:cs typeface="Times New Roman" pitchFamily="18" charset="0"/>
              </a:rPr>
              <a:t>Sustainable transport refers to </a:t>
            </a:r>
            <a:r>
              <a:rPr lang="en-US" sz="2200" b="1" i="1" dirty="0">
                <a:solidFill>
                  <a:srgbClr val="C00000"/>
                </a:solidFill>
                <a:latin typeface="Times New Roman" pitchFamily="18" charset="0"/>
                <a:cs typeface="Times New Roman" pitchFamily="18" charset="0"/>
              </a:rPr>
              <a:t>any means of transportation that is “green” and has low impact on the environment.</a:t>
            </a:r>
          </a:p>
          <a:p>
            <a:endParaRPr lang="en-US" sz="2200" b="1" i="1"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Examples</a:t>
            </a:r>
          </a:p>
          <a:p>
            <a:pPr lvl="3">
              <a:buFont typeface="Wingdings" pitchFamily="2" charset="2"/>
              <a:buChar char="ü"/>
            </a:pPr>
            <a:r>
              <a:rPr lang="en-US" sz="2200" dirty="0">
                <a:solidFill>
                  <a:srgbClr val="C00000"/>
                </a:solidFill>
                <a:latin typeface="Times New Roman" pitchFamily="18" charset="0"/>
                <a:cs typeface="Times New Roman" pitchFamily="18" charset="0"/>
              </a:rPr>
              <a:t>  walking</a:t>
            </a:r>
          </a:p>
          <a:p>
            <a:pPr lvl="3">
              <a:buFont typeface="Wingdings" pitchFamily="2" charset="2"/>
              <a:buChar char="ü"/>
            </a:pPr>
            <a:r>
              <a:rPr lang="en-US" sz="2200" dirty="0">
                <a:solidFill>
                  <a:srgbClr val="C00000"/>
                </a:solidFill>
                <a:latin typeface="Times New Roman" pitchFamily="18" charset="0"/>
                <a:cs typeface="Times New Roman" pitchFamily="18" charset="0"/>
              </a:rPr>
              <a:t>  cycling</a:t>
            </a:r>
          </a:p>
          <a:p>
            <a:pPr lvl="3">
              <a:buFont typeface="Wingdings" pitchFamily="2" charset="2"/>
              <a:buChar char="ü"/>
            </a:pPr>
            <a:r>
              <a:rPr lang="en-US" sz="2200" dirty="0">
                <a:solidFill>
                  <a:srgbClr val="C00000"/>
                </a:solidFill>
                <a:latin typeface="Times New Roman" pitchFamily="18" charset="0"/>
                <a:cs typeface="Times New Roman" pitchFamily="18" charset="0"/>
              </a:rPr>
              <a:t>  transit</a:t>
            </a:r>
          </a:p>
          <a:p>
            <a:pPr lvl="3">
              <a:buFont typeface="Wingdings" pitchFamily="2" charset="2"/>
              <a:buChar char="ü"/>
            </a:pPr>
            <a:r>
              <a:rPr lang="en-US" sz="2200" dirty="0">
                <a:solidFill>
                  <a:srgbClr val="C00000"/>
                </a:solidFill>
                <a:latin typeface="Times New Roman" pitchFamily="18" charset="0"/>
                <a:cs typeface="Times New Roman" pitchFamily="18" charset="0"/>
              </a:rPr>
              <a:t>  carpooling</a:t>
            </a:r>
          </a:p>
          <a:p>
            <a:pPr lvl="3">
              <a:buFont typeface="Wingdings" pitchFamily="2" charset="2"/>
              <a:buChar char="ü"/>
            </a:pPr>
            <a:r>
              <a:rPr lang="en-US" sz="2200" dirty="0">
                <a:solidFill>
                  <a:srgbClr val="C00000"/>
                </a:solidFill>
                <a:latin typeface="Times New Roman" pitchFamily="18" charset="0"/>
                <a:cs typeface="Times New Roman" pitchFamily="18" charset="0"/>
              </a:rPr>
              <a:t>  car sharing</a:t>
            </a:r>
          </a:p>
          <a:p>
            <a:pPr lvl="3">
              <a:buFont typeface="Wingdings" pitchFamily="2" charset="2"/>
              <a:buChar char="ü"/>
            </a:pPr>
            <a:r>
              <a:rPr lang="en-US" sz="2200" dirty="0">
                <a:solidFill>
                  <a:srgbClr val="C00000"/>
                </a:solidFill>
                <a:latin typeface="Times New Roman" pitchFamily="18" charset="0"/>
                <a:cs typeface="Times New Roman" pitchFamily="18" charset="0"/>
              </a:rPr>
              <a:t>  green vehicles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ustainability | Free Full-Text | Road Transport and Its Impact on Air  Pollution during the COVID-19 Pandemic">
            <a:extLst>
              <a:ext uri="{FF2B5EF4-FFF2-40B4-BE49-F238E27FC236}">
                <a16:creationId xmlns:a16="http://schemas.microsoft.com/office/drawing/2014/main" id="{8550F819-3E49-1B40-8109-774BFB08FD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155020"/>
            <a:ext cx="5536194" cy="6474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138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295400"/>
            <a:ext cx="8001000" cy="1107996"/>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Sustainable transport can carry people for more efficiently than cars. </a:t>
            </a:r>
          </a:p>
          <a:p>
            <a:pPr>
              <a:buFont typeface="Wingdings" pitchFamily="2" charset="2"/>
              <a:buChar char="v"/>
            </a:pPr>
            <a:r>
              <a:rPr lang="en-US" sz="2200" dirty="0">
                <a:solidFill>
                  <a:srgbClr val="002060"/>
                </a:solidFill>
                <a:latin typeface="Times New Roman" pitchFamily="18" charset="0"/>
                <a:cs typeface="Times New Roman" pitchFamily="18" charset="0"/>
              </a:rPr>
              <a:t>  Electric cars pollute less and reduce individual carbon foot prints.</a:t>
            </a:r>
          </a:p>
        </p:txBody>
      </p:sp>
      <p:pic>
        <p:nvPicPr>
          <p:cNvPr id="61442" name="Picture 2" descr="C:\Users\User\AppData\Local\Temp\ksohtml\wps933E.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2057400" y="2895600"/>
            <a:ext cx="4114800" cy="2743200"/>
          </a:xfrm>
          <a:prstGeom prst="rect">
            <a:avLst/>
          </a:prstGeom>
          <a:noFill/>
        </p:spPr>
      </p:pic>
      <p:sp>
        <p:nvSpPr>
          <p:cNvPr id="61443" name="Rectangle 3"/>
          <p:cNvSpPr>
            <a:spLocks noChangeArrowheads="1"/>
          </p:cNvSpPr>
          <p:nvPr/>
        </p:nvSpPr>
        <p:spPr bwMode="auto">
          <a:xfrm>
            <a:off x="2133600" y="5943600"/>
            <a:ext cx="4800600"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5.8 Sustainable transport</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295400"/>
            <a:ext cx="77724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5.11.1 Importance of sustainable transport</a:t>
            </a:r>
          </a:p>
          <a:p>
            <a:pPr>
              <a:buFont typeface="Wingdings" pitchFamily="2" charset="2"/>
              <a:buChar char="q"/>
            </a:pPr>
            <a:r>
              <a:rPr lang="en-US" sz="2200" dirty="0">
                <a:solidFill>
                  <a:srgbClr val="002060"/>
                </a:solidFill>
                <a:latin typeface="Times New Roman" pitchFamily="18" charset="0"/>
                <a:cs typeface="Times New Roman" pitchFamily="18" charset="0"/>
              </a:rPr>
              <a:t>  Sustainable transport contributes to reduction in damaging CO emission and therefore to a reduction in atmospheric pollution and improved air quality in cities.</a:t>
            </a:r>
          </a:p>
          <a:p>
            <a:pPr>
              <a:buFont typeface="Wingdings" pitchFamily="2" charset="2"/>
              <a:buChar char="q"/>
            </a:pPr>
            <a:r>
              <a:rPr lang="en-US" sz="2200" dirty="0">
                <a:solidFill>
                  <a:srgbClr val="002060"/>
                </a:solidFill>
                <a:latin typeface="Times New Roman" pitchFamily="18" charset="0"/>
                <a:cs typeface="Times New Roman" pitchFamily="18" charset="0"/>
              </a:rPr>
              <a:t>  The aim of this type of transport is to reduce the negative impacts on the environment.</a:t>
            </a:r>
          </a:p>
          <a:p>
            <a:r>
              <a:rPr lang="en-US" sz="2200" b="1" i="1" dirty="0">
                <a:solidFill>
                  <a:srgbClr val="FF0000"/>
                </a:solidFill>
                <a:latin typeface="Times New Roman" pitchFamily="18" charset="0"/>
                <a:cs typeface="Times New Roman" pitchFamily="18" charset="0"/>
              </a:rPr>
              <a:t>5.11.2 Key elements of sustainable transport</a:t>
            </a:r>
          </a:p>
          <a:p>
            <a:r>
              <a:rPr lang="en-US" sz="2200" b="1" dirty="0">
                <a:latin typeface="Times New Roman" pitchFamily="18" charset="0"/>
                <a:cs typeface="Times New Roman" pitchFamily="18" charset="0"/>
              </a:rPr>
              <a:t>1. Fuel economy</a:t>
            </a:r>
          </a:p>
          <a:p>
            <a:pPr>
              <a:buFont typeface="Wingdings" pitchFamily="2" charset="2"/>
              <a:buChar char="q"/>
            </a:pPr>
            <a:r>
              <a:rPr lang="en-US" sz="2200" dirty="0">
                <a:solidFill>
                  <a:srgbClr val="002060"/>
                </a:solidFill>
                <a:latin typeface="Times New Roman" pitchFamily="18" charset="0"/>
                <a:cs typeface="Times New Roman" pitchFamily="18" charset="0"/>
              </a:rPr>
              <a:t>  The better fuel economy gets the lower emissions go. By improving fuel economy we can get the same mileage while generating fewer emissions. </a:t>
            </a:r>
          </a:p>
          <a:p>
            <a:pPr>
              <a:buFont typeface="Wingdings" pitchFamily="2" charset="2"/>
              <a:buChar char="q"/>
            </a:pPr>
            <a:r>
              <a:rPr lang="en-US" sz="2200" dirty="0">
                <a:solidFill>
                  <a:srgbClr val="002060"/>
                </a:solidFill>
                <a:latin typeface="Times New Roman" pitchFamily="18" charset="0"/>
                <a:cs typeface="Times New Roman" pitchFamily="18" charset="0"/>
              </a:rPr>
              <a:t>  It is achieved by</a:t>
            </a:r>
          </a:p>
          <a:p>
            <a:pPr lvl="2">
              <a:buFont typeface="Wingdings" pitchFamily="2" charset="2"/>
              <a:buChar char="ü"/>
            </a:pPr>
            <a:r>
              <a:rPr lang="en-US" sz="2200" dirty="0">
                <a:solidFill>
                  <a:srgbClr val="C00000"/>
                </a:solidFill>
                <a:latin typeface="Times New Roman" pitchFamily="18" charset="0"/>
                <a:cs typeface="Times New Roman" pitchFamily="18" charset="0"/>
              </a:rPr>
              <a:t>  making engines more efficient.</a:t>
            </a:r>
          </a:p>
          <a:p>
            <a:pPr lvl="2">
              <a:buFont typeface="Wingdings" pitchFamily="2" charset="2"/>
              <a:buChar char="ü"/>
            </a:pPr>
            <a:r>
              <a:rPr lang="en-US" sz="2200" dirty="0">
                <a:solidFill>
                  <a:srgbClr val="C00000"/>
                </a:solidFill>
                <a:latin typeface="Times New Roman" pitchFamily="18" charset="0"/>
                <a:cs typeface="Times New Roman" pitchFamily="18" charset="0"/>
              </a:rPr>
              <a:t> vehicles lighter and bodies more aerodynamic.</a:t>
            </a:r>
          </a:p>
        </p:txBody>
      </p:sp>
      <p:sp>
        <p:nvSpPr>
          <p:cNvPr id="3" name="Rectangle 2"/>
          <p:cNvSpPr/>
          <p:nvPr/>
        </p:nvSpPr>
        <p:spPr>
          <a:xfrm>
            <a:off x="8229600" y="19050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4832092"/>
          </a:xfrm>
          <a:prstGeom prst="rect">
            <a:avLst/>
          </a:prstGeom>
        </p:spPr>
        <p:txBody>
          <a:bodyPr wrap="square">
            <a:spAutoFit/>
          </a:bodyPr>
          <a:lstStyle/>
          <a:p>
            <a:r>
              <a:rPr lang="en-US" sz="2200" b="1" dirty="0">
                <a:latin typeface="Times New Roman" pitchFamily="18" charset="0"/>
                <a:cs typeface="Times New Roman" pitchFamily="18" charset="0"/>
              </a:rPr>
              <a:t>2. Occupancy</a:t>
            </a:r>
          </a:p>
          <a:p>
            <a:pPr>
              <a:buFont typeface="Wingdings" pitchFamily="2" charset="2"/>
              <a:buChar char="q"/>
            </a:pPr>
            <a:r>
              <a:rPr lang="en-US" sz="2200" dirty="0">
                <a:solidFill>
                  <a:srgbClr val="002060"/>
                </a:solidFill>
                <a:latin typeface="Times New Roman" pitchFamily="18" charset="0"/>
                <a:cs typeface="Times New Roman" pitchFamily="18" charset="0"/>
              </a:rPr>
              <a:t>  The cheapest and simplest way to lower the carbon intensity of a vehicle is to stick more people in the vehicle.</a:t>
            </a:r>
          </a:p>
          <a:p>
            <a:r>
              <a:rPr lang="en-US" sz="2200" b="1" i="1" dirty="0">
                <a:latin typeface="Times New Roman" pitchFamily="18" charset="0"/>
                <a:cs typeface="Times New Roman" pitchFamily="18" charset="0"/>
              </a:rPr>
              <a:t>Example</a:t>
            </a:r>
          </a:p>
          <a:p>
            <a:pPr>
              <a:buFont typeface="Wingdings" pitchFamily="2" charset="2"/>
              <a:buChar char="Ø"/>
            </a:pPr>
            <a:r>
              <a:rPr lang="en-US" sz="2200" dirty="0">
                <a:solidFill>
                  <a:srgbClr val="C00000"/>
                </a:solidFill>
                <a:latin typeface="Times New Roman" pitchFamily="18" charset="0"/>
                <a:cs typeface="Times New Roman" pitchFamily="18" charset="0"/>
              </a:rPr>
              <a:t>Local bus has emissions 7 times higher than the school bus. </a:t>
            </a:r>
          </a:p>
          <a:p>
            <a:pPr>
              <a:buFont typeface="Wingdings" pitchFamily="2" charset="2"/>
              <a:buChar char="Ø"/>
            </a:pPr>
            <a:r>
              <a:rPr lang="en-US" sz="2200" dirty="0">
                <a:solidFill>
                  <a:srgbClr val="C00000"/>
                </a:solidFill>
                <a:latin typeface="Times New Roman" pitchFamily="18" charset="0"/>
                <a:cs typeface="Times New Roman" pitchFamily="18" charset="0"/>
              </a:rPr>
              <a:t>The main difference is that the school bus has very high occupancy.</a:t>
            </a:r>
          </a:p>
          <a:p>
            <a:r>
              <a:rPr lang="en-US" sz="2200" b="1" dirty="0">
                <a:latin typeface="Times New Roman" pitchFamily="18" charset="0"/>
                <a:cs typeface="Times New Roman" pitchFamily="18" charset="0"/>
              </a:rPr>
              <a:t>3. Electrification</a:t>
            </a:r>
          </a:p>
          <a:p>
            <a:pPr>
              <a:buFont typeface="Wingdings" pitchFamily="2" charset="2"/>
              <a:buChar char="q"/>
            </a:pPr>
            <a:r>
              <a:rPr lang="en-US" sz="2200" dirty="0">
                <a:solidFill>
                  <a:srgbClr val="002060"/>
                </a:solidFill>
                <a:latin typeface="Times New Roman" pitchFamily="18" charset="0"/>
                <a:cs typeface="Times New Roman" pitchFamily="18" charset="0"/>
              </a:rPr>
              <a:t>  Electrification is the most important pathway to low carbon transport.</a:t>
            </a:r>
          </a:p>
          <a:p>
            <a:r>
              <a:rPr lang="en-US" sz="2200" b="1" dirty="0">
                <a:latin typeface="Times New Roman" pitchFamily="18" charset="0"/>
                <a:cs typeface="Times New Roman" pitchFamily="18" charset="0"/>
              </a:rPr>
              <a:t>4. Pedal power</a:t>
            </a:r>
          </a:p>
          <a:p>
            <a:pPr>
              <a:buFont typeface="Wingdings" pitchFamily="2" charset="2"/>
              <a:buChar char="q"/>
            </a:pPr>
            <a:r>
              <a:rPr lang="en-US" sz="2200" dirty="0">
                <a:solidFill>
                  <a:srgbClr val="002060"/>
                </a:solidFill>
                <a:latin typeface="Times New Roman" pitchFamily="18" charset="0"/>
                <a:cs typeface="Times New Roman" pitchFamily="18" charset="0"/>
              </a:rPr>
              <a:t> Bicycles reduces the carbon emissions.</a:t>
            </a:r>
          </a:p>
          <a:p>
            <a:r>
              <a:rPr lang="en-US" sz="2200" b="1" dirty="0">
                <a:latin typeface="Times New Roman" pitchFamily="18" charset="0"/>
                <a:cs typeface="Times New Roman" pitchFamily="18" charset="0"/>
              </a:rPr>
              <a:t>5. Urbanization</a:t>
            </a:r>
          </a:p>
          <a:p>
            <a:pPr>
              <a:buFont typeface="Wingdings" pitchFamily="2" charset="2"/>
              <a:buChar char="q"/>
            </a:pPr>
            <a:r>
              <a:rPr lang="en-US" sz="2200" dirty="0">
                <a:solidFill>
                  <a:srgbClr val="002060"/>
                </a:solidFill>
                <a:latin typeface="Times New Roman" pitchFamily="18" charset="0"/>
                <a:cs typeface="Times New Roman" pitchFamily="18" charset="0"/>
              </a:rPr>
              <a:t>  It is a huge opportunity for lowering both distance travelled per person and the carbon intensity of that travel.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9248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5.11.3 How to Promote sustainable transport</a:t>
            </a:r>
          </a:p>
          <a:p>
            <a:pPr>
              <a:buFont typeface="Wingdings" pitchFamily="2" charset="2"/>
              <a:buChar char="q"/>
            </a:pPr>
            <a:r>
              <a:rPr lang="en-US" sz="2200" dirty="0">
                <a:solidFill>
                  <a:srgbClr val="002060"/>
                </a:solidFill>
                <a:latin typeface="Times New Roman" pitchFamily="18" charset="0"/>
                <a:cs typeface="Times New Roman" pitchFamily="18" charset="0"/>
              </a:rPr>
              <a:t>  Followings are steps for promoting sustainable transport.</a:t>
            </a:r>
          </a:p>
          <a:p>
            <a:r>
              <a:rPr lang="en-US" sz="2200" dirty="0">
                <a:latin typeface="Times New Roman" pitchFamily="18" charset="0"/>
                <a:cs typeface="Times New Roman" pitchFamily="18" charset="0"/>
              </a:rPr>
              <a:t>1. </a:t>
            </a:r>
            <a:r>
              <a:rPr lang="en-US" sz="2200" b="1" i="1" dirty="0">
                <a:latin typeface="Times New Roman" pitchFamily="18" charset="0"/>
                <a:cs typeface="Times New Roman" pitchFamily="18" charset="0"/>
              </a:rPr>
              <a:t>Enhancing public transportation:</a:t>
            </a:r>
          </a:p>
          <a:p>
            <a:pPr>
              <a:buFont typeface="Wingdings" pitchFamily="2" charset="2"/>
              <a:buChar char="v"/>
            </a:pPr>
            <a:r>
              <a:rPr lang="en-US" sz="2200" dirty="0">
                <a:solidFill>
                  <a:srgbClr val="002060"/>
                </a:solidFill>
                <a:latin typeface="Times New Roman" pitchFamily="18" charset="0"/>
                <a:cs typeface="Times New Roman" pitchFamily="18" charset="0"/>
              </a:rPr>
              <a:t>  It is not only less polluting means of transportation, but also promoting HSE (Health, safety and environment) policy.</a:t>
            </a:r>
          </a:p>
          <a:p>
            <a:r>
              <a:rPr lang="en-US" sz="2200" dirty="0">
                <a:latin typeface="Times New Roman" pitchFamily="18" charset="0"/>
                <a:cs typeface="Times New Roman" pitchFamily="18" charset="0"/>
              </a:rPr>
              <a:t>2. </a:t>
            </a:r>
            <a:r>
              <a:rPr lang="en-US" sz="2200" b="1" i="1" dirty="0">
                <a:latin typeface="Times New Roman" pitchFamily="18" charset="0"/>
                <a:cs typeface="Times New Roman" pitchFamily="18" charset="0"/>
              </a:rPr>
              <a:t>Encouraging car pooling: </a:t>
            </a:r>
          </a:p>
          <a:p>
            <a:pPr>
              <a:buFont typeface="Wingdings" pitchFamily="2" charset="2"/>
              <a:buChar char="v"/>
            </a:pPr>
            <a:r>
              <a:rPr lang="en-US" sz="2200" dirty="0">
                <a:solidFill>
                  <a:srgbClr val="002060"/>
                </a:solidFill>
                <a:latin typeface="Times New Roman" pitchFamily="18" charset="0"/>
                <a:cs typeface="Times New Roman" pitchFamily="18" charset="0"/>
              </a:rPr>
              <a:t> It reduces the volume of CO   , emitted per inhabitant.</a:t>
            </a:r>
          </a:p>
          <a:p>
            <a:r>
              <a:rPr lang="en-US" sz="2200" dirty="0">
                <a:latin typeface="Times New Roman" pitchFamily="18" charset="0"/>
                <a:cs typeface="Times New Roman" pitchFamily="18" charset="0"/>
              </a:rPr>
              <a:t>3. </a:t>
            </a:r>
            <a:r>
              <a:rPr lang="en-US" sz="2200" b="1" i="1" dirty="0">
                <a:latin typeface="Times New Roman" pitchFamily="18" charset="0"/>
                <a:cs typeface="Times New Roman" pitchFamily="18" charset="0"/>
              </a:rPr>
              <a:t>Encouraging bicycle use: </a:t>
            </a:r>
          </a:p>
          <a:p>
            <a:pPr>
              <a:buFont typeface="Wingdings" pitchFamily="2" charset="2"/>
              <a:buChar char="v"/>
            </a:pPr>
            <a:r>
              <a:rPr lang="en-US" sz="2200" dirty="0">
                <a:solidFill>
                  <a:srgbClr val="002060"/>
                </a:solidFill>
                <a:latin typeface="Times New Roman" pitchFamily="18" charset="0"/>
                <a:cs typeface="Times New Roman" pitchFamily="18" charset="0"/>
              </a:rPr>
              <a:t>  It is reliable and</a:t>
            </a:r>
            <a:r>
              <a:rPr lang="en-US" sz="2200" b="1" i="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non-polluting means of transportation.</a:t>
            </a:r>
          </a:p>
          <a:p>
            <a:r>
              <a:rPr lang="en-US" sz="2200" dirty="0">
                <a:latin typeface="Times New Roman" pitchFamily="18" charset="0"/>
                <a:cs typeface="Times New Roman" pitchFamily="18" charset="0"/>
              </a:rPr>
              <a:t>4. </a:t>
            </a:r>
            <a:r>
              <a:rPr lang="en-US" sz="2200" b="1" i="1" dirty="0" err="1">
                <a:latin typeface="Times New Roman" pitchFamily="18" charset="0"/>
                <a:cs typeface="Times New Roman" pitchFamily="18" charset="0"/>
              </a:rPr>
              <a:t>Teleworking</a:t>
            </a:r>
            <a:r>
              <a:rPr lang="en-US" sz="2200" b="1" i="1" dirty="0">
                <a:latin typeface="Times New Roman" pitchFamily="18" charset="0"/>
                <a:cs typeface="Times New Roman" pitchFamily="18" charset="0"/>
              </a:rPr>
              <a:t>: </a:t>
            </a:r>
          </a:p>
          <a:p>
            <a:pPr>
              <a:buFont typeface="Wingdings" pitchFamily="2" charset="2"/>
              <a:buChar char="v"/>
            </a:pPr>
            <a:r>
              <a:rPr lang="en-US" sz="2200" dirty="0">
                <a:solidFill>
                  <a:srgbClr val="002060"/>
                </a:solidFill>
                <a:latin typeface="Times New Roman" pitchFamily="18" charset="0"/>
                <a:cs typeface="Times New Roman" pitchFamily="18" charset="0"/>
              </a:rPr>
              <a:t>  It reduces employee travel and therefore their carbon food print.</a:t>
            </a:r>
          </a:p>
          <a:p>
            <a:r>
              <a:rPr lang="en-US" sz="2200" dirty="0">
                <a:latin typeface="Times New Roman" pitchFamily="18" charset="0"/>
                <a:cs typeface="Times New Roman" pitchFamily="18" charset="0"/>
              </a:rPr>
              <a:t>5. </a:t>
            </a:r>
            <a:r>
              <a:rPr lang="en-US" sz="2200" b="1" i="1" dirty="0">
                <a:latin typeface="Times New Roman" pitchFamily="18" charset="0"/>
                <a:cs typeface="Times New Roman" pitchFamily="18" charset="0"/>
              </a:rPr>
              <a:t>Improving the parking experience: </a:t>
            </a:r>
          </a:p>
          <a:p>
            <a:pPr>
              <a:buFont typeface="Wingdings" pitchFamily="2" charset="2"/>
              <a:buChar char="v"/>
            </a:pPr>
            <a:r>
              <a:rPr lang="en-US" sz="2200" dirty="0">
                <a:solidFill>
                  <a:srgbClr val="002060"/>
                </a:solidFill>
                <a:latin typeface="Times New Roman" pitchFamily="18" charset="0"/>
                <a:cs typeface="Times New Roman" pitchFamily="18" charset="0"/>
              </a:rPr>
              <a:t>  It can be done</a:t>
            </a:r>
            <a:r>
              <a:rPr lang="en-US" sz="2200" b="1" i="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effectively with the help of a parking management</a:t>
            </a:r>
          </a:p>
          <a:p>
            <a:r>
              <a:rPr lang="en-US" sz="2200" dirty="0">
                <a:solidFill>
                  <a:srgbClr val="002060"/>
                </a:solidFill>
                <a:latin typeface="Times New Roman" pitchFamily="18" charset="0"/>
                <a:cs typeface="Times New Roman" pitchFamily="18" charset="0"/>
              </a:rPr>
              <a:t>software.</a:t>
            </a:r>
          </a:p>
        </p:txBody>
      </p:sp>
      <p:sp>
        <p:nvSpPr>
          <p:cNvPr id="3" name="Rectangle 2"/>
          <p:cNvSpPr/>
          <p:nvPr/>
        </p:nvSpPr>
        <p:spPr>
          <a:xfrm>
            <a:off x="4191000" y="35052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219200"/>
            <a:ext cx="7620000" cy="517064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5.11.4 Advantages and Disadvantages of sustainable transport</a:t>
            </a:r>
          </a:p>
          <a:p>
            <a:r>
              <a:rPr lang="en-US" sz="2200" b="1" dirty="0">
                <a:solidFill>
                  <a:srgbClr val="00B0F0"/>
                </a:solidFill>
                <a:latin typeface="Times New Roman" pitchFamily="18" charset="0"/>
                <a:cs typeface="Times New Roman" pitchFamily="18" charset="0"/>
              </a:rPr>
              <a:t>Advantages (or) benefits</a:t>
            </a:r>
          </a:p>
          <a:p>
            <a:endParaRPr lang="en-US" sz="2200" b="1" dirty="0">
              <a:latin typeface="Times New Roman" pitchFamily="18" charset="0"/>
              <a:cs typeface="Times New Roman" pitchFamily="18" charset="0"/>
            </a:endParaRPr>
          </a:p>
          <a:p>
            <a:pPr marL="1257300" lvl="2" indent="-342900">
              <a:buFont typeface="Wingdings" pitchFamily="2" charset="2"/>
              <a:buChar char="ü"/>
            </a:pPr>
            <a:r>
              <a:rPr lang="en-US" sz="2200" dirty="0">
                <a:solidFill>
                  <a:srgbClr val="C00000"/>
                </a:solidFill>
                <a:latin typeface="Times New Roman" pitchFamily="18" charset="0"/>
                <a:cs typeface="Times New Roman" pitchFamily="18" charset="0"/>
              </a:rPr>
              <a:t>It creates job.</a:t>
            </a:r>
          </a:p>
          <a:p>
            <a:pPr marL="1257300" lvl="2" indent="-342900">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Provides safer transportation.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Emits less pollution.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Promotes health (sustainable transit reduces emissions and air pollution)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It saves energy.</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Saves money.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620000" cy="5170646"/>
          </a:xfrm>
          <a:prstGeom prst="rect">
            <a:avLst/>
          </a:prstGeom>
        </p:spPr>
        <p:txBody>
          <a:bodyPr wrap="square">
            <a:spAutoFit/>
          </a:bodyPr>
          <a:lstStyle/>
          <a:p>
            <a:r>
              <a:rPr lang="en-US" sz="2200" dirty="0">
                <a:latin typeface="Times New Roman" pitchFamily="18" charset="0"/>
                <a:cs typeface="Times New Roman" pitchFamily="18" charset="0"/>
              </a:rPr>
              <a:t>7. </a:t>
            </a:r>
            <a:r>
              <a:rPr lang="en-US" sz="2200" b="1" i="1" dirty="0">
                <a:latin typeface="Times New Roman" pitchFamily="18" charset="0"/>
                <a:cs typeface="Times New Roman" pitchFamily="18" charset="0"/>
              </a:rPr>
              <a:t>Decreases congestion:</a:t>
            </a:r>
          </a:p>
          <a:p>
            <a:pPr>
              <a:buFont typeface="Wingdings" pitchFamily="2" charset="2"/>
              <a:buChar char="q"/>
            </a:pPr>
            <a:r>
              <a:rPr lang="en-US" sz="2200" b="1" i="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When people choose sustainable transportation, over driving themselves, congestion also decreases.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8. </a:t>
            </a:r>
            <a:r>
              <a:rPr lang="en-US" sz="2200" b="1" i="1" dirty="0">
                <a:latin typeface="Times New Roman" pitchFamily="18" charset="0"/>
                <a:cs typeface="Times New Roman" pitchFamily="18" charset="0"/>
              </a:rPr>
              <a:t>It conserves land. </a:t>
            </a:r>
          </a:p>
          <a:p>
            <a:pPr>
              <a:buFont typeface="Wingdings" pitchFamily="2" charset="2"/>
              <a:buChar char="q"/>
            </a:pPr>
            <a:r>
              <a:rPr lang="en-US" sz="2200" dirty="0">
                <a:solidFill>
                  <a:srgbClr val="002060"/>
                </a:solidFill>
                <a:latin typeface="Times New Roman" pitchFamily="18" charset="0"/>
                <a:cs typeface="Times New Roman" pitchFamily="18" charset="0"/>
              </a:rPr>
              <a:t>  It encourages compact</a:t>
            </a:r>
            <a:r>
              <a:rPr lang="en-US" sz="2200" b="1" i="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development, fewer roadways in country areas results in less runoff, thereby protecting the land and the biodiversity.</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Disadvantages (or) limitations</a:t>
            </a:r>
          </a:p>
          <a:p>
            <a:pPr lvl="1">
              <a:buFont typeface="Wingdings" pitchFamily="2" charset="2"/>
              <a:buChar char="ü"/>
            </a:pPr>
            <a:r>
              <a:rPr lang="en-US" sz="2200" dirty="0">
                <a:solidFill>
                  <a:srgbClr val="C00000"/>
                </a:solidFill>
                <a:latin typeface="Times New Roman" pitchFamily="18" charset="0"/>
                <a:cs typeface="Times New Roman" pitchFamily="18" charset="0"/>
              </a:rPr>
              <a:t>  Modifications to handling and transport facilities.</a:t>
            </a:r>
          </a:p>
          <a:p>
            <a:pPr lvl="1">
              <a:buFont typeface="Wingdings" pitchFamily="2" charset="2"/>
              <a:buChar char="ü"/>
            </a:pPr>
            <a:r>
              <a:rPr lang="en-US" sz="2200" dirty="0">
                <a:solidFill>
                  <a:srgbClr val="C00000"/>
                </a:solidFill>
                <a:latin typeface="Times New Roman" pitchFamily="18" charset="0"/>
                <a:cs typeface="Times New Roman" pitchFamily="18" charset="0"/>
              </a:rPr>
              <a:t> The initial purchase of reusable containers.</a:t>
            </a:r>
          </a:p>
          <a:p>
            <a:pPr lvl="1">
              <a:buFont typeface="Wingdings" pitchFamily="2" charset="2"/>
              <a:buChar char="ü"/>
            </a:pPr>
            <a:r>
              <a:rPr lang="en-US" sz="2200" dirty="0">
                <a:solidFill>
                  <a:srgbClr val="C00000"/>
                </a:solidFill>
                <a:latin typeface="Times New Roman" pitchFamily="18" charset="0"/>
                <a:cs typeface="Times New Roman" pitchFamily="18" charset="0"/>
              </a:rPr>
              <a:t> Additional costs of the tracking system e.g., software packages, reading equipments, electronic chips, barcode </a:t>
            </a:r>
            <a:r>
              <a:rPr lang="en-US" sz="2200" dirty="0" err="1">
                <a:solidFill>
                  <a:srgbClr val="C00000"/>
                </a:solidFill>
                <a:latin typeface="Times New Roman" pitchFamily="18" charset="0"/>
                <a:cs typeface="Times New Roman" pitchFamily="18" charset="0"/>
              </a:rPr>
              <a:t>labelling</a:t>
            </a:r>
            <a:r>
              <a:rPr lang="en-US" sz="2200" dirty="0">
                <a:solidFill>
                  <a:srgbClr val="C00000"/>
                </a:solidFill>
                <a:latin typeface="Times New Roman" pitchFamily="18" charset="0"/>
                <a:cs typeface="Times New Roman" pitchFamily="18" charset="0"/>
              </a:rPr>
              <a:t>, detector’s etc.,</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7696200" cy="5847755"/>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5.12 SUSTAINABLE ENERGY</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r>
              <a:rPr lang="en-US" sz="2200" b="1" i="1" dirty="0">
                <a:solidFill>
                  <a:srgbClr val="C00000"/>
                </a:solidFill>
                <a:latin typeface="Times New Roman" pitchFamily="18" charset="0"/>
                <a:cs typeface="Times New Roman" pitchFamily="18" charset="0"/>
              </a:rPr>
              <a:t>Sustainable energy is the energy which meets the needs of present without compromising the ability of future generations to meet their own needs.</a:t>
            </a:r>
          </a:p>
          <a:p>
            <a:pPr>
              <a:buFont typeface="Wingdings" pitchFamily="2" charset="2"/>
              <a:buChar char="q"/>
            </a:pPr>
            <a:r>
              <a:rPr lang="en-US" sz="2200" dirty="0">
                <a:solidFill>
                  <a:srgbClr val="002060"/>
                </a:solidFill>
                <a:latin typeface="Times New Roman" pitchFamily="18" charset="0"/>
                <a:cs typeface="Times New Roman" pitchFamily="18" charset="0"/>
              </a:rPr>
              <a:t>  It should be encouraged as it does not cause any harm to the environment and is available widely at free of cost.</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5.12.1 Sources of sustainable energy</a:t>
            </a:r>
          </a:p>
          <a:p>
            <a:pPr>
              <a:buFont typeface="Wingdings" pitchFamily="2" charset="2"/>
              <a:buChar char="v"/>
            </a:pPr>
            <a:r>
              <a:rPr lang="en-US" sz="2200" dirty="0">
                <a:solidFill>
                  <a:srgbClr val="002060"/>
                </a:solidFill>
                <a:latin typeface="Times New Roman" pitchFamily="18" charset="0"/>
                <a:cs typeface="Times New Roman" pitchFamily="18" charset="0"/>
              </a:rPr>
              <a:t>  Followings are the sustainable </a:t>
            </a:r>
            <a:r>
              <a:rPr lang="en-US" sz="2200" dirty="0" err="1">
                <a:solidFill>
                  <a:srgbClr val="002060"/>
                </a:solidFill>
                <a:latin typeface="Times New Roman" pitchFamily="18" charset="0"/>
                <a:cs typeface="Times New Roman" pitchFamily="18" charset="0"/>
              </a:rPr>
              <a:t>enery</a:t>
            </a:r>
            <a:r>
              <a:rPr lang="en-US" sz="2200" dirty="0">
                <a:solidFill>
                  <a:srgbClr val="002060"/>
                </a:solidFill>
                <a:latin typeface="Times New Roman" pitchFamily="18" charset="0"/>
                <a:cs typeface="Times New Roman" pitchFamily="18" charset="0"/>
              </a:rPr>
              <a:t> sources as they are stable and available in plenty.</a:t>
            </a:r>
          </a:p>
          <a:p>
            <a:pPr lvl="3">
              <a:buFont typeface="Wingdings" pitchFamily="2" charset="2"/>
              <a:buChar char="ü"/>
            </a:pPr>
            <a:r>
              <a:rPr lang="en-US" sz="2200" dirty="0">
                <a:solidFill>
                  <a:srgbClr val="C00000"/>
                </a:solidFill>
                <a:latin typeface="Times New Roman" pitchFamily="18" charset="0"/>
                <a:cs typeface="Times New Roman" pitchFamily="18" charset="0"/>
              </a:rPr>
              <a:t>  Wind energy.</a:t>
            </a:r>
          </a:p>
          <a:p>
            <a:pPr lvl="3">
              <a:buFont typeface="Wingdings" pitchFamily="2" charset="2"/>
              <a:buChar char="ü"/>
            </a:pPr>
            <a:r>
              <a:rPr lang="en-US" sz="2200" dirty="0">
                <a:solidFill>
                  <a:srgbClr val="C00000"/>
                </a:solidFill>
                <a:latin typeface="Times New Roman" pitchFamily="18" charset="0"/>
                <a:cs typeface="Times New Roman" pitchFamily="18" charset="0"/>
              </a:rPr>
              <a:t>  Solar energy.</a:t>
            </a:r>
          </a:p>
          <a:p>
            <a:pPr lvl="3">
              <a:buFont typeface="Wingdings" pitchFamily="2" charset="2"/>
              <a:buChar char="ü"/>
            </a:pPr>
            <a:r>
              <a:rPr lang="en-US" sz="2200" dirty="0">
                <a:solidFill>
                  <a:srgbClr val="C00000"/>
                </a:solidFill>
                <a:latin typeface="Times New Roman" pitchFamily="18" charset="0"/>
                <a:cs typeface="Times New Roman" pitchFamily="18" charset="0"/>
              </a:rPr>
              <a:t>  Ocean energy.</a:t>
            </a:r>
          </a:p>
          <a:p>
            <a:pPr lvl="3">
              <a:buFont typeface="Wingdings" pitchFamily="2" charset="2"/>
              <a:buChar char="ü"/>
            </a:pPr>
            <a:r>
              <a:rPr lang="en-US" sz="2200" dirty="0">
                <a:solidFill>
                  <a:srgbClr val="C00000"/>
                </a:solidFill>
                <a:latin typeface="Times New Roman" pitchFamily="18" charset="0"/>
                <a:cs typeface="Times New Roman" pitchFamily="18" charset="0"/>
              </a:rPr>
              <a:t>  Hydro power.</a:t>
            </a:r>
          </a:p>
          <a:p>
            <a:pPr lvl="3">
              <a:buFont typeface="Wingdings" pitchFamily="2" charset="2"/>
              <a:buChar char="ü"/>
            </a:pPr>
            <a:r>
              <a:rPr lang="en-US" sz="2200" dirty="0">
                <a:solidFill>
                  <a:srgbClr val="C00000"/>
                </a:solidFill>
                <a:latin typeface="Times New Roman" pitchFamily="18" charset="0"/>
                <a:cs typeface="Times New Roman" pitchFamily="18" charset="0"/>
              </a:rPr>
              <a:t> Geothermal energy.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524000"/>
            <a:ext cx="79248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5.12.2 Advantages and disadvantages of sustainable energy</a:t>
            </a:r>
          </a:p>
          <a:p>
            <a:r>
              <a:rPr lang="en-US" sz="2200" b="1" dirty="0">
                <a:solidFill>
                  <a:srgbClr val="00B0F0"/>
                </a:solidFill>
                <a:latin typeface="Times New Roman" pitchFamily="18" charset="0"/>
                <a:cs typeface="Times New Roman" pitchFamily="18" charset="0"/>
              </a:rPr>
              <a:t>Advantages (or) Benefits</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1. Improves public health</a:t>
            </a:r>
          </a:p>
          <a:p>
            <a:pPr>
              <a:buFont typeface="Wingdings" pitchFamily="2" charset="2"/>
              <a:buChar char="q"/>
            </a:pPr>
            <a:r>
              <a:rPr lang="en-US" sz="2200" dirty="0">
                <a:solidFill>
                  <a:srgbClr val="002060"/>
                </a:solidFill>
                <a:latin typeface="Times New Roman" pitchFamily="18" charset="0"/>
                <a:cs typeface="Times New Roman" pitchFamily="18" charset="0"/>
              </a:rPr>
              <a:t>  Burning of fossil fuels produces serious public health issues like neurological damage, cancer, heart attacks, breathing problems and premature death. </a:t>
            </a:r>
          </a:p>
          <a:p>
            <a:pPr>
              <a:buFont typeface="Wingdings" pitchFamily="2" charset="2"/>
              <a:buChar char="q"/>
            </a:pPr>
            <a:r>
              <a:rPr lang="en-US" sz="2200" dirty="0">
                <a:solidFill>
                  <a:srgbClr val="002060"/>
                </a:solidFill>
                <a:latin typeface="Times New Roman" pitchFamily="18" charset="0"/>
                <a:cs typeface="Times New Roman" pitchFamily="18" charset="0"/>
              </a:rPr>
              <a:t>  However these problems can be eliminated by using sustainable energy sources, which emit no air (or) water pollutants.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2. Creates local jobs</a:t>
            </a:r>
          </a:p>
          <a:p>
            <a:pPr>
              <a:buFont typeface="Wingdings" pitchFamily="2" charset="2"/>
              <a:buChar char="q"/>
            </a:pPr>
            <a:r>
              <a:rPr lang="en-US" sz="2200" dirty="0">
                <a:solidFill>
                  <a:srgbClr val="002060"/>
                </a:solidFill>
                <a:latin typeface="Times New Roman" pitchFamily="18" charset="0"/>
                <a:cs typeface="Times New Roman" pitchFamily="18" charset="0"/>
              </a:rPr>
              <a:t>  Since most of the sustainable energy infrastructure is built locally (or) in the same country, it helps creates jobs and improves the economy.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582341"/>
            <a:ext cx="8153400" cy="3816429"/>
          </a:xfrm>
          <a:prstGeom prst="rect">
            <a:avLst/>
          </a:prstGeom>
        </p:spPr>
        <p:txBody>
          <a:bodyPr wrap="square">
            <a:spAutoFit/>
          </a:bodyPr>
          <a:lstStyle/>
          <a:p>
            <a:r>
              <a:rPr lang="en-US" sz="2200" b="1" dirty="0">
                <a:latin typeface="Times New Roman" pitchFamily="18" charset="0"/>
                <a:cs typeface="Times New Roman" pitchFamily="18" charset="0"/>
              </a:rPr>
              <a:t>3. Decrease your carbon footprint</a:t>
            </a:r>
          </a:p>
          <a:p>
            <a:pPr>
              <a:buFont typeface="Wingdings" pitchFamily="2" charset="2"/>
              <a:buChar char="q"/>
            </a:pPr>
            <a:r>
              <a:rPr lang="en-US" sz="2200" dirty="0">
                <a:solidFill>
                  <a:srgbClr val="002060"/>
                </a:solidFill>
                <a:latin typeface="Times New Roman" pitchFamily="18" charset="0"/>
                <a:cs typeface="Times New Roman" pitchFamily="18" charset="0"/>
              </a:rPr>
              <a:t>  Sustainable energy like wind and solar energy creates zero carbon emissions.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4. Cost saving</a:t>
            </a:r>
          </a:p>
          <a:p>
            <a:pPr>
              <a:buFont typeface="Wingdings" pitchFamily="2" charset="2"/>
              <a:buChar char="q"/>
            </a:pPr>
            <a:r>
              <a:rPr lang="en-US" sz="2200" dirty="0">
                <a:solidFill>
                  <a:srgbClr val="002060"/>
                </a:solidFill>
                <a:latin typeface="Times New Roman" pitchFamily="18" charset="0"/>
                <a:cs typeface="Times New Roman" pitchFamily="18" charset="0"/>
              </a:rPr>
              <a:t>  As it is easily available they are much more cost-effective than traditional energy resources, such as power plants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5. Energy security</a:t>
            </a:r>
          </a:p>
          <a:p>
            <a:pPr>
              <a:buFont typeface="Wingdings" pitchFamily="2" charset="2"/>
              <a:buChar char="q"/>
            </a:pPr>
            <a:r>
              <a:rPr lang="en-US" sz="2200" dirty="0">
                <a:solidFill>
                  <a:srgbClr val="002060"/>
                </a:solidFill>
                <a:latin typeface="Times New Roman" pitchFamily="18" charset="0"/>
                <a:cs typeface="Times New Roman" pitchFamily="18" charset="0"/>
              </a:rPr>
              <a:t>  It helps to conserve the planet’s natural resources and reduce the pollution.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720840"/>
            <a:ext cx="7467600" cy="3816429"/>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Disadvantages (or) limitations</a:t>
            </a:r>
          </a:p>
          <a:p>
            <a:endParaRPr lang="en-US" sz="2200" b="1" dirty="0">
              <a:latin typeface="Times New Roman" pitchFamily="18" charset="0"/>
              <a:cs typeface="Times New Roman" pitchFamily="18" charset="0"/>
            </a:endParaRPr>
          </a:p>
          <a:p>
            <a:pPr marL="457200" indent="-457200">
              <a:buFont typeface="Wingdings" pitchFamily="2" charset="2"/>
              <a:buChar char="Ø"/>
            </a:pPr>
            <a:r>
              <a:rPr lang="en-US" sz="2200" dirty="0">
                <a:solidFill>
                  <a:srgbClr val="002060"/>
                </a:solidFill>
                <a:latin typeface="Times New Roman" pitchFamily="18" charset="0"/>
                <a:cs typeface="Times New Roman" pitchFamily="18" charset="0"/>
              </a:rPr>
              <a:t>Sustainable energy sources are not available round the clock.</a:t>
            </a:r>
          </a:p>
          <a:p>
            <a:pPr marL="457200" indent="-4572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The efficiency of sustainable energy technologies is low.</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The initial cost of sustainable energy is high.</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Sustainable energy sites require a lot of space.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Sustainable energy devices need recycling.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38200"/>
            <a:ext cx="7924800" cy="5847755"/>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5.13 NON-CONVENTIONAL SOURCES (OR) RENEWABLE ENERGY SOURCE</a:t>
            </a:r>
          </a:p>
          <a:p>
            <a:endParaRPr lang="en-US" sz="2200" dirty="0">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Non-conventional sources are natural resources which can be regenerated continuously and are inexhaustible.</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They can be used again and again in an endless manner.</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Examples </a:t>
            </a:r>
            <a:r>
              <a:rPr lang="en-US" sz="2200" i="1" dirty="0">
                <a:solidFill>
                  <a:srgbClr val="C00000"/>
                </a:solidFill>
                <a:latin typeface="Times New Roman" pitchFamily="18" charset="0"/>
                <a:cs typeface="Times New Roman" pitchFamily="18" charset="0"/>
              </a:rPr>
              <a:t>Wood, solar energy, wind energy, hydropower, tidal energy, etc.,</a:t>
            </a:r>
          </a:p>
          <a:p>
            <a:endParaRPr lang="en-US" sz="2200" i="1"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Merits of Non-conventional energy resources</a:t>
            </a:r>
          </a:p>
          <a:p>
            <a:pPr lvl="1">
              <a:buFont typeface="Wingdings" pitchFamily="2" charset="2"/>
              <a:buChar char="Ø"/>
            </a:pPr>
            <a:r>
              <a:rPr lang="en-US" sz="2200" dirty="0">
                <a:solidFill>
                  <a:srgbClr val="002060"/>
                </a:solidFill>
                <a:latin typeface="Times New Roman" pitchFamily="18" charset="0"/>
                <a:cs typeface="Times New Roman" pitchFamily="18" charset="0"/>
              </a:rPr>
              <a:t>  Unlimited supply.</a:t>
            </a:r>
          </a:p>
          <a:p>
            <a:pPr lvl="1">
              <a:buFont typeface="Wingdings" pitchFamily="2" charset="2"/>
              <a:buChar char="Ø"/>
            </a:pPr>
            <a:r>
              <a:rPr lang="en-US" sz="2200" dirty="0">
                <a:solidFill>
                  <a:srgbClr val="002060"/>
                </a:solidFill>
                <a:latin typeface="Times New Roman" pitchFamily="18" charset="0"/>
                <a:cs typeface="Times New Roman" pitchFamily="18" charset="0"/>
              </a:rPr>
              <a:t>  Provides energy security.</a:t>
            </a:r>
          </a:p>
          <a:p>
            <a:pPr lvl="1">
              <a:buFont typeface="Wingdings" pitchFamily="2" charset="2"/>
              <a:buChar char="Ø"/>
            </a:pPr>
            <a:r>
              <a:rPr lang="en-US" sz="2200" dirty="0">
                <a:solidFill>
                  <a:srgbClr val="002060"/>
                </a:solidFill>
                <a:latin typeface="Times New Roman" pitchFamily="18" charset="0"/>
                <a:cs typeface="Times New Roman" pitchFamily="18" charset="0"/>
              </a:rPr>
              <a:t>  Fits into sustainable development concept.</a:t>
            </a:r>
          </a:p>
          <a:p>
            <a:pPr lvl="1">
              <a:buFont typeface="Wingdings" pitchFamily="2" charset="2"/>
              <a:buChar char="Ø"/>
            </a:pPr>
            <a:r>
              <a:rPr lang="en-US" sz="2200" dirty="0">
                <a:solidFill>
                  <a:srgbClr val="002060"/>
                </a:solidFill>
                <a:latin typeface="Times New Roman" pitchFamily="18" charset="0"/>
                <a:cs typeface="Times New Roman" pitchFamily="18" charset="0"/>
              </a:rPr>
              <a:t>  Reliable and the devices are modular in size.</a:t>
            </a:r>
          </a:p>
          <a:p>
            <a:pPr lvl="1">
              <a:buFont typeface="Wingdings" pitchFamily="2" charset="2"/>
              <a:buChar char="Ø"/>
            </a:pPr>
            <a:r>
              <a:rPr lang="en-US" sz="2200" dirty="0">
                <a:solidFill>
                  <a:srgbClr val="002060"/>
                </a:solidFill>
                <a:latin typeface="Times New Roman" pitchFamily="18" charset="0"/>
                <a:cs typeface="Times New Roman" pitchFamily="18" charset="0"/>
              </a:rPr>
              <a:t>  Decentralized energy production.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305342"/>
            <a:ext cx="7620000" cy="4493538"/>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5.13.1 Solar energy</a:t>
            </a:r>
          </a:p>
          <a:p>
            <a:endParaRPr lang="en-US" sz="2200" b="1" i="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The energy that we get directly from the sun is called solar energy.</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 nuclear fusion reactions occurring inside the sun release enormous amount of energy in the form of heat and light.</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Several techniques are available for collecting, converting and using solar energy.</a:t>
            </a:r>
          </a:p>
          <a:p>
            <a:r>
              <a:rPr lang="en-US" sz="2200" dirty="0">
                <a:solidFill>
                  <a:srgbClr val="002060"/>
                </a:solidFill>
                <a:latin typeface="Times New Roman" pitchFamily="18" charset="0"/>
                <a:cs typeface="Times New Roman" pitchFamily="18" charset="0"/>
              </a:rPr>
              <a:t>    </a:t>
            </a:r>
          </a:p>
          <a:p>
            <a:pPr>
              <a:buFont typeface="Wingdings" pitchFamily="2" charset="2"/>
              <a:buChar char="q"/>
            </a:pPr>
            <a:r>
              <a:rPr lang="en-US" sz="2200" dirty="0">
                <a:solidFill>
                  <a:srgbClr val="002060"/>
                </a:solidFill>
                <a:latin typeface="Times New Roman" pitchFamily="18" charset="0"/>
                <a:cs typeface="Times New Roman" pitchFamily="18" charset="0"/>
              </a:rPr>
              <a:t>  Some important solar energy harvesting devices are given below.</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C:\Users\User\AppData\Local\Temp\ksohtml\wpsC066.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219200" y="1676400"/>
            <a:ext cx="6400800" cy="3581400"/>
          </a:xfrm>
          <a:prstGeom prst="rect">
            <a:avLst/>
          </a:prstGeom>
          <a:noFill/>
        </p:spPr>
      </p:pic>
      <p:sp>
        <p:nvSpPr>
          <p:cNvPr id="49155" name="Rectangle 3"/>
          <p:cNvSpPr>
            <a:spLocks noChangeArrowheads="1"/>
          </p:cNvSpPr>
          <p:nvPr/>
        </p:nvSpPr>
        <p:spPr bwMode="auto">
          <a:xfrm>
            <a:off x="3276600" y="5750004"/>
            <a:ext cx="3352800"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5.9 Solar cell</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US" sz="2200" b="0" i="0" u="none" strike="noStrike" cap="none" normalizeH="0" baseline="0" dirty="0">
                <a:ln>
                  <a:noFill/>
                </a:ln>
                <a:solidFill>
                  <a:srgbClr val="FF0000"/>
                </a:solidFill>
                <a:effectLst/>
                <a:latin typeface="Times New Roman" pitchFamily="18" charset="0"/>
                <a:cs typeface="Times New Roman" pitchFamily="18" charset="0"/>
              </a:rPr>
            </a:b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p:txBody>
      </p:sp>
      <p:sp>
        <p:nvSpPr>
          <p:cNvPr id="49156" name="Rectangle 4"/>
          <p:cNvSpPr>
            <a:spLocks noChangeArrowheads="1"/>
          </p:cNvSpPr>
          <p:nvPr/>
        </p:nvSpPr>
        <p:spPr bwMode="auto">
          <a:xfrm>
            <a:off x="762000" y="914400"/>
            <a:ext cx="5919697"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1. Solar cells (or) photovoltaic cells (or) PV cells</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772400" cy="5509200"/>
          </a:xfrm>
          <a:prstGeom prst="rect">
            <a:avLst/>
          </a:prstGeom>
        </p:spPr>
        <p:txBody>
          <a:bodyPr wrap="square">
            <a:spAutoFit/>
          </a:bodyPr>
          <a:lstStyle/>
          <a:p>
            <a:pPr>
              <a:buFont typeface="Wingdings" pitchFamily="2" charset="2"/>
              <a:buChar char="q"/>
            </a:pPr>
            <a:r>
              <a:rPr lang="en-US" sz="2200" dirty="0">
                <a:solidFill>
                  <a:srgbClr val="002060"/>
                </a:solidFill>
                <a:latin typeface="Times New Roman" pitchFamily="18" charset="0"/>
                <a:cs typeface="Times New Roman" pitchFamily="18" charset="0"/>
              </a:rPr>
              <a:t>  Solar cells consists of a p-type semiconductor (such as Si doped with B) and n-type semiconductor (such as Si doped with P).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They are in close contact with each other.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When the solar rays fall on the top layer of p-type semiconductor, the electrons from the valence band get promoted to the conduction band and cross the p-n junction into n-type semiconductor.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There by potential difference between two layers is created, which causes flow of electrons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an electric current).</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Uses</a:t>
            </a:r>
          </a:p>
          <a:p>
            <a:pPr>
              <a:buFont typeface="Wingdings" pitchFamily="2" charset="2"/>
              <a:buChar char="v"/>
            </a:pPr>
            <a:r>
              <a:rPr lang="en-US" sz="2200" dirty="0">
                <a:solidFill>
                  <a:srgbClr val="002060"/>
                </a:solidFill>
                <a:latin typeface="Times New Roman" pitchFamily="18" charset="0"/>
                <a:cs typeface="Times New Roman" pitchFamily="18" charset="0"/>
              </a:rPr>
              <a:t>  Used in calculators, electronic watches, street lights, water pumps to run radios and TVs.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848600" cy="5509200"/>
          </a:xfrm>
          <a:prstGeom prst="rect">
            <a:avLst/>
          </a:prstGeom>
        </p:spPr>
        <p:txBody>
          <a:bodyPr wrap="square">
            <a:spAutoFit/>
          </a:bodyPr>
          <a:lstStyle/>
          <a:p>
            <a:r>
              <a:rPr lang="en-US" sz="2200" b="1" dirty="0">
                <a:latin typeface="Times New Roman" pitchFamily="18" charset="0"/>
                <a:cs typeface="Times New Roman" pitchFamily="18" charset="0"/>
              </a:rPr>
              <a:t>1.Solar Battery</a:t>
            </a:r>
          </a:p>
          <a:p>
            <a:pPr>
              <a:buFont typeface="Wingdings" pitchFamily="2" charset="2"/>
              <a:buChar char="q"/>
            </a:pPr>
            <a:r>
              <a:rPr lang="en-US" sz="2200" dirty="0">
                <a:solidFill>
                  <a:srgbClr val="002060"/>
                </a:solidFill>
                <a:latin typeface="Times New Roman" pitchFamily="18" charset="0"/>
                <a:cs typeface="Times New Roman" pitchFamily="18" charset="0"/>
              </a:rPr>
              <a:t>  When a large number of solar cells are connected in series it form a solar battery. </a:t>
            </a:r>
          </a:p>
          <a:p>
            <a:pPr>
              <a:buFont typeface="Wingdings" pitchFamily="2" charset="2"/>
              <a:buChar char="q"/>
            </a:pPr>
            <a:r>
              <a:rPr lang="en-US" sz="2200" dirty="0">
                <a:solidFill>
                  <a:srgbClr val="002060"/>
                </a:solidFill>
                <a:latin typeface="Times New Roman" pitchFamily="18" charset="0"/>
                <a:cs typeface="Times New Roman" pitchFamily="18" charset="0"/>
              </a:rPr>
              <a:t>  Solar battery produce more electricity which is enough to run water pump, to run street-light, etc., </a:t>
            </a:r>
          </a:p>
          <a:p>
            <a:pPr>
              <a:buFont typeface="Wingdings" pitchFamily="2" charset="2"/>
              <a:buChar char="q"/>
            </a:pPr>
            <a:r>
              <a:rPr lang="en-US" sz="2200" dirty="0">
                <a:solidFill>
                  <a:srgbClr val="002060"/>
                </a:solidFill>
                <a:latin typeface="Times New Roman" pitchFamily="18" charset="0"/>
                <a:cs typeface="Times New Roman" pitchFamily="18" charset="0"/>
              </a:rPr>
              <a:t>  They are used in remote areas where conventional electricity supply is a problem.</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2. Solar heat collectors</a:t>
            </a:r>
          </a:p>
          <a:p>
            <a:pPr>
              <a:buFont typeface="Wingdings" pitchFamily="2" charset="2"/>
              <a:buChar char="q"/>
            </a:pPr>
            <a:r>
              <a:rPr lang="en-US" sz="2200" dirty="0">
                <a:solidFill>
                  <a:srgbClr val="002060"/>
                </a:solidFill>
                <a:latin typeface="Times New Roman" pitchFamily="18" charset="0"/>
                <a:cs typeface="Times New Roman" pitchFamily="18" charset="0"/>
              </a:rPr>
              <a:t>  Solar heat collectors consist of natural materials like stones, bricks (or) materials like glass, which can absorb heat during the day time and release it slowly at night.</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Uses</a:t>
            </a:r>
          </a:p>
          <a:p>
            <a:pPr>
              <a:buFont typeface="Wingdings" pitchFamily="2" charset="2"/>
              <a:buChar char="Ø"/>
            </a:pPr>
            <a:r>
              <a:rPr lang="en-US" sz="2200" dirty="0">
                <a:solidFill>
                  <a:srgbClr val="002060"/>
                </a:solidFill>
                <a:latin typeface="Times New Roman" pitchFamily="18" charset="0"/>
                <a:cs typeface="Times New Roman" pitchFamily="18" charset="0"/>
              </a:rPr>
              <a:t>  It is generally used in cold places, where houses are</a:t>
            </a:r>
          </a:p>
          <a:p>
            <a:pPr>
              <a:buFont typeface="Wingdings" pitchFamily="2" charset="2"/>
              <a:buChar char="Ø"/>
            </a:pPr>
            <a:r>
              <a:rPr lang="en-US" sz="2200" dirty="0">
                <a:solidFill>
                  <a:srgbClr val="002060"/>
                </a:solidFill>
                <a:latin typeface="Times New Roman" pitchFamily="18" charset="0"/>
                <a:cs typeface="Times New Roman" pitchFamily="18" charset="0"/>
              </a:rPr>
              <a:t>  kept in hot condition using solar heat collectors.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C:\Users\User\AppData\Local\Temp\ksohtml\wps3C98.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219200" y="1219200"/>
            <a:ext cx="6019800" cy="4038600"/>
          </a:xfrm>
          <a:prstGeom prst="rect">
            <a:avLst/>
          </a:prstGeom>
          <a:noFill/>
        </p:spPr>
      </p:pic>
      <p:sp>
        <p:nvSpPr>
          <p:cNvPr id="46083" name="Rectangle 3"/>
          <p:cNvSpPr>
            <a:spLocks noChangeArrowheads="1"/>
          </p:cNvSpPr>
          <p:nvPr/>
        </p:nvSpPr>
        <p:spPr bwMode="auto">
          <a:xfrm>
            <a:off x="1905000" y="5750004"/>
            <a:ext cx="5991833" cy="110799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00FFFF"/>
                </a:solidFill>
                <a:effectLst/>
                <a:latin typeface="Times New Roman" pitchFamily="18" charset="0"/>
                <a:cs typeface="Times New Roman" pitchFamily="18" charset="0"/>
              </a:rPr>
              <a:t>Fig. 5.10 Solar pump run by solar cells (Battery)</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2200" b="0" i="0" u="none" strike="noStrike" cap="none" normalizeH="0" baseline="0" dirty="0">
                <a:ln>
                  <a:noFill/>
                </a:ln>
                <a:solidFill>
                  <a:schemeClr val="tx1"/>
                </a:solidFill>
                <a:effectLst/>
                <a:latin typeface="Times New Roman" pitchFamily="18" charset="0"/>
                <a:cs typeface="Times New Roman" pitchFamily="18" charset="0"/>
              </a:rPr>
            </a:b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447800"/>
            <a:ext cx="7772400" cy="4154984"/>
          </a:xfrm>
          <a:prstGeom prst="rect">
            <a:avLst/>
          </a:prstGeom>
        </p:spPr>
        <p:txBody>
          <a:bodyPr wrap="square">
            <a:spAutoFit/>
          </a:bodyPr>
          <a:lstStyle/>
          <a:p>
            <a:r>
              <a:rPr lang="en-US" sz="2200" b="1" dirty="0">
                <a:latin typeface="Times New Roman" pitchFamily="18" charset="0"/>
                <a:cs typeface="Times New Roman" pitchFamily="18" charset="0"/>
              </a:rPr>
              <a:t>3. Solar water heater</a:t>
            </a:r>
          </a:p>
          <a:p>
            <a:endParaRPr lang="en-US" sz="2200" b="1" dirty="0">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It consists of an insulated box inside of which is painted with black paint.</a:t>
            </a:r>
          </a:p>
          <a:p>
            <a:pPr>
              <a:buFont typeface="Wingdings" pitchFamily="2" charset="2"/>
              <a:buChar char="v"/>
            </a:pPr>
            <a:r>
              <a:rPr lang="en-US" sz="2200" dirty="0">
                <a:solidFill>
                  <a:srgbClr val="002060"/>
                </a:solidFill>
                <a:latin typeface="Times New Roman" pitchFamily="18" charset="0"/>
                <a:cs typeface="Times New Roman" pitchFamily="18" charset="0"/>
              </a:rPr>
              <a:t> </a:t>
            </a:r>
          </a:p>
          <a:p>
            <a:pPr>
              <a:buFont typeface="Wingdings" pitchFamily="2" charset="2"/>
              <a:buChar char="v"/>
            </a:pPr>
            <a:r>
              <a:rPr lang="en-US" sz="2200" dirty="0">
                <a:solidFill>
                  <a:srgbClr val="002060"/>
                </a:solidFill>
                <a:latin typeface="Times New Roman" pitchFamily="18" charset="0"/>
                <a:cs typeface="Times New Roman" pitchFamily="18" charset="0"/>
              </a:rPr>
              <a:t>It is also provided with a glass lid to receive and store solar heat.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Inside the box it has black painted copper coil, through which cold water  is allowed to flow in, which gets heated up and flows out into a storage tank.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From the storage tank water is then supplied through pipes.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descr="C:\Users\User\AppData\Local\Temp\ksohtml\wps14FD.tmp.png"/>
          <p:cNvPicPr>
            <a:picLocks noChangeAspect="1" noChangeArrowheads="1"/>
          </p:cNvPicPr>
          <p:nvPr/>
        </p:nvPicPr>
        <p:blipFill>
          <a:blip r:embed="rId2">
            <a:duotone>
              <a:prstClr val="black"/>
              <a:schemeClr val="accent2">
                <a:tint val="45000"/>
                <a:satMod val="400000"/>
              </a:schemeClr>
            </a:duotone>
            <a:lum bright="7000"/>
          </a:blip>
          <a:srcRect/>
          <a:stretch>
            <a:fillRect/>
          </a:stretch>
        </p:blipFill>
        <p:spPr bwMode="auto">
          <a:xfrm>
            <a:off x="990600" y="1143000"/>
            <a:ext cx="5638800" cy="3886200"/>
          </a:xfrm>
          <a:prstGeom prst="rect">
            <a:avLst/>
          </a:prstGeom>
          <a:noFill/>
        </p:spPr>
      </p:pic>
      <p:sp>
        <p:nvSpPr>
          <p:cNvPr id="133123" name="Rectangle 3"/>
          <p:cNvSpPr>
            <a:spLocks noChangeArrowheads="1"/>
          </p:cNvSpPr>
          <p:nvPr/>
        </p:nvSpPr>
        <p:spPr bwMode="auto">
          <a:xfrm>
            <a:off x="2133600" y="5562600"/>
            <a:ext cx="3498009"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5.11 Solar water heater</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28343"/>
            <a:ext cx="79248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5.13.2 Wind energy</a:t>
            </a:r>
          </a:p>
          <a:p>
            <a:pPr>
              <a:buFont typeface="Wingdings" pitchFamily="2" charset="2"/>
              <a:buChar char="q"/>
            </a:pPr>
            <a:r>
              <a:rPr lang="en-US" sz="2200" dirty="0">
                <a:solidFill>
                  <a:srgbClr val="002060"/>
                </a:solidFill>
                <a:latin typeface="Times New Roman" pitchFamily="18" charset="0"/>
                <a:cs typeface="Times New Roman" pitchFamily="18" charset="0"/>
              </a:rPr>
              <a:t>  Moving air is called wind. Energy recovered from the force of the wind is called wind energy.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 energy possessed by wind is because of its high speed.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 wind energy is harnessed by making use of wind mills.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1. Wind mills</a:t>
            </a:r>
          </a:p>
          <a:p>
            <a:pPr>
              <a:buFont typeface="Wingdings" pitchFamily="2" charset="2"/>
              <a:buChar char="q"/>
            </a:pPr>
            <a:r>
              <a:rPr lang="en-US" sz="2200" dirty="0">
                <a:solidFill>
                  <a:srgbClr val="002060"/>
                </a:solidFill>
                <a:latin typeface="Times New Roman" pitchFamily="18" charset="0"/>
                <a:cs typeface="Times New Roman" pitchFamily="18" charset="0"/>
              </a:rPr>
              <a:t>  The strike of blowing wind on the blades of the wind mill makes it rotating continuously.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The rotational motion of the blade drives a number of machines like water pump, flour mills and electric generators.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C:\Users\User\AppData\Local\Temp\ksohtml\wpsE79.tmp.png"/>
          <p:cNvPicPr>
            <a:picLocks noChangeAspect="1" noChangeArrowheads="1"/>
          </p:cNvPicPr>
          <p:nvPr/>
        </p:nvPicPr>
        <p:blipFill>
          <a:blip r:embed="rId2">
            <a:duotone>
              <a:schemeClr val="accent2">
                <a:shade val="45000"/>
                <a:satMod val="135000"/>
              </a:schemeClr>
              <a:prstClr val="white"/>
            </a:duotone>
          </a:blip>
          <a:srcRect/>
          <a:stretch>
            <a:fillRect/>
          </a:stretch>
        </p:blipFill>
        <p:spPr bwMode="auto">
          <a:xfrm>
            <a:off x="2209800" y="1295400"/>
            <a:ext cx="3962400" cy="4572000"/>
          </a:xfrm>
          <a:prstGeom prst="rect">
            <a:avLst/>
          </a:prstGeom>
          <a:noFill/>
        </p:spPr>
      </p:pic>
      <p:sp>
        <p:nvSpPr>
          <p:cNvPr id="134149" name="Rectangle 5"/>
          <p:cNvSpPr>
            <a:spLocks noChangeArrowheads="1"/>
          </p:cNvSpPr>
          <p:nvPr/>
        </p:nvSpPr>
        <p:spPr bwMode="auto">
          <a:xfrm>
            <a:off x="3276600" y="990600"/>
            <a:ext cx="2026517"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err="1">
                <a:ln>
                  <a:noFill/>
                </a:ln>
                <a:solidFill>
                  <a:srgbClr val="1F1A16"/>
                </a:solidFill>
                <a:effectLst/>
                <a:latin typeface="Times New Roman" pitchFamily="18" charset="0"/>
                <a:cs typeface="Times New Roman" pitchFamily="18" charset="0"/>
              </a:rPr>
              <a:t>Propellor</a:t>
            </a:r>
            <a:r>
              <a:rPr kumimoji="0" lang="en-US" sz="2200" b="0" i="0" u="none" strike="noStrike" cap="none" normalizeH="0" baseline="0" dirty="0">
                <a:ln>
                  <a:noFill/>
                </a:ln>
                <a:solidFill>
                  <a:srgbClr val="1F1A16"/>
                </a:solidFill>
                <a:effectLst/>
                <a:latin typeface="Times New Roman" pitchFamily="18" charset="0"/>
                <a:cs typeface="Times New Roman" pitchFamily="18" charset="0"/>
              </a:rPr>
              <a:t> blades</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34150" name="Rectangle 6"/>
          <p:cNvSpPr>
            <a:spLocks noChangeArrowheads="1"/>
          </p:cNvSpPr>
          <p:nvPr/>
        </p:nvSpPr>
        <p:spPr bwMode="auto">
          <a:xfrm>
            <a:off x="5105400" y="1676400"/>
            <a:ext cx="2864887"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err="1">
                <a:ln>
                  <a:noFill/>
                </a:ln>
                <a:solidFill>
                  <a:srgbClr val="1F1A16"/>
                </a:solidFill>
                <a:effectLst/>
                <a:latin typeface="Times New Roman" pitchFamily="18" charset="0"/>
                <a:cs typeface="Times New Roman" pitchFamily="18" charset="0"/>
              </a:rPr>
              <a:t>Gea</a:t>
            </a:r>
            <a:r>
              <a:rPr kumimoji="0" lang="en-US" sz="2200" b="0" i="0" u="none" strike="noStrike" cap="none" normalizeH="0" baseline="0" dirty="0">
                <a:ln>
                  <a:noFill/>
                </a:ln>
                <a:solidFill>
                  <a:srgbClr val="1F1A16"/>
                </a:solidFill>
                <a:effectLst/>
                <a:latin typeface="Times New Roman" pitchFamily="18" charset="0"/>
                <a:cs typeface="Times New Roman" pitchFamily="18" charset="0"/>
              </a:rPr>
              <a:t> r b ox &amp; gene </a:t>
            </a:r>
            <a:r>
              <a:rPr kumimoji="0" lang="en-US" sz="2200" b="0" i="0" u="none" strike="noStrike" cap="none" normalizeH="0" baseline="0" dirty="0" err="1">
                <a:ln>
                  <a:noFill/>
                </a:ln>
                <a:solidFill>
                  <a:srgbClr val="1F1A16"/>
                </a:solidFill>
                <a:effectLst/>
                <a:latin typeface="Times New Roman" pitchFamily="18" charset="0"/>
                <a:cs typeface="Times New Roman" pitchFamily="18" charset="0"/>
              </a:rPr>
              <a:t>ratro</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34151" name="Rectangle 7"/>
          <p:cNvSpPr>
            <a:spLocks noChangeArrowheads="1"/>
          </p:cNvSpPr>
          <p:nvPr/>
        </p:nvSpPr>
        <p:spPr bwMode="auto">
          <a:xfrm>
            <a:off x="5181600" y="3581400"/>
            <a:ext cx="972895"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rgbClr val="1F1A16"/>
                </a:solidFill>
                <a:effectLst/>
                <a:latin typeface="Times New Roman" pitchFamily="18" charset="0"/>
                <a:cs typeface="Times New Roman" pitchFamily="18" charset="0"/>
              </a:rPr>
              <a:t>Tow </a:t>
            </a:r>
            <a:r>
              <a:rPr kumimoji="0" lang="en-US" sz="2200" b="0" i="0" u="none" strike="noStrike" cap="none" normalizeH="0" baseline="0" dirty="0" err="1">
                <a:ln>
                  <a:noFill/>
                </a:ln>
                <a:solidFill>
                  <a:srgbClr val="1F1A16"/>
                </a:solidFill>
                <a:effectLst/>
                <a:latin typeface="Times New Roman" pitchFamily="18" charset="0"/>
                <a:cs typeface="Times New Roman" pitchFamily="18" charset="0"/>
              </a:rPr>
              <a:t>er</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34152" name="Rectangle 8"/>
          <p:cNvSpPr>
            <a:spLocks noChangeArrowheads="1"/>
          </p:cNvSpPr>
          <p:nvPr/>
        </p:nvSpPr>
        <p:spPr bwMode="auto">
          <a:xfrm>
            <a:off x="381000" y="2819400"/>
            <a:ext cx="2005614"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60325"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rgbClr val="1F1A16"/>
                </a:solidFill>
                <a:effectLst/>
                <a:latin typeface="Times New Roman" pitchFamily="18" charset="0"/>
                <a:cs typeface="Times New Roman" pitchFamily="18" charset="0"/>
              </a:rPr>
              <a:t>Wind dire </a:t>
            </a:r>
            <a:r>
              <a:rPr kumimoji="0" lang="en-US" sz="2200" b="0" i="0" u="none" strike="noStrike" cap="none" normalizeH="0" baseline="0" dirty="0" err="1">
                <a:ln>
                  <a:noFill/>
                </a:ln>
                <a:solidFill>
                  <a:srgbClr val="1F1A16"/>
                </a:solidFill>
                <a:effectLst/>
                <a:latin typeface="Times New Roman" pitchFamily="18" charset="0"/>
                <a:cs typeface="Times New Roman" pitchFamily="18" charset="0"/>
              </a:rPr>
              <a:t>ction</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134153" name="Picture 9" descr="C:\Users\User\AppData\Local\Temp\ksohtml\wps30CA.tmp.png"/>
          <p:cNvPicPr>
            <a:picLocks noChangeAspect="1" noChangeArrowheads="1"/>
          </p:cNvPicPr>
          <p:nvPr/>
        </p:nvPicPr>
        <p:blipFill>
          <a:blip r:embed="rId3"/>
          <a:srcRect/>
          <a:stretch>
            <a:fillRect/>
          </a:stretch>
        </p:blipFill>
        <p:spPr bwMode="auto">
          <a:xfrm>
            <a:off x="685800" y="2590800"/>
            <a:ext cx="1295400" cy="199292"/>
          </a:xfrm>
          <a:prstGeom prst="rect">
            <a:avLst/>
          </a:prstGeom>
          <a:noFill/>
        </p:spPr>
      </p:pic>
      <p:pic>
        <p:nvPicPr>
          <p:cNvPr id="134154" name="Picture 10" descr="C:\Users\User\AppData\Local\Temp\ksohtml\wps30CB.tmp.png"/>
          <p:cNvPicPr>
            <a:picLocks noChangeAspect="1" noChangeArrowheads="1"/>
          </p:cNvPicPr>
          <p:nvPr/>
        </p:nvPicPr>
        <p:blipFill>
          <a:blip r:embed="rId4"/>
          <a:srcRect/>
          <a:stretch>
            <a:fillRect/>
          </a:stretch>
        </p:blipFill>
        <p:spPr bwMode="auto">
          <a:xfrm flipV="1">
            <a:off x="762000" y="3276600"/>
            <a:ext cx="1371600" cy="228600"/>
          </a:xfrm>
          <a:prstGeom prst="rect">
            <a:avLst/>
          </a:prstGeom>
          <a:noFill/>
        </p:spPr>
      </p:pic>
      <p:sp>
        <p:nvSpPr>
          <p:cNvPr id="134155" name="Rectangle 11"/>
          <p:cNvSpPr>
            <a:spLocks noChangeArrowheads="1"/>
          </p:cNvSpPr>
          <p:nvPr/>
        </p:nvSpPr>
        <p:spPr bwMode="auto">
          <a:xfrm>
            <a:off x="3048000" y="6096000"/>
            <a:ext cx="2489271"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5.12 Wind mill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443841"/>
            <a:ext cx="7772400" cy="4832092"/>
          </a:xfrm>
          <a:prstGeom prst="rect">
            <a:avLst/>
          </a:prstGeom>
        </p:spPr>
        <p:txBody>
          <a:bodyPr wrap="square">
            <a:spAutoFit/>
          </a:bodyPr>
          <a:lstStyle/>
          <a:p>
            <a:r>
              <a:rPr lang="en-US" sz="2200" b="1" dirty="0">
                <a:latin typeface="Times New Roman" pitchFamily="18" charset="0"/>
                <a:cs typeface="Times New Roman" pitchFamily="18" charset="0"/>
              </a:rPr>
              <a:t>2. Wind farms</a:t>
            </a:r>
          </a:p>
          <a:p>
            <a:pPr>
              <a:buFont typeface="Wingdings" pitchFamily="2" charset="2"/>
              <a:buChar char="v"/>
            </a:pPr>
            <a:r>
              <a:rPr lang="en-US" sz="2200" dirty="0">
                <a:solidFill>
                  <a:srgbClr val="002060"/>
                </a:solidFill>
                <a:latin typeface="Times New Roman" pitchFamily="18" charset="0"/>
                <a:cs typeface="Times New Roman" pitchFamily="18" charset="0"/>
              </a:rPr>
              <a:t>When a large number of wind mills are installed and joined together in a definite pattern it forms a wind farm.</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The wind farms, produce a large amount of electricity.</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Condition</a:t>
            </a:r>
          </a:p>
          <a:p>
            <a:pPr>
              <a:buFont typeface="Wingdings" pitchFamily="2" charset="2"/>
              <a:buChar char="q"/>
            </a:pPr>
            <a:r>
              <a:rPr lang="en-US" sz="2200" dirty="0">
                <a:solidFill>
                  <a:srgbClr val="002060"/>
                </a:solidFill>
                <a:latin typeface="Times New Roman" pitchFamily="18" charset="0"/>
                <a:cs typeface="Times New Roman" pitchFamily="18" charset="0"/>
              </a:rPr>
              <a:t>The minimum speed required for satisfactory working of a wind generator is 15 km / hr.</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Advantages</a:t>
            </a:r>
          </a:p>
          <a:p>
            <a:pPr marL="1314450" lvl="2" indent="-400050">
              <a:buFont typeface="Wingdings" pitchFamily="2" charset="2"/>
              <a:buChar char="ü"/>
            </a:pPr>
            <a:r>
              <a:rPr lang="en-US" sz="2200" dirty="0">
                <a:solidFill>
                  <a:srgbClr val="C00000"/>
                </a:solidFill>
                <a:latin typeface="Times New Roman" pitchFamily="18" charset="0"/>
                <a:cs typeface="Times New Roman" pitchFamily="18" charset="0"/>
              </a:rPr>
              <a:t>It does not cause any air pollution.</a:t>
            </a:r>
          </a:p>
          <a:p>
            <a:pPr marL="1314450" lvl="2" indent="-400050">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It is very cheap.</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77200" cy="517064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5.13.3 Ocean energy</a:t>
            </a:r>
          </a:p>
          <a:p>
            <a:pPr>
              <a:buFont typeface="Wingdings" pitchFamily="2" charset="2"/>
              <a:buChar char="v"/>
            </a:pPr>
            <a:r>
              <a:rPr lang="en-US" sz="2200" dirty="0">
                <a:solidFill>
                  <a:srgbClr val="002060"/>
                </a:solidFill>
                <a:latin typeface="Times New Roman" pitchFamily="18" charset="0"/>
                <a:cs typeface="Times New Roman" pitchFamily="18" charset="0"/>
              </a:rPr>
              <a:t>Ocean can also be used for generating energy in the following ways.</a:t>
            </a:r>
          </a:p>
          <a:p>
            <a:endParaRPr lang="en-US" sz="2200" dirty="0">
              <a:solidFill>
                <a:srgbClr val="002060"/>
              </a:solidFill>
              <a:latin typeface="Times New Roman" pitchFamily="18" charset="0"/>
              <a:cs typeface="Times New Roman" pitchFamily="18" charset="0"/>
            </a:endParaRPr>
          </a:p>
          <a:p>
            <a:r>
              <a:rPr lang="en-US" sz="2200" b="1" dirty="0">
                <a:latin typeface="Times New Roman" pitchFamily="18" charset="0"/>
                <a:cs typeface="Times New Roman" pitchFamily="18" charset="0"/>
              </a:rPr>
              <a:t>I Tidal energy (or) </a:t>
            </a:r>
            <a:r>
              <a:rPr lang="en-US" sz="2200" b="1" dirty="0" err="1">
                <a:latin typeface="Times New Roman" pitchFamily="18" charset="0"/>
                <a:cs typeface="Times New Roman" pitchFamily="18" charset="0"/>
              </a:rPr>
              <a:t>Tital</a:t>
            </a:r>
            <a:r>
              <a:rPr lang="en-US" sz="2200" b="1" dirty="0">
                <a:latin typeface="Times New Roman" pitchFamily="18" charset="0"/>
                <a:cs typeface="Times New Roman" pitchFamily="18" charset="0"/>
              </a:rPr>
              <a:t> power</a:t>
            </a:r>
          </a:p>
          <a:p>
            <a:r>
              <a:rPr lang="en-US" sz="2200" dirty="0">
                <a:solidFill>
                  <a:srgbClr val="002060"/>
                </a:solidFill>
                <a:latin typeface="Times New Roman" pitchFamily="18" charset="0"/>
                <a:cs typeface="Times New Roman" pitchFamily="18" charset="0"/>
              </a:rPr>
              <a:t>    </a:t>
            </a:r>
          </a:p>
          <a:p>
            <a:pPr>
              <a:buFont typeface="Wingdings" pitchFamily="2" charset="2"/>
              <a:buChar char="v"/>
            </a:pPr>
            <a:r>
              <a:rPr lang="en-US" sz="2200" dirty="0">
                <a:solidFill>
                  <a:srgbClr val="002060"/>
                </a:solidFill>
                <a:latin typeface="Times New Roman" pitchFamily="18" charset="0"/>
                <a:cs typeface="Times New Roman" pitchFamily="18" charset="0"/>
              </a:rPr>
              <a:t>Ocean tides, produced by gravitational forces of sun and moon, contain enormous amount of energy.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The ‘</a:t>
            </a:r>
            <a:r>
              <a:rPr lang="en-US" sz="2200" b="1" dirty="0">
                <a:solidFill>
                  <a:srgbClr val="002060"/>
                </a:solidFill>
                <a:latin typeface="Times New Roman" pitchFamily="18" charset="0"/>
                <a:cs typeface="Times New Roman" pitchFamily="18" charset="0"/>
              </a:rPr>
              <a:t>high tide’ and ‘low tide’ refer to the rise and fall of water in </a:t>
            </a:r>
            <a:r>
              <a:rPr lang="en-US" sz="2200" dirty="0">
                <a:solidFill>
                  <a:srgbClr val="002060"/>
                </a:solidFill>
                <a:latin typeface="Times New Roman" pitchFamily="18" charset="0"/>
                <a:cs typeface="Times New Roman" pitchFamily="18" charset="0"/>
              </a:rPr>
              <a:t>the oceans. The tidal energy can be harnessed by constructing a tidal barrage.</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During high tide, the sea-water is allowed to flow into the reservoir of the barrage and rotates the turbine, which </a:t>
            </a:r>
            <a:r>
              <a:rPr lang="en-US" sz="2200" dirty="0" err="1">
                <a:solidFill>
                  <a:srgbClr val="002060"/>
                </a:solidFill>
                <a:latin typeface="Times New Roman" pitchFamily="18" charset="0"/>
                <a:cs typeface="Times New Roman" pitchFamily="18" charset="0"/>
              </a:rPr>
              <a:t>inturn</a:t>
            </a:r>
            <a:r>
              <a:rPr lang="en-US" sz="2200" dirty="0">
                <a:solidFill>
                  <a:srgbClr val="002060"/>
                </a:solidFill>
                <a:latin typeface="Times New Roman" pitchFamily="18" charset="0"/>
                <a:cs typeface="Times New Roman" pitchFamily="18" charset="0"/>
              </a:rPr>
              <a:t> produces electricity by rotating the generators.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descr="C:\Users\User\AppData\Local\Temp\ksohtml\wpsEEBE.tmp.png"/>
          <p:cNvPicPr>
            <a:picLocks noChangeAspect="1" noChangeArrowheads="1"/>
          </p:cNvPicPr>
          <p:nvPr/>
        </p:nvPicPr>
        <p:blipFill>
          <a:blip r:embed="rId2">
            <a:duotone>
              <a:schemeClr val="accent2">
                <a:shade val="45000"/>
                <a:satMod val="135000"/>
              </a:schemeClr>
              <a:prstClr val="white"/>
            </a:duotone>
          </a:blip>
          <a:srcRect/>
          <a:stretch>
            <a:fillRect/>
          </a:stretch>
        </p:blipFill>
        <p:spPr bwMode="auto">
          <a:xfrm>
            <a:off x="838200" y="1371600"/>
            <a:ext cx="3581400" cy="3276600"/>
          </a:xfrm>
          <a:prstGeom prst="rect">
            <a:avLst/>
          </a:prstGeom>
          <a:noFill/>
        </p:spPr>
      </p:pic>
      <p:pic>
        <p:nvPicPr>
          <p:cNvPr id="135172" name="Picture 4" descr="C:\Users\User\AppData\Local\Temp\ksohtml\wps444D.tmp.png"/>
          <p:cNvPicPr>
            <a:picLocks noChangeAspect="1" noChangeArrowheads="1"/>
          </p:cNvPicPr>
          <p:nvPr/>
        </p:nvPicPr>
        <p:blipFill>
          <a:blip r:embed="rId3">
            <a:duotone>
              <a:schemeClr val="accent2">
                <a:shade val="45000"/>
                <a:satMod val="135000"/>
              </a:schemeClr>
              <a:prstClr val="white"/>
            </a:duotone>
          </a:blip>
          <a:srcRect/>
          <a:stretch>
            <a:fillRect/>
          </a:stretch>
        </p:blipFill>
        <p:spPr bwMode="auto">
          <a:xfrm>
            <a:off x="4800600" y="1371600"/>
            <a:ext cx="3581400" cy="3276600"/>
          </a:xfrm>
          <a:prstGeom prst="rect">
            <a:avLst/>
          </a:prstGeom>
          <a:noFill/>
        </p:spPr>
      </p:pic>
      <p:sp>
        <p:nvSpPr>
          <p:cNvPr id="135173" name="Rectangle 5"/>
          <p:cNvSpPr>
            <a:spLocks noChangeArrowheads="1"/>
          </p:cNvSpPr>
          <p:nvPr/>
        </p:nvSpPr>
        <p:spPr bwMode="auto">
          <a:xfrm>
            <a:off x="838200" y="5715000"/>
            <a:ext cx="7418185" cy="76944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5.13 (a) Water flows into the reservoir from sea.</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a:ln>
                  <a:noFill/>
                </a:ln>
                <a:solidFill>
                  <a:srgbClr val="FF0000"/>
                </a:solidFill>
                <a:effectLst/>
                <a:latin typeface="Times New Roman" pitchFamily="18" charset="0"/>
                <a:cs typeface="Times New Roman" pitchFamily="18" charset="0"/>
              </a:rPr>
              <a:t>    </a:t>
            </a: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5.13 (b) Water flows out from the reservoir to the sea.</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p:txBody>
      </p:sp>
      <p:sp>
        <p:nvSpPr>
          <p:cNvPr id="7" name="Rectangle 6"/>
          <p:cNvSpPr/>
          <p:nvPr/>
        </p:nvSpPr>
        <p:spPr>
          <a:xfrm>
            <a:off x="2057400" y="4876800"/>
            <a:ext cx="1409360"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Fig. 5.13 (a) </a:t>
            </a:r>
            <a:endParaRPr lang="en-US" dirty="0"/>
          </a:p>
        </p:txBody>
      </p:sp>
      <p:sp>
        <p:nvSpPr>
          <p:cNvPr id="8" name="Rectangle 7"/>
          <p:cNvSpPr/>
          <p:nvPr/>
        </p:nvSpPr>
        <p:spPr>
          <a:xfrm>
            <a:off x="5791200" y="4953000"/>
            <a:ext cx="1479892" cy="369332"/>
          </a:xfrm>
          <a:prstGeom prst="rect">
            <a:avLst/>
          </a:prstGeom>
        </p:spPr>
        <p:txBody>
          <a:bodyPr wrap="none">
            <a:spAutoFit/>
          </a:bodyPr>
          <a:lstStyle/>
          <a:p>
            <a:r>
              <a:rPr lang="en-US" dirty="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Fig. 5.13 (b) </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153400" cy="5509200"/>
          </a:xfrm>
          <a:prstGeom prst="rect">
            <a:avLst/>
          </a:prstGeom>
        </p:spPr>
        <p:txBody>
          <a:bodyPr wrap="square">
            <a:spAutoFit/>
          </a:bodyPr>
          <a:lstStyle/>
          <a:p>
            <a:pPr>
              <a:buFont typeface="Wingdings" pitchFamily="2" charset="2"/>
              <a:buChar char="q"/>
            </a:pPr>
            <a:r>
              <a:rPr lang="en-US" sz="2200" dirty="0">
                <a:solidFill>
                  <a:srgbClr val="002060"/>
                </a:solidFill>
                <a:latin typeface="Times New Roman" pitchFamily="18" charset="0"/>
                <a:cs typeface="Times New Roman" pitchFamily="18" charset="0"/>
              </a:rPr>
              <a:t>  During low tide, when the sea level is low, the sea water stored in the barrage reservoir is allowed to flow into the sea and again rotates the turbine.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p>
          <a:p>
            <a:pPr>
              <a:buFont typeface="Wingdings" pitchFamily="2" charset="2"/>
              <a:buChar char="v"/>
            </a:pPr>
            <a:r>
              <a:rPr lang="en-US" sz="2200" dirty="0">
                <a:solidFill>
                  <a:srgbClr val="002060"/>
                </a:solidFill>
                <a:latin typeface="Times New Roman" pitchFamily="18" charset="0"/>
                <a:cs typeface="Times New Roman" pitchFamily="18" charset="0"/>
              </a:rPr>
              <a:t>  There is often large temperature difference between the surface level and deeper level of the tropical oceans.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This temperature difference can be utilized to generate electricity.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The energy available due to the difference in temperature of water is called ocean thermal energy.</a:t>
            </a:r>
          </a:p>
          <a:p>
            <a:endParaRPr lang="en-US" sz="2200" dirty="0">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Condition</a:t>
            </a:r>
          </a:p>
          <a:p>
            <a:pPr>
              <a:buFont typeface="Wingdings" pitchFamily="2" charset="2"/>
              <a:buChar char="v"/>
            </a:pPr>
            <a:r>
              <a:rPr lang="en-US" sz="2200" dirty="0">
                <a:solidFill>
                  <a:srgbClr val="002060"/>
                </a:solidFill>
                <a:latin typeface="Times New Roman" pitchFamily="18" charset="0"/>
                <a:cs typeface="Times New Roman" pitchFamily="18" charset="0"/>
              </a:rPr>
              <a:t>  The temperature difference should be of 20°C (or) more is required between surface water and deeper water.</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01000" cy="5170646"/>
          </a:xfrm>
          <a:prstGeom prst="rect">
            <a:avLst/>
          </a:prstGeom>
        </p:spPr>
        <p:txBody>
          <a:bodyPr wrap="square">
            <a:spAutoFit/>
          </a:bodyPr>
          <a:lstStyle/>
          <a:p>
            <a:r>
              <a:rPr lang="en-US" sz="2200" b="1" i="1" dirty="0">
                <a:solidFill>
                  <a:srgbClr val="00B0F0"/>
                </a:solidFill>
                <a:latin typeface="Times New Roman" pitchFamily="18" charset="0"/>
                <a:cs typeface="Times New Roman" pitchFamily="18" charset="0"/>
              </a:rPr>
              <a:t>Process</a:t>
            </a:r>
          </a:p>
          <a:p>
            <a:pPr>
              <a:buFont typeface="Wingdings" pitchFamily="2" charset="2"/>
              <a:buChar char="q"/>
            </a:pPr>
            <a:r>
              <a:rPr lang="en-US" sz="2200" dirty="0">
                <a:solidFill>
                  <a:srgbClr val="002060"/>
                </a:solidFill>
                <a:latin typeface="Times New Roman" pitchFamily="18" charset="0"/>
                <a:cs typeface="Times New Roman" pitchFamily="18" charset="0"/>
              </a:rPr>
              <a:t>  The warm surface water of ocean is used to boil a low boiling liquid like ammonia. The high </a:t>
            </a:r>
            <a:r>
              <a:rPr lang="en-US" sz="2200" dirty="0" err="1">
                <a:solidFill>
                  <a:srgbClr val="002060"/>
                </a:solidFill>
                <a:latin typeface="Times New Roman" pitchFamily="18" charset="0"/>
                <a:cs typeface="Times New Roman" pitchFamily="18" charset="0"/>
              </a:rPr>
              <a:t>vapour</a:t>
            </a:r>
            <a:r>
              <a:rPr lang="en-US" sz="2200" dirty="0">
                <a:solidFill>
                  <a:srgbClr val="002060"/>
                </a:solidFill>
                <a:latin typeface="Times New Roman" pitchFamily="18" charset="0"/>
                <a:cs typeface="Times New Roman" pitchFamily="18" charset="0"/>
              </a:rPr>
              <a:t> pressure of the liquid, formed by boiling, is then used to turn the turbine of the generator and generates electricity. </a:t>
            </a:r>
          </a:p>
          <a:p>
            <a:pPr>
              <a:buFont typeface="Wingdings" pitchFamily="2" charset="2"/>
              <a:buChar char="q"/>
            </a:pPr>
            <a:r>
              <a:rPr lang="en-US" sz="2200" dirty="0">
                <a:solidFill>
                  <a:srgbClr val="002060"/>
                </a:solidFill>
                <a:latin typeface="Times New Roman" pitchFamily="18" charset="0"/>
                <a:cs typeface="Times New Roman" pitchFamily="18" charset="0"/>
              </a:rPr>
              <a:t> The cold water from the deeper ocean is pumped to cool and condense the </a:t>
            </a:r>
            <a:r>
              <a:rPr lang="en-US" sz="2200" dirty="0" err="1">
                <a:solidFill>
                  <a:srgbClr val="002060"/>
                </a:solidFill>
                <a:latin typeface="Times New Roman" pitchFamily="18" charset="0"/>
                <a:cs typeface="Times New Roman" pitchFamily="18" charset="0"/>
              </a:rPr>
              <a:t>vapour</a:t>
            </a:r>
            <a:r>
              <a:rPr lang="en-US" sz="2200" dirty="0">
                <a:solidFill>
                  <a:srgbClr val="002060"/>
                </a:solidFill>
                <a:latin typeface="Times New Roman" pitchFamily="18" charset="0"/>
                <a:cs typeface="Times New Roman" pitchFamily="18" charset="0"/>
              </a:rPr>
              <a:t> into liquid.</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3. Geo- thermal energy</a:t>
            </a:r>
          </a:p>
          <a:p>
            <a:pPr>
              <a:buFont typeface="Wingdings" pitchFamily="2" charset="2"/>
              <a:buChar char="v"/>
            </a:pPr>
            <a:r>
              <a:rPr lang="en-US" sz="2200" dirty="0">
                <a:solidFill>
                  <a:srgbClr val="002060"/>
                </a:solidFill>
                <a:latin typeface="Times New Roman" pitchFamily="18" charset="0"/>
                <a:cs typeface="Times New Roman" pitchFamily="18" charset="0"/>
              </a:rPr>
              <a:t>Temperature of the earth increases at a rate of 20 − 75°C per km, when we move down the earth surface.</a:t>
            </a:r>
          </a:p>
          <a:p>
            <a:pPr>
              <a:buFont typeface="Wingdings" pitchFamily="2" charset="2"/>
              <a:buChar char="v"/>
            </a:pPr>
            <a:r>
              <a:rPr lang="en-US" sz="2200" dirty="0">
                <a:solidFill>
                  <a:srgbClr val="002060"/>
                </a:solidFill>
                <a:latin typeface="Times New Roman" pitchFamily="18" charset="0"/>
                <a:cs typeface="Times New Roman" pitchFamily="18" charset="0"/>
              </a:rPr>
              <a:t>High temperature and high pressure steam fields exist below the earth’s surface in many places. </a:t>
            </a:r>
          </a:p>
          <a:p>
            <a:pPr>
              <a:buFont typeface="Wingdings" pitchFamily="2" charset="2"/>
              <a:buChar char="v"/>
            </a:pPr>
            <a:r>
              <a:rPr lang="en-US" sz="2200" dirty="0">
                <a:solidFill>
                  <a:srgbClr val="002060"/>
                </a:solidFill>
                <a:latin typeface="Times New Roman" pitchFamily="18" charset="0"/>
                <a:cs typeface="Times New Roman" pitchFamily="18" charset="0"/>
              </a:rPr>
              <a:t>The energy  harnessed from the high temperature present inside the earth is called geothermal energy.</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User\AppData\Local\Temp\ksohtml\wps53EA.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914400" y="1143000"/>
            <a:ext cx="7162800" cy="4343400"/>
          </a:xfrm>
          <a:prstGeom prst="rect">
            <a:avLst/>
          </a:prstGeom>
          <a:noFill/>
        </p:spPr>
      </p:pic>
      <p:sp>
        <p:nvSpPr>
          <p:cNvPr id="3" name="Rectangle 2"/>
          <p:cNvSpPr/>
          <p:nvPr/>
        </p:nvSpPr>
        <p:spPr>
          <a:xfrm>
            <a:off x="2743200" y="5943600"/>
            <a:ext cx="3767378" cy="430887"/>
          </a:xfrm>
          <a:prstGeom prst="rect">
            <a:avLst/>
          </a:prstGeom>
        </p:spPr>
        <p:txBody>
          <a:bodyPr wrap="none">
            <a:spAutoFit/>
          </a:bodyPr>
          <a:lstStyle/>
          <a:p>
            <a:r>
              <a:rPr lang="en-US" sz="2200" b="1" dirty="0">
                <a:solidFill>
                  <a:srgbClr val="FF0000"/>
                </a:solidFill>
                <a:latin typeface="Times New Roman" pitchFamily="18" charset="0"/>
                <a:cs typeface="Times New Roman" pitchFamily="18" charset="0"/>
              </a:rPr>
              <a:t>Fig. 5.14 Geo-thermal Energy</a:t>
            </a:r>
            <a:endParaRPr lang="en-US" sz="2200" dirty="0">
              <a:solidFill>
                <a:srgbClr val="FF0000"/>
              </a:solidFill>
              <a:latin typeface="Times New Roman" pitchFamily="18" charset="0"/>
              <a:cs typeface="Times New Roman"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509200"/>
          </a:xfrm>
          <a:prstGeom prst="rect">
            <a:avLst/>
          </a:prstGeom>
        </p:spPr>
        <p:txBody>
          <a:bodyPr wrap="square">
            <a:spAutoFit/>
          </a:bodyPr>
          <a:lstStyle/>
          <a:p>
            <a:r>
              <a:rPr lang="en-US" sz="2200" b="1" i="1" dirty="0">
                <a:latin typeface="Times New Roman" pitchFamily="18" charset="0"/>
                <a:cs typeface="Times New Roman" pitchFamily="18" charset="0"/>
              </a:rPr>
              <a:t>1. Natural geysers</a:t>
            </a:r>
          </a:p>
          <a:p>
            <a:pPr>
              <a:buFont typeface="Wingdings" pitchFamily="2" charset="2"/>
              <a:buChar char="q"/>
            </a:pPr>
            <a:r>
              <a:rPr lang="en-US" sz="2200" dirty="0">
                <a:solidFill>
                  <a:srgbClr val="002060"/>
                </a:solidFill>
                <a:latin typeface="Times New Roman" pitchFamily="18" charset="0"/>
                <a:cs typeface="Times New Roman" pitchFamily="18" charset="0"/>
              </a:rPr>
              <a:t>In some places, the hot water (or) steam comes out of the ground through cracks naturally in the form of natural geysers.</a:t>
            </a:r>
          </a:p>
          <a:p>
            <a:r>
              <a:rPr lang="en-US" sz="2200" b="1" i="1" dirty="0">
                <a:latin typeface="Times New Roman" pitchFamily="18" charset="0"/>
                <a:cs typeface="Times New Roman" pitchFamily="18" charset="0"/>
              </a:rPr>
              <a:t>2. Artificial geysers</a:t>
            </a:r>
          </a:p>
          <a:p>
            <a:pPr>
              <a:buFont typeface="Wingdings" pitchFamily="2" charset="2"/>
              <a:buChar char="q"/>
            </a:pPr>
            <a:r>
              <a:rPr lang="en-US" sz="2200" dirty="0">
                <a:solidFill>
                  <a:srgbClr val="002060"/>
                </a:solidFill>
                <a:latin typeface="Times New Roman" pitchFamily="18" charset="0"/>
                <a:cs typeface="Times New Roman" pitchFamily="18" charset="0"/>
              </a:rPr>
              <a:t>In some places, we can artificially drill a hole up to the hot region and by sending a pipe in it, we can make the hot water (or) steam to rush out through the pipe with very high pressure.</a:t>
            </a:r>
          </a:p>
          <a:p>
            <a:pPr>
              <a:buFont typeface="Wingdings" pitchFamily="2" charset="2"/>
              <a:buChar char="q"/>
            </a:pPr>
            <a:r>
              <a:rPr lang="en-US" sz="2200" dirty="0">
                <a:solidFill>
                  <a:srgbClr val="002060"/>
                </a:solidFill>
                <a:latin typeface="Times New Roman" pitchFamily="18" charset="0"/>
                <a:cs typeface="Times New Roman" pitchFamily="18" charset="0"/>
              </a:rPr>
              <a:t>Thus, the hot water (or) steam coming out from the natural (or) artificial geysers is allowed to rotate the turbine of a generator to produce electricity.</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5.13.4 Biomass energy</a:t>
            </a:r>
          </a:p>
          <a:p>
            <a:pPr>
              <a:buFont typeface="Wingdings" pitchFamily="2" charset="2"/>
              <a:buChar char="v"/>
            </a:pPr>
            <a:r>
              <a:rPr lang="en-US" sz="2200" dirty="0">
                <a:solidFill>
                  <a:srgbClr val="002060"/>
                </a:solidFill>
                <a:latin typeface="Times New Roman" pitchFamily="18" charset="0"/>
                <a:cs typeface="Times New Roman" pitchFamily="18" charset="0"/>
              </a:rPr>
              <a:t>Biomass is the organic matter, produced by plants (or) animals, used as sources of energy. </a:t>
            </a:r>
          </a:p>
          <a:p>
            <a:pPr>
              <a:buFont typeface="Wingdings" pitchFamily="2" charset="2"/>
              <a:buChar char="v"/>
            </a:pPr>
            <a:r>
              <a:rPr lang="en-US" sz="2200" dirty="0">
                <a:solidFill>
                  <a:srgbClr val="002060"/>
                </a:solidFill>
                <a:latin typeface="Times New Roman" pitchFamily="18" charset="0"/>
                <a:cs typeface="Times New Roman" pitchFamily="18" charset="0"/>
              </a:rPr>
              <a:t>Most of the biomass is burned directly for heating, cooling and industrial purposes.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772400" cy="4154984"/>
          </a:xfrm>
          <a:prstGeom prst="rect">
            <a:avLst/>
          </a:prstGeom>
        </p:spPr>
        <p:txBody>
          <a:bodyPr wrap="square">
            <a:spAutoFit/>
          </a:bodyPr>
          <a:lstStyle/>
          <a:p>
            <a:r>
              <a:rPr lang="en-US" sz="2200" b="1" dirty="0">
                <a:latin typeface="Times New Roman" pitchFamily="18" charset="0"/>
                <a:cs typeface="Times New Roman" pitchFamily="18" charset="0"/>
              </a:rPr>
              <a:t>Examples </a:t>
            </a:r>
          </a:p>
          <a:p>
            <a:r>
              <a:rPr lang="en-US" sz="2200" i="1" dirty="0">
                <a:solidFill>
                  <a:srgbClr val="C00000"/>
                </a:solidFill>
                <a:latin typeface="Times New Roman" pitchFamily="18" charset="0"/>
                <a:cs typeface="Times New Roman" pitchFamily="18" charset="0"/>
              </a:rPr>
              <a:t>Wood, crop residues, seeds, cattle dung, sewage, agricultural wastes, etc., Biomass energies are of any one of the following types.</a:t>
            </a:r>
          </a:p>
          <a:p>
            <a:r>
              <a:rPr lang="en-US" sz="2200" dirty="0">
                <a:solidFill>
                  <a:srgbClr val="C00000"/>
                </a:solidFill>
                <a:latin typeface="Times New Roman" pitchFamily="18" charset="0"/>
                <a:cs typeface="Times New Roman" pitchFamily="18" charset="0"/>
              </a:rPr>
              <a:t> </a:t>
            </a:r>
          </a:p>
          <a:p>
            <a:r>
              <a:rPr lang="en-US" sz="2200" b="1" dirty="0">
                <a:latin typeface="Times New Roman" pitchFamily="18" charset="0"/>
                <a:cs typeface="Times New Roman" pitchFamily="18" charset="0"/>
              </a:rPr>
              <a:t>1. Biogas</a:t>
            </a:r>
          </a:p>
          <a:p>
            <a:pPr>
              <a:buFont typeface="Wingdings" pitchFamily="2" charset="2"/>
              <a:buChar char="q"/>
            </a:pPr>
            <a:r>
              <a:rPr lang="en-US" sz="2200" dirty="0">
                <a:solidFill>
                  <a:srgbClr val="002060"/>
                </a:solidFill>
                <a:latin typeface="Times New Roman" pitchFamily="18" charset="0"/>
                <a:cs typeface="Times New Roman" pitchFamily="18" charset="0"/>
              </a:rPr>
              <a:t>Biogas is a mixture of gases such as methane, carbon dioxide, hydrogen </a:t>
            </a:r>
            <a:r>
              <a:rPr lang="en-US" sz="2200" dirty="0" err="1">
                <a:solidFill>
                  <a:srgbClr val="002060"/>
                </a:solidFill>
                <a:latin typeface="Times New Roman" pitchFamily="18" charset="0"/>
                <a:cs typeface="Times New Roman" pitchFamily="18" charset="0"/>
              </a:rPr>
              <a:t>sulphide</a:t>
            </a:r>
            <a:r>
              <a:rPr lang="en-US" sz="2200" dirty="0">
                <a:solidFill>
                  <a:srgbClr val="002060"/>
                </a:solidFill>
                <a:latin typeface="Times New Roman" pitchFamily="18" charset="0"/>
                <a:cs typeface="Times New Roman" pitchFamily="18" charset="0"/>
              </a:rPr>
              <a:t>, etc.,</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It contains about 65% of methane gas as a major constituent.</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Biogas is obtained by the anaerobic fermentation of animal dung (or) plant wastes in the presence of water.</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User\AppData\Local\Temp\ksohtml\wps4E6F.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066800" y="1066800"/>
            <a:ext cx="6934200" cy="3962400"/>
          </a:xfrm>
          <a:prstGeom prst="rect">
            <a:avLst/>
          </a:prstGeom>
          <a:noFill/>
        </p:spPr>
      </p:pic>
      <p:sp>
        <p:nvSpPr>
          <p:cNvPr id="34819" name="Rectangle 3"/>
          <p:cNvSpPr>
            <a:spLocks noChangeArrowheads="1"/>
          </p:cNvSpPr>
          <p:nvPr/>
        </p:nvSpPr>
        <p:spPr bwMode="auto">
          <a:xfrm>
            <a:off x="2819400" y="5486400"/>
            <a:ext cx="2795958"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5.15 Biogas Plant</a:t>
            </a:r>
            <a:endParaRPr kumimoji="0" lang="en-US" sz="2200" b="0" i="0" u="none" strike="noStrike" cap="none" normalizeH="0" baseline="0" dirty="0">
              <a:ln>
                <a:noFill/>
              </a:ln>
              <a:solidFill>
                <a:srgbClr val="FF0000"/>
              </a:solidFill>
              <a:effectLst/>
              <a:latin typeface="Times New Roman" pitchFamily="18" charset="0"/>
              <a:cs typeface="Times New Roman"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848600" cy="5509200"/>
          </a:xfrm>
          <a:prstGeom prst="rect">
            <a:avLst/>
          </a:prstGeom>
        </p:spPr>
        <p:txBody>
          <a:bodyPr wrap="square">
            <a:spAutoFit/>
          </a:bodyPr>
          <a:lstStyle/>
          <a:p>
            <a:r>
              <a:rPr lang="en-US" sz="2200" b="1" dirty="0">
                <a:latin typeface="Times New Roman" pitchFamily="18" charset="0"/>
                <a:cs typeface="Times New Roman" pitchFamily="18" charset="0"/>
              </a:rPr>
              <a:t> 2. </a:t>
            </a:r>
            <a:r>
              <a:rPr lang="en-US" sz="2200" b="1" dirty="0" err="1">
                <a:latin typeface="Times New Roman" pitchFamily="18" charset="0"/>
                <a:cs typeface="Times New Roman" pitchFamily="18" charset="0"/>
              </a:rPr>
              <a:t>Biofuels</a:t>
            </a:r>
            <a:endParaRPr lang="en-US" sz="2200" b="1" dirty="0">
              <a:latin typeface="Times New Roman" pitchFamily="18" charset="0"/>
              <a:cs typeface="Times New Roman" pitchFamily="18" charset="0"/>
            </a:endParaRPr>
          </a:p>
          <a:p>
            <a:pPr>
              <a:buFont typeface="Wingdings" pitchFamily="2" charset="2"/>
              <a:buChar char="q"/>
            </a:pPr>
            <a:r>
              <a:rPr lang="en-US" sz="2200" dirty="0" err="1">
                <a:solidFill>
                  <a:srgbClr val="002060"/>
                </a:solidFill>
                <a:latin typeface="Times New Roman" pitchFamily="18" charset="0"/>
                <a:cs typeface="Times New Roman" pitchFamily="18" charset="0"/>
              </a:rPr>
              <a:t>Biofuels</a:t>
            </a:r>
            <a:r>
              <a:rPr lang="en-US" sz="2200" dirty="0">
                <a:solidFill>
                  <a:srgbClr val="002060"/>
                </a:solidFill>
                <a:latin typeface="Times New Roman" pitchFamily="18" charset="0"/>
                <a:cs typeface="Times New Roman" pitchFamily="18" charset="0"/>
              </a:rPr>
              <a:t> are the fuels, obtained by the fermentation of biomass.</a:t>
            </a:r>
          </a:p>
          <a:p>
            <a:r>
              <a:rPr lang="en-US" sz="2200" b="1" dirty="0">
                <a:latin typeface="Times New Roman" pitchFamily="18" charset="0"/>
                <a:cs typeface="Times New Roman" pitchFamily="18" charset="0"/>
              </a:rPr>
              <a:t>                        Example  </a:t>
            </a:r>
            <a:r>
              <a:rPr lang="en-US" sz="2200" b="1" i="1" dirty="0">
                <a:solidFill>
                  <a:srgbClr val="C00000"/>
                </a:solidFill>
                <a:latin typeface="Times New Roman" pitchFamily="18" charset="0"/>
                <a:cs typeface="Times New Roman" pitchFamily="18" charset="0"/>
              </a:rPr>
              <a:t>Ethanol, methanol.</a:t>
            </a:r>
          </a:p>
          <a:p>
            <a:endParaRPr lang="en-US" sz="2200" b="1" i="1"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(a) Ethanol: </a:t>
            </a:r>
          </a:p>
          <a:p>
            <a:pPr>
              <a:buFont typeface="Wingdings" pitchFamily="2" charset="2"/>
              <a:buChar char="v"/>
            </a:pPr>
            <a:r>
              <a:rPr lang="en-US" sz="2200" dirty="0">
                <a:solidFill>
                  <a:srgbClr val="002060"/>
                </a:solidFill>
                <a:latin typeface="Times New Roman" pitchFamily="18" charset="0"/>
                <a:cs typeface="Times New Roman" pitchFamily="18" charset="0"/>
              </a:rPr>
              <a:t>Ethanol can be produced from the sugarcane.</a:t>
            </a:r>
          </a:p>
          <a:p>
            <a:pPr>
              <a:buFont typeface="Wingdings" pitchFamily="2" charset="2"/>
              <a:buChar char="v"/>
            </a:pPr>
            <a:r>
              <a:rPr lang="en-US" sz="2200" dirty="0">
                <a:solidFill>
                  <a:srgbClr val="002060"/>
                </a:solidFill>
                <a:latin typeface="Times New Roman" pitchFamily="18" charset="0"/>
                <a:cs typeface="Times New Roman" pitchFamily="18" charset="0"/>
              </a:rPr>
              <a:t> Its calorific value is less when compared to petrol, and produces much less heat than petrol.</a:t>
            </a:r>
            <a:endParaRPr lang="en-US" sz="2200"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(b) Methanol: </a:t>
            </a:r>
          </a:p>
          <a:p>
            <a:pPr>
              <a:buFont typeface="Wingdings" pitchFamily="2" charset="2"/>
              <a:buChar char="v"/>
            </a:pPr>
            <a:r>
              <a:rPr lang="en-US" sz="2200" dirty="0">
                <a:solidFill>
                  <a:srgbClr val="002060"/>
                </a:solidFill>
                <a:latin typeface="Times New Roman" pitchFamily="18" charset="0"/>
                <a:cs typeface="Times New Roman" pitchFamily="18" charset="0"/>
              </a:rPr>
              <a:t>Methanol can be easily obtained from</a:t>
            </a:r>
            <a:r>
              <a:rPr lang="en-US" sz="2200" b="1" i="1" dirty="0">
                <a:solidFill>
                  <a:srgbClr val="002060"/>
                </a:solidFill>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ethanol (or) sugar-containing plants. </a:t>
            </a:r>
          </a:p>
          <a:p>
            <a:pPr>
              <a:buFont typeface="Wingdings" pitchFamily="2" charset="2"/>
              <a:buChar char="v"/>
            </a:pPr>
            <a:r>
              <a:rPr lang="en-US" sz="2200" dirty="0">
                <a:solidFill>
                  <a:srgbClr val="002060"/>
                </a:solidFill>
                <a:latin typeface="Times New Roman" pitchFamily="18" charset="0"/>
                <a:cs typeface="Times New Roman" pitchFamily="18" charset="0"/>
              </a:rPr>
              <a:t>Its calorific value is also too low when compared to gasoline and diesel.</a:t>
            </a:r>
            <a:endParaRPr lang="en-US" sz="2200"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(c) Gasohol: </a:t>
            </a:r>
          </a:p>
          <a:p>
            <a:pPr>
              <a:buFont typeface="Wingdings" pitchFamily="2" charset="2"/>
              <a:buChar char="v"/>
            </a:pPr>
            <a:r>
              <a:rPr lang="en-US" sz="2200" dirty="0">
                <a:solidFill>
                  <a:srgbClr val="002060"/>
                </a:solidFill>
                <a:latin typeface="Times New Roman" pitchFamily="18" charset="0"/>
                <a:cs typeface="Times New Roman" pitchFamily="18" charset="0"/>
              </a:rPr>
              <a:t>Gasohol is a mixture of ethanol + gasoline.</a:t>
            </a:r>
          </a:p>
          <a:p>
            <a:pPr>
              <a:buFont typeface="Wingdings" pitchFamily="2" charset="2"/>
              <a:buChar char="v"/>
            </a:pPr>
            <a:r>
              <a:rPr lang="en-US" sz="2200" dirty="0">
                <a:solidFill>
                  <a:srgbClr val="002060"/>
                </a:solidFill>
                <a:latin typeface="Times New Roman" pitchFamily="18" charset="0"/>
                <a:cs typeface="Times New Roman" pitchFamily="18" charset="0"/>
              </a:rPr>
              <a:t>In India trial is being carried out to use Gasohol in cars and buses.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05342"/>
            <a:ext cx="8382000" cy="4493538"/>
          </a:xfrm>
          <a:prstGeom prst="rect">
            <a:avLst/>
          </a:prstGeom>
        </p:spPr>
        <p:txBody>
          <a:bodyPr wrap="square">
            <a:spAutoFit/>
          </a:bodyPr>
          <a:lstStyle/>
          <a:p>
            <a:r>
              <a:rPr lang="en-US" sz="2200" b="1" dirty="0">
                <a:latin typeface="Times New Roman" pitchFamily="18" charset="0"/>
                <a:cs typeface="Times New Roman" pitchFamily="18" charset="0"/>
              </a:rPr>
              <a:t>3. Hydrogen Fuels</a:t>
            </a:r>
          </a:p>
          <a:p>
            <a:endParaRPr lang="en-US" sz="2200" dirty="0">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Hydrogen can be produced by thermal dissociation (or) photolysis (or) electrolysis of water. </a:t>
            </a:r>
          </a:p>
          <a:p>
            <a:pPr>
              <a:buFont typeface="Wingdings" pitchFamily="2" charset="2"/>
              <a:buChar char="v"/>
            </a:pPr>
            <a:r>
              <a:rPr lang="en-US" sz="2200" dirty="0">
                <a:solidFill>
                  <a:srgbClr val="002060"/>
                </a:solidFill>
                <a:latin typeface="Times New Roman" pitchFamily="18" charset="0"/>
                <a:cs typeface="Times New Roman" pitchFamily="18" charset="0"/>
              </a:rPr>
              <a:t>It possess high calorific value. </a:t>
            </a:r>
          </a:p>
          <a:p>
            <a:pPr>
              <a:buFont typeface="Wingdings" pitchFamily="2" charset="2"/>
              <a:buChar char="v"/>
            </a:pPr>
            <a:r>
              <a:rPr lang="en-US" sz="2200" dirty="0">
                <a:solidFill>
                  <a:srgbClr val="002060"/>
                </a:solidFill>
                <a:latin typeface="Times New Roman" pitchFamily="18" charset="0"/>
                <a:cs typeface="Times New Roman" pitchFamily="18" charset="0"/>
              </a:rPr>
              <a:t>It is non -polluting, because the combustion product is water.</a:t>
            </a:r>
          </a:p>
          <a:p>
            <a:endParaRPr lang="en-US" sz="2200" dirty="0">
              <a:latin typeface="Times New Roman" pitchFamily="18" charset="0"/>
              <a:cs typeface="Times New Roman" pitchFamily="18" charset="0"/>
            </a:endParaRPr>
          </a:p>
          <a:p>
            <a:r>
              <a:rPr lang="pt-BR" sz="2200" b="1" dirty="0">
                <a:latin typeface="Times New Roman" pitchFamily="18" charset="0"/>
                <a:cs typeface="Times New Roman" pitchFamily="18" charset="0"/>
              </a:rPr>
              <a:t>                   2H   + O    −−−−−&gt; 2H   O + 150 kJ</a:t>
            </a:r>
          </a:p>
          <a:p>
            <a:endParaRPr lang="pt-BR" sz="2200" dirty="0">
              <a:solidFill>
                <a:srgbClr val="00B0F0"/>
              </a:solidFill>
              <a:latin typeface="Times New Roman" pitchFamily="18" charset="0"/>
              <a:cs typeface="Times New Roman" pitchFamily="18" charset="0"/>
            </a:endParaRPr>
          </a:p>
          <a:p>
            <a:r>
              <a:rPr lang="en-US" sz="2200" b="1" i="1" dirty="0">
                <a:solidFill>
                  <a:srgbClr val="00B0F0"/>
                </a:solidFill>
                <a:latin typeface="Times New Roman" pitchFamily="18" charset="0"/>
                <a:cs typeface="Times New Roman" pitchFamily="18" charset="0"/>
              </a:rPr>
              <a:t>Disadvantages of hydrogen fuel</a:t>
            </a:r>
          </a:p>
          <a:p>
            <a:pPr lvl="1">
              <a:buFont typeface="Wingdings" pitchFamily="2" charset="2"/>
              <a:buChar char="Ø"/>
            </a:pPr>
            <a:r>
              <a:rPr lang="en-US" sz="2200" dirty="0">
                <a:solidFill>
                  <a:srgbClr val="002060"/>
                </a:solidFill>
                <a:latin typeface="Times New Roman" pitchFamily="18" charset="0"/>
                <a:cs typeface="Times New Roman" pitchFamily="18" charset="0"/>
              </a:rPr>
              <a:t> Hydrogen is highly inflammable and explosive in nature.</a:t>
            </a:r>
          </a:p>
          <a:p>
            <a:pPr lvl="1">
              <a:buFont typeface="Wingdings" pitchFamily="2" charset="2"/>
              <a:buChar char="Ø"/>
            </a:pPr>
            <a:r>
              <a:rPr lang="en-US" sz="2200" dirty="0">
                <a:solidFill>
                  <a:srgbClr val="002060"/>
                </a:solidFill>
                <a:latin typeface="Times New Roman" pitchFamily="18" charset="0"/>
                <a:cs typeface="Times New Roman" pitchFamily="18" charset="0"/>
              </a:rPr>
              <a:t>  Safe handling is required.</a:t>
            </a:r>
          </a:p>
          <a:p>
            <a:pPr lvl="1">
              <a:buFont typeface="Wingdings" pitchFamily="2" charset="2"/>
              <a:buChar char="Ø"/>
            </a:pPr>
            <a:r>
              <a:rPr lang="en-US" sz="2200" dirty="0">
                <a:solidFill>
                  <a:srgbClr val="002060"/>
                </a:solidFill>
                <a:latin typeface="Times New Roman" pitchFamily="18" charset="0"/>
                <a:cs typeface="Times New Roman" pitchFamily="18" charset="0"/>
              </a:rPr>
              <a:t>  It is difficult to store and transport.</a:t>
            </a:r>
          </a:p>
        </p:txBody>
      </p:sp>
      <p:sp>
        <p:nvSpPr>
          <p:cNvPr id="3" name="Rectangle 2"/>
          <p:cNvSpPr/>
          <p:nvPr/>
        </p:nvSpPr>
        <p:spPr>
          <a:xfrm>
            <a:off x="2286000" y="3962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4" name="Rectangle 3"/>
          <p:cNvSpPr/>
          <p:nvPr/>
        </p:nvSpPr>
        <p:spPr>
          <a:xfrm>
            <a:off x="2895600" y="39624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5" name="Rectangle 4"/>
          <p:cNvSpPr/>
          <p:nvPr/>
        </p:nvSpPr>
        <p:spPr>
          <a:xfrm flipH="1">
            <a:off x="4572000" y="39624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01000" cy="5170646"/>
          </a:xfrm>
          <a:prstGeom prst="rect">
            <a:avLst/>
          </a:prstGeom>
        </p:spPr>
        <p:txBody>
          <a:bodyPr wrap="square">
            <a:spAutoFit/>
          </a:bodyPr>
          <a:lstStyle/>
          <a:p>
            <a:r>
              <a:rPr lang="en-US" sz="2200" b="1" i="1" dirty="0">
                <a:solidFill>
                  <a:srgbClr val="009900"/>
                </a:solidFill>
                <a:latin typeface="Times New Roman" pitchFamily="18" charset="0"/>
                <a:cs typeface="Times New Roman" pitchFamily="18" charset="0"/>
              </a:rPr>
              <a:t>5.14 ENERGY CYCLE </a:t>
            </a:r>
          </a:p>
          <a:p>
            <a:endParaRPr lang="en-US" sz="2200" b="1" i="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Energy cycle, is the interactions between energy sources within the Earth’s environment.</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These interactions are very complex and even small changes in them can lead to significant changes in long-term climate behavior.</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Illustration</a:t>
            </a:r>
          </a:p>
          <a:p>
            <a:endParaRPr lang="en-US" sz="2200" b="1"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A simple illustration of the major elements of the energy cycle is shown in the figure. 5.16 Soil moisture is an important factor in the absorption and reflection of the sun’s energy by the earth’s surface.</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endParaRPr lang="en-US" sz="2200" dirty="0">
              <a:solidFill>
                <a:srgbClr val="002060"/>
              </a:solidFill>
              <a:latin typeface="Times New Roman" pitchFamily="18" charset="0"/>
              <a:cs typeface="Times New Roman"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C:\Users\User\AppData\Local\Temp\ksohtml\wps3C95.tmp.png"/>
          <p:cNvPicPr>
            <a:picLocks noChangeAspect="1" noChangeArrowheads="1"/>
          </p:cNvPicPr>
          <p:nvPr/>
        </p:nvPicPr>
        <p:blipFill>
          <a:blip r:embed="rId2">
            <a:duotone>
              <a:schemeClr val="accent2">
                <a:shade val="45000"/>
                <a:satMod val="135000"/>
              </a:schemeClr>
              <a:prstClr val="white"/>
            </a:duotone>
          </a:blip>
          <a:srcRect/>
          <a:stretch>
            <a:fillRect/>
          </a:stretch>
        </p:blipFill>
        <p:spPr bwMode="auto">
          <a:xfrm>
            <a:off x="1143000" y="1219200"/>
            <a:ext cx="6629400" cy="3810000"/>
          </a:xfrm>
          <a:prstGeom prst="rect">
            <a:avLst/>
          </a:prstGeom>
          <a:noFill/>
        </p:spPr>
      </p:pic>
      <p:sp>
        <p:nvSpPr>
          <p:cNvPr id="30723" name="Rectangle 3"/>
          <p:cNvSpPr>
            <a:spLocks noChangeArrowheads="1"/>
          </p:cNvSpPr>
          <p:nvPr/>
        </p:nvSpPr>
        <p:spPr bwMode="auto">
          <a:xfrm>
            <a:off x="2895600" y="5486400"/>
            <a:ext cx="3106941"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5.16: Energy Cycles</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924800" cy="5170646"/>
          </a:xfrm>
          <a:prstGeom prst="rect">
            <a:avLst/>
          </a:prstGeom>
        </p:spPr>
        <p:txBody>
          <a:bodyPr wrap="square">
            <a:spAutoFit/>
          </a:bodyPr>
          <a:lstStyle/>
          <a:p>
            <a:pPr>
              <a:buFont typeface="Wingdings" pitchFamily="2" charset="2"/>
              <a:buChar char="q"/>
            </a:pPr>
            <a:r>
              <a:rPr lang="en-US" sz="2200" dirty="0">
                <a:solidFill>
                  <a:srgbClr val="002060"/>
                </a:solidFill>
                <a:latin typeface="Times New Roman" pitchFamily="18" charset="0"/>
                <a:cs typeface="Times New Roman" pitchFamily="18" charset="0"/>
              </a:rPr>
              <a:t>Important energy cycles</a:t>
            </a:r>
          </a:p>
          <a:p>
            <a:pPr lvl="2">
              <a:buFont typeface="Wingdings" pitchFamily="2" charset="2"/>
              <a:buChar char="ü"/>
            </a:pPr>
            <a:r>
              <a:rPr lang="en-US" sz="2200" dirty="0">
                <a:solidFill>
                  <a:srgbClr val="C00000"/>
                </a:solidFill>
                <a:latin typeface="Times New Roman" pitchFamily="18" charset="0"/>
                <a:cs typeface="Times New Roman" pitchFamily="18" charset="0"/>
              </a:rPr>
              <a:t>  Carbon cycle.</a:t>
            </a:r>
          </a:p>
          <a:p>
            <a:pPr lvl="2">
              <a:buFont typeface="Wingdings" pitchFamily="2" charset="2"/>
              <a:buChar char="ü"/>
            </a:pPr>
            <a:r>
              <a:rPr lang="en-US" sz="2200" dirty="0">
                <a:solidFill>
                  <a:srgbClr val="C00000"/>
                </a:solidFill>
                <a:latin typeface="Times New Roman" pitchFamily="18" charset="0"/>
                <a:cs typeface="Times New Roman" pitchFamily="18" charset="0"/>
              </a:rPr>
              <a:t> Nitrogen cycle.</a:t>
            </a:r>
          </a:p>
          <a:p>
            <a:pPr lvl="2">
              <a:buFont typeface="Wingdings" pitchFamily="2" charset="2"/>
              <a:buChar char="ü"/>
            </a:pPr>
            <a:r>
              <a:rPr lang="en-US" sz="2200" dirty="0">
                <a:solidFill>
                  <a:srgbClr val="C00000"/>
                </a:solidFill>
                <a:latin typeface="Times New Roman" pitchFamily="18" charset="0"/>
                <a:cs typeface="Times New Roman" pitchFamily="18" charset="0"/>
              </a:rPr>
              <a:t> Phosphorus cycle.</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5.14.1 Carbon cycle</a:t>
            </a:r>
          </a:p>
          <a:p>
            <a:endParaRPr lang="en-US" sz="2200" b="1" i="1"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Definition</a:t>
            </a:r>
          </a:p>
          <a:p>
            <a:r>
              <a:rPr lang="en-US" sz="2200" b="1" i="1" dirty="0">
                <a:solidFill>
                  <a:srgbClr val="C00000"/>
                </a:solidFill>
                <a:latin typeface="Times New Roman" pitchFamily="18" charset="0"/>
                <a:cs typeface="Times New Roman" pitchFamily="18" charset="0"/>
              </a:rPr>
              <a:t>Carbon cycle is the movement of carbon (or) carbon compounds continuously from the atmosphere to the earth and then back into the atmosphere.</a:t>
            </a:r>
          </a:p>
          <a:p>
            <a:r>
              <a:rPr lang="en-US" sz="2200" dirty="0">
                <a:solidFill>
                  <a:srgbClr val="C00000"/>
                </a:solidFill>
                <a:latin typeface="Times New Roman" pitchFamily="18" charset="0"/>
                <a:cs typeface="Times New Roman" pitchFamily="18" charset="0"/>
              </a:rPr>
              <a:t>                                       (Or)</a:t>
            </a:r>
          </a:p>
          <a:p>
            <a:r>
              <a:rPr lang="en-US" sz="2200" b="1" i="1" dirty="0">
                <a:solidFill>
                  <a:srgbClr val="C00000"/>
                </a:solidFill>
                <a:latin typeface="Times New Roman" pitchFamily="18" charset="0"/>
                <a:cs typeface="Times New Roman" pitchFamily="18" charset="0"/>
              </a:rPr>
              <a:t>Carbon cycle is the process where carbon compounds are interchanged among the biosphere, </a:t>
            </a:r>
            <a:r>
              <a:rPr lang="en-US" sz="2200" b="1" i="1" dirty="0" err="1">
                <a:solidFill>
                  <a:srgbClr val="C00000"/>
                </a:solidFill>
                <a:latin typeface="Times New Roman" pitchFamily="18" charset="0"/>
                <a:cs typeface="Times New Roman" pitchFamily="18" charset="0"/>
              </a:rPr>
              <a:t>geosphere</a:t>
            </a:r>
            <a:r>
              <a:rPr lang="en-US" sz="2200" b="1" i="1" dirty="0">
                <a:solidFill>
                  <a:srgbClr val="C00000"/>
                </a:solidFill>
                <a:latin typeface="Times New Roman" pitchFamily="18" charset="0"/>
                <a:cs typeface="Times New Roman" pitchFamily="18" charset="0"/>
              </a:rPr>
              <a:t>, hydrosphere and atmosphere of the earth.</a:t>
            </a:r>
            <a:endParaRPr lang="en-US" sz="2200" dirty="0">
              <a:solidFill>
                <a:srgbClr val="C00000"/>
              </a:solidFill>
              <a:latin typeface="Times New Roman" pitchFamily="18" charset="0"/>
              <a:cs typeface="Times New Roman"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7848600" cy="5509200"/>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Carbon in the atmosphere is present in the form of carbon dioxide.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Carbon enters the atmosphere through natural process such as respiration and industrial applications such as burning of fossil fuels</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Sources of  CO  in atmosphere</a:t>
            </a:r>
          </a:p>
          <a:p>
            <a:pPr marL="342900" indent="-342900">
              <a:buFont typeface="Wingdings" pitchFamily="2" charset="2"/>
              <a:buChar char="Ø"/>
            </a:pPr>
            <a:r>
              <a:rPr lang="en-US" sz="2200" dirty="0">
                <a:solidFill>
                  <a:srgbClr val="002060"/>
                </a:solidFill>
                <a:latin typeface="Times New Roman" pitchFamily="18" charset="0"/>
                <a:cs typeface="Times New Roman" pitchFamily="18" charset="0"/>
              </a:rPr>
              <a:t>During respiration, plants and animals liberates CO   in the atmosphere.</a:t>
            </a:r>
          </a:p>
          <a:p>
            <a:pPr marL="342900" indent="-3429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Combustion of fuels also release  CO   .</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Volcanic eruptions also release CO  .</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Various steps involved in carbon cycle</a:t>
            </a:r>
          </a:p>
          <a:p>
            <a:pPr>
              <a:buFont typeface="Wingdings" pitchFamily="2" charset="2"/>
              <a:buChar char="q"/>
            </a:pPr>
            <a:r>
              <a:rPr lang="en-US" sz="2200" dirty="0">
                <a:solidFill>
                  <a:srgbClr val="002060"/>
                </a:solidFill>
                <a:latin typeface="Times New Roman" pitchFamily="18" charset="0"/>
                <a:cs typeface="Times New Roman" pitchFamily="18" charset="0"/>
              </a:rPr>
              <a:t>Carbon cycle involves the following 5 important steps.</a:t>
            </a:r>
          </a:p>
        </p:txBody>
      </p:sp>
      <p:sp>
        <p:nvSpPr>
          <p:cNvPr id="3" name="Rectangle 2"/>
          <p:cNvSpPr/>
          <p:nvPr/>
        </p:nvSpPr>
        <p:spPr>
          <a:xfrm>
            <a:off x="2438400" y="33528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F0"/>
                </a:solidFill>
                <a:latin typeface="Times New Roman" pitchFamily="18" charset="0"/>
                <a:cs typeface="Times New Roman" pitchFamily="18" charset="0"/>
              </a:rPr>
              <a:t>2</a:t>
            </a:r>
          </a:p>
        </p:txBody>
      </p:sp>
      <p:sp>
        <p:nvSpPr>
          <p:cNvPr id="5" name="Rectangle 4"/>
          <p:cNvSpPr/>
          <p:nvPr/>
        </p:nvSpPr>
        <p:spPr>
          <a:xfrm>
            <a:off x="6781800" y="36576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6" name="Rectangle 5"/>
          <p:cNvSpPr/>
          <p:nvPr/>
        </p:nvSpPr>
        <p:spPr>
          <a:xfrm>
            <a:off x="5105400" y="4724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7" name="Rectangle 6"/>
          <p:cNvSpPr/>
          <p:nvPr/>
        </p:nvSpPr>
        <p:spPr>
          <a:xfrm>
            <a:off x="4800600" y="5410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C:\Users\User\AppData\Local\Temp\ksohtml\wps52.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1295400" y="990600"/>
            <a:ext cx="6096000" cy="4572000"/>
          </a:xfrm>
          <a:prstGeom prst="rect">
            <a:avLst/>
          </a:prstGeom>
          <a:noFill/>
        </p:spPr>
      </p:pic>
      <p:sp>
        <p:nvSpPr>
          <p:cNvPr id="3" name="Rectangle 2"/>
          <p:cNvSpPr/>
          <p:nvPr/>
        </p:nvSpPr>
        <p:spPr>
          <a:xfrm>
            <a:off x="3200400" y="5867400"/>
            <a:ext cx="2872902" cy="430887"/>
          </a:xfrm>
          <a:prstGeom prst="rect">
            <a:avLst/>
          </a:prstGeom>
        </p:spPr>
        <p:txBody>
          <a:bodyPr wrap="none">
            <a:spAutoFit/>
          </a:bodyPr>
          <a:lstStyle/>
          <a:p>
            <a:r>
              <a:rPr lang="en-US" sz="2200" b="1" dirty="0">
                <a:solidFill>
                  <a:srgbClr val="FF0000"/>
                </a:solidFill>
                <a:latin typeface="Times New Roman" pitchFamily="18" charset="0"/>
                <a:cs typeface="Times New Roman" pitchFamily="18" charset="0"/>
              </a:rPr>
              <a:t>Fig. 5.13 Carbon cycle</a:t>
            </a:r>
            <a:endParaRPr lang="en-US" sz="2200" dirty="0">
              <a:solidFill>
                <a:srgbClr val="FF0000"/>
              </a:solidFill>
              <a:latin typeface="Times New Roman" pitchFamily="18" charset="0"/>
              <a:cs typeface="Times New Roman"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889844"/>
            <a:ext cx="7924800" cy="5847755"/>
          </a:xfrm>
          <a:prstGeom prst="rect">
            <a:avLst/>
          </a:prstGeom>
        </p:spPr>
        <p:txBody>
          <a:bodyPr wrap="square">
            <a:spAutoFit/>
          </a:bodyPr>
          <a:lstStyle/>
          <a:p>
            <a:r>
              <a:rPr lang="en-US" sz="2200" b="1" dirty="0">
                <a:latin typeface="Times New Roman" pitchFamily="18" charset="0"/>
                <a:cs typeface="Times New Roman" pitchFamily="18" charset="0"/>
              </a:rPr>
              <a:t>Step I: </a:t>
            </a:r>
            <a:endParaRPr lang="en-US" sz="2200" b="1"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Carbon present in the atmosphere is absorbed by plants by the processes photosynthesis, which involves the absorption of CO   by plants to produce carbohydrates (producers).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                CO   + H  O + energy −−−−−&gt; (CH  O)    + O </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II: </a:t>
            </a:r>
          </a:p>
          <a:p>
            <a:pPr>
              <a:buFont typeface="Wingdings" pitchFamily="2" charset="2"/>
              <a:buChar char="q"/>
            </a:pPr>
            <a:r>
              <a:rPr lang="en-US" sz="2200" dirty="0">
                <a:solidFill>
                  <a:srgbClr val="002060"/>
                </a:solidFill>
                <a:latin typeface="Times New Roman" pitchFamily="18" charset="0"/>
                <a:cs typeface="Times New Roman" pitchFamily="18" charset="0"/>
              </a:rPr>
              <a:t>These plants are then consumed by animals and carbon gets </a:t>
            </a:r>
            <a:r>
              <a:rPr lang="en-US" sz="2200" dirty="0" err="1">
                <a:solidFill>
                  <a:srgbClr val="002060"/>
                </a:solidFill>
                <a:latin typeface="Times New Roman" pitchFamily="18" charset="0"/>
                <a:cs typeface="Times New Roman" pitchFamily="18" charset="0"/>
              </a:rPr>
              <a:t>bioaccumulated</a:t>
            </a:r>
            <a:r>
              <a:rPr lang="en-US" sz="2200" dirty="0">
                <a:solidFill>
                  <a:srgbClr val="002060"/>
                </a:solidFill>
                <a:latin typeface="Times New Roman" pitchFamily="18" charset="0"/>
                <a:cs typeface="Times New Roman" pitchFamily="18" charset="0"/>
              </a:rPr>
              <a:t> into their bodies (consumers).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III: </a:t>
            </a:r>
          </a:p>
          <a:p>
            <a:pPr>
              <a:buFont typeface="Wingdings" pitchFamily="2" charset="2"/>
              <a:buChar char="q"/>
            </a:pPr>
            <a:r>
              <a:rPr lang="en-US" sz="2200" dirty="0">
                <a:solidFill>
                  <a:srgbClr val="002060"/>
                </a:solidFill>
                <a:latin typeface="Times New Roman" pitchFamily="18" charset="0"/>
                <a:cs typeface="Times New Roman" pitchFamily="18" charset="0"/>
              </a:rPr>
              <a:t> These animals and plants eventually die and decomposers eat the dead organism and return the carbon from their body back into the atmosphere (decomposers)</a:t>
            </a:r>
          </a:p>
          <a:p>
            <a:endParaRPr lang="en-US" sz="2200" dirty="0">
              <a:latin typeface="Times New Roman" pitchFamily="18" charset="0"/>
              <a:cs typeface="Times New Roman" pitchFamily="18" charset="0"/>
            </a:endParaRPr>
          </a:p>
          <a:p>
            <a:r>
              <a:rPr lang="pt-BR" sz="2200" b="1" dirty="0">
                <a:latin typeface="Times New Roman" pitchFamily="18" charset="0"/>
                <a:cs typeface="Times New Roman" pitchFamily="18" charset="0"/>
              </a:rPr>
              <a:t>              CH   O)   + O    −−−−−&gt; CO    + H   O + energy</a:t>
            </a:r>
            <a:endParaRPr lang="en-US" sz="2200" b="1" dirty="0">
              <a:latin typeface="Times New Roman" pitchFamily="18" charset="0"/>
              <a:cs typeface="Times New Roman" pitchFamily="18" charset="0"/>
            </a:endParaRPr>
          </a:p>
        </p:txBody>
      </p:sp>
      <p:sp>
        <p:nvSpPr>
          <p:cNvPr id="3" name="Rectangle 2"/>
          <p:cNvSpPr/>
          <p:nvPr/>
        </p:nvSpPr>
        <p:spPr>
          <a:xfrm>
            <a:off x="7772400" y="19050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4" name="Rectangle 3"/>
          <p:cNvSpPr/>
          <p:nvPr/>
        </p:nvSpPr>
        <p:spPr>
          <a:xfrm>
            <a:off x="2209800" y="28956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5" name="Rectangle 4"/>
          <p:cNvSpPr/>
          <p:nvPr/>
        </p:nvSpPr>
        <p:spPr>
          <a:xfrm>
            <a:off x="2971800" y="28956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6" name="Rectangle 5"/>
          <p:cNvSpPr/>
          <p:nvPr/>
        </p:nvSpPr>
        <p:spPr>
          <a:xfrm>
            <a:off x="6019800" y="28956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7" name="Rectangle 6"/>
          <p:cNvSpPr/>
          <p:nvPr/>
        </p:nvSpPr>
        <p:spPr>
          <a:xfrm>
            <a:off x="6477000" y="28956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n</a:t>
            </a:r>
          </a:p>
        </p:txBody>
      </p:sp>
      <p:sp>
        <p:nvSpPr>
          <p:cNvPr id="8" name="Rectangle 7"/>
          <p:cNvSpPr/>
          <p:nvPr/>
        </p:nvSpPr>
        <p:spPr>
          <a:xfrm>
            <a:off x="7162800" y="28956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9" name="Rectangle 8"/>
          <p:cNvSpPr/>
          <p:nvPr/>
        </p:nvSpPr>
        <p:spPr>
          <a:xfrm>
            <a:off x="2133600" y="6553200"/>
            <a:ext cx="228600" cy="45719"/>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10" name="Rectangle 9"/>
          <p:cNvSpPr/>
          <p:nvPr/>
        </p:nvSpPr>
        <p:spPr>
          <a:xfrm>
            <a:off x="2667000" y="6553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n</a:t>
            </a:r>
          </a:p>
        </p:txBody>
      </p:sp>
      <p:sp>
        <p:nvSpPr>
          <p:cNvPr id="11" name="Rectangle 10"/>
          <p:cNvSpPr/>
          <p:nvPr/>
        </p:nvSpPr>
        <p:spPr>
          <a:xfrm>
            <a:off x="3276600" y="6553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12" name="Rectangle 11"/>
          <p:cNvSpPr/>
          <p:nvPr/>
        </p:nvSpPr>
        <p:spPr>
          <a:xfrm>
            <a:off x="5029200" y="6553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13" name="Rectangle 12"/>
          <p:cNvSpPr/>
          <p:nvPr/>
        </p:nvSpPr>
        <p:spPr>
          <a:xfrm>
            <a:off x="5791200" y="6553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001000" cy="5509200"/>
          </a:xfrm>
          <a:prstGeom prst="rect">
            <a:avLst/>
          </a:prstGeom>
        </p:spPr>
        <p:txBody>
          <a:bodyPr wrap="square">
            <a:spAutoFit/>
          </a:bodyPr>
          <a:lstStyle/>
          <a:p>
            <a:r>
              <a:rPr lang="en-US" sz="2200" b="1" dirty="0">
                <a:latin typeface="Times New Roman" pitchFamily="18" charset="0"/>
                <a:cs typeface="Times New Roman" pitchFamily="18" charset="0"/>
              </a:rPr>
              <a:t>Step IV: </a:t>
            </a:r>
          </a:p>
          <a:p>
            <a:pPr>
              <a:buFont typeface="Wingdings" pitchFamily="2" charset="2"/>
              <a:buChar char="q"/>
            </a:pPr>
            <a:r>
              <a:rPr lang="en-US" sz="2200" dirty="0">
                <a:solidFill>
                  <a:srgbClr val="002060"/>
                </a:solidFill>
                <a:latin typeface="Times New Roman" pitchFamily="18" charset="0"/>
                <a:cs typeface="Times New Roman" pitchFamily="18" charset="0"/>
              </a:rPr>
              <a:t>Some of the carbon that is not released back into the atmosphere eventually become fossil fuels.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Step V: </a:t>
            </a:r>
          </a:p>
          <a:p>
            <a:pPr>
              <a:buFont typeface="Wingdings" pitchFamily="2" charset="2"/>
              <a:buChar char="q"/>
            </a:pPr>
            <a:r>
              <a:rPr lang="en-US" sz="2200" dirty="0">
                <a:solidFill>
                  <a:srgbClr val="002060"/>
                </a:solidFill>
                <a:latin typeface="Times New Roman" pitchFamily="18" charset="0"/>
                <a:cs typeface="Times New Roman" pitchFamily="18" charset="0"/>
              </a:rPr>
              <a:t>These fossil fuels are then used for man-made activities, which pump more carbon back into the atmosphere.</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Importance (or) benefits of carbon cycle</a:t>
            </a:r>
          </a:p>
          <a:p>
            <a:pPr>
              <a:buFont typeface="Wingdings" pitchFamily="2" charset="2"/>
              <a:buChar char="v"/>
            </a:pPr>
            <a:r>
              <a:rPr lang="en-US" sz="2200" dirty="0">
                <a:solidFill>
                  <a:srgbClr val="002060"/>
                </a:solidFill>
                <a:latin typeface="Times New Roman" pitchFamily="18" charset="0"/>
                <a:cs typeface="Times New Roman" pitchFamily="18" charset="0"/>
              </a:rPr>
              <a:t> It plays a vital role in balancing the energy and traps the long-wave radiations from the sun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it acts like a blanket over the planet, avoids global warming.</a:t>
            </a:r>
          </a:p>
          <a:p>
            <a:pPr>
              <a:buFont typeface="Wingdings" pitchFamily="2" charset="2"/>
              <a:buChar char="v"/>
            </a:pPr>
            <a:r>
              <a:rPr lang="en-US" sz="2200" dirty="0">
                <a:solidFill>
                  <a:srgbClr val="002060"/>
                </a:solidFill>
                <a:latin typeface="Times New Roman" pitchFamily="18" charset="0"/>
                <a:cs typeface="Times New Roman" pitchFamily="18" charset="0"/>
              </a:rPr>
              <a:t> Carbon cycle is an important aspect of the survival of all life on earth.</a:t>
            </a:r>
          </a:p>
          <a:p>
            <a:pPr>
              <a:buFont typeface="Wingdings" pitchFamily="2" charset="2"/>
              <a:buChar char="v"/>
            </a:pPr>
            <a:r>
              <a:rPr lang="en-US" sz="2200" dirty="0">
                <a:solidFill>
                  <a:srgbClr val="002060"/>
                </a:solidFill>
                <a:latin typeface="Times New Roman" pitchFamily="18" charset="0"/>
                <a:cs typeface="Times New Roman" pitchFamily="18" charset="0"/>
              </a:rPr>
              <a:t>  Carbon is the building block of life and forms bonds with other elements necessary for life.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620000" cy="5170646"/>
          </a:xfrm>
          <a:prstGeom prst="rect">
            <a:avLst/>
          </a:prstGeom>
        </p:spPr>
        <p:txBody>
          <a:bodyPr wrap="square">
            <a:spAutoFit/>
          </a:bodyPr>
          <a:lstStyle/>
          <a:p>
            <a:r>
              <a:rPr lang="en-US" sz="2200" b="1" i="1" dirty="0">
                <a:solidFill>
                  <a:srgbClr val="009900"/>
                </a:solidFill>
                <a:latin typeface="Times New Roman" pitchFamily="18" charset="0"/>
                <a:cs typeface="Times New Roman" pitchFamily="18" charset="0"/>
              </a:rPr>
              <a:t>5.15 CARBON EMISSION AND SEQUESTRATION</a:t>
            </a:r>
          </a:p>
          <a:p>
            <a:endParaRPr lang="en-US" sz="2200" b="1" i="1"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5.15.1 Carbon emission</a:t>
            </a:r>
          </a:p>
          <a:p>
            <a:endParaRPr lang="en-US" sz="2200" b="1" i="1" dirty="0">
              <a:latin typeface="Times New Roman" pitchFamily="18" charset="0"/>
              <a:cs typeface="Times New Roman" pitchFamily="18" charset="0"/>
            </a:endParaRPr>
          </a:p>
          <a:p>
            <a:r>
              <a:rPr lang="en-US" sz="2200" b="1" i="1" dirty="0">
                <a:solidFill>
                  <a:srgbClr val="C00000"/>
                </a:solidFill>
                <a:latin typeface="Times New Roman" pitchFamily="18" charset="0"/>
                <a:cs typeface="Times New Roman" pitchFamily="18" charset="0"/>
              </a:rPr>
              <a:t>Carbon emission is the release of green house gases and their precursors into the atmosphere over a specified area and period of time.</a:t>
            </a:r>
          </a:p>
          <a:p>
            <a:endParaRPr lang="en-US" sz="2200" b="1" i="1"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Types of carbon emission</a:t>
            </a:r>
          </a:p>
          <a:p>
            <a:pPr>
              <a:buFont typeface="Wingdings" pitchFamily="2" charset="2"/>
              <a:buChar char="Ø"/>
            </a:pPr>
            <a:r>
              <a:rPr lang="en-US" sz="2200" dirty="0">
                <a:solidFill>
                  <a:srgbClr val="002060"/>
                </a:solidFill>
                <a:latin typeface="Times New Roman" pitchFamily="18" charset="0"/>
                <a:cs typeface="Times New Roman" pitchFamily="18" charset="0"/>
              </a:rPr>
              <a:t>  Carbon (Green house gas) emissions are classified into two scopes.</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1 Scope 1 emissions (or) Direct emission</a:t>
            </a:r>
          </a:p>
          <a:p>
            <a:pPr>
              <a:buFont typeface="Wingdings" pitchFamily="2" charset="2"/>
              <a:buChar char="v"/>
            </a:pPr>
            <a:r>
              <a:rPr lang="en-US" sz="2200" dirty="0">
                <a:solidFill>
                  <a:srgbClr val="002060"/>
                </a:solidFill>
                <a:latin typeface="Times New Roman" pitchFamily="18" charset="0"/>
                <a:cs typeface="Times New Roman" pitchFamily="18" charset="0"/>
              </a:rPr>
              <a:t>  Scope 1 emissions are direct emissions from company. </a:t>
            </a:r>
          </a:p>
          <a:p>
            <a:pPr>
              <a:buFont typeface="Wingdings" pitchFamily="2" charset="2"/>
              <a:buChar char="v"/>
            </a:pPr>
            <a:r>
              <a:rPr lang="en-US" sz="2200" dirty="0">
                <a:solidFill>
                  <a:srgbClr val="002060"/>
                </a:solidFill>
                <a:latin typeface="Times New Roman" pitchFamily="18" charset="0"/>
                <a:cs typeface="Times New Roman" pitchFamily="18" charset="0"/>
              </a:rPr>
              <a:t>  It is divided into 4 categories.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7620000" cy="5847755"/>
          </a:xfrm>
          <a:prstGeom prst="rect">
            <a:avLst/>
          </a:prstGeom>
        </p:spPr>
        <p:txBody>
          <a:bodyPr wrap="square">
            <a:spAutoFit/>
          </a:bodyPr>
          <a:lstStyle/>
          <a:p>
            <a:r>
              <a:rPr lang="en-US" sz="2200" b="1" i="1" dirty="0">
                <a:latin typeface="Times New Roman" pitchFamily="18" charset="0"/>
                <a:cs typeface="Times New Roman" pitchFamily="18" charset="0"/>
              </a:rPr>
              <a:t>(a) Stationary combustion</a:t>
            </a:r>
          </a:p>
          <a:p>
            <a:pPr>
              <a:buFont typeface="Wingdings" pitchFamily="2" charset="2"/>
              <a:buChar char="v"/>
            </a:pPr>
            <a:r>
              <a:rPr lang="en-US" sz="2200" dirty="0">
                <a:solidFill>
                  <a:srgbClr val="002060"/>
                </a:solidFill>
                <a:latin typeface="Times New Roman" pitchFamily="18" charset="0"/>
                <a:cs typeface="Times New Roman" pitchFamily="18" charset="0"/>
              </a:rPr>
              <a:t>All fuels that produce GHG.</a:t>
            </a:r>
          </a:p>
          <a:p>
            <a:endParaRPr lang="en-US" sz="2200"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(b) Mobile combustion</a:t>
            </a:r>
          </a:p>
          <a:p>
            <a:pPr>
              <a:buFont typeface="Wingdings" pitchFamily="2" charset="2"/>
              <a:buChar char="v"/>
            </a:pPr>
            <a:r>
              <a:rPr lang="en-US" sz="2200" dirty="0">
                <a:solidFill>
                  <a:srgbClr val="002060"/>
                </a:solidFill>
                <a:latin typeface="Times New Roman" pitchFamily="18" charset="0"/>
                <a:cs typeface="Times New Roman" pitchFamily="18" charset="0"/>
              </a:rPr>
              <a:t>All vehicles owned by a firm, burning fuel.</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Example: </a:t>
            </a:r>
            <a:r>
              <a:rPr lang="en-US" sz="2200" b="1" dirty="0">
                <a:solidFill>
                  <a:srgbClr val="C00000"/>
                </a:solidFill>
                <a:latin typeface="Times New Roman" pitchFamily="18" charset="0"/>
                <a:cs typeface="Times New Roman" pitchFamily="18" charset="0"/>
              </a:rPr>
              <a:t>cars, vans, trucks.</a:t>
            </a:r>
          </a:p>
          <a:p>
            <a:endParaRPr lang="en-US" sz="2200" b="1"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(c) Fugitive emissions</a:t>
            </a:r>
          </a:p>
          <a:p>
            <a:pPr>
              <a:buFont typeface="Wingdings" pitchFamily="2" charset="2"/>
              <a:buChar char="v"/>
            </a:pPr>
            <a:r>
              <a:rPr lang="en-US" sz="2200" dirty="0">
                <a:solidFill>
                  <a:srgbClr val="002060"/>
                </a:solidFill>
                <a:latin typeface="Times New Roman" pitchFamily="18" charset="0"/>
                <a:cs typeface="Times New Roman" pitchFamily="18" charset="0"/>
              </a:rPr>
              <a:t>These are leaks from green house gases (GHG).</a:t>
            </a:r>
          </a:p>
          <a:p>
            <a:r>
              <a:rPr lang="en-US" sz="2200" b="1" i="1" dirty="0">
                <a:latin typeface="Times New Roman" pitchFamily="18" charset="0"/>
                <a:cs typeface="Times New Roman" pitchFamily="18" charset="0"/>
              </a:rPr>
              <a:t>Example</a:t>
            </a:r>
          </a:p>
          <a:p>
            <a:r>
              <a:rPr lang="en-US" sz="2200" dirty="0">
                <a:solidFill>
                  <a:srgbClr val="C00000"/>
                </a:solidFill>
                <a:latin typeface="Times New Roman" pitchFamily="18" charset="0"/>
                <a:cs typeface="Times New Roman" pitchFamily="18" charset="0"/>
              </a:rPr>
              <a:t>Refrigeration, air-conditioning units.</a:t>
            </a:r>
          </a:p>
          <a:p>
            <a:endParaRPr lang="en-US" sz="2200" dirty="0">
              <a:latin typeface="Times New Roman" pitchFamily="18" charset="0"/>
              <a:cs typeface="Times New Roman" pitchFamily="18" charset="0"/>
            </a:endParaRPr>
          </a:p>
          <a:p>
            <a:r>
              <a:rPr lang="en-US" sz="2200" b="1" i="1" dirty="0">
                <a:latin typeface="Times New Roman" pitchFamily="18" charset="0"/>
                <a:cs typeface="Times New Roman" pitchFamily="18" charset="0"/>
              </a:rPr>
              <a:t>(d) Process emissions</a:t>
            </a:r>
          </a:p>
          <a:p>
            <a:pPr>
              <a:buFont typeface="Wingdings" pitchFamily="2" charset="2"/>
              <a:buChar char="v"/>
            </a:pPr>
            <a:r>
              <a:rPr lang="en-US" sz="2200" dirty="0">
                <a:solidFill>
                  <a:srgbClr val="002060"/>
                </a:solidFill>
                <a:latin typeface="Times New Roman" pitchFamily="18" charset="0"/>
                <a:cs typeface="Times New Roman" pitchFamily="18" charset="0"/>
              </a:rPr>
              <a:t>These are from industrial processes and on-site manufacturing.</a:t>
            </a:r>
          </a:p>
          <a:p>
            <a:r>
              <a:rPr lang="en-US" sz="2200" b="1" i="1" dirty="0">
                <a:latin typeface="Times New Roman" pitchFamily="18" charset="0"/>
                <a:cs typeface="Times New Roman" pitchFamily="18" charset="0"/>
              </a:rPr>
              <a:t>Example</a:t>
            </a:r>
          </a:p>
          <a:p>
            <a:r>
              <a:rPr lang="en-US" sz="2200" dirty="0">
                <a:solidFill>
                  <a:srgbClr val="C00000"/>
                </a:solidFill>
                <a:latin typeface="Times New Roman" pitchFamily="18" charset="0"/>
                <a:cs typeface="Times New Roman" pitchFamily="18" charset="0"/>
              </a:rPr>
              <a:t>Cement manufacturing, chemical manufacturing.</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66843"/>
            <a:ext cx="8077200" cy="5170646"/>
          </a:xfrm>
          <a:prstGeom prst="rect">
            <a:avLst/>
          </a:prstGeom>
        </p:spPr>
        <p:txBody>
          <a:bodyPr wrap="square">
            <a:spAutoFit/>
          </a:bodyPr>
          <a:lstStyle/>
          <a:p>
            <a:r>
              <a:rPr lang="en-US" sz="2200" b="1" dirty="0">
                <a:latin typeface="Times New Roman" pitchFamily="18" charset="0"/>
                <a:cs typeface="Times New Roman" pitchFamily="18" charset="0"/>
              </a:rPr>
              <a:t>II Scope 2 emissions (or) Indirect emission</a:t>
            </a:r>
          </a:p>
          <a:p>
            <a:pPr>
              <a:buFont typeface="Wingdings" pitchFamily="2" charset="2"/>
              <a:buChar char="q"/>
            </a:pPr>
            <a:r>
              <a:rPr lang="en-US" sz="2200" dirty="0">
                <a:solidFill>
                  <a:srgbClr val="002060"/>
                </a:solidFill>
                <a:latin typeface="Times New Roman" pitchFamily="18" charset="0"/>
                <a:cs typeface="Times New Roman" pitchFamily="18" charset="0"/>
              </a:rPr>
              <a:t>Scope 2 emissions are indirect emissions from the generation of purchased energy (purchased electricity steam, heat and cooling) from a utility provider (end user).</a:t>
            </a:r>
          </a:p>
          <a:p>
            <a:endParaRPr lang="en-US" sz="2200" dirty="0">
              <a:latin typeface="Times New Roman" pitchFamily="18" charset="0"/>
              <a:cs typeface="Times New Roman" pitchFamily="18" charset="0"/>
            </a:endParaRPr>
          </a:p>
          <a:p>
            <a:endParaRPr lang="en-US" sz="2200" b="1"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Sources (or) Causes of carbon emission   </a:t>
            </a:r>
          </a:p>
          <a:p>
            <a:endParaRPr lang="en-US" sz="2200" dirty="0">
              <a:solidFill>
                <a:srgbClr val="00B0F0"/>
              </a:solidFill>
              <a:latin typeface="Times New Roman" pitchFamily="18" charset="0"/>
              <a:cs typeface="Times New Roman" pitchFamily="18" charset="0"/>
            </a:endParaRPr>
          </a:p>
          <a:p>
            <a:r>
              <a:rPr lang="en-US" sz="2200" b="1" dirty="0">
                <a:latin typeface="Times New Roman" pitchFamily="18" charset="0"/>
                <a:cs typeface="Times New Roman" pitchFamily="18" charset="0"/>
              </a:rPr>
              <a:t>1. Natural sources of CO   emission</a:t>
            </a:r>
          </a:p>
          <a:p>
            <a:pPr>
              <a:buFont typeface="Wingdings" pitchFamily="2" charset="2"/>
              <a:buChar char="q"/>
            </a:pPr>
            <a:r>
              <a:rPr lang="en-US" sz="2200" dirty="0">
                <a:solidFill>
                  <a:srgbClr val="002060"/>
                </a:solidFill>
                <a:latin typeface="Times New Roman" pitchFamily="18" charset="0"/>
                <a:cs typeface="Times New Roman" pitchFamily="18" charset="0"/>
              </a:rPr>
              <a:t>It includes</a:t>
            </a:r>
          </a:p>
          <a:p>
            <a:pPr lvl="2">
              <a:buFont typeface="Wingdings" pitchFamily="2" charset="2"/>
              <a:buChar char="ü"/>
            </a:pPr>
            <a:r>
              <a:rPr lang="en-US" sz="2200" dirty="0">
                <a:solidFill>
                  <a:srgbClr val="C00000"/>
                </a:solidFill>
                <a:latin typeface="Times New Roman" pitchFamily="18" charset="0"/>
                <a:cs typeface="Times New Roman" pitchFamily="18" charset="0"/>
              </a:rPr>
              <a:t>  Decomposition of matter.</a:t>
            </a:r>
          </a:p>
          <a:p>
            <a:pPr lvl="2">
              <a:buFont typeface="Wingdings" pitchFamily="2" charset="2"/>
              <a:buChar char="ü"/>
            </a:pPr>
            <a:r>
              <a:rPr lang="en-US" sz="2200" dirty="0">
                <a:solidFill>
                  <a:srgbClr val="C00000"/>
                </a:solidFill>
                <a:latin typeface="Times New Roman" pitchFamily="18" charset="0"/>
                <a:cs typeface="Times New Roman" pitchFamily="18" charset="0"/>
              </a:rPr>
              <a:t> Ocean release.</a:t>
            </a:r>
          </a:p>
          <a:p>
            <a:pPr lvl="2">
              <a:buFont typeface="Wingdings" pitchFamily="2" charset="2"/>
              <a:buChar char="ü"/>
            </a:pPr>
            <a:r>
              <a:rPr lang="en-US" sz="2200" dirty="0">
                <a:solidFill>
                  <a:srgbClr val="C00000"/>
                </a:solidFill>
                <a:latin typeface="Times New Roman" pitchFamily="18" charset="0"/>
                <a:cs typeface="Times New Roman" pitchFamily="18" charset="0"/>
              </a:rPr>
              <a:t> Respiration.</a:t>
            </a:r>
          </a:p>
          <a:p>
            <a:pPr lvl="2">
              <a:buFont typeface="Wingdings" pitchFamily="2" charset="2"/>
              <a:buChar char="ü"/>
            </a:pPr>
            <a:r>
              <a:rPr lang="en-US" sz="2200" dirty="0">
                <a:solidFill>
                  <a:srgbClr val="C00000"/>
                </a:solidFill>
                <a:latin typeface="Times New Roman" pitchFamily="18" charset="0"/>
                <a:cs typeface="Times New Roman" pitchFamily="18" charset="0"/>
              </a:rPr>
              <a:t> Most animals, which exhale CO   as a waste product.</a:t>
            </a:r>
          </a:p>
          <a:p>
            <a:pPr lvl="2">
              <a:buFont typeface="Wingdings" pitchFamily="2" charset="2"/>
              <a:buChar char="ü"/>
            </a:pPr>
            <a:r>
              <a:rPr lang="en-US" sz="2200" dirty="0">
                <a:solidFill>
                  <a:srgbClr val="C00000"/>
                </a:solidFill>
                <a:latin typeface="Times New Roman" pitchFamily="18" charset="0"/>
                <a:cs typeface="Times New Roman" pitchFamily="18" charset="0"/>
              </a:rPr>
              <a:t> Carbonate rocks.</a:t>
            </a:r>
          </a:p>
        </p:txBody>
      </p:sp>
      <p:sp>
        <p:nvSpPr>
          <p:cNvPr id="3" name="Rectangle 2"/>
          <p:cNvSpPr/>
          <p:nvPr/>
        </p:nvSpPr>
        <p:spPr>
          <a:xfrm>
            <a:off x="3733800" y="41148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
        <p:nvSpPr>
          <p:cNvPr id="4" name="Rectangle 3"/>
          <p:cNvSpPr/>
          <p:nvPr/>
        </p:nvSpPr>
        <p:spPr>
          <a:xfrm>
            <a:off x="5562600" y="57912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371600"/>
            <a:ext cx="8001000" cy="4493538"/>
          </a:xfrm>
          <a:prstGeom prst="rect">
            <a:avLst/>
          </a:prstGeom>
        </p:spPr>
        <p:txBody>
          <a:bodyPr wrap="square">
            <a:spAutoFit/>
          </a:bodyPr>
          <a:lstStyle/>
          <a:p>
            <a:r>
              <a:rPr lang="en-US" sz="2200" b="1" dirty="0">
                <a:latin typeface="Times New Roman" pitchFamily="18" charset="0"/>
                <a:cs typeface="Times New Roman" pitchFamily="18" charset="0"/>
              </a:rPr>
              <a:t>2. Human sources of CO   emission</a:t>
            </a:r>
          </a:p>
          <a:p>
            <a:pPr>
              <a:buFont typeface="Wingdings" pitchFamily="2" charset="2"/>
              <a:buChar char="q"/>
            </a:pPr>
            <a:r>
              <a:rPr lang="en-US" sz="2200" dirty="0">
                <a:solidFill>
                  <a:srgbClr val="002060"/>
                </a:solidFill>
                <a:latin typeface="Times New Roman" pitchFamily="18" charset="0"/>
                <a:cs typeface="Times New Roman" pitchFamily="18" charset="0"/>
              </a:rPr>
              <a:t> It includes</a:t>
            </a:r>
          </a:p>
          <a:p>
            <a:pPr lvl="1">
              <a:buFont typeface="Wingdings" pitchFamily="2" charset="2"/>
              <a:buChar char="ü"/>
            </a:pPr>
            <a:r>
              <a:rPr lang="en-US" sz="2200" dirty="0">
                <a:solidFill>
                  <a:srgbClr val="C00000"/>
                </a:solidFill>
                <a:latin typeface="Times New Roman" pitchFamily="18" charset="0"/>
                <a:cs typeface="Times New Roman" pitchFamily="18" charset="0"/>
              </a:rPr>
              <a:t>  Burning of fossil fuels like coal, natural gas and oil.</a:t>
            </a:r>
          </a:p>
          <a:p>
            <a:pPr lvl="1">
              <a:buFont typeface="Wingdings" pitchFamily="2" charset="2"/>
              <a:buChar char="ü"/>
            </a:pPr>
            <a:r>
              <a:rPr lang="en-US" sz="2200" dirty="0">
                <a:solidFill>
                  <a:srgbClr val="C00000"/>
                </a:solidFill>
                <a:latin typeface="Times New Roman" pitchFamily="18" charset="0"/>
                <a:cs typeface="Times New Roman" pitchFamily="18" charset="0"/>
              </a:rPr>
              <a:t>  Deforestation.</a:t>
            </a:r>
          </a:p>
          <a:p>
            <a:pPr lvl="1">
              <a:buFont typeface="Wingdings" pitchFamily="2" charset="2"/>
              <a:buChar char="ü"/>
            </a:pPr>
            <a:r>
              <a:rPr lang="en-US" sz="2200" dirty="0">
                <a:solidFill>
                  <a:srgbClr val="C00000"/>
                </a:solidFill>
                <a:latin typeface="Times New Roman" pitchFamily="18" charset="0"/>
                <a:cs typeface="Times New Roman" pitchFamily="18" charset="0"/>
              </a:rPr>
              <a:t>  Industrial activities like cement manufacture, oil refineries and leather industries.</a:t>
            </a:r>
          </a:p>
          <a:p>
            <a:pPr lvl="1">
              <a:buFont typeface="Wingdings" pitchFamily="2" charset="2"/>
              <a:buChar char="ü"/>
            </a:pPr>
            <a:r>
              <a:rPr lang="en-US" sz="2200" dirty="0">
                <a:solidFill>
                  <a:srgbClr val="C00000"/>
                </a:solidFill>
                <a:latin typeface="Times New Roman" pitchFamily="18" charset="0"/>
                <a:cs typeface="Times New Roman" pitchFamily="18" charset="0"/>
              </a:rPr>
              <a:t> Transportation sector generates largest amount of  CO   in the atmosphere.</a:t>
            </a:r>
          </a:p>
          <a:p>
            <a:endParaRPr lang="en-US" sz="2200" dirty="0">
              <a:solidFill>
                <a:srgbClr val="00B0F0"/>
              </a:solidFill>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Harmful effect of carbon emission </a:t>
            </a:r>
          </a:p>
          <a:p>
            <a:pPr>
              <a:buFont typeface="Wingdings" pitchFamily="2" charset="2"/>
              <a:buChar char="v"/>
            </a:pPr>
            <a:r>
              <a:rPr lang="en-US" sz="2200" dirty="0">
                <a:solidFill>
                  <a:srgbClr val="002060"/>
                </a:solidFill>
                <a:latin typeface="Times New Roman" pitchFamily="18" charset="0"/>
                <a:cs typeface="Times New Roman" pitchFamily="18" charset="0"/>
              </a:rPr>
              <a:t>  Carbon emission, nothing but emission of green house gas, affects the planet significantly.</a:t>
            </a:r>
          </a:p>
          <a:p>
            <a:pPr>
              <a:buFont typeface="Wingdings" pitchFamily="2" charset="2"/>
              <a:buChar char="v"/>
            </a:pPr>
            <a:r>
              <a:rPr lang="en-US" sz="2200" dirty="0">
                <a:solidFill>
                  <a:srgbClr val="002060"/>
                </a:solidFill>
                <a:latin typeface="Times New Roman" pitchFamily="18" charset="0"/>
                <a:cs typeface="Times New Roman" pitchFamily="18" charset="0"/>
              </a:rPr>
              <a:t>  It causes global warming and affects climate change.</a:t>
            </a:r>
          </a:p>
        </p:txBody>
      </p:sp>
      <p:sp>
        <p:nvSpPr>
          <p:cNvPr id="3" name="Rectangle 2"/>
          <p:cNvSpPr/>
          <p:nvPr/>
        </p:nvSpPr>
        <p:spPr>
          <a:xfrm>
            <a:off x="7315200" y="36576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
        <p:nvSpPr>
          <p:cNvPr id="4" name="Rectangle 3"/>
          <p:cNvSpPr/>
          <p:nvPr/>
        </p:nvSpPr>
        <p:spPr>
          <a:xfrm>
            <a:off x="3429000" y="1676400"/>
            <a:ext cx="228600" cy="45719"/>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10245"/>
            <a:ext cx="82296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Reduction of carbon emission</a:t>
            </a:r>
          </a:p>
          <a:p>
            <a:pPr>
              <a:buFont typeface="Wingdings" pitchFamily="2" charset="2"/>
              <a:buChar char="q"/>
            </a:pPr>
            <a:r>
              <a:rPr lang="en-US" sz="2200" dirty="0">
                <a:solidFill>
                  <a:srgbClr val="002060"/>
                </a:solidFill>
                <a:latin typeface="Times New Roman" pitchFamily="18" charset="0"/>
                <a:cs typeface="Times New Roman" pitchFamily="18" charset="0"/>
              </a:rPr>
              <a:t>There are many ways to reduce green house gas emissions like</a:t>
            </a:r>
          </a:p>
          <a:p>
            <a:endParaRPr lang="en-US" sz="2200" dirty="0">
              <a:latin typeface="Times New Roman" pitchFamily="18" charset="0"/>
              <a:cs typeface="Times New Roman" pitchFamily="18" charset="0"/>
            </a:endParaRPr>
          </a:p>
          <a:p>
            <a:pPr marL="1371600" lvl="2" indent="-457200">
              <a:buFont typeface="Wingdings" pitchFamily="2" charset="2"/>
              <a:buChar char="ü"/>
            </a:pPr>
            <a:r>
              <a:rPr lang="en-US" sz="2200" dirty="0">
                <a:solidFill>
                  <a:srgbClr val="C00000"/>
                </a:solidFill>
                <a:latin typeface="Times New Roman" pitchFamily="18" charset="0"/>
                <a:cs typeface="Times New Roman" pitchFamily="18" charset="0"/>
              </a:rPr>
              <a:t>energy efficiency.</a:t>
            </a:r>
          </a:p>
          <a:p>
            <a:pPr marL="1371600" lvl="2" indent="-457200">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fuel switching.</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combined heat and power.</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use of renewable energy.</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more efficient use.</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recycling of materials.</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plant more trees.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8077200" cy="5847755"/>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reduce air travel.</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driving more efficient.</a:t>
            </a:r>
          </a:p>
          <a:p>
            <a:pPr lvl="2"/>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5.15.2 Carbon sequestration</a:t>
            </a:r>
          </a:p>
          <a:p>
            <a:pPr>
              <a:buFont typeface="Wingdings" pitchFamily="2" charset="2"/>
              <a:buChar char="q"/>
            </a:pPr>
            <a:r>
              <a:rPr lang="en-US" sz="2200" dirty="0">
                <a:solidFill>
                  <a:srgbClr val="002060"/>
                </a:solidFill>
                <a:latin typeface="Times New Roman" pitchFamily="18" charset="0"/>
                <a:cs typeface="Times New Roman" pitchFamily="18" charset="0"/>
              </a:rPr>
              <a:t>It is the process of capturing and storing atmospheric </a:t>
            </a:r>
            <a:r>
              <a:rPr lang="en-US" sz="2200" dirty="0" err="1">
                <a:solidFill>
                  <a:srgbClr val="002060"/>
                </a:solidFill>
                <a:latin typeface="Times New Roman" pitchFamily="18" charset="0"/>
                <a:cs typeface="Times New Roman" pitchFamily="18" charset="0"/>
              </a:rPr>
              <a:t>carbondioxide</a:t>
            </a:r>
            <a:r>
              <a:rPr lang="en-US" sz="2200" dirty="0">
                <a:solidFill>
                  <a:srgbClr val="002060"/>
                </a:solidFill>
                <a:latin typeface="Times New Roman" pitchFamily="18" charset="0"/>
                <a:cs typeface="Times New Roman" pitchFamily="18" charset="0"/>
              </a:rPr>
              <a:t>.</a:t>
            </a:r>
          </a:p>
          <a:p>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It is one method of reducing the amount of CO   in the atmosphere.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Goal of carbon sequestration is to reduce global climate change.</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25% of our carbon emissions have been captured by earth’s forests, farms and grassland.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Scientists and land managers are working to keep landscapes vegetated and soil hydrated for plants to grow and sequester carbon.</a:t>
            </a:r>
          </a:p>
        </p:txBody>
      </p:sp>
      <p:sp>
        <p:nvSpPr>
          <p:cNvPr id="3" name="Rectangle 2"/>
          <p:cNvSpPr/>
          <p:nvPr/>
        </p:nvSpPr>
        <p:spPr>
          <a:xfrm>
            <a:off x="6019800" y="3962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295400"/>
            <a:ext cx="7772400" cy="4493538"/>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30% of the carbon dioxide, we emit from burning fossil fuels, is absorbed by the upper layer of the ocean.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45% of carbon dioxide stays in the atmosphere the rest in sequestered naturally by the environment.</a:t>
            </a:r>
          </a:p>
          <a:p>
            <a:endParaRPr lang="en-US" sz="2200"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Concept (or) Aim of carbon sequestration</a:t>
            </a:r>
          </a:p>
          <a:p>
            <a:pPr>
              <a:buFont typeface="Wingdings" pitchFamily="2" charset="2"/>
              <a:buChar char="q"/>
            </a:pPr>
            <a:r>
              <a:rPr lang="en-US" sz="2200" dirty="0">
                <a:solidFill>
                  <a:srgbClr val="002060"/>
                </a:solidFill>
                <a:latin typeface="Times New Roman" pitchFamily="18" charset="0"/>
                <a:cs typeface="Times New Roman" pitchFamily="18" charset="0"/>
              </a:rPr>
              <a:t>The concept of carbon sequestration is to stabilize carbon in solid and dissolved forms so that it doesn’t cause the atmosphere to warm. </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The process shows tremendous promise for reducing the human “carbon foot print”.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924800" cy="5509200"/>
          </a:xfrm>
          <a:prstGeom prst="rect">
            <a:avLst/>
          </a:prstGeom>
        </p:spPr>
        <p:txBody>
          <a:bodyPr wrap="square">
            <a:spAutoFit/>
          </a:bodyPr>
          <a:lstStyle/>
          <a:p>
            <a:r>
              <a:rPr lang="en-US" sz="2200" b="1" dirty="0">
                <a:solidFill>
                  <a:srgbClr val="00B0F0"/>
                </a:solidFill>
                <a:latin typeface="Times New Roman" pitchFamily="18" charset="0"/>
                <a:cs typeface="Times New Roman" pitchFamily="18" charset="0"/>
              </a:rPr>
              <a:t>Method (or) Types of carbon sequestration</a:t>
            </a:r>
          </a:p>
          <a:p>
            <a:pPr>
              <a:buFont typeface="Wingdings" pitchFamily="2" charset="2"/>
              <a:buChar char="q"/>
            </a:pPr>
            <a:r>
              <a:rPr lang="en-US" sz="2200" dirty="0">
                <a:solidFill>
                  <a:srgbClr val="002060"/>
                </a:solidFill>
                <a:latin typeface="Times New Roman" pitchFamily="18" charset="0"/>
                <a:cs typeface="Times New Roman" pitchFamily="18" charset="0"/>
              </a:rPr>
              <a:t> There are three main types of carbon sequestration.</a:t>
            </a:r>
          </a:p>
          <a:p>
            <a:r>
              <a:rPr lang="en-US" sz="2200" b="1" dirty="0">
                <a:latin typeface="Times New Roman" pitchFamily="18" charset="0"/>
                <a:cs typeface="Times New Roman" pitchFamily="18" charset="0"/>
              </a:rPr>
              <a:t>1. Biological carbon sequestration</a:t>
            </a:r>
          </a:p>
          <a:p>
            <a:pPr>
              <a:buFont typeface="Wingdings" pitchFamily="2" charset="2"/>
              <a:buChar char="v"/>
            </a:pPr>
            <a:r>
              <a:rPr lang="en-US" sz="2200" dirty="0">
                <a:solidFill>
                  <a:srgbClr val="002060"/>
                </a:solidFill>
                <a:latin typeface="Times New Roman" pitchFamily="18" charset="0"/>
                <a:cs typeface="Times New Roman" pitchFamily="18" charset="0"/>
              </a:rPr>
              <a:t>It is the storage of CO   in vegetation like grassland, forests, soils and oceans.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2. Geological carbon sequestration</a:t>
            </a:r>
          </a:p>
          <a:p>
            <a:pPr>
              <a:buFont typeface="Wingdings" pitchFamily="2" charset="2"/>
              <a:buChar char="v"/>
            </a:pPr>
            <a:r>
              <a:rPr lang="en-US" sz="2200" dirty="0">
                <a:solidFill>
                  <a:srgbClr val="002060"/>
                </a:solidFill>
                <a:latin typeface="Times New Roman" pitchFamily="18" charset="0"/>
                <a:cs typeface="Times New Roman" pitchFamily="18" charset="0"/>
              </a:rPr>
              <a:t>It is the process of storing CO   in underground geologic formations (or) rocks.</a:t>
            </a:r>
          </a:p>
          <a:p>
            <a:pPr>
              <a:buFont typeface="Wingdings" pitchFamily="2" charset="2"/>
              <a:buChar char="v"/>
            </a:pPr>
            <a:r>
              <a:rPr lang="en-US" sz="2200" dirty="0">
                <a:solidFill>
                  <a:srgbClr val="002060"/>
                </a:solidFill>
                <a:latin typeface="Times New Roman" pitchFamily="18" charset="0"/>
                <a:cs typeface="Times New Roman" pitchFamily="18" charset="0"/>
              </a:rPr>
              <a:t>Typically, CO    is captured from an industrial sources like steel (or) cement production, power plant and injected into the porous rocks for long-term storage.</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3. Technological carbon sequestration</a:t>
            </a:r>
          </a:p>
          <a:p>
            <a:pPr>
              <a:buFont typeface="Wingdings" pitchFamily="2" charset="2"/>
              <a:buChar char="v"/>
            </a:pPr>
            <a:r>
              <a:rPr lang="en-US" sz="2200" dirty="0">
                <a:solidFill>
                  <a:srgbClr val="002060"/>
                </a:solidFill>
                <a:latin typeface="Times New Roman" pitchFamily="18" charset="0"/>
                <a:cs typeface="Times New Roman" pitchFamily="18" charset="0"/>
              </a:rPr>
              <a:t>Scientists are using innovative technologies to remove and store carbon from the atmosphere using innovative technologies.</a:t>
            </a:r>
          </a:p>
        </p:txBody>
      </p:sp>
      <p:sp>
        <p:nvSpPr>
          <p:cNvPr id="3" name="Rectangle 2"/>
          <p:cNvSpPr/>
          <p:nvPr/>
        </p:nvSpPr>
        <p:spPr>
          <a:xfrm>
            <a:off x="3276600" y="2362200"/>
            <a:ext cx="2286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4" name="Rectangle 3"/>
          <p:cNvSpPr/>
          <p:nvPr/>
        </p:nvSpPr>
        <p:spPr>
          <a:xfrm>
            <a:off x="4191000" y="37338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5" name="Rectangle 4"/>
          <p:cNvSpPr/>
          <p:nvPr/>
        </p:nvSpPr>
        <p:spPr>
          <a:xfrm>
            <a:off x="2438400" y="4343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8001000" cy="5509200"/>
          </a:xfrm>
          <a:prstGeom prst="rect">
            <a:avLst/>
          </a:prstGeom>
        </p:spPr>
        <p:txBody>
          <a:bodyPr wrap="square">
            <a:spAutoFit/>
          </a:bodyPr>
          <a:lstStyle/>
          <a:p>
            <a:r>
              <a:rPr lang="en-US" sz="2200" b="1" i="1" dirty="0">
                <a:latin typeface="Times New Roman" pitchFamily="18" charset="0"/>
                <a:cs typeface="Times New Roman" pitchFamily="18" charset="0"/>
              </a:rPr>
              <a:t>Example: </a:t>
            </a:r>
            <a:r>
              <a:rPr lang="en-US" sz="2200" b="1" i="1" dirty="0" err="1">
                <a:latin typeface="Times New Roman" pitchFamily="18" charset="0"/>
                <a:cs typeface="Times New Roman" pitchFamily="18" charset="0"/>
              </a:rPr>
              <a:t>Graphene</a:t>
            </a:r>
            <a:r>
              <a:rPr lang="en-US" sz="2200" b="1" i="1" dirty="0">
                <a:latin typeface="Times New Roman" pitchFamily="18" charset="0"/>
                <a:cs typeface="Times New Roman" pitchFamily="18" charset="0"/>
              </a:rPr>
              <a:t> production</a:t>
            </a:r>
          </a:p>
          <a:p>
            <a:pPr>
              <a:buFont typeface="Wingdings" pitchFamily="2" charset="2"/>
              <a:buChar char="q"/>
            </a:pPr>
            <a:r>
              <a:rPr lang="en-US" sz="2200" dirty="0">
                <a:solidFill>
                  <a:srgbClr val="002060"/>
                </a:solidFill>
                <a:latin typeface="Times New Roman" pitchFamily="18" charset="0"/>
                <a:cs typeface="Times New Roman" pitchFamily="18" charset="0"/>
              </a:rPr>
              <a:t>The use of CO   as a raw material to produce </a:t>
            </a:r>
            <a:r>
              <a:rPr lang="en-US" sz="2200" dirty="0" err="1">
                <a:solidFill>
                  <a:srgbClr val="002060"/>
                </a:solidFill>
                <a:latin typeface="Times New Roman" pitchFamily="18" charset="0"/>
                <a:cs typeface="Times New Roman" pitchFamily="18" charset="0"/>
              </a:rPr>
              <a:t>graphene</a:t>
            </a:r>
            <a:r>
              <a:rPr lang="en-US" sz="2200" dirty="0">
                <a:solidFill>
                  <a:srgbClr val="002060"/>
                </a:solidFill>
                <a:latin typeface="Times New Roman" pitchFamily="18" charset="0"/>
                <a:cs typeface="Times New Roman" pitchFamily="18" charset="0"/>
              </a:rPr>
              <a:t> (a technological material). </a:t>
            </a:r>
          </a:p>
          <a:p>
            <a:pPr>
              <a:buFont typeface="Wingdings" pitchFamily="2" charset="2"/>
              <a:buChar char="q"/>
            </a:pPr>
            <a:r>
              <a:rPr lang="en-US" sz="2200" dirty="0" err="1">
                <a:solidFill>
                  <a:srgbClr val="002060"/>
                </a:solidFill>
                <a:latin typeface="Times New Roman" pitchFamily="18" charset="0"/>
                <a:cs typeface="Times New Roman" pitchFamily="18" charset="0"/>
              </a:rPr>
              <a:t>Graphene</a:t>
            </a:r>
            <a:r>
              <a:rPr lang="en-US" sz="2200" dirty="0">
                <a:solidFill>
                  <a:srgbClr val="002060"/>
                </a:solidFill>
                <a:latin typeface="Times New Roman" pitchFamily="18" charset="0"/>
                <a:cs typeface="Times New Roman" pitchFamily="18" charset="0"/>
              </a:rPr>
              <a:t> is used to create screens for smart phones and other technical devices.</a:t>
            </a:r>
          </a:p>
          <a:p>
            <a:pPr>
              <a:buFont typeface="Wingdings" pitchFamily="2" charset="2"/>
              <a:buChar char="q"/>
            </a:pPr>
            <a:r>
              <a:rPr lang="en-US" sz="2200" dirty="0" err="1">
                <a:solidFill>
                  <a:srgbClr val="002060"/>
                </a:solidFill>
                <a:latin typeface="Times New Roman" pitchFamily="18" charset="0"/>
                <a:cs typeface="Times New Roman" pitchFamily="18" charset="0"/>
              </a:rPr>
              <a:t>Graphene</a:t>
            </a:r>
            <a:r>
              <a:rPr lang="en-US" sz="2200" dirty="0">
                <a:solidFill>
                  <a:srgbClr val="002060"/>
                </a:solidFill>
                <a:latin typeface="Times New Roman" pitchFamily="18" charset="0"/>
                <a:cs typeface="Times New Roman" pitchFamily="18" charset="0"/>
              </a:rPr>
              <a:t> production is an example of how  CO   can be used as a resource and a solution in reducing emissions from atmosphere.</a:t>
            </a:r>
          </a:p>
          <a:p>
            <a:r>
              <a:rPr lang="en-US" sz="2200" b="1" dirty="0">
                <a:solidFill>
                  <a:srgbClr val="00B0F0"/>
                </a:solidFill>
                <a:latin typeface="Times New Roman" pitchFamily="18" charset="0"/>
                <a:cs typeface="Times New Roman" pitchFamily="18" charset="0"/>
              </a:rPr>
              <a:t>Advantages and disadvantages of carbon sequestration</a:t>
            </a:r>
          </a:p>
          <a:p>
            <a:r>
              <a:rPr lang="en-US" sz="2200" b="1" dirty="0">
                <a:latin typeface="Times New Roman" pitchFamily="18" charset="0"/>
                <a:cs typeface="Times New Roman" pitchFamily="18" charset="0"/>
              </a:rPr>
              <a:t>Advantages (or) merits</a:t>
            </a:r>
          </a:p>
          <a:p>
            <a:pPr lvl="1">
              <a:buFont typeface="Wingdings" pitchFamily="2" charset="2"/>
              <a:buChar char="ü"/>
            </a:pPr>
            <a:r>
              <a:rPr lang="en-US" sz="2200" dirty="0">
                <a:solidFill>
                  <a:srgbClr val="C00000"/>
                </a:solidFill>
                <a:latin typeface="Times New Roman" pitchFamily="18" charset="0"/>
                <a:cs typeface="Times New Roman" pitchFamily="18" charset="0"/>
              </a:rPr>
              <a:t>  Carbon sequestration prevents the occurrence of climate change.</a:t>
            </a:r>
          </a:p>
          <a:p>
            <a:pPr lvl="1">
              <a:buFont typeface="Wingdings" pitchFamily="2" charset="2"/>
              <a:buChar char="ü"/>
            </a:pPr>
            <a:r>
              <a:rPr lang="en-US" sz="2200" dirty="0">
                <a:solidFill>
                  <a:srgbClr val="C00000"/>
                </a:solidFill>
                <a:latin typeface="Times New Roman" pitchFamily="18" charset="0"/>
                <a:cs typeface="Times New Roman" pitchFamily="18" charset="0"/>
              </a:rPr>
              <a:t>  Deep injection of  CO    improves the extraction of fuels like oil and methane from their reserves in addition to removing excess pollutants from the air.</a:t>
            </a:r>
          </a:p>
          <a:p>
            <a:pPr lvl="1">
              <a:buFont typeface="Wingdings" pitchFamily="2" charset="2"/>
              <a:buChar char="ü"/>
            </a:pPr>
            <a:r>
              <a:rPr lang="en-US" sz="2200" dirty="0">
                <a:solidFill>
                  <a:srgbClr val="C00000"/>
                </a:solidFill>
                <a:latin typeface="Times New Roman" pitchFamily="18" charset="0"/>
                <a:cs typeface="Times New Roman" pitchFamily="18" charset="0"/>
              </a:rPr>
              <a:t>  Since the gas can be easily liquefied, it can be easily transmitted through pipelines.</a:t>
            </a:r>
          </a:p>
        </p:txBody>
      </p:sp>
      <p:sp>
        <p:nvSpPr>
          <p:cNvPr id="3" name="Rectangle 2"/>
          <p:cNvSpPr/>
          <p:nvPr/>
        </p:nvSpPr>
        <p:spPr>
          <a:xfrm>
            <a:off x="2590800" y="1600200"/>
            <a:ext cx="762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4" name="Rectangle 3"/>
          <p:cNvSpPr/>
          <p:nvPr/>
        </p:nvSpPr>
        <p:spPr>
          <a:xfrm>
            <a:off x="6248400" y="29718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Times New Roman" pitchFamily="18" charset="0"/>
                <a:cs typeface="Times New Roman" pitchFamily="18" charset="0"/>
              </a:rPr>
              <a:t>2</a:t>
            </a:r>
          </a:p>
        </p:txBody>
      </p:sp>
      <p:sp>
        <p:nvSpPr>
          <p:cNvPr id="5" name="Rectangle 4"/>
          <p:cNvSpPr/>
          <p:nvPr/>
        </p:nvSpPr>
        <p:spPr>
          <a:xfrm>
            <a:off x="3962400" y="49530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371600"/>
            <a:ext cx="7848600" cy="4832092"/>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   No CO   leaking out from the injection site.</a:t>
            </a:r>
          </a:p>
          <a:p>
            <a:pPr lvl="2">
              <a:buFont typeface="Wingdings" pitchFamily="2" charset="2"/>
              <a:buChar char="ü"/>
            </a:pPr>
            <a:r>
              <a:rPr lang="en-US" sz="2200" dirty="0">
                <a:solidFill>
                  <a:srgbClr val="C00000"/>
                </a:solidFill>
                <a:latin typeface="Times New Roman" pitchFamily="18" charset="0"/>
                <a:cs typeface="Times New Roman" pitchFamily="18" charset="0"/>
              </a:rPr>
              <a:t>  It lowers carbon emission by 80% to 85% while using fossil fuels.</a:t>
            </a:r>
          </a:p>
          <a:p>
            <a:endParaRPr lang="en-US" sz="2200" b="1" dirty="0">
              <a:latin typeface="Times New Roman" pitchFamily="18" charset="0"/>
              <a:cs typeface="Times New Roman" pitchFamily="18" charset="0"/>
            </a:endParaRPr>
          </a:p>
          <a:p>
            <a:r>
              <a:rPr lang="en-US" sz="2200" b="1" dirty="0">
                <a:solidFill>
                  <a:srgbClr val="00B0F0"/>
                </a:solidFill>
                <a:latin typeface="Times New Roman" pitchFamily="18" charset="0"/>
                <a:cs typeface="Times New Roman" pitchFamily="18" charset="0"/>
              </a:rPr>
              <a:t>Disadvantages (or) limitations</a:t>
            </a:r>
          </a:p>
          <a:p>
            <a:pPr lvl="1">
              <a:buFont typeface="Wingdings" pitchFamily="2" charset="2"/>
              <a:buChar char="ü"/>
            </a:pPr>
            <a:r>
              <a:rPr lang="en-US" sz="2200" dirty="0">
                <a:solidFill>
                  <a:srgbClr val="C00000"/>
                </a:solidFill>
                <a:latin typeface="Times New Roman" pitchFamily="18" charset="0"/>
                <a:cs typeface="Times New Roman" pitchFamily="18" charset="0"/>
              </a:rPr>
              <a:t>  Due to carbon sequestration, in power plants, 40% additional coal is consumed and hence cost of energy gets increased by 1 to 5% per kilowatt hour.</a:t>
            </a:r>
          </a:p>
          <a:p>
            <a:pPr lvl="1">
              <a:buFont typeface="Wingdings" pitchFamily="2" charset="2"/>
              <a:buChar char="ü"/>
            </a:pPr>
            <a:r>
              <a:rPr lang="en-US" sz="2200" dirty="0">
                <a:solidFill>
                  <a:srgbClr val="C00000"/>
                </a:solidFill>
                <a:latin typeface="Times New Roman" pitchFamily="18" charset="0"/>
                <a:cs typeface="Times New Roman" pitchFamily="18" charset="0"/>
              </a:rPr>
              <a:t> CO   from power plant emissions must be captured and </a:t>
            </a:r>
            <a:r>
              <a:rPr lang="en-US" sz="2200" dirty="0" err="1">
                <a:solidFill>
                  <a:srgbClr val="C00000"/>
                </a:solidFill>
                <a:latin typeface="Times New Roman" pitchFamily="18" charset="0"/>
                <a:cs typeface="Times New Roman" pitchFamily="18" charset="0"/>
              </a:rPr>
              <a:t>liquified</a:t>
            </a:r>
            <a:r>
              <a:rPr lang="en-US" sz="2200" dirty="0">
                <a:solidFill>
                  <a:srgbClr val="C00000"/>
                </a:solidFill>
                <a:latin typeface="Times New Roman" pitchFamily="18" charset="0"/>
                <a:cs typeface="Times New Roman" pitchFamily="18" charset="0"/>
              </a:rPr>
              <a:t>, which uses a lot of electrical power.</a:t>
            </a:r>
          </a:p>
          <a:p>
            <a:pPr lvl="1">
              <a:buFont typeface="Wingdings" pitchFamily="2" charset="2"/>
              <a:buChar char="ü"/>
            </a:pPr>
            <a:r>
              <a:rPr lang="en-US" sz="2200" dirty="0">
                <a:solidFill>
                  <a:srgbClr val="C00000"/>
                </a:solidFill>
                <a:latin typeface="Times New Roman" pitchFamily="18" charset="0"/>
                <a:cs typeface="Times New Roman" pitchFamily="18" charset="0"/>
              </a:rPr>
              <a:t>  It can be disastrous if the injected gas leaks due to structural flaws in the geological formation.</a:t>
            </a:r>
          </a:p>
          <a:p>
            <a:pPr lvl="1">
              <a:buFont typeface="Wingdings" pitchFamily="2" charset="2"/>
              <a:buChar char="ü"/>
            </a:pPr>
            <a:r>
              <a:rPr lang="en-US" sz="2200" dirty="0">
                <a:solidFill>
                  <a:srgbClr val="C00000"/>
                </a:solidFill>
                <a:latin typeface="Times New Roman" pitchFamily="18" charset="0"/>
                <a:cs typeface="Times New Roman" pitchFamily="18" charset="0"/>
              </a:rPr>
              <a:t> The ocean can become acidic due to the large amounts of carbon dioxide being injected into it, endangering aquatic life.</a:t>
            </a:r>
          </a:p>
        </p:txBody>
      </p:sp>
      <p:sp>
        <p:nvSpPr>
          <p:cNvPr id="3" name="Rectangle 2"/>
          <p:cNvSpPr/>
          <p:nvPr/>
        </p:nvSpPr>
        <p:spPr>
          <a:xfrm>
            <a:off x="2819400" y="1676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
        <p:nvSpPr>
          <p:cNvPr id="4" name="Rectangle 3"/>
          <p:cNvSpPr/>
          <p:nvPr/>
        </p:nvSpPr>
        <p:spPr>
          <a:xfrm>
            <a:off x="1828800" y="4343400"/>
            <a:ext cx="152400" cy="762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66800"/>
            <a:ext cx="7391400" cy="5509200"/>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  Planting trees, with the intention of storing and absorbing carbon, requires more time for the trees to mature.</a:t>
            </a:r>
          </a:p>
          <a:p>
            <a:pPr lvl="2">
              <a:buFont typeface="Wingdings" pitchFamily="2" charset="2"/>
              <a:buChar char="ü"/>
            </a:pPr>
            <a:r>
              <a:rPr lang="en-US" sz="2200" dirty="0">
                <a:solidFill>
                  <a:srgbClr val="C00000"/>
                </a:solidFill>
                <a:latin typeface="Times New Roman" pitchFamily="18" charset="0"/>
                <a:cs typeface="Times New Roman" pitchFamily="18" charset="0"/>
              </a:rPr>
              <a:t>  There is no enough available geological resources to sequester carbon.</a:t>
            </a:r>
          </a:p>
          <a:p>
            <a:pPr lvl="2">
              <a:buFont typeface="Wingdings" pitchFamily="2" charset="2"/>
              <a:buChar char="ü"/>
            </a:pPr>
            <a:r>
              <a:rPr lang="en-US" sz="2200" dirty="0">
                <a:solidFill>
                  <a:srgbClr val="C00000"/>
                </a:solidFill>
                <a:latin typeface="Times New Roman" pitchFamily="18" charset="0"/>
                <a:cs typeface="Times New Roman" pitchFamily="18" charset="0"/>
              </a:rPr>
              <a:t>  The concentration of  CO   , from power plant exhaust is too low for being effectively </a:t>
            </a:r>
            <a:r>
              <a:rPr lang="en-US" sz="2200" dirty="0" err="1">
                <a:solidFill>
                  <a:srgbClr val="C00000"/>
                </a:solidFill>
                <a:latin typeface="Times New Roman" pitchFamily="18" charset="0"/>
                <a:cs typeface="Times New Roman" pitchFamily="18" charset="0"/>
              </a:rPr>
              <a:t>liquified</a:t>
            </a:r>
            <a:r>
              <a:rPr lang="en-US" sz="2200" dirty="0">
                <a:solidFill>
                  <a:srgbClr val="C000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5.16 GREEN ENGINEERING</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5.16.1 Definition</a:t>
            </a:r>
          </a:p>
          <a:p>
            <a:r>
              <a:rPr lang="en-US" sz="2200" b="1" i="1" dirty="0">
                <a:solidFill>
                  <a:srgbClr val="C00000"/>
                </a:solidFill>
                <a:latin typeface="Times New Roman" pitchFamily="18" charset="0"/>
                <a:cs typeface="Times New Roman" pitchFamily="18" charset="0"/>
              </a:rPr>
              <a:t>Green engineering is the design, commercialization and use of processes and products that minimizes pollution, promotes sustainability and promotes human health without affecting environment.</a:t>
            </a:r>
          </a:p>
          <a:p>
            <a:endParaRPr lang="en-US" sz="2200" b="1" i="1" dirty="0">
              <a:latin typeface="Times New Roman" pitchFamily="18" charset="0"/>
              <a:cs typeface="Times New Roman" pitchFamily="18" charset="0"/>
            </a:endParaRPr>
          </a:p>
        </p:txBody>
      </p:sp>
      <p:sp>
        <p:nvSpPr>
          <p:cNvPr id="3" name="Rectangle 2"/>
          <p:cNvSpPr/>
          <p:nvPr/>
        </p:nvSpPr>
        <p:spPr>
          <a:xfrm>
            <a:off x="4876800" y="2971800"/>
            <a:ext cx="76200" cy="1524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itchFamily="18" charset="0"/>
                <a:cs typeface="Times New Roman" pitchFamily="18" charset="0"/>
              </a:rPr>
              <a:t>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7724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5.16.2 Examples for green engineering</a:t>
            </a:r>
          </a:p>
          <a:p>
            <a:pPr>
              <a:buFont typeface="Wingdings" pitchFamily="2" charset="2"/>
              <a:buChar char="Ø"/>
            </a:pPr>
            <a:r>
              <a:rPr lang="en-US" sz="2200" dirty="0">
                <a:solidFill>
                  <a:srgbClr val="002060"/>
                </a:solidFill>
                <a:latin typeface="Times New Roman" pitchFamily="18" charset="0"/>
                <a:cs typeface="Times New Roman" pitchFamily="18" charset="0"/>
              </a:rPr>
              <a:t>  Biodegradable cups and straws.</a:t>
            </a:r>
          </a:p>
          <a:p>
            <a:pPr>
              <a:buFont typeface="Wingdings" pitchFamily="2" charset="2"/>
              <a:buChar char="Ø"/>
            </a:pPr>
            <a:r>
              <a:rPr lang="en-US" sz="2200" dirty="0">
                <a:solidFill>
                  <a:srgbClr val="002060"/>
                </a:solidFill>
                <a:latin typeface="Times New Roman" pitchFamily="18" charset="0"/>
                <a:cs typeface="Times New Roman" pitchFamily="18" charset="0"/>
              </a:rPr>
              <a:t>  Enhanced industrial emission filters.</a:t>
            </a:r>
          </a:p>
          <a:p>
            <a:pPr>
              <a:buFont typeface="Wingdings" pitchFamily="2" charset="2"/>
              <a:buChar char="Ø"/>
            </a:pPr>
            <a:r>
              <a:rPr lang="en-US" sz="2200" dirty="0">
                <a:solidFill>
                  <a:srgbClr val="002060"/>
                </a:solidFill>
                <a:latin typeface="Times New Roman" pitchFamily="18" charset="0"/>
                <a:cs typeface="Times New Roman" pitchFamily="18" charset="0"/>
              </a:rPr>
              <a:t>  Waste water treatment.</a:t>
            </a:r>
          </a:p>
          <a:p>
            <a:pPr>
              <a:buFont typeface="Wingdings" pitchFamily="2" charset="2"/>
              <a:buChar char="Ø"/>
            </a:pPr>
            <a:r>
              <a:rPr lang="en-US" sz="2200" dirty="0">
                <a:solidFill>
                  <a:srgbClr val="002060"/>
                </a:solidFill>
                <a:latin typeface="Times New Roman" pitchFamily="18" charset="0"/>
                <a:cs typeface="Times New Roman" pitchFamily="18" charset="0"/>
              </a:rPr>
              <a:t>  Radiant floors (heat homes efficiently by installing warming tubes under a floor).</a:t>
            </a:r>
          </a:p>
          <a:p>
            <a:pPr>
              <a:buFont typeface="Wingdings" pitchFamily="2" charset="2"/>
              <a:buChar char="Ø"/>
            </a:pPr>
            <a:r>
              <a:rPr lang="en-US" sz="2200" dirty="0">
                <a:solidFill>
                  <a:srgbClr val="002060"/>
                </a:solidFill>
                <a:latin typeface="Times New Roman" pitchFamily="18" charset="0"/>
                <a:cs typeface="Times New Roman" pitchFamily="18" charset="0"/>
              </a:rPr>
              <a:t>  Plant-based cooling (an alternate cooling solution using plants and trees installed around (or) on a building)</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5.16.3 Goal of green engineering</a:t>
            </a:r>
          </a:p>
          <a:p>
            <a:pPr>
              <a:buFont typeface="Wingdings" pitchFamily="2" charset="2"/>
              <a:buChar char="v"/>
            </a:pPr>
            <a:r>
              <a:rPr lang="en-US" sz="2200" dirty="0">
                <a:solidFill>
                  <a:srgbClr val="002060"/>
                </a:solidFill>
                <a:latin typeface="Times New Roman" pitchFamily="18" charset="0"/>
                <a:cs typeface="Times New Roman" pitchFamily="18" charset="0"/>
              </a:rPr>
              <a:t>  Decrease in the amount of pollution that is generated by a construction.</a:t>
            </a:r>
          </a:p>
          <a:p>
            <a:pPr>
              <a:buFont typeface="Wingdings" pitchFamily="2" charset="2"/>
              <a:buChar char="v"/>
            </a:pPr>
            <a:r>
              <a:rPr lang="en-US" sz="2200" dirty="0">
                <a:solidFill>
                  <a:srgbClr val="002060"/>
                </a:solidFill>
                <a:latin typeface="Times New Roman" pitchFamily="18" charset="0"/>
                <a:cs typeface="Times New Roman" pitchFamily="18" charset="0"/>
              </a:rPr>
              <a:t>  Minimization of human population exposure to potential hazards (reducing toxicity).</a:t>
            </a:r>
          </a:p>
          <a:p>
            <a:pPr>
              <a:buFont typeface="Wingdings" pitchFamily="2" charset="2"/>
              <a:buChar char="v"/>
            </a:pPr>
            <a:r>
              <a:rPr lang="en-US" sz="2200" dirty="0">
                <a:solidFill>
                  <a:srgbClr val="002060"/>
                </a:solidFill>
                <a:latin typeface="Times New Roman" pitchFamily="18" charset="0"/>
                <a:cs typeface="Times New Roman" pitchFamily="18" charset="0"/>
              </a:rPr>
              <a:t>  Improved uses of matter and energy throughout the life cycle of the product.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924800" cy="4493538"/>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Maintaining economic efficiency and viability.</a:t>
            </a:r>
          </a:p>
          <a:p>
            <a:pPr>
              <a:buFont typeface="Wingdings" pitchFamily="2" charset="2"/>
              <a:buChar char="v"/>
            </a:pPr>
            <a:r>
              <a:rPr lang="en-US" sz="2200" dirty="0">
                <a:solidFill>
                  <a:srgbClr val="002060"/>
                </a:solidFill>
                <a:latin typeface="Times New Roman" pitchFamily="18" charset="0"/>
                <a:cs typeface="Times New Roman" pitchFamily="18" charset="0"/>
              </a:rPr>
              <a:t>  Reduces energy and water consumption.</a:t>
            </a:r>
          </a:p>
          <a:p>
            <a:pPr>
              <a:buFont typeface="Wingdings" pitchFamily="2" charset="2"/>
              <a:buChar char="v"/>
            </a:pPr>
            <a:r>
              <a:rPr lang="en-US" sz="2200" dirty="0">
                <a:solidFill>
                  <a:srgbClr val="002060"/>
                </a:solidFill>
                <a:latin typeface="Times New Roman" pitchFamily="18" charset="0"/>
                <a:cs typeface="Times New Roman" pitchFamily="18" charset="0"/>
              </a:rPr>
              <a:t>  Reduces waste and our carbon footprint.</a:t>
            </a:r>
          </a:p>
          <a:p>
            <a:pPr>
              <a:buFont typeface="Wingdings" pitchFamily="2" charset="2"/>
              <a:buChar char="v"/>
            </a:pPr>
            <a:r>
              <a:rPr lang="en-US" sz="2200" dirty="0">
                <a:solidFill>
                  <a:srgbClr val="002060"/>
                </a:solidFill>
                <a:latin typeface="Times New Roman" pitchFamily="18" charset="0"/>
                <a:cs typeface="Times New Roman" pitchFamily="18" charset="0"/>
              </a:rPr>
              <a:t>  Improves business efficiency by lowering costs while improving the product design and creating new jobs.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5.16.4 Principles of green engineering</a:t>
            </a:r>
          </a:p>
          <a:p>
            <a:pPr>
              <a:buFont typeface="Wingdings" pitchFamily="2" charset="2"/>
              <a:buChar char="q"/>
            </a:pPr>
            <a:r>
              <a:rPr lang="en-US" sz="2200" dirty="0">
                <a:solidFill>
                  <a:srgbClr val="002060"/>
                </a:solidFill>
                <a:latin typeface="Times New Roman" pitchFamily="18" charset="0"/>
                <a:cs typeface="Times New Roman" pitchFamily="18" charset="0"/>
              </a:rPr>
              <a:t>  All materials and energy inputs and outputs are inherently non-hazardous as possible.</a:t>
            </a:r>
          </a:p>
          <a:p>
            <a:pPr>
              <a:buFont typeface="Wingdings" pitchFamily="2" charset="2"/>
              <a:buChar char="q"/>
            </a:pPr>
            <a:r>
              <a:rPr lang="en-US" sz="2200" dirty="0">
                <a:solidFill>
                  <a:srgbClr val="002060"/>
                </a:solidFill>
                <a:latin typeface="Times New Roman" pitchFamily="18" charset="0"/>
                <a:cs typeface="Times New Roman" pitchFamily="18" charset="0"/>
              </a:rPr>
              <a:t>  It is better to prevent waste that to treat (or) clean up waste after it is formed.</a:t>
            </a:r>
          </a:p>
          <a:p>
            <a:pPr>
              <a:buFont typeface="Wingdings" pitchFamily="2" charset="2"/>
              <a:buChar char="q"/>
            </a:pPr>
            <a:r>
              <a:rPr lang="en-US" sz="2200" dirty="0">
                <a:solidFill>
                  <a:srgbClr val="002060"/>
                </a:solidFill>
                <a:latin typeface="Times New Roman" pitchFamily="18" charset="0"/>
                <a:cs typeface="Times New Roman" pitchFamily="18" charset="0"/>
              </a:rPr>
              <a:t>  Separation and purification operations should be designed to minimize energy consumption and material use.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7772400" cy="5509200"/>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Products, processes and systems must be designed to maximize mass, energy, space and time efficiency.</a:t>
            </a:r>
          </a:p>
          <a:p>
            <a:pPr>
              <a:buFont typeface="Wingdings" pitchFamily="2" charset="2"/>
              <a:buChar char="v"/>
            </a:pPr>
            <a:r>
              <a:rPr lang="en-US" sz="2200" dirty="0">
                <a:solidFill>
                  <a:srgbClr val="002060"/>
                </a:solidFill>
                <a:latin typeface="Times New Roman" pitchFamily="18" charset="0"/>
                <a:cs typeface="Times New Roman" pitchFamily="18" charset="0"/>
              </a:rPr>
              <a:t>  Products, processes and system should be “output pulled” rather than “input pushed” through the use of energy and materials.</a:t>
            </a:r>
          </a:p>
          <a:p>
            <a:pPr>
              <a:buFont typeface="Wingdings" pitchFamily="2" charset="2"/>
              <a:buChar char="v"/>
            </a:pPr>
            <a:r>
              <a:rPr lang="en-US" sz="2200" dirty="0">
                <a:solidFill>
                  <a:srgbClr val="002060"/>
                </a:solidFill>
                <a:latin typeface="Times New Roman" pitchFamily="18" charset="0"/>
                <a:cs typeface="Times New Roman" pitchFamily="18" charset="0"/>
              </a:rPr>
              <a:t>  Complexity must be viewed as an investment when making design choices on recycle, reuse.</a:t>
            </a:r>
          </a:p>
          <a:p>
            <a:pPr>
              <a:buFont typeface="Wingdings" pitchFamily="2" charset="2"/>
              <a:buChar char="v"/>
            </a:pPr>
            <a:r>
              <a:rPr lang="en-US" sz="2200" dirty="0">
                <a:solidFill>
                  <a:srgbClr val="002060"/>
                </a:solidFill>
                <a:latin typeface="Times New Roman" pitchFamily="18" charset="0"/>
                <a:cs typeface="Times New Roman" pitchFamily="18" charset="0"/>
              </a:rPr>
              <a:t>  Durability rather than immortality should be a design goal.</a:t>
            </a:r>
          </a:p>
          <a:p>
            <a:pPr>
              <a:buFont typeface="Wingdings" pitchFamily="2" charset="2"/>
              <a:buChar char="v"/>
            </a:pPr>
            <a:r>
              <a:rPr lang="en-US" sz="2200" dirty="0">
                <a:solidFill>
                  <a:srgbClr val="002060"/>
                </a:solidFill>
                <a:latin typeface="Times New Roman" pitchFamily="18" charset="0"/>
                <a:cs typeface="Times New Roman" pitchFamily="18" charset="0"/>
              </a:rPr>
              <a:t>  Material diversity in multi-component products should be minimized.</a:t>
            </a:r>
          </a:p>
          <a:p>
            <a:pPr>
              <a:buFont typeface="Wingdings" pitchFamily="2" charset="2"/>
              <a:buChar char="v"/>
            </a:pPr>
            <a:r>
              <a:rPr lang="en-US" sz="2200" dirty="0">
                <a:solidFill>
                  <a:srgbClr val="002060"/>
                </a:solidFill>
                <a:latin typeface="Times New Roman" pitchFamily="18" charset="0"/>
                <a:cs typeface="Times New Roman" pitchFamily="18" charset="0"/>
              </a:rPr>
              <a:t> Design of products, processes and system must include integration and inter-connectivity with available energy and materials flow.</a:t>
            </a:r>
          </a:p>
          <a:p>
            <a:pPr>
              <a:buFont typeface="Wingdings" pitchFamily="2" charset="2"/>
              <a:buChar char="v"/>
            </a:pPr>
            <a:r>
              <a:rPr lang="en-US" sz="2200" dirty="0">
                <a:solidFill>
                  <a:srgbClr val="002060"/>
                </a:solidFill>
                <a:latin typeface="Times New Roman" pitchFamily="18" charset="0"/>
                <a:cs typeface="Times New Roman" pitchFamily="18" charset="0"/>
              </a:rPr>
              <a:t>  Products should be designed for performance in a commercial “after life”.</a:t>
            </a:r>
          </a:p>
          <a:p>
            <a:pPr>
              <a:buFont typeface="Wingdings" pitchFamily="2" charset="2"/>
              <a:buChar char="v"/>
            </a:pPr>
            <a:r>
              <a:rPr lang="en-US" sz="2200" dirty="0">
                <a:solidFill>
                  <a:srgbClr val="002060"/>
                </a:solidFill>
                <a:latin typeface="Times New Roman" pitchFamily="18" charset="0"/>
                <a:cs typeface="Times New Roman" pitchFamily="18" charset="0"/>
              </a:rPr>
              <a:t>  Material and energy inputs should be renewable rather than depleting.</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01000" cy="5509200"/>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5.16.5 Benefits of green engineering</a:t>
            </a:r>
          </a:p>
          <a:p>
            <a:pPr>
              <a:buFont typeface="Wingdings" pitchFamily="2" charset="2"/>
              <a:buChar char="Ø"/>
            </a:pPr>
            <a:r>
              <a:rPr lang="en-US" sz="2200" dirty="0">
                <a:solidFill>
                  <a:srgbClr val="002060"/>
                </a:solidFill>
                <a:latin typeface="Times New Roman" pitchFamily="18" charset="0"/>
                <a:cs typeface="Times New Roman" pitchFamily="18" charset="0"/>
              </a:rPr>
              <a:t>  This process enhances business practices by eliminating improper production methods.</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improves a company’s reputation by showing consumers it cares about the environment.</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minimizes energy (or) production waste.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provides tax incentives.</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helps the global environment.</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reduces air, water and soil pollutions.</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provides new business opportunities.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43000"/>
            <a:ext cx="7391400" cy="4832092"/>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5.16.6 Limitations (or) disadvantages of green engineering</a:t>
            </a:r>
          </a:p>
          <a:p>
            <a:pPr marL="457200" indent="-457200">
              <a:buFont typeface="Wingdings" pitchFamily="2" charset="2"/>
              <a:buChar char="q"/>
            </a:pPr>
            <a:r>
              <a:rPr lang="en-US" sz="2200" dirty="0">
                <a:solidFill>
                  <a:srgbClr val="002060"/>
                </a:solidFill>
                <a:latin typeface="Times New Roman" pitchFamily="18" charset="0"/>
                <a:cs typeface="Times New Roman" pitchFamily="18" charset="0"/>
              </a:rPr>
              <a:t>R &amp; D costs, production and implementation costs are high.</a:t>
            </a:r>
          </a:p>
          <a:p>
            <a:pPr marL="457200" indent="-457200">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Implementation will take many years.</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Green technology is still quite immature.</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Some companies may go out of business.</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Job losses.</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Sophisticated regulatory frame work needed.</a:t>
            </a:r>
          </a:p>
          <a:p>
            <a:pPr>
              <a:buFont typeface="Wingdings" pitchFamily="2" charset="2"/>
              <a:buChar char="q"/>
            </a:pPr>
            <a:endParaRPr lang="en-US" sz="2200" dirty="0">
              <a:solidFill>
                <a:srgbClr val="002060"/>
              </a:solidFill>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Not everything that is labeled as green is actually green.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924800" cy="5847755"/>
          </a:xfrm>
          <a:prstGeom prst="rect">
            <a:avLst/>
          </a:prstGeom>
        </p:spPr>
        <p:txBody>
          <a:bodyPr wrap="square">
            <a:spAutoFit/>
          </a:bodyPr>
          <a:lstStyle/>
          <a:p>
            <a:r>
              <a:rPr lang="en-US" sz="2200" b="1" dirty="0">
                <a:solidFill>
                  <a:srgbClr val="009900"/>
                </a:solidFill>
                <a:latin typeface="Times New Roman" pitchFamily="18" charset="0"/>
                <a:cs typeface="Times New Roman" pitchFamily="18" charset="0"/>
              </a:rPr>
              <a:t>5.17 SUSTAINABLE URBANIZATION</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Urbanization is the movement of human population from rural areas to urban areas for the want of better education, communication, health, employment, etc., without affecting the environment and needs of future generations.</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5.17.1 Rules to develop a sustainable urbanization</a:t>
            </a:r>
          </a:p>
          <a:p>
            <a:pPr marL="342900" indent="-342900">
              <a:buFont typeface="Wingdings" pitchFamily="2" charset="2"/>
              <a:buChar char="Ø"/>
            </a:pPr>
            <a:r>
              <a:rPr lang="en-US" sz="2200" dirty="0">
                <a:solidFill>
                  <a:srgbClr val="002060"/>
                </a:solidFill>
                <a:latin typeface="Times New Roman" pitchFamily="18" charset="0"/>
                <a:cs typeface="Times New Roman" pitchFamily="18" charset="0"/>
              </a:rPr>
              <a:t>Sustainable transportation.</a:t>
            </a:r>
          </a:p>
          <a:p>
            <a:pPr marL="342900" indent="-342900">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Sustainable urban development.</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Climate change mitigation and landscape architecture.</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Resilient design (regarding natural hazards).</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Applying ecological design.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8305800" cy="5847755"/>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Improving water efficiency.</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Increasing energy efficiency.</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Using low-impact materials.</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By following the above rules, urbanization can be made into sustainable.</a:t>
            </a:r>
          </a:p>
          <a:p>
            <a:r>
              <a:rPr lang="en-US" sz="2200" b="1" i="1" dirty="0">
                <a:solidFill>
                  <a:srgbClr val="FF0000"/>
                </a:solidFill>
                <a:latin typeface="Times New Roman" pitchFamily="18" charset="0"/>
                <a:cs typeface="Times New Roman" pitchFamily="18" charset="0"/>
              </a:rPr>
              <a:t>5.17.2 Pillars of sustainable urbanization</a:t>
            </a:r>
          </a:p>
          <a:p>
            <a:pPr>
              <a:buFont typeface="Wingdings" pitchFamily="2" charset="2"/>
              <a:buChar char="v"/>
            </a:pPr>
            <a:r>
              <a:rPr lang="en-US" sz="2200" dirty="0">
                <a:solidFill>
                  <a:srgbClr val="002060"/>
                </a:solidFill>
                <a:latin typeface="Times New Roman" pitchFamily="18" charset="0"/>
                <a:cs typeface="Times New Roman" pitchFamily="18" charset="0"/>
              </a:rPr>
              <a:t>Sustainability is based on three functional areas </a:t>
            </a:r>
            <a:r>
              <a:rPr lang="en-US" sz="2200" dirty="0" err="1">
                <a:solidFill>
                  <a:srgbClr val="002060"/>
                </a:solidFill>
                <a:latin typeface="Times New Roman" pitchFamily="18" charset="0"/>
                <a:cs typeface="Times New Roman" pitchFamily="18" charset="0"/>
              </a:rPr>
              <a:t>ie</a:t>
            </a:r>
            <a:r>
              <a:rPr lang="en-US" sz="2200" dirty="0">
                <a:solidFill>
                  <a:srgbClr val="002060"/>
                </a:solidFill>
                <a:latin typeface="Times New Roman" pitchFamily="18" charset="0"/>
                <a:cs typeface="Times New Roman" pitchFamily="18" charset="0"/>
              </a:rPr>
              <a:t>., social, environmental and financial/economical.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These functional areas are interconnected and must be considered together.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The place where these all meet and are balanced is the goal of sustainability.</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User\AppData\Local\Temp\ksohtml\wps5EC7.tmp.png"/>
          <p:cNvPicPr>
            <a:picLocks noChangeAspect="1" noChangeArrowheads="1"/>
          </p:cNvPicPr>
          <p:nvPr/>
        </p:nvPicPr>
        <p:blipFill>
          <a:blip r:embed="rId2">
            <a:duotone>
              <a:schemeClr val="accent2">
                <a:shade val="45000"/>
                <a:satMod val="135000"/>
              </a:schemeClr>
              <a:prstClr val="white"/>
            </a:duotone>
          </a:blip>
          <a:srcRect/>
          <a:stretch>
            <a:fillRect/>
          </a:stretch>
        </p:blipFill>
        <p:spPr bwMode="auto">
          <a:xfrm>
            <a:off x="1752600" y="1066800"/>
            <a:ext cx="5181600" cy="4038600"/>
          </a:xfrm>
          <a:prstGeom prst="rect">
            <a:avLst/>
          </a:prstGeom>
          <a:noFill/>
        </p:spPr>
      </p:pic>
      <p:sp>
        <p:nvSpPr>
          <p:cNvPr id="7171" name="Rectangle 3"/>
          <p:cNvSpPr>
            <a:spLocks noChangeArrowheads="1"/>
          </p:cNvSpPr>
          <p:nvPr/>
        </p:nvSpPr>
        <p:spPr bwMode="auto">
          <a:xfrm>
            <a:off x="1905000" y="5638800"/>
            <a:ext cx="6093078"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FF0000"/>
                </a:solidFill>
                <a:effectLst/>
                <a:latin typeface="Times New Roman" pitchFamily="18" charset="0"/>
                <a:cs typeface="Times New Roman" pitchFamily="18" charset="0"/>
              </a:rPr>
              <a:t>Fig. 5.18 Functional areas of urban sustainability</a:t>
            </a:r>
            <a:endParaRPr kumimoji="0" lang="en-US" sz="2200" b="0" i="0" u="none" strike="noStrike" cap="none" normalizeH="0" baseline="0" dirty="0">
              <a:ln>
                <a:noFill/>
              </a:ln>
              <a:solidFill>
                <a:srgbClr val="FF0000"/>
              </a:solidFill>
              <a:effectLst/>
              <a:latin typeface="Arial" pitchFamily="34" charset="0"/>
              <a:cs typeface="Arial"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001000" cy="5847755"/>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The goal of urban sustainability is to prevent resource availability issues for existing (or) future generations. </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It also minimizes an urban area’s impact on its ecosystem.</a:t>
            </a:r>
          </a:p>
          <a:p>
            <a:endParaRPr lang="en-US" sz="2200" dirty="0">
              <a:latin typeface="Times New Roman" pitchFamily="18" charset="0"/>
              <a:cs typeface="Times New Roman" pitchFamily="18" charset="0"/>
            </a:endParaRPr>
          </a:p>
          <a:p>
            <a:r>
              <a:rPr lang="en-US" sz="2200" b="1" i="1" dirty="0">
                <a:solidFill>
                  <a:srgbClr val="FF0000"/>
                </a:solidFill>
                <a:latin typeface="Times New Roman" pitchFamily="18" charset="0"/>
                <a:cs typeface="Times New Roman" pitchFamily="18" charset="0"/>
              </a:rPr>
              <a:t>5.17.3 Advantages and disadvantages of sustainable urbanization</a:t>
            </a:r>
          </a:p>
          <a:p>
            <a:endParaRPr lang="en-US" sz="2200" b="1" i="1" dirty="0">
              <a:latin typeface="Times New Roman" pitchFamily="18" charset="0"/>
              <a:cs typeface="Times New Roman" pitchFamily="18" charset="0"/>
            </a:endParaRPr>
          </a:p>
          <a:p>
            <a:r>
              <a:rPr lang="en-US" sz="2200" b="1" dirty="0">
                <a:latin typeface="Times New Roman" pitchFamily="18" charset="0"/>
                <a:cs typeface="Times New Roman" pitchFamily="18" charset="0"/>
              </a:rPr>
              <a:t>Advantages</a:t>
            </a:r>
          </a:p>
          <a:p>
            <a:pPr marL="1371600" lvl="2" indent="-457200">
              <a:buFont typeface="Wingdings" pitchFamily="2" charset="2"/>
              <a:buChar char="ü"/>
            </a:pPr>
            <a:r>
              <a:rPr lang="en-US" sz="2200" dirty="0">
                <a:solidFill>
                  <a:srgbClr val="C00000"/>
                </a:solidFill>
                <a:latin typeface="Times New Roman" pitchFamily="18" charset="0"/>
                <a:cs typeface="Times New Roman" pitchFamily="18" charset="0"/>
              </a:rPr>
              <a:t>Urbanization creates convenience.</a:t>
            </a:r>
          </a:p>
          <a:p>
            <a:pPr marL="1371600" lvl="2" indent="-457200">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Urban economies can be better than rural ones.</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Provides better education.</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Get better housing.</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Provides better social life.</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509200"/>
          </a:xfrm>
          <a:prstGeom prst="rect">
            <a:avLst/>
          </a:prstGeom>
        </p:spPr>
        <p:txBody>
          <a:bodyPr wrap="square">
            <a:spAutoFit/>
          </a:bodyPr>
          <a:lstStyle/>
          <a:p>
            <a:pPr lvl="1">
              <a:buFont typeface="Wingdings" pitchFamily="2" charset="2"/>
              <a:buChar char="ü"/>
            </a:pPr>
            <a:r>
              <a:rPr lang="en-US" sz="2200" dirty="0">
                <a:solidFill>
                  <a:srgbClr val="C00000"/>
                </a:solidFill>
                <a:latin typeface="Times New Roman" pitchFamily="18" charset="0"/>
                <a:cs typeface="Times New Roman" pitchFamily="18" charset="0"/>
              </a:rPr>
              <a:t>  Provides better healthcare services.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More security and police availability.</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More entertainment options.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More tourist attractions.</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More places to shop in urban areas.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Disadvantages</a:t>
            </a:r>
          </a:p>
          <a:p>
            <a:pPr marL="800100" lvl="1" indent="-342900">
              <a:buFont typeface="Wingdings" pitchFamily="2" charset="2"/>
              <a:buChar char="ü"/>
            </a:pPr>
            <a:r>
              <a:rPr lang="en-US" sz="2200" dirty="0">
                <a:solidFill>
                  <a:srgbClr val="C00000"/>
                </a:solidFill>
                <a:latin typeface="Times New Roman" pitchFamily="18" charset="0"/>
                <a:cs typeface="Times New Roman" pitchFamily="18" charset="0"/>
              </a:rPr>
              <a:t>Over crowding in urban areas.</a:t>
            </a:r>
          </a:p>
          <a:p>
            <a:pPr marL="800100" lvl="1" indent="-342900">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Buying a house might be a challenge.</a:t>
            </a:r>
          </a:p>
          <a:p>
            <a:pPr lvl="1">
              <a:buFont typeface="Wingdings" pitchFamily="2" charset="2"/>
              <a:buChar char="ü"/>
            </a:pPr>
            <a:endParaRPr lang="en-US" sz="2200" dirty="0">
              <a:solidFill>
                <a:srgbClr val="C00000"/>
              </a:solidFill>
              <a:latin typeface="Times New Roman" pitchFamily="18" charset="0"/>
              <a:cs typeface="Times New Roman" pitchFamily="18" charset="0"/>
            </a:endParaRPr>
          </a:p>
          <a:p>
            <a:pPr lvl="1">
              <a:buFont typeface="Wingdings" pitchFamily="2" charset="2"/>
              <a:buChar char="ü"/>
            </a:pPr>
            <a:r>
              <a:rPr lang="en-US" sz="2200" dirty="0">
                <a:solidFill>
                  <a:srgbClr val="C00000"/>
                </a:solidFill>
                <a:latin typeface="Times New Roman" pitchFamily="18" charset="0"/>
                <a:cs typeface="Times New Roman" pitchFamily="18" charset="0"/>
              </a:rPr>
              <a:t> Decline in rural area.</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38200"/>
            <a:ext cx="8229600" cy="5847755"/>
          </a:xfrm>
          <a:prstGeom prst="rect">
            <a:avLst/>
          </a:prstGeom>
        </p:spPr>
        <p:txBody>
          <a:bodyPr wrap="square">
            <a:spAutoFit/>
          </a:bodyPr>
          <a:lstStyle/>
          <a:p>
            <a:pPr lvl="2">
              <a:buFont typeface="Wingdings" pitchFamily="2" charset="2"/>
              <a:buChar char="ü"/>
            </a:pPr>
            <a:r>
              <a:rPr lang="en-US" sz="2200" dirty="0">
                <a:solidFill>
                  <a:srgbClr val="C00000"/>
                </a:solidFill>
                <a:latin typeface="Times New Roman" pitchFamily="18" charset="0"/>
                <a:cs typeface="Times New Roman" pitchFamily="18" charset="0"/>
              </a:rPr>
              <a:t>  Too much crime occurs in urban area.</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Unemployment problem is more.</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Cost of living is higher.</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No privacy.</a:t>
            </a:r>
          </a:p>
          <a:p>
            <a:pPr lvl="2">
              <a:buFont typeface="Wingdings" pitchFamily="2" charset="2"/>
              <a:buChar char="ü"/>
            </a:pPr>
            <a:endParaRPr lang="en-US" sz="2200" dirty="0">
              <a:solidFill>
                <a:srgbClr val="C00000"/>
              </a:solidFill>
              <a:latin typeface="Times New Roman" pitchFamily="18" charset="0"/>
              <a:cs typeface="Times New Roman" pitchFamily="18" charset="0"/>
            </a:endParaRPr>
          </a:p>
          <a:p>
            <a:pPr lvl="2">
              <a:buFont typeface="Wingdings" pitchFamily="2" charset="2"/>
              <a:buChar char="ü"/>
            </a:pPr>
            <a:r>
              <a:rPr lang="en-US" sz="2200" dirty="0">
                <a:solidFill>
                  <a:srgbClr val="C00000"/>
                </a:solidFill>
                <a:latin typeface="Times New Roman" pitchFamily="18" charset="0"/>
                <a:cs typeface="Times New Roman" pitchFamily="18" charset="0"/>
              </a:rPr>
              <a:t>  Pollution problem is more.</a:t>
            </a:r>
          </a:p>
          <a:p>
            <a:endParaRPr lang="en-US" sz="2200" dirty="0">
              <a:latin typeface="Times New Roman" pitchFamily="18" charset="0"/>
              <a:cs typeface="Times New Roman" pitchFamily="18" charset="0"/>
            </a:endParaRPr>
          </a:p>
          <a:p>
            <a:r>
              <a:rPr lang="en-US" sz="2200" b="1" dirty="0">
                <a:solidFill>
                  <a:srgbClr val="009900"/>
                </a:solidFill>
                <a:latin typeface="Times New Roman" pitchFamily="18" charset="0"/>
                <a:cs typeface="Times New Roman" pitchFamily="18" charset="0"/>
              </a:rPr>
              <a:t>5.18 SOCIO – ECONOMICAL CHANGE ON SUSTAINABLE URBANIZATION</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002060"/>
                </a:solidFill>
                <a:latin typeface="Times New Roman" pitchFamily="18" charset="0"/>
                <a:cs typeface="Times New Roman" pitchFamily="18" charset="0"/>
              </a:rPr>
              <a:t> Urbanization has many adverse effects on the structure of society because,</a:t>
            </a:r>
          </a:p>
          <a:p>
            <a:endParaRPr lang="en-US" sz="2200" dirty="0">
              <a:latin typeface="Times New Roman" pitchFamily="18" charset="0"/>
              <a:cs typeface="Times New Roman" pitchFamily="18" charset="0"/>
            </a:endParaRPr>
          </a:p>
          <a:p>
            <a:pPr marL="400050" indent="-400050">
              <a:buFont typeface="Wingdings" pitchFamily="2" charset="2"/>
              <a:buChar char="Ø"/>
            </a:pPr>
            <a:r>
              <a:rPr lang="en-US" sz="2200" dirty="0">
                <a:solidFill>
                  <a:srgbClr val="002060"/>
                </a:solidFill>
                <a:latin typeface="Times New Roman" pitchFamily="18" charset="0"/>
                <a:cs typeface="Times New Roman" pitchFamily="18" charset="0"/>
              </a:rPr>
              <a:t>gigantic concentrations of people compete for limited resources.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696200" cy="4493538"/>
          </a:xfrm>
          <a:prstGeom prst="rect">
            <a:avLst/>
          </a:prstGeom>
        </p:spPr>
        <p:txBody>
          <a:bodyPr wrap="square">
            <a:spAutoFit/>
          </a:bodyPr>
          <a:lstStyle/>
          <a:p>
            <a:pPr>
              <a:buFont typeface="Wingdings" pitchFamily="2" charset="2"/>
              <a:buChar char="Ø"/>
            </a:pPr>
            <a:r>
              <a:rPr lang="en-US" sz="2200" dirty="0">
                <a:solidFill>
                  <a:srgbClr val="002060"/>
                </a:solidFill>
                <a:latin typeface="Times New Roman" pitchFamily="18" charset="0"/>
                <a:cs typeface="Times New Roman" pitchFamily="18" charset="0"/>
              </a:rPr>
              <a:t>  rapid housing construction leads to overcrowding.</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slums, which experience major problems such as poverty, poor sanitation, unemployment.</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leads to higher crime rates and pollution.</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it also leads to increased levels of inequality and social exclusion.</a:t>
            </a:r>
          </a:p>
          <a:p>
            <a:pPr>
              <a:buFont typeface="Wingdings" pitchFamily="2" charset="2"/>
              <a:buChar char="Ø"/>
            </a:pPr>
            <a:endParaRPr lang="en-US" sz="2200" dirty="0">
              <a:solidFill>
                <a:srgbClr val="002060"/>
              </a:solidFill>
              <a:latin typeface="Times New Roman" pitchFamily="18" charset="0"/>
              <a:cs typeface="Times New Roman" pitchFamily="18" charset="0"/>
            </a:endParaRPr>
          </a:p>
          <a:p>
            <a:pPr>
              <a:buFont typeface="Wingdings" pitchFamily="2" charset="2"/>
              <a:buChar char="Ø"/>
            </a:pPr>
            <a:r>
              <a:rPr lang="en-US" sz="2200" dirty="0">
                <a:solidFill>
                  <a:srgbClr val="002060"/>
                </a:solidFill>
                <a:latin typeface="Times New Roman" pitchFamily="18" charset="0"/>
                <a:cs typeface="Times New Roman" pitchFamily="18" charset="0"/>
              </a:rPr>
              <a:t> environmental degradation is occurring very rapidly causing problems like land insecurity, excessive air pollution, waste disposal problems.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001000" cy="5170646"/>
          </a:xfrm>
          <a:prstGeom prst="rect">
            <a:avLst/>
          </a:prstGeom>
        </p:spPr>
        <p:txBody>
          <a:bodyPr wrap="square">
            <a:spAutoFit/>
          </a:bodyPr>
          <a:lstStyle/>
          <a:p>
            <a:r>
              <a:rPr lang="en-US" sz="2200" b="1" i="1" dirty="0">
                <a:solidFill>
                  <a:srgbClr val="FF0000"/>
                </a:solidFill>
                <a:latin typeface="Times New Roman" pitchFamily="18" charset="0"/>
                <a:cs typeface="Times New Roman" pitchFamily="18" charset="0"/>
              </a:rPr>
              <a:t>5.18.1 Technological change on sustainable urbanization</a:t>
            </a:r>
          </a:p>
          <a:p>
            <a:pPr>
              <a:buFont typeface="Wingdings" pitchFamily="2" charset="2"/>
              <a:buChar char="q"/>
            </a:pPr>
            <a:r>
              <a:rPr lang="en-US" sz="2200" dirty="0">
                <a:solidFill>
                  <a:srgbClr val="002060"/>
                </a:solidFill>
                <a:latin typeface="Times New Roman" pitchFamily="18" charset="0"/>
                <a:cs typeface="Times New Roman" pitchFamily="18" charset="0"/>
              </a:rPr>
              <a:t> Technological change involves the introduction of something new (or) a new idea, method (or) device.</a:t>
            </a:r>
          </a:p>
          <a:p>
            <a:pPr>
              <a:buFont typeface="Wingdings" pitchFamily="2" charset="2"/>
              <a:buChar char="q"/>
            </a:pPr>
            <a:r>
              <a:rPr lang="en-US" sz="2200" dirty="0">
                <a:solidFill>
                  <a:srgbClr val="002060"/>
                </a:solidFill>
                <a:latin typeface="Times New Roman" pitchFamily="18" charset="0"/>
                <a:cs typeface="Times New Roman" pitchFamily="18" charset="0"/>
              </a:rPr>
              <a:t> Technological innovations, as part of technological change, allows </a:t>
            </a:r>
            <a:r>
              <a:rPr lang="en-US" sz="2200" dirty="0" err="1">
                <a:solidFill>
                  <a:srgbClr val="002060"/>
                </a:solidFill>
                <a:latin typeface="Times New Roman" pitchFamily="18" charset="0"/>
                <a:cs typeface="Times New Roman" pitchFamily="18" charset="0"/>
              </a:rPr>
              <a:t>organisations</a:t>
            </a:r>
            <a:r>
              <a:rPr lang="en-US" sz="2200" dirty="0">
                <a:solidFill>
                  <a:srgbClr val="002060"/>
                </a:solidFill>
                <a:latin typeface="Times New Roman" pitchFamily="18" charset="0"/>
                <a:cs typeface="Times New Roman" pitchFamily="18" charset="0"/>
              </a:rPr>
              <a:t> to test new ideas at speeds and prices that were newer anticipated a decade ago.</a:t>
            </a:r>
          </a:p>
          <a:p>
            <a:endParaRPr lang="en-US" sz="2200" dirty="0">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Technological innovation has changed the overall effectiveness and benevolence over time and with regard to sustainability.</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Upgrading of industrial structure improves the sustainable urbanization.</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Technological change and sustainability are closely related to each other.</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447800"/>
            <a:ext cx="8001000" cy="2123658"/>
          </a:xfrm>
          <a:prstGeom prst="rect">
            <a:avLst/>
          </a:prstGeom>
        </p:spPr>
        <p:txBody>
          <a:bodyPr wrap="square">
            <a:spAutoFit/>
          </a:bodyPr>
          <a:lstStyle/>
          <a:p>
            <a:pPr>
              <a:buFont typeface="Wingdings" pitchFamily="2" charset="2"/>
              <a:buChar char="v"/>
            </a:pPr>
            <a:r>
              <a:rPr lang="en-US" sz="2200" dirty="0">
                <a:solidFill>
                  <a:srgbClr val="002060"/>
                </a:solidFill>
                <a:latin typeface="Times New Roman" pitchFamily="18" charset="0"/>
                <a:cs typeface="Times New Roman" pitchFamily="18" charset="0"/>
              </a:rPr>
              <a:t>  Both factors form the innovation </a:t>
            </a:r>
            <a:r>
              <a:rPr lang="en-US" sz="2200" dirty="0" err="1">
                <a:solidFill>
                  <a:srgbClr val="002060"/>
                </a:solidFill>
                <a:latin typeface="Times New Roman" pitchFamily="18" charset="0"/>
                <a:cs typeface="Times New Roman" pitchFamily="18" charset="0"/>
              </a:rPr>
              <a:t>inorder</a:t>
            </a:r>
            <a:r>
              <a:rPr lang="en-US" sz="2200" dirty="0">
                <a:solidFill>
                  <a:srgbClr val="002060"/>
                </a:solidFill>
                <a:latin typeface="Times New Roman" pitchFamily="18" charset="0"/>
                <a:cs typeface="Times New Roman" pitchFamily="18" charset="0"/>
              </a:rPr>
              <a:t> to improve the effectiveness of environmental and social development and economic progress.</a:t>
            </a:r>
          </a:p>
          <a:p>
            <a:pPr>
              <a:buFont typeface="Wingdings" pitchFamily="2" charset="2"/>
              <a:buChar char="v"/>
            </a:pPr>
            <a:endParaRPr lang="en-US" sz="2200" dirty="0">
              <a:solidFill>
                <a:srgbClr val="002060"/>
              </a:solidFill>
              <a:latin typeface="Times New Roman" pitchFamily="18" charset="0"/>
              <a:cs typeface="Times New Roman" pitchFamily="18" charset="0"/>
            </a:endParaRPr>
          </a:p>
          <a:p>
            <a:pPr>
              <a:buFont typeface="Wingdings" pitchFamily="2" charset="2"/>
              <a:buChar char="v"/>
            </a:pPr>
            <a:r>
              <a:rPr lang="en-US" sz="2200" dirty="0">
                <a:solidFill>
                  <a:srgbClr val="002060"/>
                </a:solidFill>
                <a:latin typeface="Times New Roman" pitchFamily="18" charset="0"/>
                <a:cs typeface="Times New Roman" pitchFamily="18" charset="0"/>
              </a:rPr>
              <a:t>  The combination of digital technology in the business model will establish and empower a city to be more sustainable.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1021</TotalTime>
  <Words>9207</Words>
  <Application>Microsoft Office PowerPoint</Application>
  <PresentationFormat>On-screen Show (4:3)</PresentationFormat>
  <Paragraphs>1308</Paragraphs>
  <Slides>124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124</vt:i4>
      </vt:variant>
    </vt:vector>
  </HeadingPairs>
  <TitlesOfParts>
    <vt:vector size="131" baseType="lpstr">
      <vt:lpstr>Arial</vt:lpstr>
      <vt:lpstr>Calibri</vt:lpstr>
      <vt:lpstr>Constantia</vt:lpstr>
      <vt:lpstr>Times New Roman</vt:lpstr>
      <vt:lpstr>Wingdings</vt:lpstr>
      <vt:lpstr>Wingdings 2</vt:lpstr>
      <vt:lpstr>Flow</vt:lpstr>
      <vt:lpstr>ENVIRONMENTAL SCIENCES AND SUSTAINABILITY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SIVA</dc:creator>
  <cp:lastModifiedBy>Sivaperumal M</cp:lastModifiedBy>
  <cp:revision>71</cp:revision>
  <dcterms:created xsi:type="dcterms:W3CDTF">2023-01-21T06:02:15Z</dcterms:created>
  <dcterms:modified xsi:type="dcterms:W3CDTF">2023-05-01T12:58:43Z</dcterms:modified>
</cp:coreProperties>
</file>