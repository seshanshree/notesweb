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6" r:id="rId10"/>
    <p:sldId id="264" r:id="rId11"/>
    <p:sldId id="265" r:id="rId12"/>
    <p:sldId id="276" r:id="rId13"/>
    <p:sldId id="275" r:id="rId14"/>
    <p:sldId id="268" r:id="rId15"/>
    <p:sldId id="269" r:id="rId16"/>
    <p:sldId id="270" r:id="rId17"/>
    <p:sldId id="271" r:id="rId18"/>
    <p:sldId id="277" r:id="rId19"/>
    <p:sldId id="278" r:id="rId20"/>
    <p:sldId id="273" r:id="rId21"/>
    <p:sldId id="274"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10F3-BEEE-C7B2-E280-D40DBEEE5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29700A5-8963-AB98-9F2B-F5BC47D1C7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B3F4B4-0091-677A-E837-327A3F65306E}"/>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8E93A809-638F-7217-11AB-FB47328F78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4E24E-4FC1-6422-BCBE-3A0DF855805D}"/>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085194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9167-7F36-754D-61EA-6F7CD90D18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2844DC-8B29-44C9-F8E1-00ADC73987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C887B5-5B1B-08B7-C426-0D78154FB528}"/>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114B2259-F657-0B3B-BD70-7A39D45DFF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D310BB-E091-CB3F-0920-CBA1D8DC68B7}"/>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020089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4B777-6F35-3854-002D-7852E66940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D603CC-2E1C-1184-CFE0-77C769FFBC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7F135B-830A-B670-7394-88ABD327D857}"/>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CAC74162-3AFC-BFC4-BA90-23881C5A9F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2086E7-02D9-F42A-3F2E-5C5F3712E205}"/>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1167498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64ABB-5007-6752-A88A-257ACD8A83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98C989-45A9-5D1E-7306-919C1C67D3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90CA92-CEAA-7178-7188-8A3A220E69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79830C-ACA6-1C7D-68DA-16A38D4A7B85}"/>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6" name="Footer Placeholder 5">
            <a:extLst>
              <a:ext uri="{FF2B5EF4-FFF2-40B4-BE49-F238E27FC236}">
                <a16:creationId xmlns:a16="http://schemas.microsoft.com/office/drawing/2014/main" id="{3BB84A41-1B18-A26B-214C-4A6A3DBB42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414387-B245-A70B-FC2B-F6BE87A55F8E}"/>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83377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1211D-1D70-9C9A-4AB9-AF6971DD964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A26279-BFE2-DD5E-7340-E39E85B3D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D7E1F5-DA07-2CD5-3325-46F73BF349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A94DEE-FD5C-B148-E9D4-2883E0DD1F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5D91E2-7007-BFF5-4898-37A0FED079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D739B0-30B1-AEF4-D866-7A4F9AC3C413}"/>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8" name="Footer Placeholder 7">
            <a:extLst>
              <a:ext uri="{FF2B5EF4-FFF2-40B4-BE49-F238E27FC236}">
                <a16:creationId xmlns:a16="http://schemas.microsoft.com/office/drawing/2014/main" id="{7DEB2207-96DF-4963-42AD-985BF0DE47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57DCAE-2A71-0070-EDA2-A9F8F4A366C9}"/>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685286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54413-D645-A1A4-0DD7-70DB547883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1D305A-9BEB-28DE-C5AF-1BB3588FC880}"/>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4" name="Footer Placeholder 3">
            <a:extLst>
              <a:ext uri="{FF2B5EF4-FFF2-40B4-BE49-F238E27FC236}">
                <a16:creationId xmlns:a16="http://schemas.microsoft.com/office/drawing/2014/main" id="{03C83314-586F-A81B-1492-70443CA2E4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F53172-54E8-B588-EEB3-2C6AF503AE35}"/>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759336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446528-2916-CF89-9078-26E97A6981C9}"/>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3" name="Footer Placeholder 2">
            <a:extLst>
              <a:ext uri="{FF2B5EF4-FFF2-40B4-BE49-F238E27FC236}">
                <a16:creationId xmlns:a16="http://schemas.microsoft.com/office/drawing/2014/main" id="{E73BE196-264A-C0E8-A7A5-554B3B2A860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9E361C-CEEC-6CD6-C586-2F70FB57B1C4}"/>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032987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AE7E-2E2C-3793-60BF-DA0DA49678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A25BBB-15EA-5A35-3FCB-3C5091BDC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6208A7-8237-1EE3-7E31-A8D83B340D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7A329C-4526-B7BF-1382-DEEF32E8AEA0}"/>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6" name="Footer Placeholder 5">
            <a:extLst>
              <a:ext uri="{FF2B5EF4-FFF2-40B4-BE49-F238E27FC236}">
                <a16:creationId xmlns:a16="http://schemas.microsoft.com/office/drawing/2014/main" id="{B5A08FAF-BF4B-A634-4FF6-B7F65BC3C6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02684A-7EB9-3635-9D6B-3C71D0B63AD1}"/>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829022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F967E-EBE3-BD56-926B-6B17DA2ACD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729BDC7-2778-8102-F080-3603FC52EA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3C9EA2-D3E7-2B45-E8FB-A45FF1084B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29569-729B-18FB-8319-43F57C53C706}"/>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6" name="Footer Placeholder 5">
            <a:extLst>
              <a:ext uri="{FF2B5EF4-FFF2-40B4-BE49-F238E27FC236}">
                <a16:creationId xmlns:a16="http://schemas.microsoft.com/office/drawing/2014/main" id="{4DB1459D-772A-164F-3A0C-6309B4F862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531F1-1F25-FBC5-229E-7B182A4A1EAC}"/>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103433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9262-DD97-40AC-6317-D1BE6B81AB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75EE61-E02E-70E0-7497-A41C7345F3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F7EC1-8A45-8571-7E45-1E8882F53FD8}"/>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5856D2CC-7B8F-E582-0902-24D2B047DA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99EF9-6DBC-DF0C-EB01-739C5922B075}"/>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3940827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1FAE7D-E5F0-0A46-515D-4DF09F7638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7EC783-253F-5A12-59EE-ACCF455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9748A7-DF79-96D6-F4ED-6EF0F2A03E89}"/>
              </a:ext>
            </a:extLst>
          </p:cNvPr>
          <p:cNvSpPr>
            <a:spLocks noGrp="1"/>
          </p:cNvSpPr>
          <p:nvPr>
            <p:ph type="dt" sz="half" idx="10"/>
          </p:nvPr>
        </p:nvSpPr>
        <p:spPr/>
        <p:txBody>
          <a:body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C08EEF1F-24BE-584D-46F0-10BE9415D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E5191F-2BB8-5988-91D0-CF5924A01D5D}"/>
              </a:ext>
            </a:extLst>
          </p:cNvPr>
          <p:cNvSpPr>
            <a:spLocks noGrp="1"/>
          </p:cNvSpPr>
          <p:nvPr>
            <p:ph type="sldNum" sz="quarter" idx="12"/>
          </p:nvPr>
        </p:nvSpPr>
        <p:spPr/>
        <p:txBody>
          <a:bodyPr/>
          <a:lstStyle/>
          <a:p>
            <a:fld id="{72CF5F7F-6D61-4C16-B5E2-2B0C68B69432}" type="slidenum">
              <a:rPr lang="en-IN" smtClean="0"/>
              <a:t>‹#›</a:t>
            </a:fld>
            <a:endParaRPr lang="en-IN"/>
          </a:p>
        </p:txBody>
      </p:sp>
    </p:spTree>
    <p:extLst>
      <p:ext uri="{BB962C8B-B14F-4D97-AF65-F5344CB8AC3E}">
        <p14:creationId xmlns:p14="http://schemas.microsoft.com/office/powerpoint/2010/main" val="2782432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0214C8-AB43-A2FD-B13D-C4AE81FBB5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ED2793-60C9-A59E-0A72-1293D40FEE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877F68-7508-9B4E-4AA5-9B2DE424C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1C7A6-D520-4A03-9825-E7FB9FC3012C}" type="datetimeFigureOut">
              <a:rPr lang="en-IN" smtClean="0"/>
              <a:t>18-02-2026</a:t>
            </a:fld>
            <a:endParaRPr lang="en-IN"/>
          </a:p>
        </p:txBody>
      </p:sp>
      <p:sp>
        <p:nvSpPr>
          <p:cNvPr id="5" name="Footer Placeholder 4">
            <a:extLst>
              <a:ext uri="{FF2B5EF4-FFF2-40B4-BE49-F238E27FC236}">
                <a16:creationId xmlns:a16="http://schemas.microsoft.com/office/drawing/2014/main" id="{716C93E1-146D-AA94-EB69-1F1C71D8D0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F89DE3-17CF-C440-09AE-30576945EC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F5F7F-6D61-4C16-B5E2-2B0C68B69432}" type="slidenum">
              <a:rPr lang="en-IN" smtClean="0"/>
              <a:t>‹#›</a:t>
            </a:fld>
            <a:endParaRPr lang="en-IN"/>
          </a:p>
        </p:txBody>
      </p:sp>
    </p:spTree>
    <p:extLst>
      <p:ext uri="{BB962C8B-B14F-4D97-AF65-F5344CB8AC3E}">
        <p14:creationId xmlns:p14="http://schemas.microsoft.com/office/powerpoint/2010/main" val="2018058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A4505-5F2F-6EB9-9E7F-17EDE99247CC}"/>
              </a:ext>
            </a:extLst>
          </p:cNvPr>
          <p:cNvSpPr>
            <a:spLocks noGrp="1"/>
          </p:cNvSpPr>
          <p:nvPr>
            <p:ph type="ctrTitle"/>
          </p:nvPr>
        </p:nvSpPr>
        <p:spPr>
          <a:xfrm>
            <a:off x="1524000" y="1122363"/>
            <a:ext cx="9144000" cy="2112450"/>
          </a:xfrm>
        </p:spPr>
        <p:txBody>
          <a:bodyPr/>
          <a:lstStyle/>
          <a:p>
            <a:r>
              <a:rPr lang="en-IN" b="1" dirty="0"/>
              <a:t>UNIT II</a:t>
            </a:r>
            <a:br>
              <a:rPr lang="en-IN" b="1" dirty="0"/>
            </a:br>
            <a:r>
              <a:rPr lang="en-IN" b="1" dirty="0"/>
              <a:t>Angle Modulation</a:t>
            </a:r>
          </a:p>
        </p:txBody>
      </p:sp>
      <p:sp>
        <p:nvSpPr>
          <p:cNvPr id="3" name="Subtitle 2">
            <a:extLst>
              <a:ext uri="{FF2B5EF4-FFF2-40B4-BE49-F238E27FC236}">
                <a16:creationId xmlns:a16="http://schemas.microsoft.com/office/drawing/2014/main" id="{1D5B169B-25A0-7FEB-89E5-4E5CB694EB5B}"/>
              </a:ext>
            </a:extLst>
          </p:cNvPr>
          <p:cNvSpPr>
            <a:spLocks noGrp="1"/>
          </p:cNvSpPr>
          <p:nvPr>
            <p:ph type="subTitle" idx="1"/>
          </p:nvPr>
        </p:nvSpPr>
        <p:spPr>
          <a:xfrm>
            <a:off x="1524000" y="4899896"/>
            <a:ext cx="9144000" cy="694659"/>
          </a:xfrm>
        </p:spPr>
        <p:txBody>
          <a:bodyPr>
            <a:normAutofit fontScale="85000" lnSpcReduction="20000"/>
          </a:bodyPr>
          <a:lstStyle/>
          <a:p>
            <a:r>
              <a:rPr lang="en-IN" b="1" dirty="0" err="1"/>
              <a:t>Dr.M.Manimegalai</a:t>
            </a:r>
            <a:r>
              <a:rPr lang="en-IN" b="1" dirty="0"/>
              <a:t>, ASP, ECE</a:t>
            </a:r>
          </a:p>
          <a:p>
            <a:r>
              <a:rPr lang="en-IN" b="1" dirty="0"/>
              <a:t>GCE, </a:t>
            </a:r>
            <a:r>
              <a:rPr lang="en-IN" b="1" dirty="0" err="1"/>
              <a:t>Bargur</a:t>
            </a:r>
            <a:endParaRPr lang="en-IN" b="1" dirty="0"/>
          </a:p>
        </p:txBody>
      </p:sp>
    </p:spTree>
    <p:extLst>
      <p:ext uri="{BB962C8B-B14F-4D97-AF65-F5344CB8AC3E}">
        <p14:creationId xmlns:p14="http://schemas.microsoft.com/office/powerpoint/2010/main" val="323751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4161-7BDC-6025-A38E-3FF8637D1800}"/>
              </a:ext>
            </a:extLst>
          </p:cNvPr>
          <p:cNvSpPr>
            <a:spLocks noGrp="1"/>
          </p:cNvSpPr>
          <p:nvPr>
            <p:ph type="title"/>
          </p:nvPr>
        </p:nvSpPr>
        <p:spPr/>
        <p:txBody>
          <a:bodyPr/>
          <a:lstStyle/>
          <a:p>
            <a:r>
              <a:rPr lang="en-US" dirty="0"/>
              <a:t>GENERATION OF WIDEBAND ANGLE-MODULATED SIGNALS</a:t>
            </a:r>
            <a:endParaRPr lang="en-IN" dirty="0"/>
          </a:p>
        </p:txBody>
      </p:sp>
      <p:sp>
        <p:nvSpPr>
          <p:cNvPr id="3" name="Content Placeholder 2">
            <a:extLst>
              <a:ext uri="{FF2B5EF4-FFF2-40B4-BE49-F238E27FC236}">
                <a16:creationId xmlns:a16="http://schemas.microsoft.com/office/drawing/2014/main" id="{2035CAEA-4104-BEE0-6F48-5E469E130A45}"/>
              </a:ext>
            </a:extLst>
          </p:cNvPr>
          <p:cNvSpPr>
            <a:spLocks noGrp="1"/>
          </p:cNvSpPr>
          <p:nvPr>
            <p:ph idx="1"/>
          </p:nvPr>
        </p:nvSpPr>
        <p:spPr/>
        <p:txBody>
          <a:bodyPr/>
          <a:lstStyle/>
          <a:p>
            <a:r>
              <a:rPr lang="en-IN" dirty="0"/>
              <a:t>Indirect or Armstrong Method</a:t>
            </a:r>
          </a:p>
          <a:p>
            <a:pPr lvl="1"/>
            <a:r>
              <a:rPr lang="en-US" dirty="0"/>
              <a:t>An important method for generation of a wideband angle-modulated signal is to first generate a narrowband angle-modulated signal using the narrowband angle-modulator and then convert the narrowband signal into a wideband signal. </a:t>
            </a:r>
          </a:p>
          <a:p>
            <a:pPr lvl="1"/>
            <a:r>
              <a:rPr lang="en-US" dirty="0"/>
              <a:t>This method is known as the indirect method of generation of wideband FM and PM signals. It is also known as Armstrong Method.</a:t>
            </a:r>
            <a:endParaRPr lang="en-IN" dirty="0"/>
          </a:p>
        </p:txBody>
      </p:sp>
    </p:spTree>
    <p:extLst>
      <p:ext uri="{BB962C8B-B14F-4D97-AF65-F5344CB8AC3E}">
        <p14:creationId xmlns:p14="http://schemas.microsoft.com/office/powerpoint/2010/main" val="27483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A3BD-184A-4F3C-081F-6BCAB636B6BA}"/>
              </a:ext>
            </a:extLst>
          </p:cNvPr>
          <p:cNvSpPr>
            <a:spLocks noGrp="1"/>
          </p:cNvSpPr>
          <p:nvPr>
            <p:ph type="title"/>
          </p:nvPr>
        </p:nvSpPr>
        <p:spPr/>
        <p:txBody>
          <a:bodyPr/>
          <a:lstStyle/>
          <a:p>
            <a:r>
              <a:rPr lang="en-US" dirty="0"/>
              <a:t>Armstrong or indirect method of generation of wideband angle-modulated signals</a:t>
            </a:r>
            <a:endParaRPr lang="en-IN" dirty="0"/>
          </a:p>
        </p:txBody>
      </p:sp>
      <p:pic>
        <p:nvPicPr>
          <p:cNvPr id="5" name="Picture 4">
            <a:extLst>
              <a:ext uri="{FF2B5EF4-FFF2-40B4-BE49-F238E27FC236}">
                <a16:creationId xmlns:a16="http://schemas.microsoft.com/office/drawing/2014/main" id="{754A4E59-794C-4188-36FF-C68A6AA704DD}"/>
              </a:ext>
            </a:extLst>
          </p:cNvPr>
          <p:cNvPicPr>
            <a:picLocks noChangeAspect="1"/>
          </p:cNvPicPr>
          <p:nvPr/>
        </p:nvPicPr>
        <p:blipFill>
          <a:blip r:embed="rId2"/>
          <a:stretch>
            <a:fillRect/>
          </a:stretch>
        </p:blipFill>
        <p:spPr>
          <a:xfrm>
            <a:off x="158485" y="2304891"/>
            <a:ext cx="11875030" cy="3579193"/>
          </a:xfrm>
          <a:prstGeom prst="rect">
            <a:avLst/>
          </a:prstGeom>
        </p:spPr>
      </p:pic>
    </p:spTree>
    <p:extLst>
      <p:ext uri="{BB962C8B-B14F-4D97-AF65-F5344CB8AC3E}">
        <p14:creationId xmlns:p14="http://schemas.microsoft.com/office/powerpoint/2010/main" val="633452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A13FE-9259-12EA-C759-DAB65A68A0C7}"/>
              </a:ext>
            </a:extLst>
          </p:cNvPr>
          <p:cNvSpPr>
            <a:spLocks noGrp="1"/>
          </p:cNvSpPr>
          <p:nvPr>
            <p:ph idx="1"/>
          </p:nvPr>
        </p:nvSpPr>
        <p:spPr>
          <a:xfrm>
            <a:off x="838200" y="776748"/>
            <a:ext cx="10515600" cy="5400215"/>
          </a:xfrm>
        </p:spPr>
        <p:txBody>
          <a:bodyPr>
            <a:normAutofit fontScale="70000" lnSpcReduction="20000"/>
          </a:bodyPr>
          <a:lstStyle/>
          <a:p>
            <a:r>
              <a:rPr lang="en-US" dirty="0"/>
              <a:t>The first stage is a narrowband angle modulator. The modulating signal x(t) and a low-frequency carrier signal produced by a crystal oscillator are given as input signals and it uses these two signals to produce a narrowband angle-modulated signal with a carrier frequency of fc. A low-frequency carrier is used for producing the narrowband signal.</a:t>
            </a:r>
          </a:p>
          <a:p>
            <a:r>
              <a:rPr lang="en-US" dirty="0"/>
              <a:t>The next stage is a frequency multiplier used for converting the narrowband signal into a wideband signal and it raises the carrier frequency from fc to </a:t>
            </a:r>
            <a:r>
              <a:rPr lang="en-US" dirty="0" err="1"/>
              <a:t>nfc</a:t>
            </a:r>
            <a:r>
              <a:rPr lang="en-US" dirty="0"/>
              <a:t>. </a:t>
            </a:r>
          </a:p>
          <a:p>
            <a:r>
              <a:rPr lang="en-US" dirty="0"/>
              <a:t>The frequency multiplier stage consists of a non-linear device whose output is tuned to the desired harmonic of fc. Generally, a class-C amplifier whose output circuit is a tank circuit tuned to </a:t>
            </a:r>
            <a:r>
              <a:rPr lang="en-US" dirty="0" err="1"/>
              <a:t>nfc</a:t>
            </a:r>
            <a:r>
              <a:rPr lang="en-US" dirty="0"/>
              <a:t> serves as a ‘</a:t>
            </a:r>
            <a:r>
              <a:rPr lang="en-US" dirty="0" err="1"/>
              <a:t>Xn</a:t>
            </a:r>
            <a:r>
              <a:rPr lang="en-US" dirty="0"/>
              <a:t>’ frequency multiplier. </a:t>
            </a:r>
          </a:p>
          <a:p>
            <a:r>
              <a:rPr lang="en-US" dirty="0"/>
              <a:t>Quite often, this frequency multiplier stage consists of the cascade connection of several doublers and/or </a:t>
            </a:r>
            <a:r>
              <a:rPr lang="en-US" dirty="0" err="1"/>
              <a:t>triplers</a:t>
            </a:r>
            <a:r>
              <a:rPr lang="en-US" dirty="0"/>
              <a:t>.</a:t>
            </a:r>
          </a:p>
          <a:p>
            <a:r>
              <a:rPr lang="en-US" dirty="0"/>
              <a:t>Although the output signal of the frequency multiplier stage is certainly a wideband angle-modulated signal, the carrier frequency, </a:t>
            </a:r>
            <a:r>
              <a:rPr lang="en-US" dirty="0" err="1"/>
              <a:t>nfc</a:t>
            </a:r>
            <a:r>
              <a:rPr lang="en-US" dirty="0"/>
              <a:t>, of this wideband signal will not in general be the correct desired carrier frequency at which the wideband signal is to be transmitted. Hence, we use a mixer to which we connect the output of a local oscillator having an appropriately chosen frequency f0 and if necessary, a chain of frequency multipliers, in order to finally get a carrier frequency which is the desired carrier frequency.</a:t>
            </a:r>
          </a:p>
          <a:p>
            <a:r>
              <a:rPr lang="en-US" dirty="0"/>
              <a:t>As the mixer produces the sum frequency and the difference frequency, a bandpass filter which has a </a:t>
            </a:r>
            <a:r>
              <a:rPr lang="en-US" dirty="0" err="1"/>
              <a:t>centre</a:t>
            </a:r>
            <a:r>
              <a:rPr lang="en-US" dirty="0"/>
              <a:t> frequency equal to either the sum frequency, or the difference frequency (whichever is needed) and whose passband is adequate to accommodate the effective bandwidth of the wideband signal, is used.</a:t>
            </a:r>
            <a:endParaRPr lang="en-IN" dirty="0"/>
          </a:p>
        </p:txBody>
      </p:sp>
    </p:spTree>
    <p:extLst>
      <p:ext uri="{BB962C8B-B14F-4D97-AF65-F5344CB8AC3E}">
        <p14:creationId xmlns:p14="http://schemas.microsoft.com/office/powerpoint/2010/main" val="1475956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B47E5B-5A88-3100-9B18-3E3F1573581B}"/>
              </a:ext>
            </a:extLst>
          </p:cNvPr>
          <p:cNvPicPr>
            <a:picLocks noChangeAspect="1"/>
          </p:cNvPicPr>
          <p:nvPr/>
        </p:nvPicPr>
        <p:blipFill>
          <a:blip r:embed="rId2"/>
          <a:stretch>
            <a:fillRect/>
          </a:stretch>
        </p:blipFill>
        <p:spPr>
          <a:xfrm>
            <a:off x="591238" y="1079090"/>
            <a:ext cx="11009524" cy="4699820"/>
          </a:xfrm>
          <a:prstGeom prst="rect">
            <a:avLst/>
          </a:prstGeom>
        </p:spPr>
      </p:pic>
    </p:spTree>
    <p:extLst>
      <p:ext uri="{BB962C8B-B14F-4D97-AF65-F5344CB8AC3E}">
        <p14:creationId xmlns:p14="http://schemas.microsoft.com/office/powerpoint/2010/main" val="4137817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3A1831-5A7B-5A3D-ABE5-1C93F9EA2770}"/>
              </a:ext>
            </a:extLst>
          </p:cNvPr>
          <p:cNvPicPr>
            <a:picLocks noChangeAspect="1"/>
          </p:cNvPicPr>
          <p:nvPr/>
        </p:nvPicPr>
        <p:blipFill>
          <a:blip r:embed="rId2"/>
          <a:stretch>
            <a:fillRect/>
          </a:stretch>
        </p:blipFill>
        <p:spPr>
          <a:xfrm>
            <a:off x="721484" y="445241"/>
            <a:ext cx="10264679" cy="2327456"/>
          </a:xfrm>
          <a:prstGeom prst="rect">
            <a:avLst/>
          </a:prstGeom>
        </p:spPr>
      </p:pic>
    </p:spTree>
    <p:extLst>
      <p:ext uri="{BB962C8B-B14F-4D97-AF65-F5344CB8AC3E}">
        <p14:creationId xmlns:p14="http://schemas.microsoft.com/office/powerpoint/2010/main" val="56482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381B1E-F16E-7860-6E1E-8149668B9DC3}"/>
              </a:ext>
            </a:extLst>
          </p:cNvPr>
          <p:cNvPicPr>
            <a:picLocks noChangeAspect="1"/>
          </p:cNvPicPr>
          <p:nvPr/>
        </p:nvPicPr>
        <p:blipFill>
          <a:blip r:embed="rId2"/>
          <a:stretch>
            <a:fillRect/>
          </a:stretch>
        </p:blipFill>
        <p:spPr>
          <a:xfrm>
            <a:off x="1299578" y="379389"/>
            <a:ext cx="8373644" cy="3267531"/>
          </a:xfrm>
          <a:prstGeom prst="rect">
            <a:avLst/>
          </a:prstGeom>
        </p:spPr>
      </p:pic>
      <p:pic>
        <p:nvPicPr>
          <p:cNvPr id="5" name="Picture 4">
            <a:extLst>
              <a:ext uri="{FF2B5EF4-FFF2-40B4-BE49-F238E27FC236}">
                <a16:creationId xmlns:a16="http://schemas.microsoft.com/office/drawing/2014/main" id="{E19908BA-6175-81F0-C713-A8B35BDFB86C}"/>
              </a:ext>
            </a:extLst>
          </p:cNvPr>
          <p:cNvPicPr>
            <a:picLocks noChangeAspect="1"/>
          </p:cNvPicPr>
          <p:nvPr/>
        </p:nvPicPr>
        <p:blipFill>
          <a:blip r:embed="rId3"/>
          <a:stretch>
            <a:fillRect/>
          </a:stretch>
        </p:blipFill>
        <p:spPr>
          <a:xfrm>
            <a:off x="1383305" y="4084005"/>
            <a:ext cx="8383170" cy="990738"/>
          </a:xfrm>
          <a:prstGeom prst="rect">
            <a:avLst/>
          </a:prstGeom>
        </p:spPr>
      </p:pic>
    </p:spTree>
    <p:extLst>
      <p:ext uri="{BB962C8B-B14F-4D97-AF65-F5344CB8AC3E}">
        <p14:creationId xmlns:p14="http://schemas.microsoft.com/office/powerpoint/2010/main" val="2587463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E02ACF-F3E2-8558-1323-E3AF9F5DF171}"/>
              </a:ext>
            </a:extLst>
          </p:cNvPr>
          <p:cNvPicPr>
            <a:picLocks noChangeAspect="1"/>
          </p:cNvPicPr>
          <p:nvPr/>
        </p:nvPicPr>
        <p:blipFill>
          <a:blip r:embed="rId2"/>
          <a:stretch>
            <a:fillRect/>
          </a:stretch>
        </p:blipFill>
        <p:spPr>
          <a:xfrm>
            <a:off x="1947283" y="194811"/>
            <a:ext cx="8297433" cy="6468378"/>
          </a:xfrm>
          <a:prstGeom prst="rect">
            <a:avLst/>
          </a:prstGeom>
        </p:spPr>
      </p:pic>
    </p:spTree>
    <p:extLst>
      <p:ext uri="{BB962C8B-B14F-4D97-AF65-F5344CB8AC3E}">
        <p14:creationId xmlns:p14="http://schemas.microsoft.com/office/powerpoint/2010/main" val="1990479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7A7E8-1097-420A-4425-A66E4F3DAB71}"/>
              </a:ext>
            </a:extLst>
          </p:cNvPr>
          <p:cNvSpPr>
            <a:spLocks noGrp="1"/>
          </p:cNvSpPr>
          <p:nvPr>
            <p:ph type="title"/>
          </p:nvPr>
        </p:nvSpPr>
        <p:spPr/>
        <p:txBody>
          <a:bodyPr>
            <a:normAutofit fontScale="90000"/>
          </a:bodyPr>
          <a:lstStyle/>
          <a:p>
            <a:r>
              <a:rPr lang="en-US" dirty="0"/>
              <a:t>Advantages and Disadvantages of Indirect Method</a:t>
            </a:r>
            <a:br>
              <a:rPr lang="en-US" dirty="0"/>
            </a:br>
            <a:endParaRPr lang="en-IN" dirty="0"/>
          </a:p>
        </p:txBody>
      </p:sp>
      <p:sp>
        <p:nvSpPr>
          <p:cNvPr id="3" name="Content Placeholder 2">
            <a:extLst>
              <a:ext uri="{FF2B5EF4-FFF2-40B4-BE49-F238E27FC236}">
                <a16:creationId xmlns:a16="http://schemas.microsoft.com/office/drawing/2014/main" id="{B04B14F6-A68D-8412-9FCE-FB764A61608D}"/>
              </a:ext>
            </a:extLst>
          </p:cNvPr>
          <p:cNvSpPr>
            <a:spLocks noGrp="1"/>
          </p:cNvSpPr>
          <p:nvPr>
            <p:ph idx="1"/>
          </p:nvPr>
        </p:nvSpPr>
        <p:spPr/>
        <p:txBody>
          <a:bodyPr/>
          <a:lstStyle/>
          <a:p>
            <a:pPr marL="0" indent="0">
              <a:buNone/>
            </a:pPr>
            <a:r>
              <a:rPr lang="en-US" dirty="0"/>
              <a:t>1. As crystal oscillators are used for obtaining the carrier frequency, it (the carrier frequency) is very </a:t>
            </a:r>
            <a:r>
              <a:rPr lang="en-IN" dirty="0"/>
              <a:t>stable.</a:t>
            </a:r>
          </a:p>
          <a:p>
            <a:pPr marL="0" indent="0">
              <a:buNone/>
            </a:pPr>
            <a:r>
              <a:rPr lang="en-US" dirty="0"/>
              <a:t>2. Since the narrowband FM is generated by a phase modulator, a long chain of frequency multipliers will have to be used to bring the frequency deviation to the required level.</a:t>
            </a:r>
            <a:endParaRPr lang="en-IN" dirty="0"/>
          </a:p>
        </p:txBody>
      </p:sp>
    </p:spTree>
    <p:extLst>
      <p:ext uri="{BB962C8B-B14F-4D97-AF65-F5344CB8AC3E}">
        <p14:creationId xmlns:p14="http://schemas.microsoft.com/office/powerpoint/2010/main" val="1136198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19CB-A3F5-F1D6-5A2A-B53DF3211CDC}"/>
              </a:ext>
            </a:extLst>
          </p:cNvPr>
          <p:cNvSpPr>
            <a:spLocks noGrp="1"/>
          </p:cNvSpPr>
          <p:nvPr>
            <p:ph type="title"/>
          </p:nvPr>
        </p:nvSpPr>
        <p:spPr/>
        <p:txBody>
          <a:bodyPr/>
          <a:lstStyle/>
          <a:p>
            <a:r>
              <a:rPr lang="en-US" dirty="0"/>
              <a:t>Direct Method of Generation of WBFM</a:t>
            </a:r>
            <a:endParaRPr lang="en-IN" dirty="0"/>
          </a:p>
        </p:txBody>
      </p:sp>
      <p:sp>
        <p:nvSpPr>
          <p:cNvPr id="3" name="Content Placeholder 2">
            <a:extLst>
              <a:ext uri="{FF2B5EF4-FFF2-40B4-BE49-F238E27FC236}">
                <a16:creationId xmlns:a16="http://schemas.microsoft.com/office/drawing/2014/main" id="{BA1AA307-3883-50F8-BF00-AD77D0665563}"/>
              </a:ext>
            </a:extLst>
          </p:cNvPr>
          <p:cNvSpPr>
            <a:spLocks noGrp="1"/>
          </p:cNvSpPr>
          <p:nvPr>
            <p:ph idx="1"/>
          </p:nvPr>
        </p:nvSpPr>
        <p:spPr/>
        <p:txBody>
          <a:bodyPr>
            <a:normAutofit/>
          </a:bodyPr>
          <a:lstStyle/>
          <a:p>
            <a:r>
              <a:rPr lang="en-US" dirty="0"/>
              <a:t>The basic approach of the direct method is quite simple. Here, we vary the frequency of an L-C oscillator in accordance with the variations in the amplitude of the message or the modulating signal. </a:t>
            </a:r>
          </a:p>
          <a:p>
            <a:r>
              <a:rPr lang="en-US" dirty="0"/>
              <a:t>This is accomplished by placing an additional reactance across the tank circuit of the oscillator and making this reactance vary with the amplitude of the message. </a:t>
            </a:r>
          </a:p>
          <a:p>
            <a:r>
              <a:rPr lang="en-US" dirty="0"/>
              <a:t>There are two methods for creating this variable reactance. One is to use a ‘varactor’, or a reactance diode and the other is to use a reactance modulator.</a:t>
            </a:r>
            <a:endParaRPr lang="en-IN" dirty="0"/>
          </a:p>
        </p:txBody>
      </p:sp>
    </p:spTree>
    <p:extLst>
      <p:ext uri="{BB962C8B-B14F-4D97-AF65-F5344CB8AC3E}">
        <p14:creationId xmlns:p14="http://schemas.microsoft.com/office/powerpoint/2010/main" val="3297062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BF238C-AB3B-B95D-D041-00A635076776}"/>
              </a:ext>
            </a:extLst>
          </p:cNvPr>
          <p:cNvPicPr>
            <a:picLocks noChangeAspect="1"/>
          </p:cNvPicPr>
          <p:nvPr/>
        </p:nvPicPr>
        <p:blipFill>
          <a:blip r:embed="rId2"/>
          <a:stretch>
            <a:fillRect/>
          </a:stretch>
        </p:blipFill>
        <p:spPr>
          <a:xfrm>
            <a:off x="0" y="637734"/>
            <a:ext cx="12098488" cy="2685569"/>
          </a:xfrm>
          <a:prstGeom prst="rect">
            <a:avLst/>
          </a:prstGeom>
        </p:spPr>
      </p:pic>
    </p:spTree>
    <p:extLst>
      <p:ext uri="{BB962C8B-B14F-4D97-AF65-F5344CB8AC3E}">
        <p14:creationId xmlns:p14="http://schemas.microsoft.com/office/powerpoint/2010/main" val="2513946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3511D-A34E-3698-C380-EBE707371D4E}"/>
              </a:ext>
            </a:extLst>
          </p:cNvPr>
          <p:cNvPicPr>
            <a:picLocks noChangeAspect="1"/>
          </p:cNvPicPr>
          <p:nvPr/>
        </p:nvPicPr>
        <p:blipFill>
          <a:blip r:embed="rId2"/>
          <a:stretch>
            <a:fillRect/>
          </a:stretch>
        </p:blipFill>
        <p:spPr>
          <a:xfrm>
            <a:off x="193983" y="688258"/>
            <a:ext cx="11605926" cy="4375355"/>
          </a:xfrm>
          <a:prstGeom prst="rect">
            <a:avLst/>
          </a:prstGeom>
        </p:spPr>
      </p:pic>
    </p:spTree>
    <p:extLst>
      <p:ext uri="{BB962C8B-B14F-4D97-AF65-F5344CB8AC3E}">
        <p14:creationId xmlns:p14="http://schemas.microsoft.com/office/powerpoint/2010/main" val="2089480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C501EC-A7E7-5158-0344-72DA377B1496}"/>
              </a:ext>
            </a:extLst>
          </p:cNvPr>
          <p:cNvPicPr>
            <a:picLocks noChangeAspect="1"/>
          </p:cNvPicPr>
          <p:nvPr/>
        </p:nvPicPr>
        <p:blipFill>
          <a:blip r:embed="rId2"/>
          <a:stretch>
            <a:fillRect/>
          </a:stretch>
        </p:blipFill>
        <p:spPr>
          <a:xfrm>
            <a:off x="526582" y="799395"/>
            <a:ext cx="11517935" cy="4560610"/>
          </a:xfrm>
          <a:prstGeom prst="rect">
            <a:avLst/>
          </a:prstGeom>
        </p:spPr>
      </p:pic>
    </p:spTree>
    <p:extLst>
      <p:ext uri="{BB962C8B-B14F-4D97-AF65-F5344CB8AC3E}">
        <p14:creationId xmlns:p14="http://schemas.microsoft.com/office/powerpoint/2010/main" val="1565904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BA7106-AAEC-D0F6-A437-02D0980849D2}"/>
              </a:ext>
            </a:extLst>
          </p:cNvPr>
          <p:cNvPicPr>
            <a:picLocks noChangeAspect="1"/>
          </p:cNvPicPr>
          <p:nvPr/>
        </p:nvPicPr>
        <p:blipFill>
          <a:blip r:embed="rId2"/>
          <a:stretch>
            <a:fillRect/>
          </a:stretch>
        </p:blipFill>
        <p:spPr>
          <a:xfrm>
            <a:off x="79603" y="699617"/>
            <a:ext cx="11925584" cy="6163494"/>
          </a:xfrm>
          <a:prstGeom prst="rect">
            <a:avLst/>
          </a:prstGeom>
        </p:spPr>
      </p:pic>
    </p:spTree>
    <p:extLst>
      <p:ext uri="{BB962C8B-B14F-4D97-AF65-F5344CB8AC3E}">
        <p14:creationId xmlns:p14="http://schemas.microsoft.com/office/powerpoint/2010/main" val="1557239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F3E8-DF2A-6A67-46B9-7C295D12FD6F}"/>
              </a:ext>
            </a:extLst>
          </p:cNvPr>
          <p:cNvSpPr>
            <a:spLocks noGrp="1"/>
          </p:cNvSpPr>
          <p:nvPr>
            <p:ph type="title"/>
          </p:nvPr>
        </p:nvSpPr>
        <p:spPr/>
        <p:txBody>
          <a:bodyPr/>
          <a:lstStyle/>
          <a:p>
            <a:r>
              <a:rPr lang="en-IN" dirty="0"/>
              <a:t>Using a Varactor Diode</a:t>
            </a:r>
          </a:p>
        </p:txBody>
      </p:sp>
      <p:pic>
        <p:nvPicPr>
          <p:cNvPr id="5" name="Picture 4">
            <a:extLst>
              <a:ext uri="{FF2B5EF4-FFF2-40B4-BE49-F238E27FC236}">
                <a16:creationId xmlns:a16="http://schemas.microsoft.com/office/drawing/2014/main" id="{AF7DA941-8BD9-BC89-3680-32620E318F67}"/>
              </a:ext>
            </a:extLst>
          </p:cNvPr>
          <p:cNvPicPr>
            <a:picLocks noChangeAspect="1"/>
          </p:cNvPicPr>
          <p:nvPr/>
        </p:nvPicPr>
        <p:blipFill>
          <a:blip r:embed="rId2"/>
          <a:stretch>
            <a:fillRect/>
          </a:stretch>
        </p:blipFill>
        <p:spPr>
          <a:xfrm>
            <a:off x="167148" y="2033392"/>
            <a:ext cx="11889361" cy="4274336"/>
          </a:xfrm>
          <a:prstGeom prst="rect">
            <a:avLst/>
          </a:prstGeom>
        </p:spPr>
      </p:pic>
    </p:spTree>
    <p:extLst>
      <p:ext uri="{BB962C8B-B14F-4D97-AF65-F5344CB8AC3E}">
        <p14:creationId xmlns:p14="http://schemas.microsoft.com/office/powerpoint/2010/main" val="62059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CCFD2-A1F3-913C-00C4-6DFB35473B78}"/>
              </a:ext>
            </a:extLst>
          </p:cNvPr>
          <p:cNvSpPr>
            <a:spLocks noGrp="1"/>
          </p:cNvSpPr>
          <p:nvPr>
            <p:ph idx="1"/>
          </p:nvPr>
        </p:nvSpPr>
        <p:spPr>
          <a:xfrm>
            <a:off x="838200" y="698090"/>
            <a:ext cx="10515600" cy="5478873"/>
          </a:xfrm>
        </p:spPr>
        <p:txBody>
          <a:bodyPr>
            <a:normAutofit lnSpcReduction="10000"/>
          </a:bodyPr>
          <a:lstStyle/>
          <a:p>
            <a:r>
              <a:rPr lang="en-US" dirty="0"/>
              <a:t>The modulating signal x(t) is given in series with the reverse bias for the varactor diode and the diode itself is placed across the tank circuit of an L-C oscillator. </a:t>
            </a:r>
          </a:p>
          <a:p>
            <a:r>
              <a:rPr lang="en-US" dirty="0"/>
              <a:t>Figure shows a tuned-collector L-C oscillator across whose tank circuit, a varactor diode is connected.</a:t>
            </a:r>
          </a:p>
          <a:p>
            <a:r>
              <a:rPr lang="en-US" dirty="0"/>
              <a:t> The RFC (RF choke) together with them bypass capacitor </a:t>
            </a:r>
            <a:r>
              <a:rPr lang="en-US" dirty="0" err="1"/>
              <a:t>Cb</a:t>
            </a:r>
            <a:r>
              <a:rPr lang="en-US" dirty="0"/>
              <a:t> ensures that the </a:t>
            </a:r>
            <a:r>
              <a:rPr lang="en-US" dirty="0" err="1"/>
              <a:t>r.f</a:t>
            </a:r>
            <a:r>
              <a:rPr lang="en-US" dirty="0"/>
              <a:t> from the oscillator does not enter the modulating signal circuit.</a:t>
            </a:r>
          </a:p>
          <a:p>
            <a:r>
              <a:rPr lang="en-US" dirty="0"/>
              <a:t>The coupling condenser, Cc, is of such a small value that it works like a perfect open circuit for the modulating signal frequencies while offering negligible reactance to the </a:t>
            </a:r>
            <a:r>
              <a:rPr lang="en-US" dirty="0" err="1"/>
              <a:t>r.f</a:t>
            </a:r>
            <a:r>
              <a:rPr lang="en-US" dirty="0"/>
              <a:t> signal. </a:t>
            </a:r>
          </a:p>
          <a:p>
            <a:r>
              <a:rPr lang="en-US" dirty="0"/>
              <a:t>It also prevents the dc bias supply of the varactor from reaching the oscillator.</a:t>
            </a:r>
            <a:endParaRPr lang="en-IN" dirty="0"/>
          </a:p>
        </p:txBody>
      </p:sp>
    </p:spTree>
    <p:extLst>
      <p:ext uri="{BB962C8B-B14F-4D97-AF65-F5344CB8AC3E}">
        <p14:creationId xmlns:p14="http://schemas.microsoft.com/office/powerpoint/2010/main" val="3627370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7285-B344-E04E-8FC4-CBEBC8D6F9C5}"/>
              </a:ext>
            </a:extLst>
          </p:cNvPr>
          <p:cNvSpPr>
            <a:spLocks noGrp="1"/>
          </p:cNvSpPr>
          <p:nvPr>
            <p:ph type="title"/>
          </p:nvPr>
        </p:nvSpPr>
        <p:spPr/>
        <p:txBody>
          <a:bodyPr/>
          <a:lstStyle/>
          <a:p>
            <a:r>
              <a:rPr lang="en-IN" dirty="0"/>
              <a:t>Using a Reactance Modulator</a:t>
            </a:r>
          </a:p>
        </p:txBody>
      </p:sp>
      <p:pic>
        <p:nvPicPr>
          <p:cNvPr id="5" name="Picture 4">
            <a:extLst>
              <a:ext uri="{FF2B5EF4-FFF2-40B4-BE49-F238E27FC236}">
                <a16:creationId xmlns:a16="http://schemas.microsoft.com/office/drawing/2014/main" id="{C4A9C35F-09E3-C7C5-1A6D-19E99BF826AB}"/>
              </a:ext>
            </a:extLst>
          </p:cNvPr>
          <p:cNvPicPr>
            <a:picLocks noChangeAspect="1"/>
          </p:cNvPicPr>
          <p:nvPr/>
        </p:nvPicPr>
        <p:blipFill>
          <a:blip r:embed="rId2"/>
          <a:stretch>
            <a:fillRect/>
          </a:stretch>
        </p:blipFill>
        <p:spPr>
          <a:xfrm>
            <a:off x="0" y="1690689"/>
            <a:ext cx="12222840" cy="5024744"/>
          </a:xfrm>
          <a:prstGeom prst="rect">
            <a:avLst/>
          </a:prstGeom>
        </p:spPr>
      </p:pic>
    </p:spTree>
    <p:extLst>
      <p:ext uri="{BB962C8B-B14F-4D97-AF65-F5344CB8AC3E}">
        <p14:creationId xmlns:p14="http://schemas.microsoft.com/office/powerpoint/2010/main" val="1996798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273048-F2CB-F3CD-CB9D-15BA8D1B5EBB}"/>
              </a:ext>
            </a:extLst>
          </p:cNvPr>
          <p:cNvPicPr>
            <a:picLocks noChangeAspect="1"/>
          </p:cNvPicPr>
          <p:nvPr/>
        </p:nvPicPr>
        <p:blipFill>
          <a:blip r:embed="rId2"/>
          <a:stretch>
            <a:fillRect/>
          </a:stretch>
        </p:blipFill>
        <p:spPr>
          <a:xfrm>
            <a:off x="161549" y="678427"/>
            <a:ext cx="11868901" cy="4139380"/>
          </a:xfrm>
          <a:prstGeom prst="rect">
            <a:avLst/>
          </a:prstGeom>
        </p:spPr>
      </p:pic>
    </p:spTree>
    <p:extLst>
      <p:ext uri="{BB962C8B-B14F-4D97-AF65-F5344CB8AC3E}">
        <p14:creationId xmlns:p14="http://schemas.microsoft.com/office/powerpoint/2010/main" val="3119117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E96AAC-3824-973C-513F-D0606FD8A1A4}"/>
              </a:ext>
            </a:extLst>
          </p:cNvPr>
          <p:cNvPicPr>
            <a:picLocks noChangeAspect="1"/>
          </p:cNvPicPr>
          <p:nvPr/>
        </p:nvPicPr>
        <p:blipFill>
          <a:blip r:embed="rId2"/>
          <a:stretch>
            <a:fillRect/>
          </a:stretch>
        </p:blipFill>
        <p:spPr>
          <a:xfrm>
            <a:off x="61192" y="1032387"/>
            <a:ext cx="12069616" cy="4729316"/>
          </a:xfrm>
          <a:prstGeom prst="rect">
            <a:avLst/>
          </a:prstGeom>
        </p:spPr>
      </p:pic>
    </p:spTree>
    <p:extLst>
      <p:ext uri="{BB962C8B-B14F-4D97-AF65-F5344CB8AC3E}">
        <p14:creationId xmlns:p14="http://schemas.microsoft.com/office/powerpoint/2010/main" val="4107314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4AA642-B63D-B1D1-1EC1-097A304C0480}"/>
              </a:ext>
            </a:extLst>
          </p:cNvPr>
          <p:cNvPicPr>
            <a:picLocks noChangeAspect="1"/>
          </p:cNvPicPr>
          <p:nvPr/>
        </p:nvPicPr>
        <p:blipFill>
          <a:blip r:embed="rId2"/>
          <a:stretch>
            <a:fillRect/>
          </a:stretch>
        </p:blipFill>
        <p:spPr>
          <a:xfrm>
            <a:off x="450318" y="862781"/>
            <a:ext cx="11291363" cy="5132438"/>
          </a:xfrm>
          <a:prstGeom prst="rect">
            <a:avLst/>
          </a:prstGeom>
        </p:spPr>
      </p:pic>
    </p:spTree>
    <p:extLst>
      <p:ext uri="{BB962C8B-B14F-4D97-AF65-F5344CB8AC3E}">
        <p14:creationId xmlns:p14="http://schemas.microsoft.com/office/powerpoint/2010/main" val="2944401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83C70D-2550-1789-DDDC-E8025AD7F0DA}"/>
              </a:ext>
            </a:extLst>
          </p:cNvPr>
          <p:cNvPicPr>
            <a:picLocks noChangeAspect="1"/>
          </p:cNvPicPr>
          <p:nvPr/>
        </p:nvPicPr>
        <p:blipFill>
          <a:blip r:embed="rId2"/>
          <a:stretch>
            <a:fillRect/>
          </a:stretch>
        </p:blipFill>
        <p:spPr>
          <a:xfrm>
            <a:off x="70998" y="924233"/>
            <a:ext cx="11635374" cy="4208205"/>
          </a:xfrm>
          <a:prstGeom prst="rect">
            <a:avLst/>
          </a:prstGeom>
        </p:spPr>
      </p:pic>
    </p:spTree>
    <p:extLst>
      <p:ext uri="{BB962C8B-B14F-4D97-AF65-F5344CB8AC3E}">
        <p14:creationId xmlns:p14="http://schemas.microsoft.com/office/powerpoint/2010/main" val="3749712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0E488-056D-2C66-0055-50E6C585BB1E}"/>
              </a:ext>
            </a:extLst>
          </p:cNvPr>
          <p:cNvSpPr>
            <a:spLocks noGrp="1"/>
          </p:cNvSpPr>
          <p:nvPr>
            <p:ph type="title"/>
          </p:nvPr>
        </p:nvSpPr>
        <p:spPr/>
        <p:txBody>
          <a:bodyPr>
            <a:normAutofit fontScale="90000"/>
          </a:bodyPr>
          <a:lstStyle/>
          <a:p>
            <a:r>
              <a:rPr lang="en-US" dirty="0"/>
              <a:t>POWER OF AN ANGLE-MODULATED SIGNAL AND</a:t>
            </a:r>
            <a:br>
              <a:rPr lang="en-US" dirty="0"/>
            </a:br>
            <a:r>
              <a:rPr lang="en-IN" dirty="0"/>
              <a:t>EFFECTIVE BANDWIDTH</a:t>
            </a:r>
          </a:p>
        </p:txBody>
      </p:sp>
      <p:pic>
        <p:nvPicPr>
          <p:cNvPr id="5" name="Picture 4">
            <a:extLst>
              <a:ext uri="{FF2B5EF4-FFF2-40B4-BE49-F238E27FC236}">
                <a16:creationId xmlns:a16="http://schemas.microsoft.com/office/drawing/2014/main" id="{DA5AFFD5-9A81-8FB5-55B8-B88BA43B6BE6}"/>
              </a:ext>
            </a:extLst>
          </p:cNvPr>
          <p:cNvPicPr>
            <a:picLocks noChangeAspect="1"/>
          </p:cNvPicPr>
          <p:nvPr/>
        </p:nvPicPr>
        <p:blipFill>
          <a:blip r:embed="rId2"/>
          <a:stretch>
            <a:fillRect/>
          </a:stretch>
        </p:blipFill>
        <p:spPr>
          <a:xfrm>
            <a:off x="814262" y="2209629"/>
            <a:ext cx="10539538" cy="4262435"/>
          </a:xfrm>
          <a:prstGeom prst="rect">
            <a:avLst/>
          </a:prstGeom>
        </p:spPr>
      </p:pic>
    </p:spTree>
    <p:extLst>
      <p:ext uri="{BB962C8B-B14F-4D97-AF65-F5344CB8AC3E}">
        <p14:creationId xmlns:p14="http://schemas.microsoft.com/office/powerpoint/2010/main" val="2494959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F0FCB-7915-0672-791A-8DF88811CBCC}"/>
              </a:ext>
            </a:extLst>
          </p:cNvPr>
          <p:cNvSpPr>
            <a:spLocks noGrp="1"/>
          </p:cNvSpPr>
          <p:nvPr>
            <p:ph idx="1"/>
          </p:nvPr>
        </p:nvSpPr>
        <p:spPr>
          <a:xfrm>
            <a:off x="838200" y="266259"/>
            <a:ext cx="10515600" cy="5910704"/>
          </a:xfrm>
        </p:spPr>
        <p:txBody>
          <a:bodyPr/>
          <a:lstStyle/>
          <a:p>
            <a:r>
              <a:rPr lang="en-US" dirty="0"/>
              <a:t>The ‘effective bandwidth’ of an angle-modulated signal as the bandwidth occupied by those minimum number of first k side-frequency components, which along with the carrier component, have at least 98% of the total power of the modulated signal.</a:t>
            </a:r>
            <a:endParaRPr lang="en-IN" dirty="0"/>
          </a:p>
        </p:txBody>
      </p:sp>
      <p:pic>
        <p:nvPicPr>
          <p:cNvPr id="5" name="Picture 4">
            <a:extLst>
              <a:ext uri="{FF2B5EF4-FFF2-40B4-BE49-F238E27FC236}">
                <a16:creationId xmlns:a16="http://schemas.microsoft.com/office/drawing/2014/main" id="{C4FE4395-9DB0-F598-69C1-7FF3C6C7B3C2}"/>
              </a:ext>
            </a:extLst>
          </p:cNvPr>
          <p:cNvPicPr>
            <a:picLocks noChangeAspect="1"/>
          </p:cNvPicPr>
          <p:nvPr/>
        </p:nvPicPr>
        <p:blipFill>
          <a:blip r:embed="rId2"/>
          <a:stretch>
            <a:fillRect/>
          </a:stretch>
        </p:blipFill>
        <p:spPr>
          <a:xfrm>
            <a:off x="1084483" y="2064774"/>
            <a:ext cx="8767591" cy="4526967"/>
          </a:xfrm>
          <a:prstGeom prst="rect">
            <a:avLst/>
          </a:prstGeom>
        </p:spPr>
      </p:pic>
    </p:spTree>
    <p:extLst>
      <p:ext uri="{BB962C8B-B14F-4D97-AF65-F5344CB8AC3E}">
        <p14:creationId xmlns:p14="http://schemas.microsoft.com/office/powerpoint/2010/main" val="910751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F08F5E-7337-421E-97CC-944624DD0B24}"/>
              </a:ext>
            </a:extLst>
          </p:cNvPr>
          <p:cNvPicPr>
            <a:picLocks noChangeAspect="1"/>
          </p:cNvPicPr>
          <p:nvPr/>
        </p:nvPicPr>
        <p:blipFill>
          <a:blip r:embed="rId2"/>
          <a:stretch>
            <a:fillRect/>
          </a:stretch>
        </p:blipFill>
        <p:spPr>
          <a:xfrm>
            <a:off x="609600" y="307121"/>
            <a:ext cx="11108409" cy="5939913"/>
          </a:xfrm>
          <a:prstGeom prst="rect">
            <a:avLst/>
          </a:prstGeom>
        </p:spPr>
      </p:pic>
    </p:spTree>
    <p:extLst>
      <p:ext uri="{BB962C8B-B14F-4D97-AF65-F5344CB8AC3E}">
        <p14:creationId xmlns:p14="http://schemas.microsoft.com/office/powerpoint/2010/main" val="2789415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5AA1-D654-258B-F303-512A2DF99EFC}"/>
              </a:ext>
            </a:extLst>
          </p:cNvPr>
          <p:cNvSpPr>
            <a:spLocks noGrp="1"/>
          </p:cNvSpPr>
          <p:nvPr>
            <p:ph type="title"/>
          </p:nvPr>
        </p:nvSpPr>
        <p:spPr/>
        <p:txBody>
          <a:bodyPr/>
          <a:lstStyle/>
          <a:p>
            <a:r>
              <a:rPr lang="en-IN" dirty="0"/>
              <a:t>DETECTION OF FM SIGNALS</a:t>
            </a:r>
          </a:p>
        </p:txBody>
      </p:sp>
      <p:sp>
        <p:nvSpPr>
          <p:cNvPr id="3" name="Content Placeholder 2">
            <a:extLst>
              <a:ext uri="{FF2B5EF4-FFF2-40B4-BE49-F238E27FC236}">
                <a16:creationId xmlns:a16="http://schemas.microsoft.com/office/drawing/2014/main" id="{76A9D08F-0314-4649-4681-97992EB94EE9}"/>
              </a:ext>
            </a:extLst>
          </p:cNvPr>
          <p:cNvSpPr>
            <a:spLocks noGrp="1"/>
          </p:cNvSpPr>
          <p:nvPr>
            <p:ph idx="1"/>
          </p:nvPr>
        </p:nvSpPr>
        <p:spPr/>
        <p:txBody>
          <a:bodyPr/>
          <a:lstStyle/>
          <a:p>
            <a:r>
              <a:rPr lang="en-US" dirty="0"/>
              <a:t>Since in FM the carrier frequency is changed in accordance with the amplitude of the modulating signal, FM signal demodulation is essentially one of frequency-to-amplitude conversion. </a:t>
            </a:r>
          </a:p>
          <a:p>
            <a:r>
              <a:rPr lang="en-US" dirty="0"/>
              <a:t>There are several FM demodulators—the slope detector, the phase discriminator of Foster and Seeley, the ratio detector, the FM feedback detector, the quadrature FM detector, the zero-crossing detector and the phase-locked loop </a:t>
            </a:r>
            <a:r>
              <a:rPr lang="en-IN" dirty="0"/>
              <a:t>detector.</a:t>
            </a:r>
          </a:p>
        </p:txBody>
      </p:sp>
    </p:spTree>
    <p:extLst>
      <p:ext uri="{BB962C8B-B14F-4D97-AF65-F5344CB8AC3E}">
        <p14:creationId xmlns:p14="http://schemas.microsoft.com/office/powerpoint/2010/main" val="3573958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3626-D316-8C75-E4D0-39BE5A73F6DD}"/>
              </a:ext>
            </a:extLst>
          </p:cNvPr>
          <p:cNvSpPr>
            <a:spLocks noGrp="1"/>
          </p:cNvSpPr>
          <p:nvPr>
            <p:ph type="title"/>
          </p:nvPr>
        </p:nvSpPr>
        <p:spPr/>
        <p:txBody>
          <a:bodyPr/>
          <a:lstStyle/>
          <a:p>
            <a:r>
              <a:rPr lang="en-IN" dirty="0"/>
              <a:t>The Slope Detector</a:t>
            </a:r>
          </a:p>
        </p:txBody>
      </p:sp>
      <p:pic>
        <p:nvPicPr>
          <p:cNvPr id="5" name="Picture 4">
            <a:extLst>
              <a:ext uri="{FF2B5EF4-FFF2-40B4-BE49-F238E27FC236}">
                <a16:creationId xmlns:a16="http://schemas.microsoft.com/office/drawing/2014/main" id="{25DF2598-788B-6F64-A96D-2B56D0266C7E}"/>
              </a:ext>
            </a:extLst>
          </p:cNvPr>
          <p:cNvPicPr>
            <a:picLocks noChangeAspect="1"/>
          </p:cNvPicPr>
          <p:nvPr/>
        </p:nvPicPr>
        <p:blipFill>
          <a:blip r:embed="rId2"/>
          <a:stretch>
            <a:fillRect/>
          </a:stretch>
        </p:blipFill>
        <p:spPr>
          <a:xfrm>
            <a:off x="1120877" y="1557076"/>
            <a:ext cx="9055510" cy="5287986"/>
          </a:xfrm>
          <a:prstGeom prst="rect">
            <a:avLst/>
          </a:prstGeom>
        </p:spPr>
      </p:pic>
    </p:spTree>
    <p:extLst>
      <p:ext uri="{BB962C8B-B14F-4D97-AF65-F5344CB8AC3E}">
        <p14:creationId xmlns:p14="http://schemas.microsoft.com/office/powerpoint/2010/main" val="1775764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D8D8-27CF-1146-3EF6-886909776DA0}"/>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05CF1BD3-BA96-8FF3-4315-80BB573BDFAF}"/>
              </a:ext>
            </a:extLst>
          </p:cNvPr>
          <p:cNvPicPr>
            <a:picLocks noChangeAspect="1"/>
          </p:cNvPicPr>
          <p:nvPr/>
        </p:nvPicPr>
        <p:blipFill>
          <a:blip r:embed="rId2"/>
          <a:stretch>
            <a:fillRect/>
          </a:stretch>
        </p:blipFill>
        <p:spPr>
          <a:xfrm>
            <a:off x="441548" y="2585919"/>
            <a:ext cx="10912252" cy="2869938"/>
          </a:xfrm>
          <a:prstGeom prst="rect">
            <a:avLst/>
          </a:prstGeom>
        </p:spPr>
      </p:pic>
    </p:spTree>
    <p:extLst>
      <p:ext uri="{BB962C8B-B14F-4D97-AF65-F5344CB8AC3E}">
        <p14:creationId xmlns:p14="http://schemas.microsoft.com/office/powerpoint/2010/main" val="3505198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5C56F-10F7-869F-4626-F5865389AEFB}"/>
              </a:ext>
            </a:extLst>
          </p:cNvPr>
          <p:cNvSpPr>
            <a:spLocks noGrp="1"/>
          </p:cNvSpPr>
          <p:nvPr>
            <p:ph type="title"/>
          </p:nvPr>
        </p:nvSpPr>
        <p:spPr/>
        <p:txBody>
          <a:bodyPr/>
          <a:lstStyle/>
          <a:p>
            <a:r>
              <a:rPr lang="en-US" dirty="0"/>
              <a:t>Dual-slope Detector or Balanced Discriminator</a:t>
            </a:r>
            <a:endParaRPr lang="en-IN" dirty="0"/>
          </a:p>
        </p:txBody>
      </p:sp>
      <p:pic>
        <p:nvPicPr>
          <p:cNvPr id="5" name="Picture 4">
            <a:extLst>
              <a:ext uri="{FF2B5EF4-FFF2-40B4-BE49-F238E27FC236}">
                <a16:creationId xmlns:a16="http://schemas.microsoft.com/office/drawing/2014/main" id="{5C004DD2-47C5-2572-5351-5341A1F5312D}"/>
              </a:ext>
            </a:extLst>
          </p:cNvPr>
          <p:cNvPicPr>
            <a:picLocks noChangeAspect="1"/>
          </p:cNvPicPr>
          <p:nvPr/>
        </p:nvPicPr>
        <p:blipFill>
          <a:blip r:embed="rId2"/>
          <a:stretch>
            <a:fillRect/>
          </a:stretch>
        </p:blipFill>
        <p:spPr>
          <a:xfrm>
            <a:off x="1936954" y="2052620"/>
            <a:ext cx="7541342" cy="4266812"/>
          </a:xfrm>
          <a:prstGeom prst="rect">
            <a:avLst/>
          </a:prstGeom>
        </p:spPr>
      </p:pic>
    </p:spTree>
    <p:extLst>
      <p:ext uri="{BB962C8B-B14F-4D97-AF65-F5344CB8AC3E}">
        <p14:creationId xmlns:p14="http://schemas.microsoft.com/office/powerpoint/2010/main" val="3069916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37FFD8-D828-6547-A4B3-F262E95AB164}"/>
              </a:ext>
            </a:extLst>
          </p:cNvPr>
          <p:cNvPicPr>
            <a:picLocks noChangeAspect="1"/>
          </p:cNvPicPr>
          <p:nvPr/>
        </p:nvPicPr>
        <p:blipFill>
          <a:blip r:embed="rId2"/>
          <a:stretch>
            <a:fillRect/>
          </a:stretch>
        </p:blipFill>
        <p:spPr>
          <a:xfrm>
            <a:off x="1284037" y="698547"/>
            <a:ext cx="8725202" cy="5636436"/>
          </a:xfrm>
          <a:prstGeom prst="rect">
            <a:avLst/>
          </a:prstGeom>
        </p:spPr>
      </p:pic>
    </p:spTree>
    <p:extLst>
      <p:ext uri="{BB962C8B-B14F-4D97-AF65-F5344CB8AC3E}">
        <p14:creationId xmlns:p14="http://schemas.microsoft.com/office/powerpoint/2010/main" val="3597102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791CE-F10F-1F54-09FB-35A8DA72E0C2}"/>
              </a:ext>
            </a:extLst>
          </p:cNvPr>
          <p:cNvSpPr>
            <a:spLocks noGrp="1"/>
          </p:cNvSpPr>
          <p:nvPr>
            <p:ph type="title"/>
          </p:nvPr>
        </p:nvSpPr>
        <p:spPr/>
        <p:txBody>
          <a:bodyPr/>
          <a:lstStyle/>
          <a:p>
            <a:r>
              <a:rPr lang="en-IN" dirty="0"/>
              <a:t>Phase-Locked Loop (PLL) Detector</a:t>
            </a:r>
          </a:p>
        </p:txBody>
      </p:sp>
      <p:sp>
        <p:nvSpPr>
          <p:cNvPr id="3" name="Content Placeholder 2">
            <a:extLst>
              <a:ext uri="{FF2B5EF4-FFF2-40B4-BE49-F238E27FC236}">
                <a16:creationId xmlns:a16="http://schemas.microsoft.com/office/drawing/2014/main" id="{6AAC635B-E137-9B28-B56A-BCCA54970E78}"/>
              </a:ext>
            </a:extLst>
          </p:cNvPr>
          <p:cNvSpPr>
            <a:spLocks noGrp="1"/>
          </p:cNvSpPr>
          <p:nvPr>
            <p:ph idx="1"/>
          </p:nvPr>
        </p:nvSpPr>
        <p:spPr/>
        <p:txBody>
          <a:bodyPr/>
          <a:lstStyle/>
          <a:p>
            <a:r>
              <a:rPr lang="en-US" dirty="0"/>
              <a:t>There exists one disadvantage with all the FM demodulation methods described earlier. </a:t>
            </a:r>
          </a:p>
          <a:p>
            <a:r>
              <a:rPr lang="en-US" dirty="0"/>
              <a:t>All these methods have the same bandwidth as the bandwidth occupied by the FM signal, which of course, is very much more than the bandwidth of the message signal. </a:t>
            </a:r>
          </a:p>
          <a:p>
            <a:r>
              <a:rPr lang="en-US" dirty="0"/>
              <a:t>Thus, these demodulators pass on all the noise contained in the bandwidth of the FM signal.</a:t>
            </a:r>
            <a:endParaRPr lang="en-IN" dirty="0"/>
          </a:p>
        </p:txBody>
      </p:sp>
    </p:spTree>
    <p:extLst>
      <p:ext uri="{BB962C8B-B14F-4D97-AF65-F5344CB8AC3E}">
        <p14:creationId xmlns:p14="http://schemas.microsoft.com/office/powerpoint/2010/main" val="4253935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2607D-0A00-946C-4460-7D6B27482237}"/>
              </a:ext>
            </a:extLst>
          </p:cNvPr>
          <p:cNvSpPr>
            <a:spLocks noGrp="1"/>
          </p:cNvSpPr>
          <p:nvPr>
            <p:ph type="title"/>
          </p:nvPr>
        </p:nvSpPr>
        <p:spPr/>
        <p:txBody>
          <a:bodyPr/>
          <a:lstStyle/>
          <a:p>
            <a:r>
              <a:rPr lang="en-US" dirty="0"/>
              <a:t>PLL Detector</a:t>
            </a:r>
            <a:endParaRPr lang="en-IN" dirty="0"/>
          </a:p>
        </p:txBody>
      </p:sp>
      <p:sp>
        <p:nvSpPr>
          <p:cNvPr id="3" name="Content Placeholder 2">
            <a:extLst>
              <a:ext uri="{FF2B5EF4-FFF2-40B4-BE49-F238E27FC236}">
                <a16:creationId xmlns:a16="http://schemas.microsoft.com/office/drawing/2014/main" id="{881FB1ED-995E-53F6-BA78-86CAEC1102F0}"/>
              </a:ext>
            </a:extLst>
          </p:cNvPr>
          <p:cNvSpPr>
            <a:spLocks noGrp="1"/>
          </p:cNvSpPr>
          <p:nvPr>
            <p:ph idx="1"/>
          </p:nvPr>
        </p:nvSpPr>
        <p:spPr/>
        <p:txBody>
          <a:bodyPr/>
          <a:lstStyle/>
          <a:p>
            <a:r>
              <a:rPr lang="en-US" dirty="0"/>
              <a:t>Using feedback to reduce this bandwidth and thereby reduce the noise power at the output of the demodulator, is one way of tackling the problem. </a:t>
            </a:r>
          </a:p>
          <a:p>
            <a:r>
              <a:rPr lang="en-US" dirty="0"/>
              <a:t>Such an approach leads to what is known as an FM demodulator with feedback (FMFB). </a:t>
            </a:r>
          </a:p>
          <a:p>
            <a:r>
              <a:rPr lang="en-US" dirty="0"/>
              <a:t>A demodulator using this approach is the Phase- </a:t>
            </a:r>
            <a:r>
              <a:rPr lang="en-IN" dirty="0"/>
              <a:t>Locked Loop (PLL).</a:t>
            </a:r>
          </a:p>
        </p:txBody>
      </p:sp>
    </p:spTree>
    <p:extLst>
      <p:ext uri="{BB962C8B-B14F-4D97-AF65-F5344CB8AC3E}">
        <p14:creationId xmlns:p14="http://schemas.microsoft.com/office/powerpoint/2010/main" val="3577378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6286-5CC5-2096-9539-F0E1EB18E42C}"/>
              </a:ext>
            </a:extLst>
          </p:cNvPr>
          <p:cNvSpPr>
            <a:spLocks noGrp="1"/>
          </p:cNvSpPr>
          <p:nvPr>
            <p:ph type="title"/>
          </p:nvPr>
        </p:nvSpPr>
        <p:spPr/>
        <p:txBody>
          <a:bodyPr/>
          <a:lstStyle/>
          <a:p>
            <a:r>
              <a:rPr lang="en-US" dirty="0"/>
              <a:t>PLL Detector </a:t>
            </a:r>
            <a:endParaRPr lang="en-IN" dirty="0"/>
          </a:p>
        </p:txBody>
      </p:sp>
      <p:pic>
        <p:nvPicPr>
          <p:cNvPr id="5" name="Picture 4">
            <a:extLst>
              <a:ext uri="{FF2B5EF4-FFF2-40B4-BE49-F238E27FC236}">
                <a16:creationId xmlns:a16="http://schemas.microsoft.com/office/drawing/2014/main" id="{FAFFD7AD-01B3-B9E4-9B9E-F355F3B9FD4C}"/>
              </a:ext>
            </a:extLst>
          </p:cNvPr>
          <p:cNvPicPr>
            <a:picLocks noChangeAspect="1"/>
          </p:cNvPicPr>
          <p:nvPr/>
        </p:nvPicPr>
        <p:blipFill>
          <a:blip r:embed="rId2"/>
          <a:stretch>
            <a:fillRect/>
          </a:stretch>
        </p:blipFill>
        <p:spPr>
          <a:xfrm>
            <a:off x="1553496" y="1301869"/>
            <a:ext cx="9596285" cy="5059860"/>
          </a:xfrm>
          <a:prstGeom prst="rect">
            <a:avLst/>
          </a:prstGeom>
        </p:spPr>
      </p:pic>
    </p:spTree>
    <p:extLst>
      <p:ext uri="{BB962C8B-B14F-4D97-AF65-F5344CB8AC3E}">
        <p14:creationId xmlns:p14="http://schemas.microsoft.com/office/powerpoint/2010/main" val="3296473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4CDFF3-7B6C-C5B3-F904-D74A7B9E4DB1}"/>
              </a:ext>
            </a:extLst>
          </p:cNvPr>
          <p:cNvSpPr>
            <a:spLocks noGrp="1"/>
          </p:cNvSpPr>
          <p:nvPr>
            <p:ph idx="1"/>
          </p:nvPr>
        </p:nvSpPr>
        <p:spPr>
          <a:xfrm>
            <a:off x="838200" y="511277"/>
            <a:ext cx="10515600" cy="5665686"/>
          </a:xfrm>
        </p:spPr>
        <p:txBody>
          <a:bodyPr>
            <a:normAutofit lnSpcReduction="10000"/>
          </a:bodyPr>
          <a:lstStyle/>
          <a:p>
            <a:r>
              <a:rPr lang="en-US" dirty="0"/>
              <a:t>As can be seen from this figure, it is a feedback system, in fact, a negative feedback system comprising a phase comparator and a loop filter with a VCO in the feedback path. The phase comparator is just a product device. The loop filter has a high gain and a passband from 0 Hz to W Hz.</a:t>
            </a:r>
          </a:p>
          <a:p>
            <a:r>
              <a:rPr lang="en-US" dirty="0"/>
              <a:t> The VCO is a voltage-controlled oscillator, whose output is a sine wave, the frequency of which is determined by the control voltage given as input to it. </a:t>
            </a:r>
          </a:p>
          <a:p>
            <a:r>
              <a:rPr lang="en-US" dirty="0"/>
              <a:t>For a mathematical analysis of the system, let us assume that the VCO has been initially so adjusted that</a:t>
            </a:r>
          </a:p>
          <a:p>
            <a:pPr marL="457200" lvl="1" indent="0">
              <a:buNone/>
            </a:pPr>
            <a:r>
              <a:rPr lang="en-US" dirty="0"/>
              <a:t>(</a:t>
            </a:r>
            <a:r>
              <a:rPr lang="en-US" dirty="0" err="1"/>
              <a:t>i</a:t>
            </a:r>
            <a:r>
              <a:rPr lang="en-US" dirty="0"/>
              <a:t>) it produces a sine wave with a frequency exactly equal to the unmodulated carrier frequency of the incoming FM signal, when there is no control voltage applied to it; and</a:t>
            </a:r>
          </a:p>
          <a:p>
            <a:pPr marL="457200" lvl="1" indent="0">
              <a:buNone/>
            </a:pPr>
            <a:r>
              <a:rPr lang="en-US" dirty="0"/>
              <a:t>(ii) the sine wave signal that it generates under the condition stated above has a 90∞ phase difference with the carrier signal of the incoming FM signal.</a:t>
            </a:r>
            <a:endParaRPr lang="en-IN" dirty="0"/>
          </a:p>
        </p:txBody>
      </p:sp>
    </p:spTree>
    <p:extLst>
      <p:ext uri="{BB962C8B-B14F-4D97-AF65-F5344CB8AC3E}">
        <p14:creationId xmlns:p14="http://schemas.microsoft.com/office/powerpoint/2010/main" val="1584100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F13B08-1DA8-4A2C-2B0F-EBE60E502D56}"/>
              </a:ext>
            </a:extLst>
          </p:cNvPr>
          <p:cNvPicPr>
            <a:picLocks noChangeAspect="1"/>
          </p:cNvPicPr>
          <p:nvPr/>
        </p:nvPicPr>
        <p:blipFill>
          <a:blip r:embed="rId2"/>
          <a:stretch>
            <a:fillRect/>
          </a:stretch>
        </p:blipFill>
        <p:spPr>
          <a:xfrm>
            <a:off x="631285" y="173038"/>
            <a:ext cx="9072696" cy="2088380"/>
          </a:xfrm>
          <a:prstGeom prst="rect">
            <a:avLst/>
          </a:prstGeom>
        </p:spPr>
      </p:pic>
      <p:pic>
        <p:nvPicPr>
          <p:cNvPr id="7" name="Picture 6">
            <a:extLst>
              <a:ext uri="{FF2B5EF4-FFF2-40B4-BE49-F238E27FC236}">
                <a16:creationId xmlns:a16="http://schemas.microsoft.com/office/drawing/2014/main" id="{FF87C4C9-298C-58C9-0A95-5C4B113D4355}"/>
              </a:ext>
            </a:extLst>
          </p:cNvPr>
          <p:cNvPicPr>
            <a:picLocks noChangeAspect="1"/>
          </p:cNvPicPr>
          <p:nvPr/>
        </p:nvPicPr>
        <p:blipFill>
          <a:blip r:embed="rId3"/>
          <a:stretch>
            <a:fillRect/>
          </a:stretch>
        </p:blipFill>
        <p:spPr>
          <a:xfrm>
            <a:off x="279564" y="2526890"/>
            <a:ext cx="11912436" cy="3755921"/>
          </a:xfrm>
          <a:prstGeom prst="rect">
            <a:avLst/>
          </a:prstGeom>
        </p:spPr>
      </p:pic>
    </p:spTree>
    <p:extLst>
      <p:ext uri="{BB962C8B-B14F-4D97-AF65-F5344CB8AC3E}">
        <p14:creationId xmlns:p14="http://schemas.microsoft.com/office/powerpoint/2010/main" val="485655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4AD571-66C3-166A-991B-45BB1E880D9A}"/>
              </a:ext>
            </a:extLst>
          </p:cNvPr>
          <p:cNvPicPr>
            <a:picLocks noChangeAspect="1"/>
          </p:cNvPicPr>
          <p:nvPr/>
        </p:nvPicPr>
        <p:blipFill>
          <a:blip r:embed="rId2"/>
          <a:stretch>
            <a:fillRect/>
          </a:stretch>
        </p:blipFill>
        <p:spPr>
          <a:xfrm>
            <a:off x="0" y="677195"/>
            <a:ext cx="12238868" cy="3727655"/>
          </a:xfrm>
          <a:prstGeom prst="rect">
            <a:avLst/>
          </a:prstGeom>
        </p:spPr>
      </p:pic>
    </p:spTree>
    <p:extLst>
      <p:ext uri="{BB962C8B-B14F-4D97-AF65-F5344CB8AC3E}">
        <p14:creationId xmlns:p14="http://schemas.microsoft.com/office/powerpoint/2010/main" val="3792747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A31D7F-7CC8-D7DF-6DF1-689706E74BF0}"/>
              </a:ext>
            </a:extLst>
          </p:cNvPr>
          <p:cNvPicPr>
            <a:picLocks noChangeAspect="1"/>
          </p:cNvPicPr>
          <p:nvPr/>
        </p:nvPicPr>
        <p:blipFill>
          <a:blip r:embed="rId2"/>
          <a:stretch>
            <a:fillRect/>
          </a:stretch>
        </p:blipFill>
        <p:spPr>
          <a:xfrm>
            <a:off x="548417" y="304802"/>
            <a:ext cx="10607005" cy="4916128"/>
          </a:xfrm>
          <a:prstGeom prst="rect">
            <a:avLst/>
          </a:prstGeom>
        </p:spPr>
      </p:pic>
    </p:spTree>
    <p:extLst>
      <p:ext uri="{BB962C8B-B14F-4D97-AF65-F5344CB8AC3E}">
        <p14:creationId xmlns:p14="http://schemas.microsoft.com/office/powerpoint/2010/main" val="58254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B9EC-C7E2-BC3F-A093-CBD2022528EF}"/>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AFCDD575-77DC-84C9-E8B8-8040D2BE9155}"/>
              </a:ext>
            </a:extLst>
          </p:cNvPr>
          <p:cNvPicPr>
            <a:picLocks noChangeAspect="1"/>
          </p:cNvPicPr>
          <p:nvPr/>
        </p:nvPicPr>
        <p:blipFill>
          <a:blip r:embed="rId2"/>
          <a:stretch>
            <a:fillRect/>
          </a:stretch>
        </p:blipFill>
        <p:spPr>
          <a:xfrm>
            <a:off x="1720645" y="2097221"/>
            <a:ext cx="8283677" cy="3934199"/>
          </a:xfrm>
          <a:prstGeom prst="rect">
            <a:avLst/>
          </a:prstGeom>
        </p:spPr>
      </p:pic>
    </p:spTree>
    <p:extLst>
      <p:ext uri="{BB962C8B-B14F-4D97-AF65-F5344CB8AC3E}">
        <p14:creationId xmlns:p14="http://schemas.microsoft.com/office/powerpoint/2010/main" val="2155279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D4D6F-823A-CE3B-96D2-D2E93F534DF7}"/>
              </a:ext>
            </a:extLst>
          </p:cNvPr>
          <p:cNvSpPr>
            <a:spLocks noGrp="1"/>
          </p:cNvSpPr>
          <p:nvPr>
            <p:ph type="title"/>
          </p:nvPr>
        </p:nvSpPr>
        <p:spPr/>
        <p:txBody>
          <a:bodyPr/>
          <a:lstStyle/>
          <a:p>
            <a:r>
              <a:rPr lang="en-IN" dirty="0"/>
              <a:t>FM BROADCASTING</a:t>
            </a:r>
          </a:p>
        </p:txBody>
      </p:sp>
      <p:sp>
        <p:nvSpPr>
          <p:cNvPr id="3" name="Content Placeholder 2">
            <a:extLst>
              <a:ext uri="{FF2B5EF4-FFF2-40B4-BE49-F238E27FC236}">
                <a16:creationId xmlns:a16="http://schemas.microsoft.com/office/drawing/2014/main" id="{D6760100-DE26-039D-50B9-2EC582583DB0}"/>
              </a:ext>
            </a:extLst>
          </p:cNvPr>
          <p:cNvSpPr>
            <a:spLocks noGrp="1"/>
          </p:cNvSpPr>
          <p:nvPr>
            <p:ph idx="1"/>
          </p:nvPr>
        </p:nvSpPr>
        <p:spPr/>
        <p:txBody>
          <a:bodyPr>
            <a:normAutofit/>
          </a:bodyPr>
          <a:lstStyle/>
          <a:p>
            <a:r>
              <a:rPr lang="en-US" dirty="0"/>
              <a:t>FM radio broadcasting for speech and music makes use of the 88 MHz–108 MHz band. The peak frequency deviation is to be 75 kHz, audio frequencies up to 15 kHz are handled and the bandwidth is 200 kHz, i.e., two adjacent carriers are to have a separation of 200 kHz. </a:t>
            </a:r>
          </a:p>
          <a:p>
            <a:r>
              <a:rPr lang="en-US" dirty="0"/>
              <a:t>The transmitters employ pre-emphasis—i.e., boost the high frequency components of the message or baseband signal in order to improve the signal to noise ratio at the destination. </a:t>
            </a:r>
          </a:p>
          <a:p>
            <a:r>
              <a:rPr lang="en-US" dirty="0"/>
              <a:t>FM broadcast receivers are of the superheterodyne type, the intermediate frequency being 10.7 </a:t>
            </a:r>
            <a:r>
              <a:rPr lang="en-US" dirty="0" err="1"/>
              <a:t>MHz.</a:t>
            </a:r>
            <a:endParaRPr lang="en-IN" dirty="0"/>
          </a:p>
        </p:txBody>
      </p:sp>
    </p:spTree>
    <p:extLst>
      <p:ext uri="{BB962C8B-B14F-4D97-AF65-F5344CB8AC3E}">
        <p14:creationId xmlns:p14="http://schemas.microsoft.com/office/powerpoint/2010/main" val="1690066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0048F3-BF27-5AA7-7BD8-1604620453DA}"/>
              </a:ext>
            </a:extLst>
          </p:cNvPr>
          <p:cNvPicPr>
            <a:picLocks noChangeAspect="1"/>
          </p:cNvPicPr>
          <p:nvPr/>
        </p:nvPicPr>
        <p:blipFill>
          <a:blip r:embed="rId2"/>
          <a:stretch>
            <a:fillRect/>
          </a:stretch>
        </p:blipFill>
        <p:spPr>
          <a:xfrm>
            <a:off x="51542" y="1451599"/>
            <a:ext cx="12088916" cy="3954801"/>
          </a:xfrm>
          <a:prstGeom prst="rect">
            <a:avLst/>
          </a:prstGeom>
        </p:spPr>
      </p:pic>
    </p:spTree>
    <p:extLst>
      <p:ext uri="{BB962C8B-B14F-4D97-AF65-F5344CB8AC3E}">
        <p14:creationId xmlns:p14="http://schemas.microsoft.com/office/powerpoint/2010/main" val="3615130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9916D-F7B1-633E-4C1E-2876234F2432}"/>
              </a:ext>
            </a:extLst>
          </p:cNvPr>
          <p:cNvSpPr>
            <a:spLocks noGrp="1"/>
          </p:cNvSpPr>
          <p:nvPr>
            <p:ph type="title"/>
          </p:nvPr>
        </p:nvSpPr>
        <p:spPr/>
        <p:txBody>
          <a:bodyPr/>
          <a:lstStyle/>
          <a:p>
            <a:r>
              <a:rPr lang="en-IN" dirty="0"/>
              <a:t>Capture Effect</a:t>
            </a:r>
          </a:p>
        </p:txBody>
      </p:sp>
      <p:sp>
        <p:nvSpPr>
          <p:cNvPr id="3" name="Content Placeholder 2">
            <a:extLst>
              <a:ext uri="{FF2B5EF4-FFF2-40B4-BE49-F238E27FC236}">
                <a16:creationId xmlns:a16="http://schemas.microsoft.com/office/drawing/2014/main" id="{7CC520C7-81D2-608E-C61A-1E77DDB09666}"/>
              </a:ext>
            </a:extLst>
          </p:cNvPr>
          <p:cNvSpPr>
            <a:spLocks noGrp="1"/>
          </p:cNvSpPr>
          <p:nvPr>
            <p:ph idx="1"/>
          </p:nvPr>
        </p:nvSpPr>
        <p:spPr/>
        <p:txBody>
          <a:bodyPr>
            <a:normAutofit fontScale="92500" lnSpcReduction="10000"/>
          </a:bodyPr>
          <a:lstStyle/>
          <a:p>
            <a:r>
              <a:rPr lang="en-US" dirty="0"/>
              <a:t>Suppose there is an interfering signal having a frequency close to the desired signal to which we have tuned the receiver, and that the interfering signal is quite weak compared to the desired signal. </a:t>
            </a:r>
          </a:p>
          <a:p>
            <a:r>
              <a:rPr lang="en-US" dirty="0"/>
              <a:t>If it were to be AM, in the receiver output, we will be getting not only the desired signal but also the interfering one, the latter as a sort of weak background noise. </a:t>
            </a:r>
          </a:p>
          <a:p>
            <a:r>
              <a:rPr lang="en-US" dirty="0"/>
              <a:t>But, in the case of FM, the situation will be totally different—only the relatively strong desired signal will be received and the weak interfering signal will be suppressed to a very large extent. </a:t>
            </a:r>
          </a:p>
          <a:p>
            <a:r>
              <a:rPr lang="en-US" dirty="0"/>
              <a:t>This phenomenon is called capture effect, since the stronger signal </a:t>
            </a:r>
            <a:r>
              <a:rPr lang="en-IN" dirty="0"/>
              <a:t>virtually captures the receiver.</a:t>
            </a:r>
          </a:p>
        </p:txBody>
      </p:sp>
    </p:spTree>
    <p:extLst>
      <p:ext uri="{BB962C8B-B14F-4D97-AF65-F5344CB8AC3E}">
        <p14:creationId xmlns:p14="http://schemas.microsoft.com/office/powerpoint/2010/main" val="30552642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D5BBD9-526A-91B1-05E3-3A5D628AAFCD}"/>
              </a:ext>
            </a:extLst>
          </p:cNvPr>
          <p:cNvPicPr>
            <a:picLocks noChangeAspect="1"/>
          </p:cNvPicPr>
          <p:nvPr/>
        </p:nvPicPr>
        <p:blipFill>
          <a:blip r:embed="rId2"/>
          <a:stretch>
            <a:fillRect/>
          </a:stretch>
        </p:blipFill>
        <p:spPr>
          <a:xfrm>
            <a:off x="393290" y="225004"/>
            <a:ext cx="11562736" cy="6496378"/>
          </a:xfrm>
          <a:prstGeom prst="rect">
            <a:avLst/>
          </a:prstGeom>
        </p:spPr>
      </p:pic>
    </p:spTree>
    <p:extLst>
      <p:ext uri="{BB962C8B-B14F-4D97-AF65-F5344CB8AC3E}">
        <p14:creationId xmlns:p14="http://schemas.microsoft.com/office/powerpoint/2010/main" val="1824975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1383</Words>
  <Application>Microsoft Office PowerPoint</Application>
  <PresentationFormat>Widescreen</PresentationFormat>
  <Paragraphs>58</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Office Theme</vt:lpstr>
      <vt:lpstr>UNIT II Angle Modulation</vt:lpstr>
      <vt:lpstr>GENERATION OF WIDEBAND ANGLE-MODULATED SIGNALS</vt:lpstr>
      <vt:lpstr>Armstrong or indirect method of generation of wideband angle-modulated signals</vt:lpstr>
      <vt:lpstr>PowerPoint Presentation</vt:lpstr>
      <vt:lpstr>PowerPoint Presentation</vt:lpstr>
      <vt:lpstr>PowerPoint Presentation</vt:lpstr>
      <vt:lpstr>PowerPoint Presentation</vt:lpstr>
      <vt:lpstr>PowerPoint Presentation</vt:lpstr>
      <vt:lpstr>Advantages and Disadvantages of Indirect Method </vt:lpstr>
      <vt:lpstr>Direct Method of Generation of WBFM</vt:lpstr>
      <vt:lpstr>PowerPoint Presentation</vt:lpstr>
      <vt:lpstr>PowerPoint Presentation</vt:lpstr>
      <vt:lpstr>PowerPoint Presentation</vt:lpstr>
      <vt:lpstr>PowerPoint Presentation</vt:lpstr>
      <vt:lpstr>Using a Varactor Diode</vt:lpstr>
      <vt:lpstr>PowerPoint Presentation</vt:lpstr>
      <vt:lpstr>Using a Reactance Modulator</vt:lpstr>
      <vt:lpstr>PowerPoint Presentation</vt:lpstr>
      <vt:lpstr>PowerPoint Presentation</vt:lpstr>
      <vt:lpstr>PowerPoint Presentation</vt:lpstr>
      <vt:lpstr>PowerPoint Presentation</vt:lpstr>
      <vt:lpstr>POWER OF AN ANGLE-MODULATED SIGNAL AND EFFECTIVE BANDWIDTH</vt:lpstr>
      <vt:lpstr>PowerPoint Presentation</vt:lpstr>
      <vt:lpstr>PowerPoint Presentation</vt:lpstr>
      <vt:lpstr>DETECTION OF FM SIGNALS</vt:lpstr>
      <vt:lpstr>The Slope Detector</vt:lpstr>
      <vt:lpstr>PowerPoint Presentation</vt:lpstr>
      <vt:lpstr>Dual-slope Detector or Balanced Discriminator</vt:lpstr>
      <vt:lpstr>PowerPoint Presentation</vt:lpstr>
      <vt:lpstr>Phase-Locked Loop (PLL) Detector</vt:lpstr>
      <vt:lpstr>PLL Detector</vt:lpstr>
      <vt:lpstr>PLL Detector </vt:lpstr>
      <vt:lpstr>PowerPoint Presentation</vt:lpstr>
      <vt:lpstr>PowerPoint Presentation</vt:lpstr>
      <vt:lpstr>PowerPoint Presentation</vt:lpstr>
      <vt:lpstr>PowerPoint Presentation</vt:lpstr>
      <vt:lpstr>PowerPoint Presentation</vt:lpstr>
      <vt:lpstr>FM BROADCASTING</vt:lpstr>
      <vt:lpstr>PowerPoint Presentation</vt:lpstr>
      <vt:lpstr>Capture Effect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ECE GCEB</dc:creator>
  <cp:lastModifiedBy>ECE GCEB</cp:lastModifiedBy>
  <cp:revision>26</cp:revision>
  <dcterms:created xsi:type="dcterms:W3CDTF">2026-02-02T04:37:19Z</dcterms:created>
  <dcterms:modified xsi:type="dcterms:W3CDTF">2026-02-18T10:38:34Z</dcterms:modified>
</cp:coreProperties>
</file>