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1" r:id="rId6"/>
    <p:sldId id="264" r:id="rId7"/>
    <p:sldId id="265" r:id="rId8"/>
    <p:sldId id="266" r:id="rId9"/>
    <p:sldId id="268" r:id="rId10"/>
    <p:sldId id="269" r:id="rId11"/>
    <p:sldId id="270" r:id="rId12"/>
    <p:sldId id="260" r:id="rId13"/>
    <p:sldId id="272" r:id="rId14"/>
    <p:sldId id="274" r:id="rId15"/>
    <p:sldId id="275" r:id="rId16"/>
    <p:sldId id="271" r:id="rId17"/>
    <p:sldId id="262" r:id="rId18"/>
    <p:sldId id="263" r:id="rId19"/>
    <p:sldId id="277" r:id="rId20"/>
    <p:sldId id="278" r:id="rId21"/>
    <p:sldId id="288" r:id="rId22"/>
    <p:sldId id="289" r:id="rId23"/>
    <p:sldId id="279" r:id="rId24"/>
    <p:sldId id="267" r:id="rId25"/>
    <p:sldId id="290" r:id="rId26"/>
    <p:sldId id="280" r:id="rId27"/>
    <p:sldId id="281" r:id="rId28"/>
    <p:sldId id="282" r:id="rId29"/>
    <p:sldId id="283" r:id="rId30"/>
    <p:sldId id="284" r:id="rId31"/>
    <p:sldId id="273" r:id="rId32"/>
    <p:sldId id="285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ACA9C-3D47-F174-7B0A-91C2D83EDD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C1D37B-FAD8-4CCE-C048-26C1A6B41F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A4DD3-FFA5-8169-6622-7D693BBC0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7EC8D-719D-4FF4-9FA4-0CFAE8C37BA7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6BCC94-2FFC-60D5-552D-76FCB57A0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62778-D8CE-EFA0-5A31-E041C27AD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0DD72-99C3-4FBD-A987-108D5D0078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250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6BF38-6FA0-41A1-493E-8721151E5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7C279-AF6B-F15D-953A-2067D9EFD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A1875-D8FC-FA2D-F54A-886534523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7EC8D-719D-4FF4-9FA4-0CFAE8C37BA7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06764-2092-EBF4-6CF4-416CA5781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B71D4-D8C8-8F1E-39AB-49BF4F598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0DD72-99C3-4FBD-A987-108D5D0078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93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DEF06-BF67-F170-EA05-86CDADF8B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930EFD-43CD-A68E-6C1A-3119725859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A52DC-D130-80AA-1939-FBE3C6D8D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7EC8D-719D-4FF4-9FA4-0CFAE8C37BA7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FB8F9-82FD-1E18-9506-73151E22B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A86E2-18AA-BA1E-A23A-EA9463DFC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0DD72-99C3-4FBD-A987-108D5D0078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5994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56241-B730-6767-5873-47FB43975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AD478-C95E-B3B3-1DBD-F5D7DBAD97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D41637-DD47-D15D-D1B3-FB97BF426C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549DA8-79F0-CD6C-D6CB-B5F3846ED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7EC8D-719D-4FF4-9FA4-0CFAE8C37BA7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3FFB3-8DDD-1A23-46F4-8FDB91A8F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C5487E-4EDD-A076-C687-A90CE4BE0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0DD72-99C3-4FBD-A987-108D5D0078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2548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F2691-9182-FA24-FA1C-0F0F71525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C25AC8-4659-B1CA-8600-074DC3436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8954B1-1996-7459-467D-5AA1E81C73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853902-1568-7CE6-184F-3271266113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55AFA4-3E0F-0EF8-CE19-B9A5045460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BCFF3F-2804-A628-822C-98DBFE595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7EC8D-719D-4FF4-9FA4-0CFAE8C37BA7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564B0A-A322-BBF7-406D-56563A3EE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C693F4-C6F6-CBDD-5F4A-7FCA42973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0DD72-99C3-4FBD-A987-108D5D0078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8872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F04BF-5B30-CFAB-2D61-8102B8D5D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EB49C5-6EBF-3086-7430-FEA9EA6C3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7EC8D-719D-4FF4-9FA4-0CFAE8C37BA7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D492EE-52E6-FB1E-DCBA-4C91F3144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4B105B-8BFF-AC8F-4086-D2950A172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0DD72-99C3-4FBD-A987-108D5D0078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0411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2DD5E5-E395-D680-130A-904F50FDF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7EC8D-719D-4FF4-9FA4-0CFAE8C37BA7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C38869-482A-DFBC-D11E-C2309B265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DEB28-3265-86ED-8168-D255E2CBF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0DD72-99C3-4FBD-A987-108D5D0078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3415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5F95-9BD4-F5F3-50B8-9B7BA7FF2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2615B-A9BB-3568-CBF4-5E2E5814A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5DBDDE-3699-64AC-38B7-5EF7F479BA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03027C-4D97-1D65-15A5-822623B08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7EC8D-719D-4FF4-9FA4-0CFAE8C37BA7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F851F0-2642-EE76-3068-A979012DF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C3F18-E9EB-A530-5425-B1EE65A63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0DD72-99C3-4FBD-A987-108D5D0078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982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99376-CB0C-29B5-11F3-DC8C228FB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63DB33-2423-F834-A819-348EB0249C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13A99A-8466-6F71-F3CE-42038759FF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8C9463-84A4-B74E-3420-1C46C4A53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7EC8D-719D-4FF4-9FA4-0CFAE8C37BA7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49A9EA-7EF3-D530-2C09-63398690E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EAF368-0A69-0235-F8F4-E7D76CFA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0DD72-99C3-4FBD-A987-108D5D0078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7459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3F029-8917-443C-9FA4-7E76D4052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AF365E-5223-745D-E732-7448EBC563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41B2A-1A40-2451-B520-98EECC295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7EC8D-719D-4FF4-9FA4-0CFAE8C37BA7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2534C9-6945-75C9-27AF-B05BE739B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E3034-991C-78D4-D5BE-DA75E2AFB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0DD72-99C3-4FBD-A987-108D5D0078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645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06B07D-4F2C-C1CD-D7B4-BB733A0336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33384B-56A1-2EC7-1F6E-C054D87FEC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A40CD-E581-AE31-431B-EA786AB92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7EC8D-719D-4FF4-9FA4-0CFAE8C37BA7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26DD9-A138-1F47-D955-D785CD110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BA03D-E7C7-8CF5-6B36-14EB30753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0DD72-99C3-4FBD-A987-108D5D0078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5032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2676CD-F52D-FF99-408A-9941A3621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B89540-2FFA-1FD1-8B33-6339E76C8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DA605-CBDC-EACE-E2C6-D28C34709A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7EC8D-719D-4FF4-9FA4-0CFAE8C37BA7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A05B8-54CF-A657-4AF4-7C3CE0AE69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2C3BC-197C-F1CB-9B7C-E95BC3C1F2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F0DD72-99C3-4FBD-A987-108D5D0078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024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7F8D3-AA85-5587-9F5E-B32CA2D916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UNIT V</a:t>
            </a:r>
            <a:br>
              <a:rPr lang="en-IN" dirty="0"/>
            </a:br>
            <a:r>
              <a:rPr lang="en-IN" dirty="0"/>
              <a:t>INFORMATION THEORY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228497-0510-DD54-3660-4BC6271DCC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5186"/>
            <a:ext cx="9144000" cy="872613"/>
          </a:xfrm>
        </p:spPr>
        <p:txBody>
          <a:bodyPr>
            <a:normAutofit lnSpcReduction="10000"/>
          </a:bodyPr>
          <a:lstStyle/>
          <a:p>
            <a:r>
              <a:rPr lang="en-IN" b="1" dirty="0" err="1"/>
              <a:t>Dr.M.Manimegalai</a:t>
            </a:r>
            <a:r>
              <a:rPr lang="en-IN" b="1" dirty="0"/>
              <a:t>, ASP, ECE</a:t>
            </a:r>
          </a:p>
          <a:p>
            <a:r>
              <a:rPr lang="en-IN" b="1" dirty="0"/>
              <a:t>GCE, </a:t>
            </a:r>
            <a:r>
              <a:rPr lang="en-IN" b="1" dirty="0" err="1"/>
              <a:t>Bargur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181076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0B152-8FCF-3965-BF5F-862A621F8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📡 Information Theory in Communication Systems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BCFEB-23E7-C182-B1C0-1E7769060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40646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Information Theory</a:t>
            </a:r>
            <a:r>
              <a:rPr lang="en-US" dirty="0"/>
              <a:t> is the mathematical foundation that tells us </a:t>
            </a:r>
            <a:r>
              <a:rPr lang="en-US" b="1" dirty="0"/>
              <a:t>how information is measured, transmitted, compressed, and protected against noise</a:t>
            </a:r>
            <a:r>
              <a:rPr lang="en-US" dirty="0"/>
              <a:t> in a communication system. It answers a core question:</a:t>
            </a:r>
          </a:p>
          <a:p>
            <a:r>
              <a:rPr lang="en-US" i="1" dirty="0"/>
              <a:t>What is the </a:t>
            </a:r>
            <a:r>
              <a:rPr lang="en-US" b="1" i="1" dirty="0"/>
              <a:t>maximum amount of information</a:t>
            </a:r>
            <a:r>
              <a:rPr lang="en-US" i="1" dirty="0"/>
              <a:t> that can be sent </a:t>
            </a:r>
            <a:r>
              <a:rPr lang="en-US" b="1" i="1" dirty="0"/>
              <a:t>reliably</a:t>
            </a:r>
            <a:r>
              <a:rPr lang="en-US" i="1" dirty="0"/>
              <a:t> over a channel?</a:t>
            </a:r>
          </a:p>
          <a:p>
            <a:pPr marL="0" indent="0">
              <a:buNone/>
            </a:pPr>
            <a:r>
              <a:rPr lang="en-US" b="1" dirty="0"/>
              <a:t>🔷 Why Information Theory is Needed</a:t>
            </a:r>
          </a:p>
          <a:p>
            <a:r>
              <a:rPr lang="en-US" dirty="0"/>
              <a:t>In real communication systems:</a:t>
            </a:r>
          </a:p>
          <a:p>
            <a:pPr lvl="1"/>
            <a:r>
              <a:rPr lang="en-US" dirty="0"/>
              <a:t>Signals are </a:t>
            </a:r>
            <a:r>
              <a:rPr lang="en-US" b="1" dirty="0"/>
              <a:t>corrupted by noise</a:t>
            </a:r>
            <a:endParaRPr lang="en-US" dirty="0"/>
          </a:p>
          <a:p>
            <a:pPr lvl="1"/>
            <a:r>
              <a:rPr lang="en-US" dirty="0"/>
              <a:t>Bandwidth and power are </a:t>
            </a:r>
            <a:r>
              <a:rPr lang="en-US" b="1" dirty="0"/>
              <a:t>limited</a:t>
            </a:r>
            <a:endParaRPr lang="en-US" dirty="0"/>
          </a:p>
          <a:p>
            <a:pPr lvl="1"/>
            <a:r>
              <a:rPr lang="en-US" dirty="0"/>
              <a:t>Errors </a:t>
            </a:r>
            <a:r>
              <a:rPr lang="en-US" b="1" dirty="0"/>
              <a:t>cannot be avoided completely</a:t>
            </a:r>
            <a:endParaRPr lang="en-US" dirty="0"/>
          </a:p>
          <a:p>
            <a:r>
              <a:rPr lang="en-US" dirty="0"/>
              <a:t>Information theory helps us:</a:t>
            </a:r>
          </a:p>
          <a:p>
            <a:pPr lvl="1"/>
            <a:r>
              <a:rPr lang="en-US" dirty="0"/>
              <a:t>Quantify </a:t>
            </a:r>
            <a:r>
              <a:rPr lang="en-US" b="1" dirty="0"/>
              <a:t>information content</a:t>
            </a:r>
            <a:endParaRPr lang="en-US" dirty="0"/>
          </a:p>
          <a:p>
            <a:pPr lvl="1"/>
            <a:r>
              <a:rPr lang="en-US" dirty="0"/>
              <a:t>Determine </a:t>
            </a:r>
            <a:r>
              <a:rPr lang="en-US" b="1" dirty="0"/>
              <a:t>maximum achievable data rate</a:t>
            </a:r>
            <a:endParaRPr lang="en-US" dirty="0"/>
          </a:p>
          <a:p>
            <a:pPr lvl="1"/>
            <a:r>
              <a:rPr lang="en-US" dirty="0"/>
              <a:t>Design </a:t>
            </a:r>
            <a:r>
              <a:rPr lang="en-US" b="1" dirty="0"/>
              <a:t>efficient coding and modulation schemes</a:t>
            </a:r>
            <a:endParaRPr lang="en-US" dirty="0"/>
          </a:p>
          <a:p>
            <a:pPr lvl="1"/>
            <a:r>
              <a:rPr lang="en-US" dirty="0"/>
              <a:t>Analyze </a:t>
            </a:r>
            <a:r>
              <a:rPr lang="en-US" b="1" dirty="0"/>
              <a:t>error performance limits</a:t>
            </a:r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0875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B28A7-4621-9A4B-E1E0-18ADBAB31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923" y="106746"/>
            <a:ext cx="10515600" cy="896145"/>
          </a:xfrm>
        </p:spPr>
        <p:txBody>
          <a:bodyPr/>
          <a:lstStyle/>
          <a:p>
            <a:r>
              <a:rPr lang="en-IN" dirty="0"/>
              <a:t>🔹 Information 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450A5-3DE9-5883-7258-E03D8F0A9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0038"/>
            <a:ext cx="10515600" cy="558121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📌 Definition</a:t>
            </a:r>
          </a:p>
          <a:p>
            <a:r>
              <a:rPr lang="en-US" dirty="0"/>
              <a:t>An </a:t>
            </a:r>
            <a:r>
              <a:rPr lang="en-US" b="1" dirty="0"/>
              <a:t>information source</a:t>
            </a:r>
            <a:r>
              <a:rPr lang="en-US" dirty="0"/>
              <a:t> is the </a:t>
            </a:r>
            <a:r>
              <a:rPr lang="en-US" b="1" dirty="0"/>
              <a:t>origin of the message</a:t>
            </a:r>
            <a:r>
              <a:rPr lang="en-US" dirty="0"/>
              <a:t> in a communication system.</a:t>
            </a:r>
          </a:p>
          <a:p>
            <a:r>
              <a:rPr lang="en-US" dirty="0"/>
              <a:t>It </a:t>
            </a:r>
            <a:r>
              <a:rPr lang="en-US" b="1" dirty="0"/>
              <a:t>produces symbols or messages</a:t>
            </a:r>
            <a:r>
              <a:rPr lang="en-US" dirty="0"/>
              <a:t> that convey information to be transmitted.</a:t>
            </a:r>
          </a:p>
          <a:p>
            <a:pPr marL="0" indent="0">
              <a:buNone/>
            </a:pPr>
            <a:r>
              <a:rPr lang="en-US" dirty="0"/>
              <a:t>👉 In simple words: </a:t>
            </a:r>
            <a:r>
              <a:rPr lang="en-US" b="1" dirty="0"/>
              <a:t>Information source = where the message comes from</a:t>
            </a:r>
          </a:p>
          <a:p>
            <a:pPr marL="0" indent="0">
              <a:buNone/>
            </a:pPr>
            <a:r>
              <a:rPr lang="en-US" dirty="0"/>
              <a:t>🔹 Discrete Memoryless Source (DMS)</a:t>
            </a:r>
          </a:p>
          <a:p>
            <a:r>
              <a:rPr lang="en-US" dirty="0"/>
              <a:t>A </a:t>
            </a:r>
            <a:r>
              <a:rPr lang="en-US" b="1" dirty="0"/>
              <a:t>Discrete Memoryless Source (DMS)</a:t>
            </a:r>
            <a:r>
              <a:rPr lang="en-US" dirty="0"/>
              <a:t> is an information source that:</a:t>
            </a:r>
          </a:p>
          <a:p>
            <a:pPr lvl="1"/>
            <a:r>
              <a:rPr lang="en-US" dirty="0"/>
              <a:t>Produces </a:t>
            </a:r>
            <a:r>
              <a:rPr lang="en-US" b="1" dirty="0"/>
              <a:t>discrete symbols</a:t>
            </a:r>
            <a:endParaRPr lang="en-US" dirty="0"/>
          </a:p>
          <a:p>
            <a:pPr lvl="1"/>
            <a:r>
              <a:rPr lang="en-US" dirty="0"/>
              <a:t>Has </a:t>
            </a:r>
            <a:r>
              <a:rPr lang="en-US" b="1" dirty="0"/>
              <a:t>no memory</a:t>
            </a:r>
            <a:r>
              <a:rPr lang="en-US" dirty="0"/>
              <a:t> of past symbols</a:t>
            </a:r>
          </a:p>
          <a:p>
            <a:pPr lvl="1"/>
            <a:r>
              <a:rPr lang="en-US" dirty="0"/>
              <a:t>Generates each symbol </a:t>
            </a:r>
            <a:r>
              <a:rPr lang="en-US" b="1" dirty="0"/>
              <a:t>independently</a:t>
            </a:r>
            <a:r>
              <a:rPr lang="en-US" dirty="0"/>
              <a:t> with fixed probabilities</a:t>
            </a:r>
          </a:p>
          <a:p>
            <a:pPr marL="0" indent="0">
              <a:buNone/>
            </a:pPr>
            <a:r>
              <a:rPr lang="en-US" dirty="0"/>
              <a:t>👉 The probability of the current symbol </a:t>
            </a:r>
            <a:r>
              <a:rPr lang="en-US" b="1" dirty="0"/>
              <a:t>does not depend</a:t>
            </a:r>
            <a:r>
              <a:rPr lang="en-US" dirty="0"/>
              <a:t> on previous symbols.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4701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AB5B7-B5BC-F8B8-AE6E-5A2AF3242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5645"/>
            <a:ext cx="10515600" cy="578772"/>
          </a:xfrm>
        </p:spPr>
        <p:txBody>
          <a:bodyPr>
            <a:normAutofit fontScale="90000"/>
          </a:bodyPr>
          <a:lstStyle/>
          <a:p>
            <a:r>
              <a:rPr lang="en-IN" dirty="0"/>
              <a:t>What is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A4BCB9-41B9-2B78-4759-3446B28867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42219"/>
                <a:ext cx="10515600" cy="5134744"/>
              </a:xfrm>
            </p:spPr>
            <p:txBody>
              <a:bodyPr/>
              <a:lstStyle/>
              <a:p>
                <a:r>
                  <a:rPr lang="en-US" dirty="0"/>
                  <a:t>Information is a quantitative measure of uncertainty associated with a random event.</a:t>
                </a:r>
              </a:p>
              <a:p>
                <a:pPr marL="0" indent="0">
                  <a:buNone/>
                </a:pPr>
                <a:r>
                  <a:rPr lang="en-US" b="1" dirty="0"/>
                  <a:t>1️⃣ Information</a:t>
                </a:r>
              </a:p>
              <a:p>
                <a:pPr lvl="1"/>
                <a:r>
                  <a:rPr lang="en-US" dirty="0"/>
                  <a:t>Information is related to </a:t>
                </a:r>
                <a:r>
                  <a:rPr lang="en-US" b="1" dirty="0"/>
                  <a:t>uncertainty</a:t>
                </a:r>
                <a:endParaRPr lang="en-US" dirty="0"/>
              </a:p>
              <a:p>
                <a:pPr lvl="1"/>
                <a:r>
                  <a:rPr lang="en-US" dirty="0"/>
                  <a:t>Rare events carry </a:t>
                </a:r>
                <a:r>
                  <a:rPr lang="en-US" b="1" dirty="0"/>
                  <a:t>more information</a:t>
                </a:r>
                <a:endParaRPr lang="en-US" dirty="0"/>
              </a:p>
              <a:p>
                <a:r>
                  <a:rPr lang="en-US" dirty="0"/>
                  <a:t>An event carries </a:t>
                </a:r>
                <a:r>
                  <a:rPr lang="en-US" b="1" dirty="0"/>
                  <a:t>more information</a:t>
                </a:r>
                <a:r>
                  <a:rPr lang="en-US" dirty="0"/>
                  <a:t> if it is </a:t>
                </a:r>
                <a:r>
                  <a:rPr lang="en-US" b="1" dirty="0"/>
                  <a:t>less likely to occur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Mathematically, the </a:t>
                </a:r>
                <a:r>
                  <a:rPr lang="en-US" b="1" dirty="0"/>
                  <a:t>information content</a:t>
                </a:r>
                <a:r>
                  <a:rPr lang="en-US" dirty="0"/>
                  <a:t> of an event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is: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A4BCB9-41B9-2B78-4759-3446B28867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42219"/>
                <a:ext cx="10515600" cy="5134744"/>
              </a:xfrm>
              <a:blipFill>
                <a:blip r:embed="rId2"/>
                <a:stretch>
                  <a:fillRect l="-1217" t="-201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B69C04F3-1F86-2370-8415-918CA2A8B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461917"/>
            <a:ext cx="8706824" cy="2120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346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y5d9to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218" y="0"/>
            <a:ext cx="91535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_6bttdvq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218" y="0"/>
            <a:ext cx="91535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w3u8u_b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218" y="0"/>
            <a:ext cx="91535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z1mb40b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218" y="0"/>
            <a:ext cx="91535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ry39uhm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218" y="0"/>
            <a:ext cx="91535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i7v6w1p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218" y="0"/>
            <a:ext cx="91535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1404A-A552-C3A7-1309-7A42D5D56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🔹 Entropy (H)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1D237-E0AD-A123-979F-CADCD3C60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📌 Definition</a:t>
            </a:r>
          </a:p>
          <a:p>
            <a:r>
              <a:rPr lang="en-US" b="1" dirty="0"/>
              <a:t>Entropy</a:t>
            </a:r>
            <a:r>
              <a:rPr lang="en-US" dirty="0"/>
              <a:t> is the </a:t>
            </a:r>
            <a:r>
              <a:rPr lang="en-US" b="1" dirty="0"/>
              <a:t>average amount of information</a:t>
            </a:r>
            <a:r>
              <a:rPr lang="en-US" dirty="0"/>
              <a:t> produced by an information source.</a:t>
            </a:r>
            <a:br>
              <a:rPr lang="en-US" dirty="0"/>
            </a:br>
            <a:r>
              <a:rPr lang="en-US" dirty="0"/>
              <a:t>It measures the </a:t>
            </a:r>
            <a:r>
              <a:rPr lang="en-US" b="1" dirty="0"/>
              <a:t>uncertainty</a:t>
            </a:r>
            <a:r>
              <a:rPr lang="en-US" dirty="0"/>
              <a:t> or </a:t>
            </a:r>
            <a:r>
              <a:rPr lang="en-US" b="1" dirty="0"/>
              <a:t>randomness</a:t>
            </a:r>
            <a:r>
              <a:rPr lang="en-US" dirty="0"/>
              <a:t> of the source.</a:t>
            </a:r>
          </a:p>
          <a:p>
            <a:r>
              <a:rPr lang="en-US" dirty="0"/>
              <a:t>👉 More uncertainty → higher entropy</a:t>
            </a:r>
            <a:br>
              <a:rPr lang="en-US" dirty="0"/>
            </a:br>
            <a:r>
              <a:rPr lang="en-US" dirty="0"/>
              <a:t>👉 More predictability → lower entropy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1701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zfkzc5o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218" y="0"/>
            <a:ext cx="91535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jg2om42z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218" y="0"/>
            <a:ext cx="91535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xze5g1g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218" y="0"/>
            <a:ext cx="91535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b6a_sw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218" y="0"/>
            <a:ext cx="91535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hhzbb0k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218" y="0"/>
            <a:ext cx="91535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cz19hl1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218" y="0"/>
            <a:ext cx="91535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c9x_g6o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218" y="0"/>
            <a:ext cx="91535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fbgl256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218" y="0"/>
            <a:ext cx="91535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07219vh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218" y="0"/>
            <a:ext cx="91535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CEAB2-D20D-D060-9D6B-693ADF1A3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2" y="82601"/>
            <a:ext cx="10515600" cy="598436"/>
          </a:xfrm>
        </p:spPr>
        <p:txBody>
          <a:bodyPr>
            <a:normAutofit fontScale="90000"/>
          </a:bodyPr>
          <a:lstStyle/>
          <a:p>
            <a:r>
              <a:rPr lang="en-IN" dirty="0"/>
              <a:t>Joint Entropy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125B6-CE6B-EB15-017E-3F4201EAB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4903"/>
            <a:ext cx="10515600" cy="5292060"/>
          </a:xfrm>
        </p:spPr>
        <p:txBody>
          <a:bodyPr/>
          <a:lstStyle/>
          <a:p>
            <a:r>
              <a:rPr lang="en-US" dirty="0"/>
              <a:t>In a </a:t>
            </a:r>
            <a:r>
              <a:rPr lang="en-US" b="1" dirty="0"/>
              <a:t>communication system</a:t>
            </a:r>
            <a:r>
              <a:rPr lang="en-US" dirty="0"/>
              <a:t>, joint entropy explains </a:t>
            </a:r>
            <a:r>
              <a:rPr lang="en-US" b="1" dirty="0"/>
              <a:t>how much total information (or uncertainty)</a:t>
            </a:r>
            <a:r>
              <a:rPr lang="en-US" dirty="0"/>
              <a:t> is associated with the </a:t>
            </a:r>
            <a:r>
              <a:rPr lang="en-US" b="1" dirty="0"/>
              <a:t>transmitted message and the received message taken together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78860F-EE8D-EEDD-8516-20DA1874F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053" y="2214154"/>
            <a:ext cx="10200378" cy="4278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7229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A39BE-064E-E071-E155-A6C15B1E0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BE706-9325-623A-AD9E-E42F54243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A2FE1F-AFE8-DF6E-39A8-C47B55666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340" y="381481"/>
            <a:ext cx="11213334" cy="3557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4411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2hkct9q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218" y="0"/>
            <a:ext cx="91535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m3pe42qj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218" y="0"/>
            <a:ext cx="91535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A4B39-ACC0-B7F5-B79B-4DD7EF2C8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Conditional Entropy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0ED16-BCF2-C287-3C03-F5A0914066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Conditional entropy</a:t>
            </a:r>
            <a:r>
              <a:rPr lang="en-US" dirty="0"/>
              <a:t> measures the </a:t>
            </a:r>
            <a:r>
              <a:rPr lang="en-US" b="1" dirty="0"/>
              <a:t>average uncertainty remaining in one random variable when another random variable is known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8338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9z3s93a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218" y="0"/>
            <a:ext cx="91535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txxztqj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218" y="0"/>
            <a:ext cx="91535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gfvu5np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218" y="0"/>
            <a:ext cx="91535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e7lbbu_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218" y="0"/>
            <a:ext cx="91535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aqo5dy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218" y="0"/>
            <a:ext cx="91535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vwlmk88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218" y="0"/>
            <a:ext cx="91535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mpc2rybvi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218" y="0"/>
            <a:ext cx="915356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363</Words>
  <Application>Microsoft Office PowerPoint</Application>
  <PresentationFormat>Widescreen</PresentationFormat>
  <Paragraphs>42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Cambria Math</vt:lpstr>
      <vt:lpstr>Office Theme</vt:lpstr>
      <vt:lpstr>UNIT V INFORMATION THEORY</vt:lpstr>
      <vt:lpstr>📡 Information Theory in Communication Systems</vt:lpstr>
      <vt:lpstr>🔹 Information Source</vt:lpstr>
      <vt:lpstr>What is Information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🔹 Entropy (H)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Joint Entropy</vt:lpstr>
      <vt:lpstr>PowerPoint Presentation</vt:lpstr>
      <vt:lpstr>PowerPoint Presentation</vt:lpstr>
      <vt:lpstr>PowerPoint Presentation</vt:lpstr>
      <vt:lpstr>Conditional Entropy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ECE GCEB</dc:creator>
  <cp:lastModifiedBy>ECE GCEB</cp:lastModifiedBy>
  <cp:revision>10</cp:revision>
  <dcterms:created xsi:type="dcterms:W3CDTF">2026-02-23T05:03:51Z</dcterms:created>
  <dcterms:modified xsi:type="dcterms:W3CDTF">2026-02-24T08:47:48Z</dcterms:modified>
</cp:coreProperties>
</file>